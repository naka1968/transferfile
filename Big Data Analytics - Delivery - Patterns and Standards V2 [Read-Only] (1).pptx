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5"/>
    <p:sldMasterId id="2147483761" r:id="rId6"/>
  </p:sldMasterIdLst>
  <p:notesMasterIdLst>
    <p:notesMasterId r:id="rId85"/>
  </p:notesMasterIdLst>
  <p:handoutMasterIdLst>
    <p:handoutMasterId r:id="rId86"/>
  </p:handoutMasterIdLst>
  <p:sldIdLst>
    <p:sldId id="341" r:id="rId7"/>
    <p:sldId id="665" r:id="rId8"/>
    <p:sldId id="718" r:id="rId9"/>
    <p:sldId id="943" r:id="rId10"/>
    <p:sldId id="817" r:id="rId11"/>
    <p:sldId id="712" r:id="rId12"/>
    <p:sldId id="1014" r:id="rId13"/>
    <p:sldId id="939" r:id="rId14"/>
    <p:sldId id="940" r:id="rId15"/>
    <p:sldId id="722" r:id="rId16"/>
    <p:sldId id="932" r:id="rId17"/>
    <p:sldId id="936" r:id="rId18"/>
    <p:sldId id="946" r:id="rId19"/>
    <p:sldId id="950" r:id="rId20"/>
    <p:sldId id="934" r:id="rId21"/>
    <p:sldId id="937" r:id="rId22"/>
    <p:sldId id="933" r:id="rId23"/>
    <p:sldId id="1022" r:id="rId24"/>
    <p:sldId id="935" r:id="rId25"/>
    <p:sldId id="931" r:id="rId26"/>
    <p:sldId id="723" r:id="rId27"/>
    <p:sldId id="941" r:id="rId28"/>
    <p:sldId id="1004" r:id="rId29"/>
    <p:sldId id="724" r:id="rId30"/>
    <p:sldId id="963" r:id="rId31"/>
    <p:sldId id="964" r:id="rId32"/>
    <p:sldId id="947" r:id="rId33"/>
    <p:sldId id="960" r:id="rId34"/>
    <p:sldId id="952" r:id="rId35"/>
    <p:sldId id="961" r:id="rId36"/>
    <p:sldId id="962" r:id="rId37"/>
    <p:sldId id="1015" r:id="rId38"/>
    <p:sldId id="965" r:id="rId39"/>
    <p:sldId id="966" r:id="rId40"/>
    <p:sldId id="967" r:id="rId41"/>
    <p:sldId id="969" r:id="rId42"/>
    <p:sldId id="970" r:id="rId43"/>
    <p:sldId id="1016" r:id="rId44"/>
    <p:sldId id="972" r:id="rId45"/>
    <p:sldId id="973" r:id="rId46"/>
    <p:sldId id="974" r:id="rId47"/>
    <p:sldId id="714" r:id="rId48"/>
    <p:sldId id="977" r:id="rId49"/>
    <p:sldId id="980" r:id="rId50"/>
    <p:sldId id="981" r:id="rId51"/>
    <p:sldId id="983" r:id="rId52"/>
    <p:sldId id="982" r:id="rId53"/>
    <p:sldId id="1020" r:id="rId54"/>
    <p:sldId id="1000" r:id="rId55"/>
    <p:sldId id="1001" r:id="rId56"/>
    <p:sldId id="988" r:id="rId57"/>
    <p:sldId id="989" r:id="rId58"/>
    <p:sldId id="1017" r:id="rId59"/>
    <p:sldId id="1018" r:id="rId60"/>
    <p:sldId id="1019" r:id="rId61"/>
    <p:sldId id="990" r:id="rId62"/>
    <p:sldId id="991" r:id="rId63"/>
    <p:sldId id="1002" r:id="rId64"/>
    <p:sldId id="1003" r:id="rId65"/>
    <p:sldId id="715" r:id="rId66"/>
    <p:sldId id="957" r:id="rId67"/>
    <p:sldId id="744" r:id="rId68"/>
    <p:sldId id="267" r:id="rId69"/>
    <p:sldId id="1021" r:id="rId70"/>
    <p:sldId id="274" r:id="rId71"/>
    <p:sldId id="273" r:id="rId72"/>
    <p:sldId id="745" r:id="rId73"/>
    <p:sldId id="1005" r:id="rId74"/>
    <p:sldId id="1006" r:id="rId75"/>
    <p:sldId id="1007" r:id="rId76"/>
    <p:sldId id="1008" r:id="rId77"/>
    <p:sldId id="746" r:id="rId78"/>
    <p:sldId id="1010" r:id="rId79"/>
    <p:sldId id="1011" r:id="rId80"/>
    <p:sldId id="1012" r:id="rId81"/>
    <p:sldId id="1013" r:id="rId82"/>
    <p:sldId id="1023" r:id="rId83"/>
    <p:sldId id="440" r:id="rId84"/>
  </p:sldIdLst>
  <p:sldSz cx="12192000" cy="6858000"/>
  <p:notesSz cx="7315200" cy="9601200"/>
  <p:custDataLst>
    <p:tags r:id="rId87"/>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1" orient="horz" pos="2040" userDrawn="1">
          <p15:clr>
            <a:srgbClr val="A4A3A4"/>
          </p15:clr>
        </p15:guide>
        <p15:guide id="13" orient="horz" pos="2568" userDrawn="1">
          <p15:clr>
            <a:srgbClr val="A4A3A4"/>
          </p15:clr>
        </p15:guide>
        <p15:guide id="14" orient="horz" pos="1416" userDrawn="1">
          <p15:clr>
            <a:srgbClr val="A4A3A4"/>
          </p15:clr>
        </p15:guide>
        <p15:guide id="15" orient="horz" pos="3576" userDrawn="1">
          <p15:clr>
            <a:srgbClr val="A4A3A4"/>
          </p15:clr>
        </p15:guide>
        <p15:guide id="16" pos="4224"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D00"/>
    <a:srgbClr val="ED8B00"/>
    <a:srgbClr val="DB291C"/>
    <a:srgbClr val="FF9900"/>
    <a:srgbClr val="C00000"/>
    <a:srgbClr val="3C8A2E"/>
    <a:srgbClr val="DCDCDC"/>
    <a:srgbClr val="B4B4B4"/>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28" autoAdjust="0"/>
    <p:restoredTop sz="93773" autoAdjust="0"/>
  </p:normalViewPr>
  <p:slideViewPr>
    <p:cSldViewPr snapToGrid="0" showGuides="1">
      <p:cViewPr varScale="1">
        <p:scale>
          <a:sx n="81" d="100"/>
          <a:sy n="81" d="100"/>
        </p:scale>
        <p:origin x="1090" y="72"/>
      </p:cViewPr>
      <p:guideLst>
        <p:guide orient="horz" pos="2040"/>
        <p:guide orient="horz" pos="2568"/>
        <p:guide orient="horz" pos="1416"/>
        <p:guide orient="horz" pos="3576"/>
        <p:guide pos="42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8" d="100"/>
        <a:sy n="38" d="100"/>
      </p:scale>
      <p:origin x="0" y="-5816"/>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presProps" Target="pres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1.xml"/><Relationship Id="rId90" Type="http://schemas.openxmlformats.org/officeDocument/2006/relationships/viewProps" Target="viewProps.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tableStyles" Target="tableStyles.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tags" Target="tags/tag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10/21/2021</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10/21/2021</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9470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58160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5" name="Slide Image Placeholder 1"/>
          <p:cNvSpPr>
            <a:spLocks noGrp="1" noRot="1" noChangeAspect="1"/>
          </p:cNvSpPr>
          <p:nvPr>
            <p:ph type="sldImg"/>
          </p:nvPr>
        </p:nvSpPr>
        <p:spPr bwMode="auto">
          <a:noFill/>
          <a:ln>
            <a:solidFill>
              <a:srgbClr val="000000"/>
            </a:solidFill>
            <a:miter lim="800000"/>
            <a:headEnd/>
            <a:tailEnd/>
          </a:ln>
        </p:spPr>
      </p:sp>
      <p:sp>
        <p:nvSpPr>
          <p:cNvPr id="845826" name="Notes Placeholder 2"/>
          <p:cNvSpPr>
            <a:spLocks noGrp="1"/>
          </p:cNvSpPr>
          <p:nvPr>
            <p:ph type="body" idx="1"/>
          </p:nvPr>
        </p:nvSpPr>
        <p:spPr>
          <a:noFill/>
          <a:ln/>
        </p:spPr>
        <p:txBody>
          <a:bodyPr/>
          <a:lstStyle/>
          <a:p>
            <a:endParaRPr lang="en-US" dirty="0"/>
          </a:p>
        </p:txBody>
      </p:sp>
      <p:sp>
        <p:nvSpPr>
          <p:cNvPr id="845827" name="Slide Number Placeholder 3"/>
          <p:cNvSpPr>
            <a:spLocks noGrp="1"/>
          </p:cNvSpPr>
          <p:nvPr>
            <p:ph type="sldNum" sz="quarter" idx="5"/>
          </p:nvPr>
        </p:nvSpPr>
        <p:spPr>
          <a:noFill/>
        </p:spPr>
        <p:txBody>
          <a:bodyPr/>
          <a:lstStyle/>
          <a:p>
            <a:fld id="{A559B68C-5915-4D23-A2C6-5B96549FD7A0}" type="slidenum">
              <a:rPr lang="en-US" smtClean="0"/>
              <a:pPr/>
              <a:t>5</a:t>
            </a:fld>
            <a:endParaRPr lang="en-US" dirty="0"/>
          </a:p>
        </p:txBody>
      </p:sp>
    </p:spTree>
    <p:extLst>
      <p:ext uri="{BB962C8B-B14F-4D97-AF65-F5344CB8AC3E}">
        <p14:creationId xmlns:p14="http://schemas.microsoft.com/office/powerpoint/2010/main" val="445327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65109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9903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9798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@psacheti Need</a:t>
            </a:r>
            <a:r>
              <a:rPr lang="en-US" baseline="0" dirty="0"/>
              <a:t> to provide clarity on Data Science Analysis, ideally it should be integrated with Advance data transformations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98481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a:prstGeom prst="rect">
            <a:avLst/>
          </a:prstGeo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460443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27852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7996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@psacheti</a:t>
            </a:r>
            <a:r>
              <a:rPr lang="en-US" baseline="0" dirty="0"/>
              <a:t> </a:t>
            </a:r>
          </a:p>
          <a:p>
            <a:endParaRPr lang="en-US" baseline="0" dirty="0"/>
          </a:p>
          <a:p>
            <a:r>
              <a:rPr lang="en-US" dirty="0"/>
              <a:t>Event </a:t>
            </a:r>
            <a:r>
              <a:rPr lang="en-US" baseline="0" dirty="0"/>
              <a:t>here signifies event processing here. It doesn’t denote event storage. E.g. </a:t>
            </a:r>
          </a:p>
          <a:p>
            <a:pPr marL="171450" indent="-171450">
              <a:buFontTx/>
              <a:buChar char="-"/>
            </a:pPr>
            <a:r>
              <a:rPr lang="en-US" baseline="0" dirty="0"/>
              <a:t>AWS Kinesis supports both event processing and event storage</a:t>
            </a:r>
          </a:p>
          <a:p>
            <a:pPr marL="171450" indent="-171450">
              <a:buFontTx/>
              <a:buChar char="-"/>
            </a:pPr>
            <a:r>
              <a:rPr lang="en-US" baseline="0" dirty="0"/>
              <a:t>Apache Storm is a stream processing engine, doesn’t support persistence. </a:t>
            </a:r>
          </a:p>
          <a:p>
            <a:pPr marL="171450" indent="-171450">
              <a:buFontTx/>
              <a:buChar char="-"/>
            </a:pPr>
            <a:endParaRPr lang="en-US" baseline="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6704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@psacheti</a:t>
            </a:r>
            <a:r>
              <a:rPr lang="en-US" baseline="0" dirty="0"/>
              <a:t> </a:t>
            </a:r>
          </a:p>
          <a:p>
            <a:endParaRPr lang="en-US" baseline="0" dirty="0"/>
          </a:p>
          <a:p>
            <a:r>
              <a:rPr lang="en-US" dirty="0"/>
              <a:t>Event </a:t>
            </a:r>
            <a:r>
              <a:rPr lang="en-US" baseline="0" dirty="0"/>
              <a:t>here signifies event processing here. It doesn’t denote event storage. E.g. </a:t>
            </a:r>
          </a:p>
          <a:p>
            <a:pPr marL="171450" indent="-171450">
              <a:buFontTx/>
              <a:buChar char="-"/>
            </a:pPr>
            <a:r>
              <a:rPr lang="en-US" baseline="0" dirty="0"/>
              <a:t>AWS Kinesis supports both event processing and event storage</a:t>
            </a:r>
          </a:p>
          <a:p>
            <a:pPr marL="171450" indent="-171450">
              <a:buFontTx/>
              <a:buChar char="-"/>
            </a:pPr>
            <a:r>
              <a:rPr lang="en-US" baseline="0" dirty="0"/>
              <a:t>Apache Storm is a stream processing engine, doesn’t support persistence. </a:t>
            </a:r>
          </a:p>
          <a:p>
            <a:pPr marL="171450" indent="-171450">
              <a:buFontTx/>
              <a:buChar char="-"/>
            </a:pPr>
            <a:endParaRPr lang="en-US" baseline="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8579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4272C5-5D59-42CC-A25C-76005C84E4A6}" type="slidenum">
              <a:rPr lang="en-US" smtClean="0"/>
              <a:t>31</a:t>
            </a:fld>
            <a:endParaRPr lang="en-US" dirty="0"/>
          </a:p>
        </p:txBody>
      </p:sp>
    </p:spTree>
    <p:extLst>
      <p:ext uri="{BB962C8B-B14F-4D97-AF65-F5344CB8AC3E}">
        <p14:creationId xmlns:p14="http://schemas.microsoft.com/office/powerpoint/2010/main" val="2597829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4272C5-5D59-42CC-A25C-76005C84E4A6}" type="slidenum">
              <a:rPr lang="en-US" smtClean="0"/>
              <a:t>32</a:t>
            </a:fld>
            <a:endParaRPr lang="en-US" dirty="0"/>
          </a:p>
        </p:txBody>
      </p:sp>
    </p:spTree>
    <p:extLst>
      <p:ext uri="{BB962C8B-B14F-4D97-AF65-F5344CB8AC3E}">
        <p14:creationId xmlns:p14="http://schemas.microsoft.com/office/powerpoint/2010/main" val="30207931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@psacheti</a:t>
            </a:r>
            <a:r>
              <a:rPr lang="en-US" baseline="0" dirty="0"/>
              <a:t> </a:t>
            </a:r>
          </a:p>
          <a:p>
            <a:endParaRPr lang="en-US" baseline="0" dirty="0"/>
          </a:p>
          <a:p>
            <a:r>
              <a:rPr lang="en-US" dirty="0"/>
              <a:t>Event </a:t>
            </a:r>
            <a:r>
              <a:rPr lang="en-US" baseline="0" dirty="0"/>
              <a:t>here signifies event processing here. It doesn’t denote event storage. E.g. </a:t>
            </a:r>
          </a:p>
          <a:p>
            <a:pPr marL="171450" indent="-171450">
              <a:buFontTx/>
              <a:buChar char="-"/>
            </a:pPr>
            <a:r>
              <a:rPr lang="en-US" baseline="0" dirty="0"/>
              <a:t>AWS Kinesis supports both event processing and event storage</a:t>
            </a:r>
          </a:p>
          <a:p>
            <a:pPr marL="171450" indent="-171450">
              <a:buFontTx/>
              <a:buChar char="-"/>
            </a:pPr>
            <a:r>
              <a:rPr lang="en-US" baseline="0" dirty="0"/>
              <a:t>Apache Storm is a stream processing engine, doesn’t support persistence. </a:t>
            </a:r>
          </a:p>
          <a:p>
            <a:pPr marL="171450" indent="-171450">
              <a:buFontTx/>
              <a:buChar char="-"/>
            </a:pPr>
            <a:endParaRPr lang="en-US" baseline="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795138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5253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@psacheti</a:t>
            </a:r>
            <a:r>
              <a:rPr lang="en-US" baseline="0" dirty="0"/>
              <a:t> </a:t>
            </a:r>
          </a:p>
          <a:p>
            <a:endParaRPr lang="en-US" baseline="0" dirty="0"/>
          </a:p>
          <a:p>
            <a:r>
              <a:rPr lang="en-US" dirty="0"/>
              <a:t>Event </a:t>
            </a:r>
            <a:r>
              <a:rPr lang="en-US" baseline="0" dirty="0"/>
              <a:t>here signifies event processing here. It doesn’t denote event storage. E.g. </a:t>
            </a:r>
          </a:p>
          <a:p>
            <a:pPr marL="171450" indent="-171450">
              <a:buFontTx/>
              <a:buChar char="-"/>
            </a:pPr>
            <a:r>
              <a:rPr lang="en-US" baseline="0" dirty="0"/>
              <a:t>AWS Kinesis supports both event processing and event storage</a:t>
            </a:r>
          </a:p>
          <a:p>
            <a:pPr marL="171450" indent="-171450">
              <a:buFontTx/>
              <a:buChar char="-"/>
            </a:pPr>
            <a:r>
              <a:rPr lang="en-US" baseline="0" dirty="0"/>
              <a:t>Apache Storm is a stream processing engine, doesn’t support persistence. </a:t>
            </a:r>
          </a:p>
          <a:p>
            <a:pPr marL="171450" indent="-171450">
              <a:buFontTx/>
              <a:buChar char="-"/>
            </a:pPr>
            <a:endParaRPr lang="en-US" baseline="0"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936085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73259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54423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55</a:t>
            </a:fld>
            <a:endParaRPr lang="en-US" dirty="0"/>
          </a:p>
        </p:txBody>
      </p:sp>
    </p:spTree>
    <p:extLst>
      <p:ext uri="{BB962C8B-B14F-4D97-AF65-F5344CB8AC3E}">
        <p14:creationId xmlns:p14="http://schemas.microsoft.com/office/powerpoint/2010/main" val="498806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38958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4272C5-5D59-42CC-A25C-76005C84E4A6}" type="slidenum">
              <a:rPr lang="en-US" smtClean="0"/>
              <a:t>64</a:t>
            </a:fld>
            <a:endParaRPr lang="en-US" dirty="0"/>
          </a:p>
        </p:txBody>
      </p:sp>
    </p:spTree>
    <p:extLst>
      <p:ext uri="{BB962C8B-B14F-4D97-AF65-F5344CB8AC3E}">
        <p14:creationId xmlns:p14="http://schemas.microsoft.com/office/powerpoint/2010/main" val="10473898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4272C5-5D59-42CC-A25C-76005C84E4A6}" type="slidenum">
              <a:rPr lang="en-US" smtClean="0"/>
              <a:t>65</a:t>
            </a:fld>
            <a:endParaRPr lang="en-US" dirty="0"/>
          </a:p>
        </p:txBody>
      </p:sp>
    </p:spTree>
    <p:extLst>
      <p:ext uri="{BB962C8B-B14F-4D97-AF65-F5344CB8AC3E}">
        <p14:creationId xmlns:p14="http://schemas.microsoft.com/office/powerpoint/2010/main" val="4048204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4272C5-5D59-42CC-A25C-76005C84E4A6}" type="slidenum">
              <a:rPr lang="en-US" smtClean="0"/>
              <a:t>66</a:t>
            </a:fld>
            <a:endParaRPr lang="en-US" dirty="0"/>
          </a:p>
        </p:txBody>
      </p:sp>
    </p:spTree>
    <p:extLst>
      <p:ext uri="{BB962C8B-B14F-4D97-AF65-F5344CB8AC3E}">
        <p14:creationId xmlns:p14="http://schemas.microsoft.com/office/powerpoint/2010/main" val="29933272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73</a:t>
            </a:fld>
            <a:endParaRPr lang="en-US" dirty="0"/>
          </a:p>
        </p:txBody>
      </p:sp>
    </p:spTree>
    <p:extLst>
      <p:ext uri="{BB962C8B-B14F-4D97-AF65-F5344CB8AC3E}">
        <p14:creationId xmlns:p14="http://schemas.microsoft.com/office/powerpoint/2010/main" val="12673264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4272C5-5D59-42CC-A25C-76005C84E4A6}" type="slidenum">
              <a:rPr lang="en-US" smtClean="0"/>
              <a:t>76</a:t>
            </a:fld>
            <a:endParaRPr lang="en-US" dirty="0"/>
          </a:p>
        </p:txBody>
      </p:sp>
    </p:spTree>
    <p:extLst>
      <p:ext uri="{BB962C8B-B14F-4D97-AF65-F5344CB8AC3E}">
        <p14:creationId xmlns:p14="http://schemas.microsoft.com/office/powerpoint/2010/main" val="14940271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B4272C5-5D59-42CC-A25C-76005C84E4A6}"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17542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783079461"/>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2122202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52761153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Big Data and Analytics- Patterns and Standards Playbook</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endParaRPr lang="en-US"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75325" y="4102100"/>
            <a:ext cx="8555263" cy="2197101"/>
          </a:xfrm>
        </p:spPr>
        <p:txBody>
          <a:bodyPr anchor="b" anchorCtr="0">
            <a:noAutofit/>
          </a:bodyPr>
          <a:lstStyle>
            <a:lvl1pPr>
              <a:lnSpc>
                <a:spcPct val="100000"/>
              </a:lnSpc>
              <a:spcAft>
                <a:spcPts val="800"/>
              </a:spcAft>
              <a:defRPr sz="900"/>
            </a:lvl1pPr>
          </a:lstStyle>
          <a:p>
            <a:pPr lvl="0"/>
            <a:r>
              <a:rPr lang="en-US" noProof="0"/>
              <a:t>Edit Master text styles</a:t>
            </a:r>
          </a:p>
        </p:txBody>
      </p:sp>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US" sz="1200" noProof="0" dirty="0"/>
              <a:t>Insert sponsorship mark here</a:t>
            </a:r>
            <a:endParaRPr lang="en-US"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US" noProof="0"/>
              <a:t>Edit Master text styles</a:t>
            </a:r>
          </a:p>
        </p:txBody>
      </p:sp>
      <p:grpSp>
        <p:nvGrpSpPr>
          <p:cNvPr id="20" name="Group 19"/>
          <p:cNvGrpSpPr>
            <a:grpSpLocks noChangeAspect="1"/>
          </p:cNvGrpSpPr>
          <p:nvPr userDrawn="1"/>
        </p:nvGrpSpPr>
        <p:grpSpPr>
          <a:xfrm>
            <a:off x="475325" y="457200"/>
            <a:ext cx="1998000" cy="374400"/>
            <a:chOff x="398463" y="404813"/>
            <a:chExt cx="1627187" cy="307976"/>
          </a:xfrm>
          <a:solidFill>
            <a:schemeClr val="tx1"/>
          </a:solidFill>
        </p:grpSpPr>
        <p:sp>
          <p:nvSpPr>
            <p:cNvPr id="2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855275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9DC3-9EBC-4870-B0DE-CB54B36630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664C1E-1115-416D-82E6-7E482806860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B58F0D-A0CF-4DD4-BE3A-BF4C1F8FF22D}"/>
              </a:ext>
            </a:extLst>
          </p:cNvPr>
          <p:cNvSpPr>
            <a:spLocks noGrp="1"/>
          </p:cNvSpPr>
          <p:nvPr>
            <p:ph type="dt" sz="half" idx="10"/>
          </p:nvPr>
        </p:nvSpPr>
        <p:spPr/>
        <p:txBody>
          <a:bodyPr/>
          <a:lstStyle/>
          <a:p>
            <a:fld id="{ABB2DB7D-9BA9-4BED-AAF3-E127AF4EF27D}" type="datetimeFigureOut">
              <a:rPr lang="en-US" smtClean="0"/>
              <a:t>10/21/2021</a:t>
            </a:fld>
            <a:endParaRPr lang="en-US" dirty="0"/>
          </a:p>
        </p:txBody>
      </p:sp>
      <p:sp>
        <p:nvSpPr>
          <p:cNvPr id="5" name="Footer Placeholder 4">
            <a:extLst>
              <a:ext uri="{FF2B5EF4-FFF2-40B4-BE49-F238E27FC236}">
                <a16:creationId xmlns:a16="http://schemas.microsoft.com/office/drawing/2014/main" id="{48628791-B2E7-4ED3-A41A-CCD3A55366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D513FAB-FB43-4F00-9949-950B19211174}"/>
              </a:ext>
            </a:extLst>
          </p:cNvPr>
          <p:cNvSpPr>
            <a:spLocks noGrp="1"/>
          </p:cNvSpPr>
          <p:nvPr>
            <p:ph type="sldNum" sz="quarter" idx="12"/>
          </p:nvPr>
        </p:nvSpPr>
        <p:spPr/>
        <p:txBody>
          <a:bodyPr/>
          <a:lstStyle/>
          <a:p>
            <a:fld id="{F7EFE416-C9D4-45B2-B7BA-C45CAA95FE82}" type="slidenum">
              <a:rPr lang="en-US" smtClean="0"/>
              <a:t>‹#›</a:t>
            </a:fld>
            <a:endParaRPr lang="en-US" dirty="0"/>
          </a:p>
        </p:txBody>
      </p:sp>
    </p:spTree>
    <p:extLst>
      <p:ext uri="{BB962C8B-B14F-4D97-AF65-F5344CB8AC3E}">
        <p14:creationId xmlns:p14="http://schemas.microsoft.com/office/powerpoint/2010/main" val="4231078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972800" cy="378781"/>
          </a:xfrm>
        </p:spPr>
        <p:txBody>
          <a:bodyPr/>
          <a:lstStyle/>
          <a:p>
            <a:r>
              <a:rPr lang="en-US"/>
              <a:t>Click to edit Master title style</a:t>
            </a:r>
            <a:endParaRPr/>
          </a:p>
        </p:txBody>
      </p:sp>
      <p:sp>
        <p:nvSpPr>
          <p:cNvPr id="3" name="Date Placeholder 2"/>
          <p:cNvSpPr>
            <a:spLocks noGrp="1"/>
          </p:cNvSpPr>
          <p:nvPr>
            <p:ph type="dt" sz="half" idx="10"/>
          </p:nvPr>
        </p:nvSpPr>
        <p:spPr>
          <a:xfrm>
            <a:off x="5283201" y="6478524"/>
            <a:ext cx="812800" cy="219456"/>
          </a:xfrm>
          <a:prstGeom prst="rect">
            <a:avLst/>
          </a:prstGeom>
        </p:spPr>
        <p:txBody>
          <a:bodyPr/>
          <a:lstStyle/>
          <a:p>
            <a:fld id="{1272F1CD-D694-4DE7-B6EB-592AE1A117F2}" type="datetime1">
              <a:rPr lang="en-US"/>
              <a:t>10/21/2021</a:t>
            </a:fld>
            <a:endParaRPr dirty="0"/>
          </a:p>
        </p:txBody>
      </p:sp>
      <p:sp>
        <p:nvSpPr>
          <p:cNvPr id="4" name="Footer Placeholder 3"/>
          <p:cNvSpPr>
            <a:spLocks noGrp="1"/>
          </p:cNvSpPr>
          <p:nvPr>
            <p:ph type="ftr" sz="quarter" idx="11"/>
          </p:nvPr>
        </p:nvSpPr>
        <p:spPr>
          <a:xfrm>
            <a:off x="609599" y="6478524"/>
            <a:ext cx="4573191" cy="219456"/>
          </a:xfrm>
          <a:prstGeom prst="rect">
            <a:avLst/>
          </a:prstGeom>
        </p:spPr>
        <p:txBody>
          <a:bodyPr/>
          <a:lstStyle/>
          <a:p>
            <a:endParaRPr dirty="0"/>
          </a:p>
        </p:txBody>
      </p:sp>
      <p:sp>
        <p:nvSpPr>
          <p:cNvPr id="6" name="Text Placeholder 7"/>
          <p:cNvSpPr>
            <a:spLocks noGrp="1"/>
          </p:cNvSpPr>
          <p:nvPr>
            <p:ph type="body" sz="quarter" idx="13" hasCustomPrompt="1"/>
          </p:nvPr>
        </p:nvSpPr>
        <p:spPr>
          <a:xfrm>
            <a:off x="609600" y="778752"/>
            <a:ext cx="10972800"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Click to add subtitle</a:t>
            </a:r>
          </a:p>
        </p:txBody>
      </p:sp>
    </p:spTree>
    <p:extLst>
      <p:ext uri="{BB962C8B-B14F-4D97-AF65-F5344CB8AC3E}">
        <p14:creationId xmlns:p14="http://schemas.microsoft.com/office/powerpoint/2010/main" val="323581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773">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591" lvl="0" indent="-228591">
              <a:lnSpc>
                <a:spcPct val="130000"/>
              </a:lnSpc>
            </a:pPr>
            <a:r>
              <a:rPr lang="en-US"/>
              <a:t>Edit Master text styles</a:t>
            </a:r>
          </a:p>
        </p:txBody>
      </p:sp>
    </p:spTree>
    <p:extLst>
      <p:ext uri="{BB962C8B-B14F-4D97-AF65-F5344CB8AC3E}">
        <p14:creationId xmlns:p14="http://schemas.microsoft.com/office/powerpoint/2010/main" val="23940392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Title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608593649"/>
      </p:ext>
    </p:extLst>
  </p:cSld>
  <p:clrMapOvr>
    <a:masterClrMapping/>
  </p:clrMapOvr>
  <p:transition>
    <p:fade/>
  </p:transition>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7869513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178805195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3133523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86239482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7079568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26968252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204242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1479668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CaseCode"/>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Big Data and Analytics- Patterns and Standards Playbook</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138139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82179884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96769033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360595583"/>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398448309"/>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627512670"/>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421119579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54629658"/>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730528998"/>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00528589"/>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9345090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8393458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6621615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009912565"/>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13562813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045872472"/>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602474307"/>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399625458"/>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endParaRPr lang="en-US"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6966786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81195100"/>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64866995"/>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508410768"/>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91401343"/>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73379496"/>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3470225663"/>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62704254"/>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015693115"/>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235179014"/>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2017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734746394"/>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512046646"/>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053526373"/>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4430521"/>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9DC3-9EBC-4870-B0DE-CB54B36630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664C1E-1115-416D-82E6-7E482806860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B58F0D-A0CF-4DD4-BE3A-BF4C1F8FF22D}"/>
              </a:ext>
            </a:extLst>
          </p:cNvPr>
          <p:cNvSpPr>
            <a:spLocks noGrp="1"/>
          </p:cNvSpPr>
          <p:nvPr>
            <p:ph type="dt" sz="half" idx="10"/>
          </p:nvPr>
        </p:nvSpPr>
        <p:spPr/>
        <p:txBody>
          <a:bodyPr/>
          <a:lstStyle/>
          <a:p>
            <a:fld id="{ABB2DB7D-9BA9-4BED-AAF3-E127AF4EF27D}" type="datetimeFigureOut">
              <a:rPr lang="en-US" smtClean="0"/>
              <a:t>10/21/2021</a:t>
            </a:fld>
            <a:endParaRPr lang="en-US" dirty="0"/>
          </a:p>
        </p:txBody>
      </p:sp>
      <p:sp>
        <p:nvSpPr>
          <p:cNvPr id="5" name="Footer Placeholder 4">
            <a:extLst>
              <a:ext uri="{FF2B5EF4-FFF2-40B4-BE49-F238E27FC236}">
                <a16:creationId xmlns:a16="http://schemas.microsoft.com/office/drawing/2014/main" id="{48628791-B2E7-4ED3-A41A-CCD3A55366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D513FAB-FB43-4F00-9949-950B19211174}"/>
              </a:ext>
            </a:extLst>
          </p:cNvPr>
          <p:cNvSpPr>
            <a:spLocks noGrp="1"/>
          </p:cNvSpPr>
          <p:nvPr>
            <p:ph type="sldNum" sz="quarter" idx="12"/>
          </p:nvPr>
        </p:nvSpPr>
        <p:spPr/>
        <p:txBody>
          <a:bodyPr/>
          <a:lstStyle/>
          <a:p>
            <a:fld id="{F7EFE416-C9D4-45B2-B7BA-C45CAA95FE82}" type="slidenum">
              <a:rPr lang="en-US" smtClean="0"/>
              <a:t>‹#›</a:t>
            </a:fld>
            <a:endParaRPr lang="en-US" dirty="0"/>
          </a:p>
        </p:txBody>
      </p:sp>
    </p:spTree>
    <p:extLst>
      <p:ext uri="{BB962C8B-B14F-4D97-AF65-F5344CB8AC3E}">
        <p14:creationId xmlns:p14="http://schemas.microsoft.com/office/powerpoint/2010/main" val="276558882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0972800" cy="378781"/>
          </a:xfrm>
        </p:spPr>
        <p:txBody>
          <a:bodyPr/>
          <a:lstStyle/>
          <a:p>
            <a:r>
              <a:rPr lang="en-US"/>
              <a:t>Click to edit Master title style</a:t>
            </a:r>
            <a:endParaRPr/>
          </a:p>
        </p:txBody>
      </p:sp>
      <p:sp>
        <p:nvSpPr>
          <p:cNvPr id="3" name="Date Placeholder 2"/>
          <p:cNvSpPr>
            <a:spLocks noGrp="1"/>
          </p:cNvSpPr>
          <p:nvPr>
            <p:ph type="dt" sz="half" idx="10"/>
          </p:nvPr>
        </p:nvSpPr>
        <p:spPr>
          <a:xfrm>
            <a:off x="5283201" y="6478524"/>
            <a:ext cx="812800" cy="219456"/>
          </a:xfrm>
          <a:prstGeom prst="rect">
            <a:avLst/>
          </a:prstGeom>
        </p:spPr>
        <p:txBody>
          <a:bodyPr/>
          <a:lstStyle/>
          <a:p>
            <a:fld id="{1272F1CD-D694-4DE7-B6EB-592AE1A117F2}" type="datetime1">
              <a:rPr lang="en-US"/>
              <a:t>10/21/2021</a:t>
            </a:fld>
            <a:endParaRPr dirty="0"/>
          </a:p>
        </p:txBody>
      </p:sp>
      <p:sp>
        <p:nvSpPr>
          <p:cNvPr id="4" name="Footer Placeholder 3"/>
          <p:cNvSpPr>
            <a:spLocks noGrp="1"/>
          </p:cNvSpPr>
          <p:nvPr>
            <p:ph type="ftr" sz="quarter" idx="11"/>
          </p:nvPr>
        </p:nvSpPr>
        <p:spPr>
          <a:xfrm>
            <a:off x="609599" y="6478524"/>
            <a:ext cx="4573191" cy="219456"/>
          </a:xfrm>
          <a:prstGeom prst="rect">
            <a:avLst/>
          </a:prstGeom>
        </p:spPr>
        <p:txBody>
          <a:bodyPr/>
          <a:lstStyle/>
          <a:p>
            <a:endParaRPr dirty="0"/>
          </a:p>
        </p:txBody>
      </p:sp>
      <p:sp>
        <p:nvSpPr>
          <p:cNvPr id="6" name="Text Placeholder 7"/>
          <p:cNvSpPr>
            <a:spLocks noGrp="1"/>
          </p:cNvSpPr>
          <p:nvPr>
            <p:ph type="body" sz="quarter" idx="13" hasCustomPrompt="1"/>
          </p:nvPr>
        </p:nvSpPr>
        <p:spPr>
          <a:xfrm>
            <a:off x="609600" y="778752"/>
            <a:ext cx="10972800"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t>Click to add subtitle</a:t>
            </a:r>
          </a:p>
        </p:txBody>
      </p:sp>
    </p:spTree>
    <p:extLst>
      <p:ext uri="{BB962C8B-B14F-4D97-AF65-F5344CB8AC3E}">
        <p14:creationId xmlns:p14="http://schemas.microsoft.com/office/powerpoint/2010/main" val="1081739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773">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591" lvl="0" indent="-228591">
              <a:lnSpc>
                <a:spcPct val="130000"/>
              </a:lnSpc>
            </a:pPr>
            <a:r>
              <a:rPr lang="en-US"/>
              <a:t>Edit Master text styles</a:t>
            </a:r>
          </a:p>
        </p:txBody>
      </p:sp>
    </p:spTree>
    <p:extLst>
      <p:ext uri="{BB962C8B-B14F-4D97-AF65-F5344CB8AC3E}">
        <p14:creationId xmlns:p14="http://schemas.microsoft.com/office/powerpoint/2010/main" val="22738515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vmlDrawing" Target="../drawings/vmlDrawing1.vml"/><Relationship Id="rId50"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47" Type="http://schemas.openxmlformats.org/officeDocument/2006/relationships/oleObject" Target="../embeddings/oleObject2.bin"/><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vmlDrawing" Target="../drawings/vmlDrawing2.v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4" Type="http://schemas.openxmlformats.org/officeDocument/2006/relationships/theme" Target="../theme/theme2.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48" Type="http://schemas.openxmlformats.org/officeDocument/2006/relationships/image" Target="../media/image1.emf"/><Relationship Id="rId8" Type="http://schemas.openxmlformats.org/officeDocument/2006/relationships/slideLayout" Target="../slideLayouts/slideLayout53.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46" Type="http://schemas.openxmlformats.org/officeDocument/2006/relationships/tags" Target="../tags/tag3.xml"/><Relationship Id="rId20" Type="http://schemas.openxmlformats.org/officeDocument/2006/relationships/slideLayout" Target="../slideLayouts/slideLayout65.xml"/><Relationship Id="rId41"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8"/>
            </p:custDataLst>
            <p:extLst>
              <p:ext uri="{D42A27DB-BD31-4B8C-83A1-F6EECF244321}">
                <p14:modId xmlns:p14="http://schemas.microsoft.com/office/powerpoint/2010/main" val="1616855049"/>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2412" name="think-cell Slide" r:id="rId49" imgW="270" imgH="270" progId="TCLayout.ActiveDocument.1">
                  <p:embed/>
                </p:oleObj>
              </mc:Choice>
              <mc:Fallback>
                <p:oleObj name="think-cell Slide" r:id="rId49" imgW="270" imgH="270" progId="TCLayout.ActiveDocument.1">
                  <p:embed/>
                  <p:pic>
                    <p:nvPicPr>
                      <p:cNvPr id="0" name=""/>
                      <p:cNvPicPr/>
                      <p:nvPr/>
                    </p:nvPicPr>
                    <p:blipFill>
                      <a:blip r:embed="rId50"/>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CaseCode"/>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tx1"/>
                </a:solidFill>
              </a:rPr>
              <a:t>Big data and analytics delivery</a:t>
            </a:r>
          </a:p>
        </p:txBody>
      </p:sp>
      <p:sp>
        <p:nvSpPr>
          <p:cNvPr id="11" name="Copyright"/>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dirty="0">
                <a:solidFill>
                  <a:schemeClr val="tx1"/>
                </a:solidFill>
                <a:latin typeface="+mn-lt"/>
              </a:rPr>
              <a:t>Copyright © 2019 Deloitte Development LLC. All rights reserved.</a:t>
            </a:r>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5" r:id="rId3"/>
    <p:sldLayoutId id="2147483756" r:id="rId4"/>
    <p:sldLayoutId id="2147483703" r:id="rId5"/>
    <p:sldLayoutId id="2147483704" r:id="rId6"/>
    <p:sldLayoutId id="2147483705" r:id="rId7"/>
    <p:sldLayoutId id="2147483706" r:id="rId8"/>
    <p:sldLayoutId id="2147483707" r:id="rId9"/>
    <p:sldLayoutId id="2147483713" r:id="rId10"/>
    <p:sldLayoutId id="2147483708" r:id="rId11"/>
    <p:sldLayoutId id="2147483710" r:id="rId12"/>
    <p:sldLayoutId id="2147483754" r:id="rId13"/>
    <p:sldLayoutId id="2147483711" r:id="rId14"/>
    <p:sldLayoutId id="2147483753" r:id="rId15"/>
    <p:sldLayoutId id="2147483679" r:id="rId16"/>
    <p:sldLayoutId id="2147483712" r:id="rId17"/>
    <p:sldLayoutId id="2147483678" r:id="rId18"/>
    <p:sldLayoutId id="2147483681" r:id="rId19"/>
    <p:sldLayoutId id="2147483735" r:id="rId20"/>
    <p:sldLayoutId id="2147483699" r:id="rId21"/>
    <p:sldLayoutId id="2147483714" r:id="rId22"/>
    <p:sldLayoutId id="2147483697" r:id="rId23"/>
    <p:sldLayoutId id="2147483718" r:id="rId24"/>
    <p:sldLayoutId id="2147483715" r:id="rId25"/>
    <p:sldLayoutId id="2147483716" r:id="rId26"/>
    <p:sldLayoutId id="2147483717" r:id="rId27"/>
    <p:sldLayoutId id="2147483728" r:id="rId28"/>
    <p:sldLayoutId id="2147483720" r:id="rId29"/>
    <p:sldLayoutId id="2147483721" r:id="rId30"/>
    <p:sldLayoutId id="2147483722" r:id="rId31"/>
    <p:sldLayoutId id="2147483695" r:id="rId32"/>
    <p:sldLayoutId id="2147483751" r:id="rId33"/>
    <p:sldLayoutId id="2147483724" r:id="rId34"/>
    <p:sldLayoutId id="2147483725" r:id="rId35"/>
    <p:sldLayoutId id="2147483726" r:id="rId36"/>
    <p:sldLayoutId id="2147483727" r:id="rId37"/>
    <p:sldLayoutId id="2147483698" r:id="rId38"/>
    <p:sldLayoutId id="2147483752" r:id="rId39"/>
    <p:sldLayoutId id="2147483696" r:id="rId40"/>
    <p:sldLayoutId id="2147483750" r:id="rId41"/>
    <p:sldLayoutId id="2147483757" r:id="rId42"/>
    <p:sldLayoutId id="2147483758" r:id="rId43"/>
    <p:sldLayoutId id="2147483759" r:id="rId44"/>
    <p:sldLayoutId id="2147483760" r:id="rId45"/>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6"/>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3082"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CaseCode"/>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tx1"/>
                </a:solidFill>
              </a:rPr>
              <a:t>Big data and analytics delivery</a:t>
            </a:r>
          </a:p>
        </p:txBody>
      </p:sp>
      <p:sp>
        <p:nvSpPr>
          <p:cNvPr id="11" name="Copyright"/>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dirty="0">
                <a:solidFill>
                  <a:schemeClr val="tx1"/>
                </a:solidFill>
                <a:latin typeface="+mn-lt"/>
              </a:rPr>
              <a:t>Copyright © 2019 Deloitte Development LLC. All rights reserved.</a:t>
            </a:r>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11140131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1" r:id="rId30"/>
    <p:sldLayoutId id="2147483792" r:id="rId31"/>
    <p:sldLayoutId id="2147483793" r:id="rId32"/>
    <p:sldLayoutId id="2147483794" r:id="rId33"/>
    <p:sldLayoutId id="2147483795" r:id="rId34"/>
    <p:sldLayoutId id="2147483796" r:id="rId35"/>
    <p:sldLayoutId id="2147483797" r:id="rId36"/>
    <p:sldLayoutId id="2147483798" r:id="rId37"/>
    <p:sldLayoutId id="2147483799" r:id="rId38"/>
    <p:sldLayoutId id="2147483800" r:id="rId39"/>
    <p:sldLayoutId id="2147483801" r:id="rId40"/>
    <p:sldLayoutId id="2147483802" r:id="rId41"/>
    <p:sldLayoutId id="2147483803" r:id="rId42"/>
    <p:sldLayoutId id="2147483804" r:id="rId43"/>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Layout" Target="../slideLayouts/slideLayout18.xml"/><Relationship Id="rId4" Type="http://schemas.openxmlformats.org/officeDocument/2006/relationships/slide" Target="slide6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8.xml"/><Relationship Id="rId5" Type="http://schemas.openxmlformats.org/officeDocument/2006/relationships/image" Target="../media/image7.pn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3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3" Type="http://schemas.openxmlformats.org/officeDocument/2006/relationships/hyperlink" Target="https://openclipart.org/detail/193560/cloud-by-cinemacookie-193560" TargetMode="External"/><Relationship Id="rId2" Type="http://schemas.openxmlformats.org/officeDocument/2006/relationships/image" Target="../media/image14.png"/><Relationship Id="rId1" Type="http://schemas.openxmlformats.org/officeDocument/2006/relationships/slideLayout" Target="../slideLayouts/slideLayout39.xml"/><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5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jpe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jpeg"/><Relationship Id="rId25" Type="http://schemas.openxmlformats.org/officeDocument/2006/relationships/image" Target="../media/image42.jpeg"/><Relationship Id="rId2" Type="http://schemas.openxmlformats.org/officeDocument/2006/relationships/image" Target="../media/image19.png"/><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39.xml"/><Relationship Id="rId6" Type="http://schemas.openxmlformats.org/officeDocument/2006/relationships/image" Target="../media/image23.png"/><Relationship Id="rId11" Type="http://schemas.openxmlformats.org/officeDocument/2006/relationships/image" Target="../media/image28.png"/><Relationship Id="rId24" Type="http://schemas.openxmlformats.org/officeDocument/2006/relationships/image" Target="../media/image41.png"/><Relationship Id="rId5" Type="http://schemas.openxmlformats.org/officeDocument/2006/relationships/image" Target="../media/image22.png"/><Relationship Id="rId15" Type="http://schemas.openxmlformats.org/officeDocument/2006/relationships/image" Target="../media/image32.jpeg"/><Relationship Id="rId23" Type="http://schemas.openxmlformats.org/officeDocument/2006/relationships/image" Target="../media/image40.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22" Type="http://schemas.openxmlformats.org/officeDocument/2006/relationships/image" Target="../media/image39.png"/></Relationships>
</file>

<file path=ppt/slides/_rels/slide54.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39.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51.jpeg"/><Relationship Id="rId4" Type="http://schemas.openxmlformats.org/officeDocument/2006/relationships/image" Target="../media/image45.png"/><Relationship Id="rId9" Type="http://schemas.openxmlformats.org/officeDocument/2006/relationships/image" Target="../media/image50.jpeg"/></Relationships>
</file>

<file path=ppt/slides/_rels/slide5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39.xml"/><Relationship Id="rId6" Type="http://schemas.openxmlformats.org/officeDocument/2006/relationships/image" Target="../media/image55.jpeg"/><Relationship Id="rId5" Type="http://schemas.openxmlformats.org/officeDocument/2006/relationships/image" Target="../media/image54.png"/><Relationship Id="rId10" Type="http://schemas.microsoft.com/office/2007/relationships/hdphoto" Target="../media/hdphoto3.wdp"/><Relationship Id="rId4" Type="http://schemas.openxmlformats.org/officeDocument/2006/relationships/image" Target="../media/image53.png"/><Relationship Id="rId9" Type="http://schemas.openxmlformats.org/officeDocument/2006/relationships/image" Target="../media/image58.png"/></Relationships>
</file>

<file path=ppt/slides/_rels/slide56.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3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9.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image" Target="../media/image61.png"/><Relationship Id="rId1" Type="http://schemas.openxmlformats.org/officeDocument/2006/relationships/slideLayout" Target="../slideLayouts/slideLayout39.xml"/><Relationship Id="rId6" Type="http://schemas.openxmlformats.org/officeDocument/2006/relationships/image" Target="../media/image64.png"/><Relationship Id="rId5" Type="http://schemas.microsoft.com/office/2007/relationships/hdphoto" Target="../media/hdphoto4.wdp"/><Relationship Id="rId4" Type="http://schemas.openxmlformats.org/officeDocument/2006/relationships/image" Target="../media/image63.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eg"/><Relationship Id="rId1" Type="http://schemas.openxmlformats.org/officeDocument/2006/relationships/slideLayout" Target="../slideLayouts/slideLayout18.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jpe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jpeg"/><Relationship Id="rId1" Type="http://schemas.openxmlformats.org/officeDocument/2006/relationships/slideLayout" Target="../slideLayouts/slideLayout18.xml"/><Relationship Id="rId5" Type="http://schemas.openxmlformats.org/officeDocument/2006/relationships/image" Target="../media/image69.png"/><Relationship Id="rId4" Type="http://schemas.openxmlformats.org/officeDocument/2006/relationships/image" Target="../media/image73.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34" Type="http://schemas.openxmlformats.org/officeDocument/2006/relationships/image" Target="../media/image105.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33" Type="http://schemas.openxmlformats.org/officeDocument/2006/relationships/image" Target="../media/image104.png"/><Relationship Id="rId2" Type="http://schemas.openxmlformats.org/officeDocument/2006/relationships/notesSlide" Target="../notesSlides/notesSlide25.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18.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32" Type="http://schemas.openxmlformats.org/officeDocument/2006/relationships/image" Target="../media/image103.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31" Type="http://schemas.openxmlformats.org/officeDocument/2006/relationships/image" Target="../media/image102.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 Id="rId35" Type="http://schemas.openxmlformats.org/officeDocument/2006/relationships/image" Target="../media/image106.png"/><Relationship Id="rId8" Type="http://schemas.openxmlformats.org/officeDocument/2006/relationships/image" Target="../media/image7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9.xml"/></Relationships>
</file>

<file path=ppt/slides/_rels/slide77.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27.xml"/><Relationship Id="rId1" Type="http://schemas.openxmlformats.org/officeDocument/2006/relationships/slideLayout" Target="../slideLayouts/slideLayout84.xml"/><Relationship Id="rId6" Type="http://schemas.openxmlformats.org/officeDocument/2006/relationships/image" Target="../media/image110.jpg"/><Relationship Id="rId5" Type="http://schemas.openxmlformats.org/officeDocument/2006/relationships/image" Target="../media/image109.png"/><Relationship Id="rId4" Type="http://schemas.openxmlformats.org/officeDocument/2006/relationships/image" Target="../media/image10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E1021F60-42DC-4847-9CF9-242BD7DA8DF1}"/>
              </a:ext>
            </a:extLst>
          </p:cNvPr>
          <p:cNvPicPr>
            <a:picLocks noGrp="1" noChangeAspect="1"/>
          </p:cNvPicPr>
          <p:nvPr>
            <p:ph type="pic" sz="quarter" idx="11"/>
          </p:nvPr>
        </p:nvPicPr>
        <p:blipFill>
          <a:blip r:embed="rId3"/>
          <a:srcRect l="15" r="15"/>
          <a:stretch>
            <a:fillRect/>
          </a:stretch>
        </p:blipFill>
        <p:spPr>
          <a:xfrm>
            <a:off x="3195687" y="166238"/>
            <a:ext cx="6494912" cy="6494912"/>
          </a:xfrm>
        </p:spPr>
      </p:pic>
      <p:sp>
        <p:nvSpPr>
          <p:cNvPr id="4" name="Subtitle 3"/>
          <p:cNvSpPr>
            <a:spLocks noGrp="1"/>
          </p:cNvSpPr>
          <p:nvPr>
            <p:ph type="subTitle" idx="1"/>
          </p:nvPr>
        </p:nvSpPr>
        <p:spPr/>
        <p:txBody>
          <a:bodyPr/>
          <a:lstStyle/>
          <a:p>
            <a:r>
              <a:rPr lang="en-US" dirty="0"/>
              <a:t>Big Data and Analytics</a:t>
            </a:r>
          </a:p>
          <a:p>
            <a:pPr lvl="1"/>
            <a:r>
              <a:rPr lang="en-US" dirty="0"/>
              <a:t>Architecture Patterns and Standards Playbook</a:t>
            </a:r>
            <a:endParaRPr lang="en-US" noProof="0" dirty="0"/>
          </a:p>
        </p:txBody>
      </p:sp>
      <p:sp>
        <p:nvSpPr>
          <p:cNvPr id="5" name="Text Placeholder 4"/>
          <p:cNvSpPr>
            <a:spLocks noGrp="1"/>
          </p:cNvSpPr>
          <p:nvPr>
            <p:ph type="body" sz="quarter" idx="10"/>
          </p:nvPr>
        </p:nvSpPr>
        <p:spPr/>
        <p:txBody>
          <a:bodyPr/>
          <a:lstStyle/>
          <a:p>
            <a:r>
              <a:rPr lang="en-US" dirty="0"/>
              <a:t>Next Gen Architecture Program</a:t>
            </a:r>
          </a:p>
        </p:txBody>
      </p:sp>
    </p:spTree>
    <p:extLst>
      <p:ext uri="{BB962C8B-B14F-4D97-AF65-F5344CB8AC3E}">
        <p14:creationId xmlns:p14="http://schemas.microsoft.com/office/powerpoint/2010/main" val="8619572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6B7B15F-539D-4719-B0B0-47B1F7059525}"/>
              </a:ext>
            </a:extLst>
          </p:cNvPr>
          <p:cNvSpPr>
            <a:spLocks noGrp="1"/>
          </p:cNvSpPr>
          <p:nvPr>
            <p:ph idx="1"/>
          </p:nvPr>
        </p:nvSpPr>
        <p:spPr>
          <a:xfrm>
            <a:off x="838994" y="1112044"/>
            <a:ext cx="10883106" cy="4633911"/>
          </a:xfrm>
        </p:spPr>
        <p:txBody>
          <a:bodyPr/>
          <a:lstStyle/>
          <a:p>
            <a:pPr lvl="1">
              <a:spcAft>
                <a:spcPts val="1100"/>
              </a:spcAft>
            </a:pPr>
            <a:r>
              <a:rPr lang="en-US" sz="1400" dirty="0">
                <a:hlinkClick r:id="rId2" action="ppaction://hlinksldjump"/>
              </a:rPr>
              <a:t>Big Data &amp; Analytics Trends</a:t>
            </a:r>
            <a:endParaRPr lang="en-US" sz="1400" dirty="0"/>
          </a:p>
          <a:p>
            <a:pPr lvl="2">
              <a:spcAft>
                <a:spcPts val="1100"/>
              </a:spcAft>
            </a:pPr>
            <a:r>
              <a:rPr lang="en-US" sz="1400" dirty="0"/>
              <a:t>Purpose of reference architecture </a:t>
            </a:r>
          </a:p>
          <a:p>
            <a:pPr lvl="2">
              <a:spcAft>
                <a:spcPts val="1100"/>
              </a:spcAft>
            </a:pPr>
            <a:r>
              <a:rPr lang="en-US" sz="1400" dirty="0"/>
              <a:t>Current and emerging </a:t>
            </a:r>
            <a:br>
              <a:rPr lang="en-US" sz="1400" dirty="0"/>
            </a:br>
            <a:r>
              <a:rPr lang="en-US" sz="1400" dirty="0"/>
              <a:t>Big Data &amp; Analytics Trends</a:t>
            </a:r>
          </a:p>
          <a:p>
            <a:pPr lvl="1">
              <a:spcAft>
                <a:spcPts val="1100"/>
              </a:spcAft>
            </a:pPr>
            <a:r>
              <a:rPr lang="en-US" sz="1400" dirty="0">
                <a:hlinkClick r:id="rId3" action="ppaction://hlinksldjump"/>
              </a:rPr>
              <a:t>Big Data &amp; Analytics architecture components </a:t>
            </a:r>
            <a:endParaRPr lang="en-US" sz="1400" dirty="0"/>
          </a:p>
          <a:p>
            <a:pPr lvl="2">
              <a:spcAft>
                <a:spcPts val="1100"/>
              </a:spcAft>
            </a:pPr>
            <a:r>
              <a:rPr lang="en-US" sz="1400" dirty="0"/>
              <a:t>Non functional requirements</a:t>
            </a:r>
          </a:p>
          <a:p>
            <a:pPr lvl="2">
              <a:spcAft>
                <a:spcPts val="1100"/>
              </a:spcAft>
            </a:pPr>
            <a:r>
              <a:rPr lang="en-US" sz="1400" dirty="0"/>
              <a:t>Architecture principles</a:t>
            </a:r>
          </a:p>
          <a:p>
            <a:pPr lvl="2">
              <a:spcAft>
                <a:spcPts val="1100"/>
              </a:spcAft>
            </a:pPr>
            <a:r>
              <a:rPr lang="en-US" sz="1400" dirty="0"/>
              <a:t>Reference architecture and capabilities</a:t>
            </a:r>
          </a:p>
          <a:p>
            <a:pPr lvl="2">
              <a:spcAft>
                <a:spcPts val="1100"/>
              </a:spcAft>
            </a:pPr>
            <a:r>
              <a:rPr lang="en-US" sz="1400" dirty="0"/>
              <a:t>Architectural patterns</a:t>
            </a:r>
          </a:p>
          <a:p>
            <a:pPr lvl="1">
              <a:spcAft>
                <a:spcPts val="1100"/>
              </a:spcAft>
            </a:pPr>
            <a:r>
              <a:rPr lang="en-US" sz="1400" dirty="0">
                <a:hlinkClick r:id="rId4" action="ppaction://hlinksldjump"/>
              </a:rPr>
              <a:t>Vendor specific architectures</a:t>
            </a:r>
            <a:endParaRPr lang="en-US" sz="1400" dirty="0"/>
          </a:p>
          <a:p>
            <a:pPr lvl="2">
              <a:spcAft>
                <a:spcPts val="1100"/>
              </a:spcAft>
            </a:pPr>
            <a:r>
              <a:rPr lang="en-US" sz="1400" dirty="0"/>
              <a:t>AWS</a:t>
            </a:r>
          </a:p>
          <a:p>
            <a:pPr lvl="2">
              <a:spcAft>
                <a:spcPts val="1100"/>
              </a:spcAft>
            </a:pPr>
            <a:r>
              <a:rPr lang="en-US" sz="1400" dirty="0"/>
              <a:t>Azure</a:t>
            </a:r>
          </a:p>
          <a:p>
            <a:pPr lvl="2">
              <a:spcAft>
                <a:spcPts val="1100"/>
              </a:spcAft>
            </a:pPr>
            <a:r>
              <a:rPr lang="en-US" sz="1400" dirty="0"/>
              <a:t>GCP</a:t>
            </a:r>
          </a:p>
          <a:p>
            <a:pPr lvl="1">
              <a:spcAft>
                <a:spcPts val="1100"/>
              </a:spcAft>
            </a:pPr>
            <a:r>
              <a:rPr lang="en-US" sz="1400" dirty="0"/>
              <a:t>Industry solutions (WIP)</a:t>
            </a:r>
          </a:p>
        </p:txBody>
      </p:sp>
      <p:sp>
        <p:nvSpPr>
          <p:cNvPr id="21" name="Title 20">
            <a:extLst>
              <a:ext uri="{FF2B5EF4-FFF2-40B4-BE49-F238E27FC236}">
                <a16:creationId xmlns:a16="http://schemas.microsoft.com/office/drawing/2014/main" id="{9A118FC7-F771-4C5A-92E5-9F2CF9F6C770}"/>
              </a:ext>
            </a:extLst>
          </p:cNvPr>
          <p:cNvSpPr>
            <a:spLocks noGrp="1"/>
          </p:cNvSpPr>
          <p:nvPr>
            <p:ph type="title"/>
          </p:nvPr>
        </p:nvSpPr>
        <p:spPr/>
        <p:txBody>
          <a:bodyPr/>
          <a:lstStyle/>
          <a:p>
            <a:r>
              <a:rPr lang="en-US" dirty="0"/>
              <a:t>Big data and analytics – architecture patterns and practice: table of contents</a:t>
            </a:r>
          </a:p>
        </p:txBody>
      </p:sp>
      <p:sp>
        <p:nvSpPr>
          <p:cNvPr id="5" name="Oval 4">
            <a:extLst>
              <a:ext uri="{FF2B5EF4-FFF2-40B4-BE49-F238E27FC236}">
                <a16:creationId xmlns:a16="http://schemas.microsoft.com/office/drawing/2014/main" id="{37C28EA7-E716-4F62-81DA-5190E25AB174}"/>
              </a:ext>
            </a:extLst>
          </p:cNvPr>
          <p:cNvSpPr/>
          <p:nvPr/>
        </p:nvSpPr>
        <p:spPr bwMode="gray">
          <a:xfrm>
            <a:off x="535889" y="1059517"/>
            <a:ext cx="369094" cy="369094"/>
          </a:xfrm>
          <a:prstGeom prst="ellipse">
            <a:avLst/>
          </a:prstGeom>
          <a:solidFill>
            <a:schemeClr val="accent1"/>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rPr>
              <a:t>01</a:t>
            </a:r>
            <a:endParaRPr lang="en-GB" sz="1400" dirty="0">
              <a:solidFill>
                <a:schemeClr val="bg1"/>
              </a:solidFill>
            </a:endParaRPr>
          </a:p>
        </p:txBody>
      </p:sp>
      <p:sp>
        <p:nvSpPr>
          <p:cNvPr id="7" name="Oval 6">
            <a:extLst>
              <a:ext uri="{FF2B5EF4-FFF2-40B4-BE49-F238E27FC236}">
                <a16:creationId xmlns:a16="http://schemas.microsoft.com/office/drawing/2014/main" id="{0D47A3A0-4F37-4A7F-833F-5A6663553D56}"/>
              </a:ext>
            </a:extLst>
          </p:cNvPr>
          <p:cNvSpPr/>
          <p:nvPr/>
        </p:nvSpPr>
        <p:spPr bwMode="gray">
          <a:xfrm>
            <a:off x="535889" y="2327281"/>
            <a:ext cx="369094" cy="369094"/>
          </a:xfrm>
          <a:prstGeom prst="ellipse">
            <a:avLst/>
          </a:prstGeom>
          <a:solidFill>
            <a:schemeClr val="accent1"/>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rPr>
              <a:t>02</a:t>
            </a:r>
            <a:endParaRPr lang="en-GB" sz="1400" dirty="0">
              <a:solidFill>
                <a:schemeClr val="bg1"/>
              </a:solidFill>
            </a:endParaRPr>
          </a:p>
        </p:txBody>
      </p:sp>
      <p:sp>
        <p:nvSpPr>
          <p:cNvPr id="8" name="Oval 7">
            <a:extLst>
              <a:ext uri="{FF2B5EF4-FFF2-40B4-BE49-F238E27FC236}">
                <a16:creationId xmlns:a16="http://schemas.microsoft.com/office/drawing/2014/main" id="{77133F0E-5CAA-41ED-8F2E-EB859485F330}"/>
              </a:ext>
            </a:extLst>
          </p:cNvPr>
          <p:cNvSpPr/>
          <p:nvPr/>
        </p:nvSpPr>
        <p:spPr bwMode="gray">
          <a:xfrm>
            <a:off x="535889" y="4023969"/>
            <a:ext cx="369094" cy="369094"/>
          </a:xfrm>
          <a:prstGeom prst="ellipse">
            <a:avLst/>
          </a:prstGeom>
          <a:solidFill>
            <a:schemeClr val="accent1"/>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rPr>
              <a:t>03</a:t>
            </a:r>
            <a:endParaRPr lang="en-GB" sz="1400" dirty="0">
              <a:solidFill>
                <a:schemeClr val="bg1"/>
              </a:solidFill>
            </a:endParaRPr>
          </a:p>
        </p:txBody>
      </p:sp>
      <p:sp>
        <p:nvSpPr>
          <p:cNvPr id="9" name="Oval 8">
            <a:extLst>
              <a:ext uri="{FF2B5EF4-FFF2-40B4-BE49-F238E27FC236}">
                <a16:creationId xmlns:a16="http://schemas.microsoft.com/office/drawing/2014/main" id="{F2F0ED41-3435-496B-8FB5-FF44BFB9BAA5}"/>
              </a:ext>
            </a:extLst>
          </p:cNvPr>
          <p:cNvSpPr/>
          <p:nvPr/>
        </p:nvSpPr>
        <p:spPr bwMode="gray">
          <a:xfrm>
            <a:off x="535889" y="5480558"/>
            <a:ext cx="369094" cy="369094"/>
          </a:xfrm>
          <a:prstGeom prst="ellipse">
            <a:avLst/>
          </a:prstGeom>
          <a:solidFill>
            <a:schemeClr val="accent1"/>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rPr>
              <a:t>0</a:t>
            </a:r>
            <a:r>
              <a:rPr lang="en-US" sz="1400" dirty="0">
                <a:solidFill>
                  <a:schemeClr val="bg1"/>
                </a:solidFill>
              </a:rPr>
              <a:t>4</a:t>
            </a:r>
            <a:endParaRPr lang="en-GB" sz="1400" dirty="0">
              <a:solidFill>
                <a:schemeClr val="bg1"/>
              </a:solidFill>
            </a:endParaRPr>
          </a:p>
        </p:txBody>
      </p:sp>
    </p:spTree>
    <p:extLst>
      <p:ext uri="{BB962C8B-B14F-4D97-AF65-F5344CB8AC3E}">
        <p14:creationId xmlns:p14="http://schemas.microsoft.com/office/powerpoint/2010/main" val="190732527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noProof="0" dirty="0"/>
              <a:t>Big Data and Analytics </a:t>
            </a:r>
            <a:r>
              <a:rPr lang="en-US" dirty="0"/>
              <a:t>P</a:t>
            </a:r>
            <a:r>
              <a:rPr lang="en-US" noProof="0" dirty="0" err="1"/>
              <a:t>atterns</a:t>
            </a:r>
            <a:endParaRPr lang="en-US" noProof="0" dirty="0"/>
          </a:p>
        </p:txBody>
      </p:sp>
      <p:sp>
        <p:nvSpPr>
          <p:cNvPr id="2" name="Text Placeholder 1">
            <a:extLst>
              <a:ext uri="{FF2B5EF4-FFF2-40B4-BE49-F238E27FC236}">
                <a16:creationId xmlns:a16="http://schemas.microsoft.com/office/drawing/2014/main" id="{C054D14A-015D-4454-B908-429114C2229C}"/>
              </a:ext>
            </a:extLst>
          </p:cNvPr>
          <p:cNvSpPr>
            <a:spLocks noGrp="1"/>
          </p:cNvSpPr>
          <p:nvPr>
            <p:ph type="body" idx="1"/>
          </p:nvPr>
        </p:nvSpPr>
        <p:spPr/>
        <p:txBody>
          <a:bodyPr/>
          <a:lstStyle/>
          <a:p>
            <a:r>
              <a:rPr lang="en-US" dirty="0"/>
              <a:t>Current and emerging big data and analytics trends</a:t>
            </a:r>
          </a:p>
        </p:txBody>
      </p:sp>
    </p:spTree>
    <p:extLst>
      <p:ext uri="{BB962C8B-B14F-4D97-AF65-F5344CB8AC3E}">
        <p14:creationId xmlns:p14="http://schemas.microsoft.com/office/powerpoint/2010/main" val="180875612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4BFA0BA-60FF-4FC7-A554-3A9B3650B093}"/>
              </a:ext>
            </a:extLst>
          </p:cNvPr>
          <p:cNvSpPr>
            <a:spLocks noGrp="1"/>
          </p:cNvSpPr>
          <p:nvPr>
            <p:ph idx="1"/>
          </p:nvPr>
        </p:nvSpPr>
        <p:spPr/>
        <p:txBody>
          <a:bodyPr/>
          <a:lstStyle/>
          <a:p>
            <a:r>
              <a:rPr lang="en-US" sz="2000" b="1" dirty="0"/>
              <a:t>Overview:</a:t>
            </a:r>
            <a:r>
              <a:rPr lang="en-US" sz="2000" dirty="0"/>
              <a:t> Deloitte’s Big Data and Analytics: Patterns and Standards document is a reference artifact for Architects and Technical staff. The document could be used in the project scoping and architecture definition phase to define a standards’ based Architecture Blueprint for a Big Data or Cloud Analytics project.</a:t>
            </a:r>
          </a:p>
          <a:p>
            <a:r>
              <a:rPr lang="en-US" sz="2000" b="1" dirty="0"/>
              <a:t>Document contents: </a:t>
            </a:r>
            <a:r>
              <a:rPr lang="en-US" sz="2000" dirty="0"/>
              <a:t>The document contains definition of capabilities and Principles and Patterns of design that can be leveraged for the future state architecture. The document also contains vendor specific reference architecture for Big Data and Analytics workloads and commonly </a:t>
            </a:r>
            <a:br>
              <a:rPr lang="en-US" sz="2000" dirty="0"/>
            </a:br>
            <a:r>
              <a:rPr lang="en-US" sz="2000" dirty="0"/>
              <a:t>used components.</a:t>
            </a:r>
          </a:p>
          <a:p>
            <a:r>
              <a:rPr lang="en-US" sz="2000" b="1" dirty="0"/>
              <a:t>Technical components:</a:t>
            </a:r>
            <a:r>
              <a:rPr lang="en-US" sz="2000" dirty="0"/>
              <a:t> This document also serves as a library of Deloitte’s reusable technical components and common data services implemented across projects. </a:t>
            </a:r>
          </a:p>
        </p:txBody>
      </p:sp>
      <p:sp>
        <p:nvSpPr>
          <p:cNvPr id="3" name="Title 2">
            <a:extLst>
              <a:ext uri="{FF2B5EF4-FFF2-40B4-BE49-F238E27FC236}">
                <a16:creationId xmlns:a16="http://schemas.microsoft.com/office/drawing/2014/main" id="{C541EB94-2C6D-488B-BEFA-C5D5C0548059}"/>
              </a:ext>
            </a:extLst>
          </p:cNvPr>
          <p:cNvSpPr>
            <a:spLocks noGrp="1"/>
          </p:cNvSpPr>
          <p:nvPr>
            <p:ph type="title"/>
          </p:nvPr>
        </p:nvSpPr>
        <p:spPr/>
        <p:txBody>
          <a:bodyPr/>
          <a:lstStyle/>
          <a:p>
            <a:r>
              <a:rPr lang="en-US" dirty="0"/>
              <a:t>How to use this playbook</a:t>
            </a:r>
          </a:p>
        </p:txBody>
      </p:sp>
      <p:sp>
        <p:nvSpPr>
          <p:cNvPr id="4" name="Rectangle 3">
            <a:extLst>
              <a:ext uri="{FF2B5EF4-FFF2-40B4-BE49-F238E27FC236}">
                <a16:creationId xmlns:a16="http://schemas.microsoft.com/office/drawing/2014/main" id="{7335C926-3F6E-4380-B7C5-45B6C4F1CEB2}"/>
              </a:ext>
            </a:extLst>
          </p:cNvPr>
          <p:cNvSpPr/>
          <p:nvPr/>
        </p:nvSpPr>
        <p:spPr>
          <a:xfrm>
            <a:off x="479732" y="6089745"/>
            <a:ext cx="10591390" cy="215444"/>
          </a:xfrm>
          <a:prstGeom prst="rect">
            <a:avLst/>
          </a:prstGeom>
        </p:spPr>
        <p:txBody>
          <a:bodyPr wrap="square" lIns="0" tIns="0" rIns="0" bIns="0">
            <a:spAutoFit/>
          </a:bodyPr>
          <a:lstStyle/>
          <a:p>
            <a:r>
              <a:rPr lang="en-US" sz="700" dirty="0">
                <a:latin typeface="+mj-lt"/>
              </a:rPr>
              <a:t>As used in this document, “Deloitte” means Deloitte Consulting LLP, a subsidiary of Deloitte LLP. Please see www.deloitte.com/us/about for a detailed description of the legal structure of Deloitte USA LLP, Deloitte LLP and their</a:t>
            </a:r>
          </a:p>
          <a:p>
            <a:r>
              <a:rPr lang="en-US" sz="700" dirty="0">
                <a:latin typeface="+mj-lt"/>
              </a:rPr>
              <a:t>respective subsidiaries. Certain services may not be available to attest clients under the rules and regulations of public accounting.</a:t>
            </a:r>
          </a:p>
        </p:txBody>
      </p:sp>
    </p:spTree>
    <p:extLst>
      <p:ext uri="{BB962C8B-B14F-4D97-AF65-F5344CB8AC3E}">
        <p14:creationId xmlns:p14="http://schemas.microsoft.com/office/powerpoint/2010/main" val="38939876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9" name="Title 1"/>
          <p:cNvSpPr>
            <a:spLocks noGrp="1"/>
          </p:cNvSpPr>
          <p:nvPr>
            <p:ph type="title"/>
          </p:nvPr>
        </p:nvSpPr>
        <p:spPr/>
        <p:txBody>
          <a:bodyPr/>
          <a:lstStyle/>
          <a:p>
            <a:r>
              <a:rPr lang="en-US" altLang="ja-JP" dirty="0"/>
              <a:t>Emerging big data and analytics trends</a:t>
            </a:r>
            <a:endParaRPr lang="en-US" dirty="0"/>
          </a:p>
        </p:txBody>
      </p:sp>
      <p:sp>
        <p:nvSpPr>
          <p:cNvPr id="72" name="Freeform 6">
            <a:extLst>
              <a:ext uri="{FF2B5EF4-FFF2-40B4-BE49-F238E27FC236}">
                <a16:creationId xmlns:a16="http://schemas.microsoft.com/office/drawing/2014/main" id="{B856763D-A144-4D21-BE7B-A4FD969D8224}"/>
              </a:ext>
            </a:extLst>
          </p:cNvPr>
          <p:cNvSpPr>
            <a:spLocks/>
          </p:cNvSpPr>
          <p:nvPr/>
        </p:nvSpPr>
        <p:spPr bwMode="auto">
          <a:xfrm>
            <a:off x="0" y="4576625"/>
            <a:ext cx="11247347" cy="1878789"/>
          </a:xfrm>
          <a:custGeom>
            <a:avLst/>
            <a:gdLst>
              <a:gd name="T0" fmla="*/ 4422 w 4637"/>
              <a:gd name="T1" fmla="*/ 0 h 1380"/>
              <a:gd name="T2" fmla="*/ 588 w 4637"/>
              <a:gd name="T3" fmla="*/ 0 h 1380"/>
              <a:gd name="T4" fmla="*/ 0 w 4637"/>
              <a:gd name="T5" fmla="*/ 156 h 1380"/>
              <a:gd name="T6" fmla="*/ 0 w 4637"/>
              <a:gd name="T7" fmla="*/ 1380 h 1380"/>
              <a:gd name="T8" fmla="*/ 588 w 4637"/>
              <a:gd name="T9" fmla="*/ 553 h 1380"/>
              <a:gd name="T10" fmla="*/ 4417 w 4637"/>
              <a:gd name="T11" fmla="*/ 553 h 1380"/>
              <a:gd name="T12" fmla="*/ 4637 w 4637"/>
              <a:gd name="T13" fmla="*/ 0 h 1380"/>
              <a:gd name="T14" fmla="*/ 4422 w 4637"/>
              <a:gd name="T15" fmla="*/ 0 h 13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7" h="1380">
                <a:moveTo>
                  <a:pt x="4422" y="0"/>
                </a:moveTo>
                <a:lnTo>
                  <a:pt x="588" y="0"/>
                </a:lnTo>
                <a:lnTo>
                  <a:pt x="0" y="156"/>
                </a:lnTo>
                <a:lnTo>
                  <a:pt x="0" y="1380"/>
                </a:lnTo>
                <a:lnTo>
                  <a:pt x="588" y="553"/>
                </a:lnTo>
                <a:lnTo>
                  <a:pt x="4417" y="553"/>
                </a:lnTo>
                <a:lnTo>
                  <a:pt x="4637" y="0"/>
                </a:lnTo>
                <a:lnTo>
                  <a:pt x="4422" y="0"/>
                </a:lnTo>
              </a:path>
            </a:pathLst>
          </a:custGeom>
          <a:solidFill>
            <a:schemeClr val="accent6"/>
          </a:solidFill>
          <a:ln w="9525" cap="flat">
            <a:noFill/>
            <a:prstDash val="solid"/>
            <a:miter lim="800000"/>
            <a:headEnd/>
            <a:tailEnd/>
          </a:ln>
        </p:spPr>
        <p:txBody>
          <a:bodyPr vert="horz" wrap="square" lIns="91440" tIns="91440" rIns="91440" bIns="91440" numCol="1" anchor="t" anchorCtr="0" compatLnSpc="1">
            <a:prstTxWarp prst="textNoShape">
              <a:avLst/>
            </a:prstTxWarp>
          </a:bodyPr>
          <a:lstStyle/>
          <a:p>
            <a:endParaRPr lang="en-US"/>
          </a:p>
        </p:txBody>
      </p:sp>
      <p:sp>
        <p:nvSpPr>
          <p:cNvPr id="73" name="Freeform 7">
            <a:extLst>
              <a:ext uri="{FF2B5EF4-FFF2-40B4-BE49-F238E27FC236}">
                <a16:creationId xmlns:a16="http://schemas.microsoft.com/office/drawing/2014/main" id="{2779BFCB-9A79-4B1B-A5A0-B916ACE422CE}"/>
              </a:ext>
            </a:extLst>
          </p:cNvPr>
          <p:cNvSpPr>
            <a:spLocks/>
          </p:cNvSpPr>
          <p:nvPr/>
        </p:nvSpPr>
        <p:spPr bwMode="auto">
          <a:xfrm>
            <a:off x="1" y="597364"/>
            <a:ext cx="11252200" cy="1858367"/>
          </a:xfrm>
          <a:custGeom>
            <a:avLst/>
            <a:gdLst>
              <a:gd name="T0" fmla="*/ 4420 w 4639"/>
              <a:gd name="T1" fmla="*/ 1365 h 1365"/>
              <a:gd name="T2" fmla="*/ 4639 w 4639"/>
              <a:gd name="T3" fmla="*/ 819 h 1365"/>
              <a:gd name="T4" fmla="*/ 588 w 4639"/>
              <a:gd name="T5" fmla="*/ 819 h 1365"/>
              <a:gd name="T6" fmla="*/ 0 w 4639"/>
              <a:gd name="T7" fmla="*/ 0 h 1365"/>
              <a:gd name="T8" fmla="*/ 0 w 4639"/>
              <a:gd name="T9" fmla="*/ 982 h 1365"/>
              <a:gd name="T10" fmla="*/ 588 w 4639"/>
              <a:gd name="T11" fmla="*/ 1365 h 1365"/>
              <a:gd name="T12" fmla="*/ 4420 w 4639"/>
              <a:gd name="T13" fmla="*/ 1365 h 1365"/>
            </a:gdLst>
            <a:ahLst/>
            <a:cxnLst>
              <a:cxn ang="0">
                <a:pos x="T0" y="T1"/>
              </a:cxn>
              <a:cxn ang="0">
                <a:pos x="T2" y="T3"/>
              </a:cxn>
              <a:cxn ang="0">
                <a:pos x="T4" y="T5"/>
              </a:cxn>
              <a:cxn ang="0">
                <a:pos x="T6" y="T7"/>
              </a:cxn>
              <a:cxn ang="0">
                <a:pos x="T8" y="T9"/>
              </a:cxn>
              <a:cxn ang="0">
                <a:pos x="T10" y="T11"/>
              </a:cxn>
              <a:cxn ang="0">
                <a:pos x="T12" y="T13"/>
              </a:cxn>
            </a:cxnLst>
            <a:rect l="0" t="0" r="r" b="b"/>
            <a:pathLst>
              <a:path w="4639" h="1365">
                <a:moveTo>
                  <a:pt x="4420" y="1365"/>
                </a:moveTo>
                <a:lnTo>
                  <a:pt x="4639" y="819"/>
                </a:lnTo>
                <a:lnTo>
                  <a:pt x="588" y="819"/>
                </a:lnTo>
                <a:lnTo>
                  <a:pt x="0" y="0"/>
                </a:lnTo>
                <a:lnTo>
                  <a:pt x="0" y="982"/>
                </a:lnTo>
                <a:lnTo>
                  <a:pt x="588" y="1365"/>
                </a:lnTo>
                <a:lnTo>
                  <a:pt x="4420" y="1365"/>
                </a:lnTo>
                <a:close/>
              </a:path>
            </a:pathLst>
          </a:custGeom>
          <a:solidFill>
            <a:schemeClr val="accent1"/>
          </a:solidFill>
          <a:ln w="9525" cap="flat">
            <a:noFill/>
            <a:prstDash val="solid"/>
            <a:miter lim="800000"/>
            <a:headEnd/>
            <a:tailEnd/>
          </a:ln>
        </p:spPr>
        <p:txBody>
          <a:bodyPr vert="horz" wrap="square" lIns="91440" tIns="91440" rIns="91440" bIns="91440" numCol="1" anchor="t" anchorCtr="0" compatLnSpc="1">
            <a:prstTxWarp prst="textNoShape">
              <a:avLst/>
            </a:prstTxWarp>
          </a:bodyPr>
          <a:lstStyle/>
          <a:p>
            <a:endParaRPr lang="en-US"/>
          </a:p>
        </p:txBody>
      </p:sp>
      <p:sp>
        <p:nvSpPr>
          <p:cNvPr id="74" name="Freeform 8">
            <a:extLst>
              <a:ext uri="{FF2B5EF4-FFF2-40B4-BE49-F238E27FC236}">
                <a16:creationId xmlns:a16="http://schemas.microsoft.com/office/drawing/2014/main" id="{E1AD2D37-1169-4012-94A0-168FD962DAFE}"/>
              </a:ext>
            </a:extLst>
          </p:cNvPr>
          <p:cNvSpPr>
            <a:spLocks/>
          </p:cNvSpPr>
          <p:nvPr/>
        </p:nvSpPr>
        <p:spPr bwMode="auto">
          <a:xfrm>
            <a:off x="1" y="1914368"/>
            <a:ext cx="11252200" cy="1255249"/>
          </a:xfrm>
          <a:custGeom>
            <a:avLst/>
            <a:gdLst>
              <a:gd name="T0" fmla="*/ 4420 w 4639"/>
              <a:gd name="T1" fmla="*/ 383 h 922"/>
              <a:gd name="T2" fmla="*/ 588 w 4639"/>
              <a:gd name="T3" fmla="*/ 383 h 922"/>
              <a:gd name="T4" fmla="*/ 0 w 4639"/>
              <a:gd name="T5" fmla="*/ 0 h 922"/>
              <a:gd name="T6" fmla="*/ 0 w 4639"/>
              <a:gd name="T7" fmla="*/ 678 h 922"/>
              <a:gd name="T8" fmla="*/ 588 w 4639"/>
              <a:gd name="T9" fmla="*/ 922 h 922"/>
              <a:gd name="T10" fmla="*/ 4424 w 4639"/>
              <a:gd name="T11" fmla="*/ 922 h 922"/>
              <a:gd name="T12" fmla="*/ 4639 w 4639"/>
              <a:gd name="T13" fmla="*/ 383 h 922"/>
              <a:gd name="T14" fmla="*/ 4420 w 4639"/>
              <a:gd name="T15" fmla="*/ 383 h 9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9" h="922">
                <a:moveTo>
                  <a:pt x="4420" y="383"/>
                </a:moveTo>
                <a:lnTo>
                  <a:pt x="588" y="383"/>
                </a:lnTo>
                <a:lnTo>
                  <a:pt x="0" y="0"/>
                </a:lnTo>
                <a:lnTo>
                  <a:pt x="0" y="678"/>
                </a:lnTo>
                <a:lnTo>
                  <a:pt x="588" y="922"/>
                </a:lnTo>
                <a:lnTo>
                  <a:pt x="4424" y="922"/>
                </a:lnTo>
                <a:lnTo>
                  <a:pt x="4639" y="383"/>
                </a:lnTo>
                <a:lnTo>
                  <a:pt x="4420" y="383"/>
                </a:lnTo>
              </a:path>
            </a:pathLst>
          </a:custGeom>
          <a:solidFill>
            <a:schemeClr val="accent3"/>
          </a:solidFill>
          <a:ln w="9525" cap="flat">
            <a:noFill/>
            <a:prstDash val="solid"/>
            <a:miter lim="800000"/>
            <a:headEnd/>
            <a:tailEnd/>
          </a:ln>
        </p:spPr>
        <p:txBody>
          <a:bodyPr vert="horz" wrap="square" lIns="91440" tIns="91440" rIns="91440" bIns="91440" numCol="1" anchor="t" anchorCtr="0" compatLnSpc="1">
            <a:prstTxWarp prst="textNoShape">
              <a:avLst/>
            </a:prstTxWarp>
          </a:bodyPr>
          <a:lstStyle/>
          <a:p>
            <a:endParaRPr lang="en-US"/>
          </a:p>
        </p:txBody>
      </p:sp>
      <p:sp>
        <p:nvSpPr>
          <p:cNvPr id="75" name="Freeform 9">
            <a:extLst>
              <a:ext uri="{FF2B5EF4-FFF2-40B4-BE49-F238E27FC236}">
                <a16:creationId xmlns:a16="http://schemas.microsoft.com/office/drawing/2014/main" id="{34A68DCD-FA16-4F3D-8C29-943092168236}"/>
              </a:ext>
            </a:extLst>
          </p:cNvPr>
          <p:cNvSpPr>
            <a:spLocks/>
          </p:cNvSpPr>
          <p:nvPr/>
        </p:nvSpPr>
        <p:spPr bwMode="auto">
          <a:xfrm>
            <a:off x="0" y="3717660"/>
            <a:ext cx="11247347" cy="1089153"/>
          </a:xfrm>
          <a:custGeom>
            <a:avLst/>
            <a:gdLst>
              <a:gd name="T0" fmla="*/ 4420 w 4637"/>
              <a:gd name="T1" fmla="*/ 106 h 800"/>
              <a:gd name="T2" fmla="*/ 590 w 4637"/>
              <a:gd name="T3" fmla="*/ 106 h 800"/>
              <a:gd name="T4" fmla="*/ 0 w 4637"/>
              <a:gd name="T5" fmla="*/ 0 h 800"/>
              <a:gd name="T6" fmla="*/ 0 w 4637"/>
              <a:gd name="T7" fmla="*/ 800 h 800"/>
              <a:gd name="T8" fmla="*/ 588 w 4637"/>
              <a:gd name="T9" fmla="*/ 644 h 800"/>
              <a:gd name="T10" fmla="*/ 4422 w 4637"/>
              <a:gd name="T11" fmla="*/ 644 h 800"/>
              <a:gd name="T12" fmla="*/ 4637 w 4637"/>
              <a:gd name="T13" fmla="*/ 106 h 800"/>
              <a:gd name="T14" fmla="*/ 4420 w 4637"/>
              <a:gd name="T15" fmla="*/ 106 h 8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7" h="800">
                <a:moveTo>
                  <a:pt x="4420" y="106"/>
                </a:moveTo>
                <a:lnTo>
                  <a:pt x="590" y="106"/>
                </a:lnTo>
                <a:lnTo>
                  <a:pt x="0" y="0"/>
                </a:lnTo>
                <a:lnTo>
                  <a:pt x="0" y="800"/>
                </a:lnTo>
                <a:lnTo>
                  <a:pt x="588" y="644"/>
                </a:lnTo>
                <a:lnTo>
                  <a:pt x="4422" y="644"/>
                </a:lnTo>
                <a:lnTo>
                  <a:pt x="4637" y="106"/>
                </a:lnTo>
                <a:lnTo>
                  <a:pt x="4420" y="106"/>
                </a:lnTo>
              </a:path>
            </a:pathLst>
          </a:custGeom>
          <a:solidFill>
            <a:schemeClr val="accent5"/>
          </a:solidFill>
          <a:ln w="9525" cap="flat">
            <a:noFill/>
            <a:prstDash val="solid"/>
            <a:miter lim="800000"/>
            <a:headEnd/>
            <a:tailEnd/>
          </a:ln>
        </p:spPr>
        <p:txBody>
          <a:bodyPr vert="horz" wrap="square" lIns="91440" tIns="91440" rIns="91440" bIns="91440" numCol="1" anchor="t" anchorCtr="0" compatLnSpc="1">
            <a:prstTxWarp prst="textNoShape">
              <a:avLst/>
            </a:prstTxWarp>
          </a:bodyPr>
          <a:lstStyle/>
          <a:p>
            <a:endParaRPr lang="en-US"/>
          </a:p>
        </p:txBody>
      </p:sp>
      <p:sp>
        <p:nvSpPr>
          <p:cNvPr id="76" name="Freeform 10">
            <a:extLst>
              <a:ext uri="{FF2B5EF4-FFF2-40B4-BE49-F238E27FC236}">
                <a16:creationId xmlns:a16="http://schemas.microsoft.com/office/drawing/2014/main" id="{3EDFAD3A-0C20-49DB-814E-5A179B22B6DE}"/>
              </a:ext>
            </a:extLst>
          </p:cNvPr>
          <p:cNvSpPr>
            <a:spLocks/>
          </p:cNvSpPr>
          <p:nvPr/>
        </p:nvSpPr>
        <p:spPr bwMode="auto">
          <a:xfrm>
            <a:off x="0" y="2818681"/>
            <a:ext cx="11242498" cy="1061925"/>
          </a:xfrm>
          <a:custGeom>
            <a:avLst/>
            <a:gdLst>
              <a:gd name="T0" fmla="*/ 4424 w 4635"/>
              <a:gd name="T1" fmla="*/ 244 h 780"/>
              <a:gd name="T2" fmla="*/ 588 w 4635"/>
              <a:gd name="T3" fmla="*/ 244 h 780"/>
              <a:gd name="T4" fmla="*/ 0 w 4635"/>
              <a:gd name="T5" fmla="*/ 0 h 780"/>
              <a:gd name="T6" fmla="*/ 0 w 4635"/>
              <a:gd name="T7" fmla="*/ 674 h 780"/>
              <a:gd name="T8" fmla="*/ 590 w 4635"/>
              <a:gd name="T9" fmla="*/ 780 h 780"/>
              <a:gd name="T10" fmla="*/ 4420 w 4635"/>
              <a:gd name="T11" fmla="*/ 780 h 780"/>
              <a:gd name="T12" fmla="*/ 4635 w 4635"/>
              <a:gd name="T13" fmla="*/ 244 h 780"/>
              <a:gd name="T14" fmla="*/ 4424 w 4635"/>
              <a:gd name="T15" fmla="*/ 244 h 7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5" h="780">
                <a:moveTo>
                  <a:pt x="4424" y="244"/>
                </a:moveTo>
                <a:lnTo>
                  <a:pt x="588" y="244"/>
                </a:lnTo>
                <a:lnTo>
                  <a:pt x="0" y="0"/>
                </a:lnTo>
                <a:lnTo>
                  <a:pt x="0" y="674"/>
                </a:lnTo>
                <a:lnTo>
                  <a:pt x="590" y="780"/>
                </a:lnTo>
                <a:lnTo>
                  <a:pt x="4420" y="780"/>
                </a:lnTo>
                <a:lnTo>
                  <a:pt x="4635" y="244"/>
                </a:lnTo>
                <a:lnTo>
                  <a:pt x="4424" y="244"/>
                </a:lnTo>
              </a:path>
            </a:pathLst>
          </a:custGeom>
          <a:solidFill>
            <a:schemeClr val="accent2"/>
          </a:solidFill>
          <a:ln w="9525" cap="flat">
            <a:noFill/>
            <a:prstDash val="solid"/>
            <a:miter lim="800000"/>
            <a:headEnd/>
            <a:tailEnd/>
          </a:ln>
        </p:spPr>
        <p:txBody>
          <a:bodyPr vert="horz" wrap="square" lIns="91440" tIns="91440" rIns="91440" bIns="91440" numCol="1" anchor="t" anchorCtr="0" compatLnSpc="1">
            <a:prstTxWarp prst="textNoShape">
              <a:avLst/>
            </a:prstTxWarp>
          </a:bodyPr>
          <a:lstStyle/>
          <a:p>
            <a:endParaRPr lang="en-US"/>
          </a:p>
        </p:txBody>
      </p:sp>
      <p:sp>
        <p:nvSpPr>
          <p:cNvPr id="77" name="Rectangle 76">
            <a:extLst>
              <a:ext uri="{FF2B5EF4-FFF2-40B4-BE49-F238E27FC236}">
                <a16:creationId xmlns:a16="http://schemas.microsoft.com/office/drawing/2014/main" id="{35CF721B-0400-4809-A756-F4BB890CDDBA}"/>
              </a:ext>
            </a:extLst>
          </p:cNvPr>
          <p:cNvSpPr/>
          <p:nvPr/>
        </p:nvSpPr>
        <p:spPr>
          <a:xfrm>
            <a:off x="3459637" y="1772535"/>
            <a:ext cx="7315201" cy="553998"/>
          </a:xfrm>
          <a:prstGeom prst="rect">
            <a:avLst/>
          </a:prstGeom>
          <a:ln>
            <a:noFill/>
          </a:ln>
        </p:spPr>
        <p:txBody>
          <a:bodyPr wrap="square" lIns="0" tIns="0" rIns="0" bIns="0">
            <a:spAutoFit/>
          </a:bodyPr>
          <a:lstStyle/>
          <a:p>
            <a:r>
              <a:rPr lang="en-US" sz="1200" dirty="0">
                <a:solidFill>
                  <a:schemeClr val="bg1"/>
                </a:solidFill>
              </a:rPr>
              <a:t>Demand for complete and meaningful insights embedded in the business processes to drive business decisions will grow. This will lead to transformative technologies, such as data science, machine learning and artificial intelligence (AI) embedded in the business systems</a:t>
            </a:r>
          </a:p>
        </p:txBody>
      </p:sp>
      <p:sp>
        <p:nvSpPr>
          <p:cNvPr id="85" name="Rectangle 84">
            <a:extLst>
              <a:ext uri="{FF2B5EF4-FFF2-40B4-BE49-F238E27FC236}">
                <a16:creationId xmlns:a16="http://schemas.microsoft.com/office/drawing/2014/main" id="{78A3E3C7-C9B7-4406-84C0-B5E56AB31D78}"/>
              </a:ext>
            </a:extLst>
          </p:cNvPr>
          <p:cNvSpPr/>
          <p:nvPr/>
        </p:nvSpPr>
        <p:spPr>
          <a:xfrm>
            <a:off x="3459638" y="2552997"/>
            <a:ext cx="7159082" cy="369332"/>
          </a:xfrm>
          <a:prstGeom prst="rect">
            <a:avLst/>
          </a:prstGeom>
          <a:ln>
            <a:noFill/>
          </a:ln>
        </p:spPr>
        <p:txBody>
          <a:bodyPr wrap="square" lIns="0" tIns="0" rIns="0" bIns="0">
            <a:spAutoFit/>
          </a:bodyPr>
          <a:lstStyle/>
          <a:p>
            <a:r>
              <a:rPr lang="en-US" sz="1200" dirty="0">
                <a:solidFill>
                  <a:schemeClr val="bg1"/>
                </a:solidFill>
              </a:rPr>
              <a:t>The business will drive need to respond to business events in real time, necessitating development of Real Time Systems using streaming data </a:t>
            </a:r>
          </a:p>
        </p:txBody>
      </p:sp>
      <p:sp>
        <p:nvSpPr>
          <p:cNvPr id="86" name="Rectangle 85">
            <a:extLst>
              <a:ext uri="{FF2B5EF4-FFF2-40B4-BE49-F238E27FC236}">
                <a16:creationId xmlns:a16="http://schemas.microsoft.com/office/drawing/2014/main" id="{68515DCA-B1B7-4703-9302-8952A76BD6BE}"/>
              </a:ext>
            </a:extLst>
          </p:cNvPr>
          <p:cNvSpPr/>
          <p:nvPr/>
        </p:nvSpPr>
        <p:spPr>
          <a:xfrm>
            <a:off x="3459638" y="3314605"/>
            <a:ext cx="7159082" cy="369332"/>
          </a:xfrm>
          <a:prstGeom prst="rect">
            <a:avLst/>
          </a:prstGeom>
          <a:ln>
            <a:noFill/>
          </a:ln>
        </p:spPr>
        <p:txBody>
          <a:bodyPr wrap="square" lIns="0" tIns="0" rIns="0" bIns="0">
            <a:spAutoFit/>
          </a:bodyPr>
          <a:lstStyle/>
          <a:p>
            <a:r>
              <a:rPr lang="en-US" sz="1200" dirty="0" err="1">
                <a:solidFill>
                  <a:schemeClr val="bg1"/>
                </a:solidFill>
              </a:rPr>
              <a:t>DaaS</a:t>
            </a:r>
            <a:r>
              <a:rPr lang="en-US" sz="1200" dirty="0">
                <a:solidFill>
                  <a:schemeClr val="bg1"/>
                </a:solidFill>
              </a:rPr>
              <a:t> as a standard service layer to provide access to organizational data spread across disparate data sources will be a standard way to consume data</a:t>
            </a:r>
          </a:p>
        </p:txBody>
      </p:sp>
      <p:sp>
        <p:nvSpPr>
          <p:cNvPr id="87" name="Rectangle 86">
            <a:extLst>
              <a:ext uri="{FF2B5EF4-FFF2-40B4-BE49-F238E27FC236}">
                <a16:creationId xmlns:a16="http://schemas.microsoft.com/office/drawing/2014/main" id="{1FA8FAFE-8AD8-4EDF-958B-AAE5BF2B06ED}"/>
              </a:ext>
            </a:extLst>
          </p:cNvPr>
          <p:cNvSpPr/>
          <p:nvPr/>
        </p:nvSpPr>
        <p:spPr>
          <a:xfrm>
            <a:off x="3459638" y="4000797"/>
            <a:ext cx="7159082" cy="369332"/>
          </a:xfrm>
          <a:prstGeom prst="rect">
            <a:avLst/>
          </a:prstGeom>
          <a:ln>
            <a:noFill/>
          </a:ln>
        </p:spPr>
        <p:txBody>
          <a:bodyPr wrap="square" lIns="0" tIns="0" rIns="0" bIns="0">
            <a:spAutoFit/>
          </a:bodyPr>
          <a:lstStyle/>
          <a:p>
            <a:r>
              <a:rPr lang="en-US" sz="1200" dirty="0">
                <a:solidFill>
                  <a:schemeClr val="bg1"/>
                </a:solidFill>
              </a:rPr>
              <a:t>Cloud native application pose Data Integration challenges between On-Premise and Cloud as well as pose data security, network security and cost management challenges</a:t>
            </a:r>
          </a:p>
        </p:txBody>
      </p:sp>
      <p:sp>
        <p:nvSpPr>
          <p:cNvPr id="88" name="Rectangle 87">
            <a:extLst>
              <a:ext uri="{FF2B5EF4-FFF2-40B4-BE49-F238E27FC236}">
                <a16:creationId xmlns:a16="http://schemas.microsoft.com/office/drawing/2014/main" id="{22C4D118-EE43-4E73-B147-1B26BEED0EA9}"/>
              </a:ext>
            </a:extLst>
          </p:cNvPr>
          <p:cNvSpPr/>
          <p:nvPr/>
        </p:nvSpPr>
        <p:spPr>
          <a:xfrm>
            <a:off x="3459638" y="4724697"/>
            <a:ext cx="7159082" cy="369332"/>
          </a:xfrm>
          <a:prstGeom prst="rect">
            <a:avLst/>
          </a:prstGeom>
          <a:ln>
            <a:noFill/>
          </a:ln>
        </p:spPr>
        <p:txBody>
          <a:bodyPr wrap="square" lIns="0" tIns="0" rIns="0" bIns="0">
            <a:spAutoFit/>
          </a:bodyPr>
          <a:lstStyle/>
          <a:p>
            <a:r>
              <a:rPr lang="en-US" sz="1200" dirty="0">
                <a:solidFill>
                  <a:schemeClr val="bg1"/>
                </a:solidFill>
              </a:rPr>
              <a:t>Organizations will adopt multiple cloud platforms as a strategy to avoid vendor lock-in, improve reliability and performance optimizations</a:t>
            </a:r>
          </a:p>
        </p:txBody>
      </p:sp>
      <p:sp>
        <p:nvSpPr>
          <p:cNvPr id="89" name="Rectangle 88">
            <a:extLst>
              <a:ext uri="{FF2B5EF4-FFF2-40B4-BE49-F238E27FC236}">
                <a16:creationId xmlns:a16="http://schemas.microsoft.com/office/drawing/2014/main" id="{9825EFAD-B93C-4518-9708-0FE414D7E707}"/>
              </a:ext>
            </a:extLst>
          </p:cNvPr>
          <p:cNvSpPr/>
          <p:nvPr/>
        </p:nvSpPr>
        <p:spPr>
          <a:xfrm>
            <a:off x="1670327" y="1807088"/>
            <a:ext cx="1299113" cy="430887"/>
          </a:xfrm>
          <a:prstGeom prst="rect">
            <a:avLst/>
          </a:prstGeom>
        </p:spPr>
        <p:txBody>
          <a:bodyPr wrap="square" lIns="0" tIns="0" rIns="0" bIns="0">
            <a:spAutoFit/>
          </a:bodyPr>
          <a:lstStyle/>
          <a:p>
            <a:r>
              <a:rPr lang="en-US" sz="1400" b="1" dirty="0">
                <a:solidFill>
                  <a:schemeClr val="bg1"/>
                </a:solidFill>
              </a:rPr>
              <a:t>Augmented analytics</a:t>
            </a:r>
          </a:p>
        </p:txBody>
      </p:sp>
      <p:sp>
        <p:nvSpPr>
          <p:cNvPr id="3" name="Rectangle 2">
            <a:extLst>
              <a:ext uri="{FF2B5EF4-FFF2-40B4-BE49-F238E27FC236}">
                <a16:creationId xmlns:a16="http://schemas.microsoft.com/office/drawing/2014/main" id="{8F3EBBFA-79D9-454E-886E-3473C3EF2196}"/>
              </a:ext>
            </a:extLst>
          </p:cNvPr>
          <p:cNvSpPr/>
          <p:nvPr/>
        </p:nvSpPr>
        <p:spPr>
          <a:xfrm>
            <a:off x="1670327" y="2530595"/>
            <a:ext cx="1212272" cy="523220"/>
          </a:xfrm>
          <a:prstGeom prst="rect">
            <a:avLst/>
          </a:prstGeom>
        </p:spPr>
        <p:txBody>
          <a:bodyPr wrap="square">
            <a:spAutoFit/>
          </a:bodyPr>
          <a:lstStyle/>
          <a:p>
            <a:r>
              <a:rPr lang="en-US" sz="1400" b="1" dirty="0">
                <a:solidFill>
                  <a:schemeClr val="bg1"/>
                </a:solidFill>
              </a:rPr>
              <a:t>Real time systems</a:t>
            </a:r>
            <a:endParaRPr lang="en-US" sz="1400" dirty="0">
              <a:solidFill>
                <a:schemeClr val="bg1"/>
              </a:solidFill>
            </a:endParaRPr>
          </a:p>
        </p:txBody>
      </p:sp>
      <p:sp>
        <p:nvSpPr>
          <p:cNvPr id="5" name="Rectangle 4">
            <a:extLst>
              <a:ext uri="{FF2B5EF4-FFF2-40B4-BE49-F238E27FC236}">
                <a16:creationId xmlns:a16="http://schemas.microsoft.com/office/drawing/2014/main" id="{06CF3639-C734-45F0-9F1C-9C13A7AD0683}"/>
              </a:ext>
            </a:extLst>
          </p:cNvPr>
          <p:cNvSpPr/>
          <p:nvPr/>
        </p:nvSpPr>
        <p:spPr>
          <a:xfrm>
            <a:off x="1670327" y="3248204"/>
            <a:ext cx="1761026" cy="523220"/>
          </a:xfrm>
          <a:prstGeom prst="rect">
            <a:avLst/>
          </a:prstGeom>
        </p:spPr>
        <p:txBody>
          <a:bodyPr wrap="square">
            <a:spAutoFit/>
          </a:bodyPr>
          <a:lstStyle/>
          <a:p>
            <a:r>
              <a:rPr lang="en-US" sz="1400" b="1" dirty="0">
                <a:solidFill>
                  <a:schemeClr val="bg1"/>
                </a:solidFill>
              </a:rPr>
              <a:t>Data as a Service (</a:t>
            </a:r>
            <a:r>
              <a:rPr lang="en-US" sz="1400" b="1" dirty="0" err="1">
                <a:solidFill>
                  <a:schemeClr val="bg1"/>
                </a:solidFill>
              </a:rPr>
              <a:t>DaaS</a:t>
            </a:r>
            <a:r>
              <a:rPr lang="en-US" sz="1400" b="1" dirty="0">
                <a:solidFill>
                  <a:schemeClr val="bg1"/>
                </a:solidFill>
              </a:rPr>
              <a:t>)</a:t>
            </a:r>
            <a:endParaRPr lang="en-US" sz="1400" dirty="0">
              <a:solidFill>
                <a:schemeClr val="bg1"/>
              </a:solidFill>
            </a:endParaRPr>
          </a:p>
        </p:txBody>
      </p:sp>
      <p:sp>
        <p:nvSpPr>
          <p:cNvPr id="6" name="Rectangle 5">
            <a:extLst>
              <a:ext uri="{FF2B5EF4-FFF2-40B4-BE49-F238E27FC236}">
                <a16:creationId xmlns:a16="http://schemas.microsoft.com/office/drawing/2014/main" id="{A5EAC8D1-99F8-4674-B8A9-0963A5F1B882}"/>
              </a:ext>
            </a:extLst>
          </p:cNvPr>
          <p:cNvSpPr/>
          <p:nvPr/>
        </p:nvSpPr>
        <p:spPr>
          <a:xfrm>
            <a:off x="1670327" y="4000797"/>
            <a:ext cx="1893006" cy="523220"/>
          </a:xfrm>
          <a:prstGeom prst="rect">
            <a:avLst/>
          </a:prstGeom>
        </p:spPr>
        <p:txBody>
          <a:bodyPr wrap="square">
            <a:spAutoFit/>
          </a:bodyPr>
          <a:lstStyle/>
          <a:p>
            <a:r>
              <a:rPr lang="en-US" sz="1400" b="1" dirty="0">
                <a:solidFill>
                  <a:schemeClr val="bg1"/>
                </a:solidFill>
              </a:rPr>
              <a:t>Cloud native big data computing</a:t>
            </a:r>
          </a:p>
        </p:txBody>
      </p:sp>
      <p:sp>
        <p:nvSpPr>
          <p:cNvPr id="91" name="Freeform 6">
            <a:extLst>
              <a:ext uri="{FF2B5EF4-FFF2-40B4-BE49-F238E27FC236}">
                <a16:creationId xmlns:a16="http://schemas.microsoft.com/office/drawing/2014/main" id="{6A442F74-1918-4938-A453-7AF3E43F8384}"/>
              </a:ext>
            </a:extLst>
          </p:cNvPr>
          <p:cNvSpPr>
            <a:spLocks/>
          </p:cNvSpPr>
          <p:nvPr/>
        </p:nvSpPr>
        <p:spPr bwMode="auto">
          <a:xfrm>
            <a:off x="-4573" y="5321241"/>
            <a:ext cx="11247347" cy="1878789"/>
          </a:xfrm>
          <a:custGeom>
            <a:avLst/>
            <a:gdLst>
              <a:gd name="T0" fmla="*/ 4422 w 4637"/>
              <a:gd name="T1" fmla="*/ 0 h 1380"/>
              <a:gd name="T2" fmla="*/ 588 w 4637"/>
              <a:gd name="T3" fmla="*/ 0 h 1380"/>
              <a:gd name="T4" fmla="*/ 0 w 4637"/>
              <a:gd name="T5" fmla="*/ 156 h 1380"/>
              <a:gd name="T6" fmla="*/ 0 w 4637"/>
              <a:gd name="T7" fmla="*/ 1380 h 1380"/>
              <a:gd name="T8" fmla="*/ 588 w 4637"/>
              <a:gd name="T9" fmla="*/ 553 h 1380"/>
              <a:gd name="T10" fmla="*/ 4417 w 4637"/>
              <a:gd name="T11" fmla="*/ 553 h 1380"/>
              <a:gd name="T12" fmla="*/ 4637 w 4637"/>
              <a:gd name="T13" fmla="*/ 0 h 1380"/>
              <a:gd name="T14" fmla="*/ 4422 w 4637"/>
              <a:gd name="T15" fmla="*/ 0 h 13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7" h="1380">
                <a:moveTo>
                  <a:pt x="4422" y="0"/>
                </a:moveTo>
                <a:lnTo>
                  <a:pt x="588" y="0"/>
                </a:lnTo>
                <a:lnTo>
                  <a:pt x="0" y="156"/>
                </a:lnTo>
                <a:lnTo>
                  <a:pt x="0" y="1380"/>
                </a:lnTo>
                <a:lnTo>
                  <a:pt x="588" y="553"/>
                </a:lnTo>
                <a:lnTo>
                  <a:pt x="4417" y="553"/>
                </a:lnTo>
                <a:lnTo>
                  <a:pt x="4637" y="0"/>
                </a:lnTo>
                <a:lnTo>
                  <a:pt x="4422" y="0"/>
                </a:lnTo>
              </a:path>
            </a:pathLst>
          </a:custGeom>
          <a:solidFill>
            <a:schemeClr val="tx1">
              <a:lumMod val="65000"/>
              <a:lumOff val="35000"/>
            </a:schemeClr>
          </a:solidFill>
          <a:ln w="9525" cap="flat">
            <a:noFill/>
            <a:prstDash val="solid"/>
            <a:miter lim="800000"/>
            <a:headEnd/>
            <a:tailEnd/>
          </a:ln>
        </p:spPr>
        <p:txBody>
          <a:bodyPr vert="horz" wrap="square" lIns="91440" tIns="91440" rIns="91440" bIns="9144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235B6D9A-478A-457E-BE30-F03BDC1BAC39}"/>
              </a:ext>
            </a:extLst>
          </p:cNvPr>
          <p:cNvSpPr/>
          <p:nvPr/>
        </p:nvSpPr>
        <p:spPr>
          <a:xfrm>
            <a:off x="1670327" y="4599581"/>
            <a:ext cx="1761026" cy="738664"/>
          </a:xfrm>
          <a:prstGeom prst="rect">
            <a:avLst/>
          </a:prstGeom>
        </p:spPr>
        <p:txBody>
          <a:bodyPr wrap="square">
            <a:spAutoFit/>
          </a:bodyPr>
          <a:lstStyle/>
          <a:p>
            <a:r>
              <a:rPr lang="en-US" sz="1400" b="1" dirty="0">
                <a:solidFill>
                  <a:schemeClr val="bg1"/>
                </a:solidFill>
              </a:rPr>
              <a:t>Multiple cloud platforms and scale</a:t>
            </a:r>
          </a:p>
        </p:txBody>
      </p:sp>
      <p:sp>
        <p:nvSpPr>
          <p:cNvPr id="94" name="Rectangle 93">
            <a:extLst>
              <a:ext uri="{FF2B5EF4-FFF2-40B4-BE49-F238E27FC236}">
                <a16:creationId xmlns:a16="http://schemas.microsoft.com/office/drawing/2014/main" id="{CAA89CAF-5711-4285-9A7B-E19F00503FC4}"/>
              </a:ext>
            </a:extLst>
          </p:cNvPr>
          <p:cNvSpPr/>
          <p:nvPr/>
        </p:nvSpPr>
        <p:spPr>
          <a:xfrm>
            <a:off x="3459637" y="5470111"/>
            <a:ext cx="7159082" cy="553998"/>
          </a:xfrm>
          <a:prstGeom prst="rect">
            <a:avLst/>
          </a:prstGeom>
          <a:ln>
            <a:noFill/>
          </a:ln>
        </p:spPr>
        <p:txBody>
          <a:bodyPr wrap="square" lIns="0" tIns="0" rIns="0" bIns="0">
            <a:spAutoFit/>
          </a:bodyPr>
          <a:lstStyle/>
          <a:p>
            <a:r>
              <a:rPr lang="en-US" sz="1200" dirty="0" err="1">
                <a:solidFill>
                  <a:schemeClr val="bg1"/>
                </a:solidFill>
              </a:rPr>
              <a:t>DataOps</a:t>
            </a:r>
            <a:r>
              <a:rPr lang="en-US" sz="1200" dirty="0">
                <a:solidFill>
                  <a:schemeClr val="bg1"/>
                </a:solidFill>
              </a:rPr>
              <a:t> is combination of Agile, DevOps and Lean Manufacturing process to speed the value realization of data projects. </a:t>
            </a:r>
            <a:r>
              <a:rPr lang="en-US" sz="1200" dirty="0" err="1">
                <a:solidFill>
                  <a:schemeClr val="bg1"/>
                </a:solidFill>
              </a:rPr>
              <a:t>DataOps</a:t>
            </a:r>
            <a:r>
              <a:rPr lang="en-US" sz="1200" dirty="0">
                <a:solidFill>
                  <a:schemeClr val="bg1"/>
                </a:solidFill>
              </a:rPr>
              <a:t> is an important component of data transformation projects</a:t>
            </a:r>
          </a:p>
        </p:txBody>
      </p:sp>
      <p:sp>
        <p:nvSpPr>
          <p:cNvPr id="95" name="Rectangle 94">
            <a:extLst>
              <a:ext uri="{FF2B5EF4-FFF2-40B4-BE49-F238E27FC236}">
                <a16:creationId xmlns:a16="http://schemas.microsoft.com/office/drawing/2014/main" id="{E87F89C8-81C7-47A3-8CC1-B8BAE9DBA839}"/>
              </a:ext>
            </a:extLst>
          </p:cNvPr>
          <p:cNvSpPr/>
          <p:nvPr/>
        </p:nvSpPr>
        <p:spPr>
          <a:xfrm>
            <a:off x="1670326" y="5486400"/>
            <a:ext cx="1761026" cy="307777"/>
          </a:xfrm>
          <a:prstGeom prst="rect">
            <a:avLst/>
          </a:prstGeom>
        </p:spPr>
        <p:txBody>
          <a:bodyPr wrap="square">
            <a:spAutoFit/>
          </a:bodyPr>
          <a:lstStyle/>
          <a:p>
            <a:r>
              <a:rPr lang="en-US" sz="1400" b="1" dirty="0" err="1">
                <a:solidFill>
                  <a:schemeClr val="bg1"/>
                </a:solidFill>
              </a:rPr>
              <a:t>DataOps</a:t>
            </a:r>
            <a:endParaRPr lang="en-US" sz="1400" b="1" dirty="0">
              <a:solidFill>
                <a:schemeClr val="bg1"/>
              </a:solidFill>
            </a:endParaRPr>
          </a:p>
        </p:txBody>
      </p:sp>
    </p:spTree>
    <p:extLst>
      <p:ext uri="{BB962C8B-B14F-4D97-AF65-F5344CB8AC3E}">
        <p14:creationId xmlns:p14="http://schemas.microsoft.com/office/powerpoint/2010/main" val="143461670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noProof="0" dirty="0"/>
              <a:t>Architecture description</a:t>
            </a:r>
          </a:p>
        </p:txBody>
      </p:sp>
      <p:sp>
        <p:nvSpPr>
          <p:cNvPr id="2" name="Text Placeholder 1">
            <a:extLst>
              <a:ext uri="{FF2B5EF4-FFF2-40B4-BE49-F238E27FC236}">
                <a16:creationId xmlns:a16="http://schemas.microsoft.com/office/drawing/2014/main" id="{0BFF9379-A177-499D-B02B-8ABEE08A1C4D}"/>
              </a:ext>
            </a:extLst>
          </p:cNvPr>
          <p:cNvSpPr>
            <a:spLocks noGrp="1"/>
          </p:cNvSpPr>
          <p:nvPr>
            <p:ph type="body" idx="1"/>
          </p:nvPr>
        </p:nvSpPr>
        <p:spPr/>
        <p:txBody>
          <a:bodyPr/>
          <a:lstStyle/>
          <a:p>
            <a:r>
              <a:rPr lang="en-US" dirty="0"/>
              <a:t>Non functional requirements</a:t>
            </a:r>
          </a:p>
        </p:txBody>
      </p:sp>
    </p:spTree>
    <p:extLst>
      <p:ext uri="{BB962C8B-B14F-4D97-AF65-F5344CB8AC3E}">
        <p14:creationId xmlns:p14="http://schemas.microsoft.com/office/powerpoint/2010/main" val="287253700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4B20C61-7F62-48CA-8E76-981DF398F002}"/>
              </a:ext>
            </a:extLst>
          </p:cNvPr>
          <p:cNvSpPr>
            <a:spLocks noGrp="1"/>
          </p:cNvSpPr>
          <p:nvPr>
            <p:ph idx="1"/>
          </p:nvPr>
        </p:nvSpPr>
        <p:spPr>
          <a:xfrm>
            <a:off x="469900" y="977134"/>
            <a:ext cx="11252200" cy="4633911"/>
          </a:xfrm>
        </p:spPr>
        <p:txBody>
          <a:bodyPr/>
          <a:lstStyle/>
          <a:p>
            <a:r>
              <a:rPr lang="en-US" b="1" dirty="0"/>
              <a:t>Document the architecture: </a:t>
            </a:r>
            <a:r>
              <a:rPr lang="en-US" dirty="0"/>
              <a:t>A well thought out architecture helps to build a robust data and analytics system which meets the stakeholder’s concerns, business requirements and business goals. A well documented architecture drives the decisions across the development lifecycle. This section provides a set of non-functional requirements and enterprise and application principles to drive the scope of architecture work for a system. </a:t>
            </a:r>
          </a:p>
          <a:p>
            <a:r>
              <a:rPr lang="en-US" b="1" dirty="0"/>
              <a:t>Scope the effort: </a:t>
            </a:r>
            <a:r>
              <a:rPr lang="en-US" dirty="0"/>
              <a:t>In the scoping phase of the project, identify architecture stakeholders, capture their concerns, and significant business requirements that impact the architecture. It should confirm and elaborate business goals, business drivers, and constraints that drive the architectural tradeoffs, and which have significant implications on the architecture. </a:t>
            </a:r>
          </a:p>
          <a:p>
            <a:r>
              <a:rPr lang="en-US" dirty="0"/>
              <a:t>Perform following steps (in any order) to capture the architecture scope of work.</a:t>
            </a:r>
          </a:p>
          <a:p>
            <a:pPr lvl="1"/>
            <a:r>
              <a:rPr lang="en-US" b="1" dirty="0"/>
              <a:t>Define functional requirements: </a:t>
            </a:r>
            <a:r>
              <a:rPr lang="en-US" dirty="0"/>
              <a:t>Define the non-functional requirements, understand the different types of workloads</a:t>
            </a:r>
          </a:p>
          <a:p>
            <a:pPr lvl="1"/>
            <a:r>
              <a:rPr lang="en-US" b="1" dirty="0"/>
              <a:t>Document architectural principles: </a:t>
            </a:r>
            <a:r>
              <a:rPr lang="en-US" dirty="0"/>
              <a:t>Document the Enterprise and Architecture principles based on the discussions with stakeholders and architects. E.g., Disaster Recovery is not required for Tier 3 applications (applications which are classified as non-mission critical)</a:t>
            </a:r>
          </a:p>
          <a:p>
            <a:pPr lvl="1"/>
            <a:r>
              <a:rPr lang="en-US" b="1" dirty="0"/>
              <a:t>Validate stakeholder alignment on scope: </a:t>
            </a:r>
            <a:r>
              <a:rPr lang="en-US" dirty="0"/>
              <a:t>Agree with the key stakeholders on the system boundaries and Architecture scope before embarking on the design of subsystems</a:t>
            </a:r>
          </a:p>
          <a:p>
            <a:pPr lvl="1"/>
            <a:r>
              <a:rPr lang="en-US" b="1" dirty="0"/>
              <a:t>Validate conceptual architecture:</a:t>
            </a:r>
            <a:r>
              <a:rPr lang="en-US" dirty="0"/>
              <a:t> Use the reference conceptual architecture to arrive at the architecture capabilities required for the program</a:t>
            </a:r>
          </a:p>
          <a:p>
            <a:pPr lvl="1"/>
            <a:r>
              <a:rPr lang="en-US" b="1" dirty="0"/>
              <a:t>Identify gaps:</a:t>
            </a:r>
            <a:r>
              <a:rPr lang="en-US" dirty="0"/>
              <a:t> If current architecture exists then identify gaps between current and target state conceptual architecture</a:t>
            </a:r>
          </a:p>
          <a:p>
            <a:pPr lvl="1"/>
            <a:r>
              <a:rPr lang="en-US" b="1" dirty="0"/>
              <a:t>Define technical architecture:</a:t>
            </a:r>
            <a:r>
              <a:rPr lang="en-US" dirty="0"/>
              <a:t> Create Technical Architecture and create views and drive viewpoints for significant architecture requirements (e.g. Security, Auditing etc.). These views are tailored for various audiences.</a:t>
            </a:r>
          </a:p>
        </p:txBody>
      </p:sp>
      <p:sp>
        <p:nvSpPr>
          <p:cNvPr id="4" name="Title 3">
            <a:extLst>
              <a:ext uri="{FF2B5EF4-FFF2-40B4-BE49-F238E27FC236}">
                <a16:creationId xmlns:a16="http://schemas.microsoft.com/office/drawing/2014/main" id="{EA9CD1C8-BE8C-47FA-86F3-9514BF6DDB38}"/>
              </a:ext>
            </a:extLst>
          </p:cNvPr>
          <p:cNvSpPr>
            <a:spLocks noGrp="1"/>
          </p:cNvSpPr>
          <p:nvPr>
            <p:ph type="title"/>
          </p:nvPr>
        </p:nvSpPr>
        <p:spPr/>
        <p:txBody>
          <a:bodyPr/>
          <a:lstStyle/>
          <a:p>
            <a:r>
              <a:rPr lang="en-US" dirty="0"/>
              <a:t>Architecture building blocks</a:t>
            </a:r>
          </a:p>
        </p:txBody>
      </p:sp>
    </p:spTree>
    <p:extLst>
      <p:ext uri="{BB962C8B-B14F-4D97-AF65-F5344CB8AC3E}">
        <p14:creationId xmlns:p14="http://schemas.microsoft.com/office/powerpoint/2010/main" val="402864419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24" name="Title 1"/>
          <p:cNvSpPr>
            <a:spLocks noGrp="1"/>
          </p:cNvSpPr>
          <p:nvPr>
            <p:ph type="title"/>
          </p:nvPr>
        </p:nvSpPr>
        <p:spPr/>
        <p:txBody>
          <a:bodyPr/>
          <a:lstStyle/>
          <a:p>
            <a:r>
              <a:rPr lang="en-US" altLang="en-US" dirty="0"/>
              <a:t>Examples of non–functional requirements</a:t>
            </a:r>
          </a:p>
        </p:txBody>
      </p:sp>
      <p:graphicFrame>
        <p:nvGraphicFramePr>
          <p:cNvPr id="3" name="Table 2">
            <a:extLst>
              <a:ext uri="{FF2B5EF4-FFF2-40B4-BE49-F238E27FC236}">
                <a16:creationId xmlns:a16="http://schemas.microsoft.com/office/drawing/2014/main" id="{D926DB67-2B3B-4314-8310-1B1E234AFB58}"/>
              </a:ext>
            </a:extLst>
          </p:cNvPr>
          <p:cNvGraphicFramePr>
            <a:graphicFrameLocks noGrp="1"/>
          </p:cNvGraphicFramePr>
          <p:nvPr>
            <p:extLst>
              <p:ext uri="{D42A27DB-BD31-4B8C-83A1-F6EECF244321}">
                <p14:modId xmlns:p14="http://schemas.microsoft.com/office/powerpoint/2010/main" val="1199318081"/>
              </p:ext>
            </p:extLst>
          </p:nvPr>
        </p:nvGraphicFramePr>
        <p:xfrm>
          <a:off x="469900" y="1680549"/>
          <a:ext cx="11252200" cy="4358640"/>
        </p:xfrm>
        <a:graphic>
          <a:graphicData uri="http://schemas.openxmlformats.org/drawingml/2006/table">
            <a:tbl>
              <a:tblPr>
                <a:effectLst/>
              </a:tblPr>
              <a:tblGrid>
                <a:gridCol w="1054100">
                  <a:extLst>
                    <a:ext uri="{9D8B030D-6E8A-4147-A177-3AD203B41FA5}">
                      <a16:colId xmlns:a16="http://schemas.microsoft.com/office/drawing/2014/main" val="1825055872"/>
                    </a:ext>
                  </a:extLst>
                </a:gridCol>
                <a:gridCol w="1995948">
                  <a:extLst>
                    <a:ext uri="{9D8B030D-6E8A-4147-A177-3AD203B41FA5}">
                      <a16:colId xmlns:a16="http://schemas.microsoft.com/office/drawing/2014/main" val="204092323"/>
                    </a:ext>
                  </a:extLst>
                </a:gridCol>
                <a:gridCol w="8202152">
                  <a:extLst>
                    <a:ext uri="{9D8B030D-6E8A-4147-A177-3AD203B41FA5}">
                      <a16:colId xmlns:a16="http://schemas.microsoft.com/office/drawing/2014/main" val="815242480"/>
                    </a:ext>
                  </a:extLst>
                </a:gridCol>
              </a:tblGrid>
              <a:tr h="0">
                <a:tc>
                  <a:txBody>
                    <a:bodyPr/>
                    <a:lstStyle/>
                    <a:p>
                      <a:pPr algn="l" rtl="0" fontAlgn="ctr"/>
                      <a:r>
                        <a:rPr lang="en-US" sz="1100" b="1" u="none" strike="noStrike" dirty="0">
                          <a:solidFill>
                            <a:schemeClr val="bg1"/>
                          </a:solidFill>
                          <a:effectLst/>
                        </a:rPr>
                        <a:t>#</a:t>
                      </a:r>
                      <a:endParaRPr lang="en-US" sz="1100" b="1" i="0" u="none" strike="noStrike" dirty="0">
                        <a:solidFill>
                          <a:schemeClr val="bg1"/>
                        </a:solidFill>
                        <a:effectLst/>
                        <a:latin typeface="Arial" panose="020B0604020202020204" pitchFamily="34" charset="0"/>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rtl="0" fontAlgn="ctr"/>
                      <a:r>
                        <a:rPr lang="en-US" sz="1100" b="1" u="none" strike="noStrike" dirty="0">
                          <a:solidFill>
                            <a:schemeClr val="bg1"/>
                          </a:solidFill>
                          <a:effectLst/>
                        </a:rPr>
                        <a:t>Category</a:t>
                      </a:r>
                      <a:endParaRPr lang="en-US" sz="1100" b="1" i="0" u="none" strike="noStrike" dirty="0">
                        <a:solidFill>
                          <a:schemeClr val="bg1"/>
                        </a:solidFill>
                        <a:effectLst/>
                        <a:latin typeface="Arial" panose="020B0604020202020204" pitchFamily="34" charset="0"/>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rtl="0" fontAlgn="ctr"/>
                      <a:r>
                        <a:rPr lang="en-US" sz="1100" b="1" u="none" strike="noStrike" dirty="0">
                          <a:solidFill>
                            <a:schemeClr val="bg1"/>
                          </a:solidFill>
                          <a:effectLst/>
                        </a:rPr>
                        <a:t>Description</a:t>
                      </a:r>
                      <a:endParaRPr lang="en-US" sz="1100" b="1" i="0" u="none" strike="noStrike" dirty="0">
                        <a:solidFill>
                          <a:schemeClr val="bg1"/>
                        </a:solidFill>
                        <a:effectLst/>
                        <a:latin typeface="Arial" panose="020B0604020202020204" pitchFamily="34" charset="0"/>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714746780"/>
                  </a:ext>
                </a:extLst>
              </a:tr>
              <a:tr h="0">
                <a:tc>
                  <a:txBody>
                    <a:bodyPr/>
                    <a:lstStyle/>
                    <a:p>
                      <a:pPr algn="l" rtl="0" fontAlgn="b"/>
                      <a:r>
                        <a:rPr lang="en-US" sz="1100" b="1" u="none" strike="noStrike" dirty="0">
                          <a:solidFill>
                            <a:schemeClr val="tx1"/>
                          </a:solidFill>
                          <a:effectLst/>
                        </a:rPr>
                        <a:t>NFR 1</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Workloads</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sz="1100" u="none" strike="noStrike" dirty="0">
                          <a:solidFill>
                            <a:schemeClr val="tx1"/>
                          </a:solidFill>
                          <a:effectLst/>
                        </a:rPr>
                        <a:t>System must be able to support mixed workloads that includes Ad-hoc request, System to System Extracts, User Reports, Dynamic Dashboards, Data Science and Data processing pipeline</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4289812"/>
                  </a:ext>
                </a:extLst>
              </a:tr>
              <a:tr h="0">
                <a:tc>
                  <a:txBody>
                    <a:bodyPr/>
                    <a:lstStyle/>
                    <a:p>
                      <a:pPr algn="l" rtl="0" fontAlgn="b"/>
                      <a:r>
                        <a:rPr lang="en-US" sz="1100" b="1" u="none" strike="noStrike" dirty="0">
                          <a:solidFill>
                            <a:schemeClr val="tx1"/>
                          </a:solidFill>
                          <a:effectLst/>
                        </a:rPr>
                        <a:t>NFR 2</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Metadata</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provide robust mechanism to capture all required metadata, store it on a standardized repository utilized by business and other users</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8707460"/>
                  </a:ext>
                </a:extLst>
              </a:tr>
              <a:tr h="0">
                <a:tc>
                  <a:txBody>
                    <a:bodyPr/>
                    <a:lstStyle/>
                    <a:p>
                      <a:pPr algn="l" rtl="0" fontAlgn="b"/>
                      <a:r>
                        <a:rPr lang="en-US" sz="1100" b="1" u="none" strike="noStrike" dirty="0">
                          <a:solidFill>
                            <a:schemeClr val="tx1"/>
                          </a:solidFill>
                          <a:effectLst/>
                        </a:rPr>
                        <a:t>NFR 3</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Availability</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support user workloads across geographies and it needs to be available even during data processing windows</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12506167"/>
                  </a:ext>
                </a:extLst>
              </a:tr>
              <a:tr h="0">
                <a:tc>
                  <a:txBody>
                    <a:bodyPr/>
                    <a:lstStyle/>
                    <a:p>
                      <a:pPr algn="l" rtl="0" fontAlgn="b"/>
                      <a:r>
                        <a:rPr lang="en-US" sz="1100" b="1" u="none" strike="noStrike" dirty="0">
                          <a:solidFill>
                            <a:schemeClr val="tx1"/>
                          </a:solidFill>
                          <a:effectLst/>
                        </a:rPr>
                        <a:t>NFR 4</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Security</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sz="1100" u="none" strike="noStrike" dirty="0">
                          <a:solidFill>
                            <a:schemeClr val="tx1"/>
                          </a:solidFill>
                          <a:effectLst/>
                        </a:rPr>
                        <a:t>System must be secured with role based data entitlements (RBAC) attribute based access control (ABAC) based on Enterprise Data Governance and security profiles</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3963178"/>
                  </a:ext>
                </a:extLst>
              </a:tr>
              <a:tr h="0">
                <a:tc>
                  <a:txBody>
                    <a:bodyPr/>
                    <a:lstStyle/>
                    <a:p>
                      <a:pPr algn="l" rtl="0" fontAlgn="ctr"/>
                      <a:r>
                        <a:rPr lang="en-US" sz="1100" b="1" u="none" strike="noStrike" dirty="0">
                          <a:solidFill>
                            <a:schemeClr val="tx1"/>
                          </a:solidFill>
                          <a:effectLst/>
                        </a:rPr>
                        <a:t>NFR 5</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u="none" strike="noStrike" dirty="0">
                          <a:solidFill>
                            <a:schemeClr val="tx1"/>
                          </a:solidFill>
                          <a:effectLst/>
                        </a:rPr>
                        <a:t>Scalability</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sz="1100" u="none" strike="noStrike" dirty="0">
                          <a:solidFill>
                            <a:schemeClr val="tx1"/>
                          </a:solidFill>
                          <a:effectLst/>
                        </a:rPr>
                        <a:t>System must be horizontally and vertically scalable to support the data growth and computing power demand</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455581"/>
                  </a:ext>
                </a:extLst>
              </a:tr>
              <a:tr h="0">
                <a:tc>
                  <a:txBody>
                    <a:bodyPr/>
                    <a:lstStyle/>
                    <a:p>
                      <a:pPr algn="l" rtl="0" fontAlgn="ctr"/>
                      <a:r>
                        <a:rPr lang="en-US" sz="1100" b="1" u="none" strike="noStrike" dirty="0">
                          <a:solidFill>
                            <a:schemeClr val="tx1"/>
                          </a:solidFill>
                          <a:effectLst/>
                        </a:rPr>
                        <a:t>NFR 6</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u="none" strike="noStrike" dirty="0">
                          <a:solidFill>
                            <a:schemeClr val="tx1"/>
                          </a:solidFill>
                          <a:effectLst/>
                        </a:rPr>
                        <a:t>History</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sz="1100" u="none" strike="noStrike" dirty="0">
                          <a:solidFill>
                            <a:schemeClr val="tx1"/>
                          </a:solidFill>
                          <a:effectLst/>
                        </a:rPr>
                        <a:t>System must retain history data on premise as per business needs, in a format that can be used for reporting and other needs</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893361"/>
                  </a:ext>
                </a:extLst>
              </a:tr>
              <a:tr h="0">
                <a:tc>
                  <a:txBody>
                    <a:bodyPr/>
                    <a:lstStyle/>
                    <a:p>
                      <a:pPr algn="l" rtl="0" fontAlgn="ctr"/>
                      <a:r>
                        <a:rPr lang="en-US" sz="1100" b="1" u="none" strike="noStrike" dirty="0">
                          <a:solidFill>
                            <a:schemeClr val="tx1"/>
                          </a:solidFill>
                          <a:effectLst/>
                        </a:rPr>
                        <a:t>NFR 7</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u="none" strike="noStrike" dirty="0">
                          <a:solidFill>
                            <a:schemeClr val="tx1"/>
                          </a:solidFill>
                          <a:effectLst/>
                        </a:rPr>
                        <a:t>Data Movement</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sz="1100" u="none" strike="noStrike" dirty="0">
                          <a:solidFill>
                            <a:schemeClr val="tx1"/>
                          </a:solidFill>
                          <a:effectLst/>
                        </a:rPr>
                        <a:t>Solution must reduce data hops to consumption layer and maintain data integrity during data processing and movement</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8854300"/>
                  </a:ext>
                </a:extLst>
              </a:tr>
              <a:tr h="0">
                <a:tc>
                  <a:txBody>
                    <a:bodyPr/>
                    <a:lstStyle/>
                    <a:p>
                      <a:pPr algn="l" rtl="0" fontAlgn="b"/>
                      <a:r>
                        <a:rPr lang="en-US" sz="1100" b="1" u="none" strike="noStrike" dirty="0">
                          <a:solidFill>
                            <a:schemeClr val="tx1"/>
                          </a:solidFill>
                          <a:effectLst/>
                        </a:rPr>
                        <a:t>NFR 8</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Latency/Data Refresh Frequency</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should be able to batch process the data multiple times a day with minimal hops. Support of interactive queries with a reasonable response time is important </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173112"/>
                  </a:ext>
                </a:extLst>
              </a:tr>
              <a:tr h="0">
                <a:tc>
                  <a:txBody>
                    <a:bodyPr/>
                    <a:lstStyle/>
                    <a:p>
                      <a:pPr algn="l" rtl="0" fontAlgn="b"/>
                      <a:r>
                        <a:rPr lang="en-US" sz="1100" b="1" u="none" strike="noStrike" dirty="0">
                          <a:solidFill>
                            <a:schemeClr val="tx1"/>
                          </a:solidFill>
                          <a:effectLst/>
                        </a:rPr>
                        <a:t>NFR 9</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Disaster Recovery</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provide DR capability for RPO (Recovery Point Objective) of ‘x’ hours &amp; RTO (Recovery Time Objective) of ‘y’ hours </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5793829"/>
                  </a:ext>
                </a:extLst>
              </a:tr>
              <a:tr h="0">
                <a:tc>
                  <a:txBody>
                    <a:bodyPr/>
                    <a:lstStyle/>
                    <a:p>
                      <a:pPr algn="l" rtl="0" fontAlgn="b"/>
                      <a:r>
                        <a:rPr lang="en-US" sz="1100" b="1" u="none" strike="noStrike" dirty="0">
                          <a:solidFill>
                            <a:schemeClr val="tx1"/>
                          </a:solidFill>
                          <a:effectLst/>
                        </a:rPr>
                        <a:t>NFR 10</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Character Encoding &amp; Language Support</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support data in the UTF-8 character set and all reporting must be available in the English language</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559551"/>
                  </a:ext>
                </a:extLst>
              </a:tr>
            </a:tbl>
          </a:graphicData>
        </a:graphic>
      </p:graphicFrame>
    </p:spTree>
    <p:extLst>
      <p:ext uri="{BB962C8B-B14F-4D97-AF65-F5344CB8AC3E}">
        <p14:creationId xmlns:p14="http://schemas.microsoft.com/office/powerpoint/2010/main" val="34799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24" name="Title 1"/>
          <p:cNvSpPr>
            <a:spLocks noGrp="1"/>
          </p:cNvSpPr>
          <p:nvPr>
            <p:ph type="title"/>
          </p:nvPr>
        </p:nvSpPr>
        <p:spPr/>
        <p:txBody>
          <a:bodyPr/>
          <a:lstStyle/>
          <a:p>
            <a:r>
              <a:rPr lang="en-US" altLang="en-US" dirty="0"/>
              <a:t>List of non–functional requirements (cont.)</a:t>
            </a:r>
          </a:p>
        </p:txBody>
      </p:sp>
      <p:graphicFrame>
        <p:nvGraphicFramePr>
          <p:cNvPr id="2" name="Table 1">
            <a:extLst>
              <a:ext uri="{FF2B5EF4-FFF2-40B4-BE49-F238E27FC236}">
                <a16:creationId xmlns:a16="http://schemas.microsoft.com/office/drawing/2014/main" id="{D4DF0E50-4CDF-4211-9BB2-75B3A50F727F}"/>
              </a:ext>
            </a:extLst>
          </p:cNvPr>
          <p:cNvGraphicFramePr>
            <a:graphicFrameLocks noGrp="1"/>
          </p:cNvGraphicFramePr>
          <p:nvPr>
            <p:extLst>
              <p:ext uri="{D42A27DB-BD31-4B8C-83A1-F6EECF244321}">
                <p14:modId xmlns:p14="http://schemas.microsoft.com/office/powerpoint/2010/main" val="2891979606"/>
              </p:ext>
            </p:extLst>
          </p:nvPr>
        </p:nvGraphicFramePr>
        <p:xfrm>
          <a:off x="469900" y="1680549"/>
          <a:ext cx="11247120" cy="4023360"/>
        </p:xfrm>
        <a:graphic>
          <a:graphicData uri="http://schemas.openxmlformats.org/drawingml/2006/table">
            <a:tbl>
              <a:tblPr>
                <a:effectLst/>
              </a:tblPr>
              <a:tblGrid>
                <a:gridCol w="1051560">
                  <a:extLst>
                    <a:ext uri="{9D8B030D-6E8A-4147-A177-3AD203B41FA5}">
                      <a16:colId xmlns:a16="http://schemas.microsoft.com/office/drawing/2014/main" val="3221282514"/>
                    </a:ext>
                  </a:extLst>
                </a:gridCol>
                <a:gridCol w="1993392">
                  <a:extLst>
                    <a:ext uri="{9D8B030D-6E8A-4147-A177-3AD203B41FA5}">
                      <a16:colId xmlns:a16="http://schemas.microsoft.com/office/drawing/2014/main" val="3473481410"/>
                    </a:ext>
                  </a:extLst>
                </a:gridCol>
                <a:gridCol w="8202168">
                  <a:extLst>
                    <a:ext uri="{9D8B030D-6E8A-4147-A177-3AD203B41FA5}">
                      <a16:colId xmlns:a16="http://schemas.microsoft.com/office/drawing/2014/main" val="1970192363"/>
                    </a:ext>
                  </a:extLst>
                </a:gridCol>
              </a:tblGrid>
              <a:tr h="0">
                <a:tc>
                  <a:txBody>
                    <a:bodyPr/>
                    <a:lstStyle/>
                    <a:p>
                      <a:pPr algn="l" rtl="0" fontAlgn="ctr"/>
                      <a:r>
                        <a:rPr lang="en-US" sz="1100" b="1" u="none" strike="noStrike" dirty="0">
                          <a:solidFill>
                            <a:schemeClr val="bg1"/>
                          </a:solidFill>
                          <a:effectLst/>
                        </a:rPr>
                        <a:t>#</a:t>
                      </a:r>
                      <a:endParaRPr lang="en-US" sz="1100" b="1" i="0" u="none" strike="noStrike" dirty="0">
                        <a:solidFill>
                          <a:schemeClr val="bg1"/>
                        </a:solidFill>
                        <a:effectLst/>
                        <a:latin typeface="Arial" panose="020B0604020202020204" pitchFamily="34" charset="0"/>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rtl="0" fontAlgn="ctr"/>
                      <a:r>
                        <a:rPr lang="en-US" sz="1100" b="1" u="none" strike="noStrike" dirty="0">
                          <a:solidFill>
                            <a:schemeClr val="bg1"/>
                          </a:solidFill>
                          <a:effectLst/>
                        </a:rPr>
                        <a:t>Category</a:t>
                      </a:r>
                      <a:endParaRPr lang="en-US" sz="1100" b="1" i="0" u="none" strike="noStrike" dirty="0">
                        <a:solidFill>
                          <a:schemeClr val="bg1"/>
                        </a:solidFill>
                        <a:effectLst/>
                        <a:latin typeface="Arial" panose="020B0604020202020204" pitchFamily="34" charset="0"/>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rtl="0" fontAlgn="ctr"/>
                      <a:r>
                        <a:rPr lang="en-US" sz="1100" b="1" u="none" strike="noStrike" dirty="0">
                          <a:solidFill>
                            <a:schemeClr val="bg1"/>
                          </a:solidFill>
                          <a:effectLst/>
                        </a:rPr>
                        <a:t>Description</a:t>
                      </a:r>
                      <a:endParaRPr lang="en-US" sz="1100" b="1" i="0" u="none" strike="noStrike" dirty="0">
                        <a:solidFill>
                          <a:schemeClr val="bg1"/>
                        </a:solidFill>
                        <a:effectLst/>
                        <a:latin typeface="Arial" panose="020B0604020202020204" pitchFamily="34" charset="0"/>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chemeClr val="tx1"/>
                          </a:solidFill>
                          <a:effectLst/>
                        </a:rPr>
                        <a:t>NFR 11</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Multi Tenancy</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be able to provide data isolation for multiple tenants/applications as per tenants/business need</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chemeClr val="tx1"/>
                          </a:solidFill>
                          <a:effectLst/>
                        </a:rPr>
                        <a:t>NFR 12</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Audit &amp; Data Quality</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maintain data lineage and provide audit, DQ reports. DQ remediations should be done at source</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r h="0">
                <a:tc>
                  <a:txBody>
                    <a:bodyPr/>
                    <a:lstStyle/>
                    <a:p>
                      <a:pPr algn="l" rtl="0" fontAlgn="b"/>
                      <a:r>
                        <a:rPr lang="en-US" sz="1100" b="1" u="none" strike="noStrike" dirty="0">
                          <a:solidFill>
                            <a:schemeClr val="tx1"/>
                          </a:solidFill>
                          <a:effectLst/>
                        </a:rPr>
                        <a:t>NFR 13</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Provisioning</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Data provisioning/accessing must be done on the curated data or a RAW data layer. Reports should be scheduled and delivered via email or portal</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4363330"/>
                  </a:ext>
                </a:extLst>
              </a:tr>
              <a:tr h="0">
                <a:tc>
                  <a:txBody>
                    <a:bodyPr/>
                    <a:lstStyle/>
                    <a:p>
                      <a:pPr algn="l" rtl="0" fontAlgn="b"/>
                      <a:r>
                        <a:rPr lang="en-US" sz="1100" b="1" u="none" strike="noStrike" dirty="0">
                          <a:solidFill>
                            <a:schemeClr val="tx1"/>
                          </a:solidFill>
                          <a:effectLst/>
                        </a:rPr>
                        <a:t>NFR 14</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Op Support/Monitoring </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provide capability to monitor jobs runs and failures. System must provide ability to recover jobs within defined service level agreements (SLA).</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4507461"/>
                  </a:ext>
                </a:extLst>
              </a:tr>
              <a:tr h="0">
                <a:tc>
                  <a:txBody>
                    <a:bodyPr/>
                    <a:lstStyle/>
                    <a:p>
                      <a:pPr algn="l" rtl="0" fontAlgn="b"/>
                      <a:r>
                        <a:rPr lang="en-US" sz="1100" b="1" u="none" strike="noStrike" dirty="0">
                          <a:solidFill>
                            <a:schemeClr val="tx1"/>
                          </a:solidFill>
                          <a:effectLst/>
                        </a:rPr>
                        <a:t>NFR 15</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Encryption &amp; Sensitive Data</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provide capability to encrypt/decrypt sensitive data (PHI/PCI)</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7995030"/>
                  </a:ext>
                </a:extLst>
              </a:tr>
              <a:tr h="0">
                <a:tc>
                  <a:txBody>
                    <a:bodyPr/>
                    <a:lstStyle/>
                    <a:p>
                      <a:pPr algn="l" rtl="0" fontAlgn="b"/>
                      <a:r>
                        <a:rPr lang="en-US" sz="1100" b="1" u="none" strike="noStrike" dirty="0">
                          <a:solidFill>
                            <a:schemeClr val="tx1"/>
                          </a:solidFill>
                          <a:effectLst/>
                        </a:rPr>
                        <a:t>NFR 16</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Archival &amp; Backup</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provide capability to archive the input source data and maintain a rolling month backup at any given time</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4552395"/>
                  </a:ext>
                </a:extLst>
              </a:tr>
              <a:tr h="0">
                <a:tc>
                  <a:txBody>
                    <a:bodyPr/>
                    <a:lstStyle/>
                    <a:p>
                      <a:pPr algn="l" rtl="0" fontAlgn="b"/>
                      <a:r>
                        <a:rPr lang="en-US" sz="1100" b="1" u="none" strike="noStrike" dirty="0">
                          <a:solidFill>
                            <a:schemeClr val="tx1"/>
                          </a:solidFill>
                          <a:effectLst/>
                        </a:rPr>
                        <a:t>NFR 16</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Devops</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must use standardized Devops process for faster development and deployment</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8592006"/>
                  </a:ext>
                </a:extLst>
              </a:tr>
              <a:tr h="0">
                <a:tc>
                  <a:txBody>
                    <a:bodyPr/>
                    <a:lstStyle/>
                    <a:p>
                      <a:pPr algn="l" rtl="0" fontAlgn="ctr"/>
                      <a:r>
                        <a:rPr lang="en-US" sz="1100" b="1" u="none" strike="noStrike" dirty="0">
                          <a:solidFill>
                            <a:schemeClr val="tx1"/>
                          </a:solidFill>
                          <a:effectLst/>
                        </a:rPr>
                        <a:t>NFR 17</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u="none" strike="noStrike" dirty="0">
                          <a:solidFill>
                            <a:schemeClr val="tx1"/>
                          </a:solidFill>
                          <a:effectLst/>
                        </a:rPr>
                        <a:t>Regulatory/Sox Compliance</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should be able to provide traceability from source to target (audit) for key data entities</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0201013"/>
                  </a:ext>
                </a:extLst>
              </a:tr>
              <a:tr h="0">
                <a:tc>
                  <a:txBody>
                    <a:bodyPr/>
                    <a:lstStyle/>
                    <a:p>
                      <a:pPr algn="l" rtl="0" fontAlgn="b"/>
                      <a:r>
                        <a:rPr lang="en-US" sz="1100" b="1" u="none" strike="noStrike" dirty="0">
                          <a:solidFill>
                            <a:schemeClr val="tx1"/>
                          </a:solidFill>
                          <a:effectLst/>
                        </a:rPr>
                        <a:t>NFR 18</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Interfaces</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100" u="none" strike="noStrike" dirty="0">
                          <a:solidFill>
                            <a:schemeClr val="tx1"/>
                          </a:solidFill>
                          <a:effectLst/>
                        </a:rPr>
                        <a:t>System should have ability to provide system to system extracts through governed zones (only through on-premise)</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8532343"/>
                  </a:ext>
                </a:extLst>
              </a:tr>
              <a:tr h="0">
                <a:tc>
                  <a:txBody>
                    <a:bodyPr/>
                    <a:lstStyle/>
                    <a:p>
                      <a:pPr algn="l" rtl="0" fontAlgn="b"/>
                      <a:r>
                        <a:rPr lang="en-US" sz="1100" b="1" u="none" strike="noStrike" dirty="0">
                          <a:solidFill>
                            <a:schemeClr val="tx1"/>
                          </a:solidFill>
                          <a:effectLst/>
                        </a:rPr>
                        <a:t>NFR 19</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100" u="none" strike="noStrike" dirty="0">
                          <a:solidFill>
                            <a:schemeClr val="tx1"/>
                          </a:solidFill>
                          <a:effectLst/>
                        </a:rPr>
                        <a:t>Data Masking</a:t>
                      </a:r>
                      <a:endParaRPr lang="en-US" sz="1100" b="1"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219170" rtl="0" eaLnBrk="1" fontAlgn="b" latinLnBrk="0" hangingPunct="1">
                        <a:lnSpc>
                          <a:spcPct val="100000"/>
                        </a:lnSpc>
                        <a:spcBef>
                          <a:spcPts val="0"/>
                        </a:spcBef>
                        <a:spcAft>
                          <a:spcPts val="0"/>
                        </a:spcAft>
                        <a:buClrTx/>
                        <a:buSzTx/>
                        <a:buFontTx/>
                        <a:buNone/>
                        <a:tabLst/>
                        <a:defRPr/>
                      </a:pPr>
                      <a:r>
                        <a:rPr lang="en-US" sz="1100" u="none" strike="noStrike" dirty="0">
                          <a:solidFill>
                            <a:schemeClr val="tx1"/>
                          </a:solidFill>
                        </a:rPr>
                        <a:t>System must provide</a:t>
                      </a:r>
                      <a:r>
                        <a:rPr lang="en-US" sz="1100" u="none" strike="noStrike" baseline="0" dirty="0">
                          <a:solidFill>
                            <a:schemeClr val="tx1"/>
                          </a:solidFill>
                        </a:rPr>
                        <a:t> capability to mask PII and other sensitive data stored in the cloud. PCI data must be encrypted before storing in any persistent repository.</a:t>
                      </a:r>
                      <a:endParaRPr lang="en-US" sz="1100" b="0" i="0" u="none" strike="noStrike" dirty="0">
                        <a:solidFill>
                          <a:schemeClr val="tx1"/>
                        </a:solidFill>
                        <a:effectLst/>
                        <a:latin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71434733"/>
                  </a:ext>
                </a:extLst>
              </a:tr>
            </a:tbl>
          </a:graphicData>
        </a:graphic>
      </p:graphicFrame>
    </p:spTree>
    <p:extLst>
      <p:ext uri="{BB962C8B-B14F-4D97-AF65-F5344CB8AC3E}">
        <p14:creationId xmlns:p14="http://schemas.microsoft.com/office/powerpoint/2010/main" val="76403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noProof="0" dirty="0"/>
              <a:t>Architecture description</a:t>
            </a:r>
          </a:p>
        </p:txBody>
      </p:sp>
      <p:sp>
        <p:nvSpPr>
          <p:cNvPr id="2" name="Text Placeholder 1">
            <a:extLst>
              <a:ext uri="{FF2B5EF4-FFF2-40B4-BE49-F238E27FC236}">
                <a16:creationId xmlns:a16="http://schemas.microsoft.com/office/drawing/2014/main" id="{0BFF9379-A177-499D-B02B-8ABEE08A1C4D}"/>
              </a:ext>
            </a:extLst>
          </p:cNvPr>
          <p:cNvSpPr>
            <a:spLocks noGrp="1"/>
          </p:cNvSpPr>
          <p:nvPr>
            <p:ph type="body" idx="1"/>
          </p:nvPr>
        </p:nvSpPr>
        <p:spPr/>
        <p:txBody>
          <a:bodyPr/>
          <a:lstStyle/>
          <a:p>
            <a:r>
              <a:rPr lang="en-US" dirty="0"/>
              <a:t>Architecture principles</a:t>
            </a:r>
          </a:p>
        </p:txBody>
      </p:sp>
    </p:spTree>
    <p:extLst>
      <p:ext uri="{BB962C8B-B14F-4D97-AF65-F5344CB8AC3E}">
        <p14:creationId xmlns:p14="http://schemas.microsoft.com/office/powerpoint/2010/main" val="235167506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BE1A8-CAAB-4F24-B7B4-BCAB1DC2AC9F}"/>
              </a:ext>
            </a:extLst>
          </p:cNvPr>
          <p:cNvSpPr>
            <a:spLocks noGrp="1"/>
          </p:cNvSpPr>
          <p:nvPr>
            <p:ph type="title"/>
          </p:nvPr>
        </p:nvSpPr>
        <p:spPr/>
        <p:txBody>
          <a:bodyPr/>
          <a:lstStyle/>
          <a:p>
            <a:r>
              <a:rPr lang="en-US" dirty="0"/>
              <a:t>Application principles</a:t>
            </a:r>
          </a:p>
        </p:txBody>
      </p:sp>
      <p:graphicFrame>
        <p:nvGraphicFramePr>
          <p:cNvPr id="19" name="Table 18">
            <a:extLst>
              <a:ext uri="{FF2B5EF4-FFF2-40B4-BE49-F238E27FC236}">
                <a16:creationId xmlns:a16="http://schemas.microsoft.com/office/drawing/2014/main" id="{FBFA52D6-6B0D-4BF2-B360-5E12CCAA5DFE}"/>
              </a:ext>
            </a:extLst>
          </p:cNvPr>
          <p:cNvGraphicFramePr>
            <a:graphicFrameLocks noGrp="1"/>
          </p:cNvGraphicFramePr>
          <p:nvPr>
            <p:extLst>
              <p:ext uri="{D42A27DB-BD31-4B8C-83A1-F6EECF244321}">
                <p14:modId xmlns:p14="http://schemas.microsoft.com/office/powerpoint/2010/main" val="2412811656"/>
              </p:ext>
            </p:extLst>
          </p:nvPr>
        </p:nvGraphicFramePr>
        <p:xfrm>
          <a:off x="469900" y="1680549"/>
          <a:ext cx="11250152" cy="406908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4532671">
                  <a:extLst>
                    <a:ext uri="{9D8B030D-6E8A-4147-A177-3AD203B41FA5}">
                      <a16:colId xmlns:a16="http://schemas.microsoft.com/office/drawing/2014/main" val="3473481410"/>
                    </a:ext>
                  </a:extLst>
                </a:gridCol>
                <a:gridCol w="5614220">
                  <a:extLst>
                    <a:ext uri="{9D8B030D-6E8A-4147-A177-3AD203B41FA5}">
                      <a16:colId xmlns:a16="http://schemas.microsoft.com/office/drawing/2014/main" val="1970192363"/>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1. Re-use rather than duplicate capabilities</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rtl="0" fontAlgn="ctr"/>
                      <a:r>
                        <a:rPr lang="en-US" sz="1100" b="1" u="none" strike="noStrike" dirty="0">
                          <a:solidFill>
                            <a:schemeClr val="bg1"/>
                          </a:solidFill>
                          <a:effectLst/>
                          <a:latin typeface="+mj-lt"/>
                        </a:rPr>
                        <a:t>2. Aim for cohesive functionality and avoid functional redundancy</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chemeClr val="tx1"/>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The most effective way of providing a solution is though re-use of an existing capability wherever possible. Duplication is costly and adds uncertainty at all levels of the organization.</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spcAft>
                          <a:spcPts val="1200"/>
                        </a:spcAft>
                      </a:pPr>
                      <a:r>
                        <a:rPr lang="en-US" sz="1100" b="0" i="0" u="none" strike="noStrike" dirty="0">
                          <a:solidFill>
                            <a:schemeClr val="tx1"/>
                          </a:solidFill>
                          <a:effectLst/>
                          <a:latin typeface="+mj-lt"/>
                        </a:rPr>
                        <a:t>System functionality should be highly-cohesive, that is: each system or grouping of systems should contain only closely related functionality—it should do one thing only and do that thing well. </a:t>
                      </a:r>
                    </a:p>
                    <a:p>
                      <a:pPr algn="l" rtl="0" fontAlgn="b">
                        <a:spcAft>
                          <a:spcPts val="1200"/>
                        </a:spcAft>
                      </a:pPr>
                      <a:r>
                        <a:rPr lang="en-US" sz="1100" b="0" i="0" u="none" strike="noStrike" dirty="0">
                          <a:solidFill>
                            <a:schemeClr val="tx1"/>
                          </a:solidFill>
                          <a:effectLst/>
                          <a:latin typeface="+mj-lt"/>
                        </a:rPr>
                        <a:t>Functional redundancy (unused/unwanted capabilities can cause loss of data integrity and increase maintenance costs related to the redundant capabilities.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chemeClr val="tx1"/>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dirty="0">
                          <a:solidFill>
                            <a:schemeClr val="tx1"/>
                          </a:solidFill>
                          <a:effectLst/>
                          <a:latin typeface="+mj-lt"/>
                        </a:rPr>
                        <a:t>Develop enterprise system standards: </a:t>
                      </a:r>
                      <a:r>
                        <a:rPr lang="en-US" sz="1100" b="0" i="0" u="none" strike="noStrike" dirty="0">
                          <a:solidFill>
                            <a:schemeClr val="tx1"/>
                          </a:solidFill>
                          <a:effectLst/>
                          <a:latin typeface="+mj-lt"/>
                        </a:rPr>
                        <a:t>The accuracy and completeness of enterprise-wide systems should be maintained.</a:t>
                      </a:r>
                    </a:p>
                    <a:p>
                      <a:pPr algn="l" rtl="0" fontAlgn="b">
                        <a:spcAft>
                          <a:spcPts val="1200"/>
                        </a:spcAft>
                      </a:pPr>
                      <a:r>
                        <a:rPr lang="en-US" sz="1100" b="1" i="0" u="none" strike="noStrike" dirty="0">
                          <a:solidFill>
                            <a:schemeClr val="tx1"/>
                          </a:solidFill>
                          <a:effectLst/>
                          <a:latin typeface="+mj-lt"/>
                        </a:rPr>
                        <a:t>Eliminate redundant systems: </a:t>
                      </a:r>
                      <a:r>
                        <a:rPr lang="en-US" sz="1100" b="0" i="0" u="none" strike="noStrike" dirty="0">
                          <a:solidFill>
                            <a:schemeClr val="tx1"/>
                          </a:solidFill>
                          <a:effectLst/>
                          <a:latin typeface="+mj-lt"/>
                        </a:rPr>
                        <a:t>Business teams should not be allowed to develop local capabilities that are similar to or duplicate an enterprise-wide capability</a:t>
                      </a:r>
                    </a:p>
                    <a:p>
                      <a:pPr algn="l" rtl="0" fontAlgn="b">
                        <a:spcAft>
                          <a:spcPts val="1200"/>
                        </a:spcAft>
                      </a:pPr>
                      <a:r>
                        <a:rPr lang="en-US" sz="1100" b="1" i="0" u="none" strike="noStrike" dirty="0">
                          <a:solidFill>
                            <a:schemeClr val="tx1"/>
                          </a:solidFill>
                          <a:effectLst/>
                          <a:latin typeface="+mj-lt"/>
                        </a:rPr>
                        <a:t>Standardize enterprise-based data management: </a:t>
                      </a:r>
                      <a:r>
                        <a:rPr lang="en-US" sz="1100" b="0" i="0" u="none" strike="noStrike" dirty="0">
                          <a:solidFill>
                            <a:schemeClr val="tx1"/>
                          </a:solidFill>
                          <a:effectLst/>
                          <a:latin typeface="+mj-lt"/>
                        </a:rPr>
                        <a:t>The burden of data storage, processing and having a broader functional reach should be borne by enterprise systems.</a:t>
                      </a:r>
                    </a:p>
                    <a:p>
                      <a:pPr algn="l" rtl="0" fontAlgn="b">
                        <a:spcAft>
                          <a:spcPts val="1200"/>
                        </a:spcAft>
                      </a:pPr>
                      <a:r>
                        <a:rPr lang="en-US" sz="1100" b="1" i="0" u="none" strike="noStrike" dirty="0">
                          <a:solidFill>
                            <a:schemeClr val="tx1"/>
                          </a:solidFill>
                          <a:effectLst/>
                          <a:latin typeface="+mj-lt"/>
                        </a:rPr>
                        <a:t>Provide governance for key information:</a:t>
                      </a:r>
                      <a:r>
                        <a:rPr lang="en-US" sz="1100" b="0" i="0" u="none" strike="noStrike" dirty="0">
                          <a:solidFill>
                            <a:schemeClr val="tx1"/>
                          </a:solidFill>
                          <a:effectLst/>
                          <a:latin typeface="+mj-lt"/>
                        </a:rPr>
                        <a:t> Information, definitions and processes used to support enterprise decision-making should be standardized</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spcAft>
                          <a:spcPts val="1200"/>
                        </a:spcAft>
                      </a:pPr>
                      <a:r>
                        <a:rPr lang="en-US" sz="1100" b="1" i="0" u="none" strike="noStrike" dirty="0">
                          <a:solidFill>
                            <a:schemeClr val="tx1"/>
                          </a:solidFill>
                          <a:effectLst/>
                          <a:latin typeface="+mj-lt"/>
                        </a:rPr>
                        <a:t>Define function domains: </a:t>
                      </a:r>
                      <a:r>
                        <a:rPr lang="en-US" sz="1100" b="0" i="0" u="none" strike="noStrike" dirty="0">
                          <a:solidFill>
                            <a:schemeClr val="tx1"/>
                          </a:solidFill>
                          <a:effectLst/>
                          <a:latin typeface="+mj-lt"/>
                        </a:rPr>
                        <a:t>Systems must be located in proper functional domains, with explicit governance established for the domains.</a:t>
                      </a:r>
                    </a:p>
                    <a:p>
                      <a:pPr algn="l" rtl="0" fontAlgn="b">
                        <a:spcAft>
                          <a:spcPts val="1200"/>
                        </a:spcAft>
                      </a:pPr>
                      <a:r>
                        <a:rPr lang="en-US" sz="1100" b="1" i="0" u="none" strike="noStrike" dirty="0">
                          <a:solidFill>
                            <a:schemeClr val="tx1"/>
                          </a:solidFill>
                          <a:effectLst/>
                          <a:latin typeface="+mj-lt"/>
                        </a:rPr>
                        <a:t>Apply governance to functionality:</a:t>
                      </a:r>
                      <a:r>
                        <a:rPr lang="en-US" sz="1100" b="0" i="0" u="none" strike="noStrike" dirty="0">
                          <a:solidFill>
                            <a:schemeClr val="tx1"/>
                          </a:solidFill>
                          <a:effectLst/>
                          <a:latin typeface="+mj-lt"/>
                        </a:rPr>
                        <a:t> Functionality requests should be submitted via governance process for the appropriate domain</a:t>
                      </a:r>
                    </a:p>
                    <a:p>
                      <a:pPr algn="l" rtl="0" fontAlgn="b">
                        <a:spcAft>
                          <a:spcPts val="1200"/>
                        </a:spcAft>
                      </a:pPr>
                      <a:r>
                        <a:rPr lang="en-US" sz="1100" b="1" i="0" u="none" strike="noStrike" dirty="0">
                          <a:solidFill>
                            <a:schemeClr val="tx1"/>
                          </a:solidFill>
                          <a:effectLst/>
                          <a:latin typeface="+mj-lt"/>
                        </a:rPr>
                        <a:t>Standardize packages: </a:t>
                      </a:r>
                      <a:r>
                        <a:rPr lang="en-US" sz="1100" b="0" i="0" u="none" strike="noStrike" dirty="0">
                          <a:solidFill>
                            <a:schemeClr val="tx1"/>
                          </a:solidFill>
                          <a:effectLst/>
                          <a:latin typeface="+mj-lt"/>
                        </a:rPr>
                        <a:t>Standard packages will be used for standard functionality</a:t>
                      </a:r>
                    </a:p>
                    <a:p>
                      <a:pPr algn="l" rtl="0" fontAlgn="b">
                        <a:spcAft>
                          <a:spcPts val="1200"/>
                        </a:spcAft>
                      </a:pPr>
                      <a:r>
                        <a:rPr lang="en-US" sz="1100" b="1" i="0" u="none" strike="noStrike" dirty="0">
                          <a:solidFill>
                            <a:schemeClr val="tx1"/>
                          </a:solidFill>
                          <a:effectLst/>
                          <a:latin typeface="+mj-lt"/>
                        </a:rPr>
                        <a:t>Avoid turnkey solutions: </a:t>
                      </a:r>
                      <a:r>
                        <a:rPr lang="en-US" sz="1100" b="0" i="0" u="none" strike="noStrike" dirty="0">
                          <a:solidFill>
                            <a:schemeClr val="tx1"/>
                          </a:solidFill>
                          <a:effectLst/>
                          <a:latin typeface="+mj-lt"/>
                        </a:rPr>
                        <a:t>All-in-one solutions combining unrelated sets of functionality should be avoided</a:t>
                      </a:r>
                    </a:p>
                    <a:p>
                      <a:pPr algn="l" rtl="0" fontAlgn="b">
                        <a:spcAft>
                          <a:spcPts val="1200"/>
                        </a:spcAft>
                      </a:pPr>
                      <a:r>
                        <a:rPr lang="en-US" sz="1100" b="1" i="0" u="none" strike="noStrike" dirty="0">
                          <a:solidFill>
                            <a:schemeClr val="tx1"/>
                          </a:solidFill>
                          <a:effectLst/>
                          <a:latin typeface="+mj-lt"/>
                        </a:rPr>
                        <a:t>Remove redundant systems: </a:t>
                      </a:r>
                      <a:r>
                        <a:rPr lang="en-US" sz="1100" b="0" i="0" u="none" strike="noStrike" dirty="0">
                          <a:solidFill>
                            <a:schemeClr val="tx1"/>
                          </a:solidFill>
                          <a:effectLst/>
                          <a:latin typeface="+mj-lt"/>
                        </a:rPr>
                        <a:t>Where functional redundancy is identified in a product or system, the functionality should (where possible) be removed or disabled.</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Tree>
    <p:extLst>
      <p:ext uri="{BB962C8B-B14F-4D97-AF65-F5344CB8AC3E}">
        <p14:creationId xmlns:p14="http://schemas.microsoft.com/office/powerpoint/2010/main" val="4476542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195216-53A1-493E-B80C-BDA491BC1CEC}"/>
              </a:ext>
            </a:extLst>
          </p:cNvPr>
          <p:cNvSpPr>
            <a:spLocks noGrp="1"/>
          </p:cNvSpPr>
          <p:nvPr>
            <p:ph type="title"/>
          </p:nvPr>
        </p:nvSpPr>
        <p:spPr/>
        <p:txBody>
          <a:bodyPr/>
          <a:lstStyle/>
          <a:p>
            <a:r>
              <a:rPr lang="en-US" dirty="0"/>
              <a:t>Application principles (cont.)</a:t>
            </a:r>
          </a:p>
        </p:txBody>
      </p:sp>
      <p:graphicFrame>
        <p:nvGraphicFramePr>
          <p:cNvPr id="20" name="Table 19">
            <a:extLst>
              <a:ext uri="{FF2B5EF4-FFF2-40B4-BE49-F238E27FC236}">
                <a16:creationId xmlns:a16="http://schemas.microsoft.com/office/drawing/2014/main" id="{650D802F-EC1C-45EB-8182-713C590A1CCD}"/>
              </a:ext>
            </a:extLst>
          </p:cNvPr>
          <p:cNvGraphicFramePr>
            <a:graphicFrameLocks noGrp="1"/>
          </p:cNvGraphicFramePr>
          <p:nvPr>
            <p:extLst>
              <p:ext uri="{D42A27DB-BD31-4B8C-83A1-F6EECF244321}">
                <p14:modId xmlns:p14="http://schemas.microsoft.com/office/powerpoint/2010/main" val="570728528"/>
              </p:ext>
            </p:extLst>
          </p:nvPr>
        </p:nvGraphicFramePr>
        <p:xfrm>
          <a:off x="469900" y="1680549"/>
          <a:ext cx="11253101" cy="387096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3. Low coupling between systems but ensure interoperability</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chemeClr val="tx1"/>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Systems should have as few dependencies as possible between them (low-coupling). ‘High-coupling’ leads to an unmanageable number of interfaces with changes in one area causing widespread changes elsewhere. </a:t>
                      </a:r>
                    </a:p>
                    <a:p>
                      <a:pPr algn="l" rtl="0" fontAlgn="b">
                        <a:spcAft>
                          <a:spcPts val="1200"/>
                        </a:spcAft>
                      </a:pPr>
                      <a:r>
                        <a:rPr lang="en-US" sz="1100" b="0" i="0" u="none" strike="noStrike" dirty="0">
                          <a:solidFill>
                            <a:schemeClr val="tx1"/>
                          </a:solidFill>
                          <a:effectLst/>
                          <a:latin typeface="+mj-lt"/>
                        </a:rPr>
                        <a:t>Software and hardware should conform to defined standards that promote interoperability for data, applications, and technology.</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chemeClr val="tx1"/>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Use standards for interoperability:</a:t>
                      </a:r>
                      <a:r>
                        <a:rPr lang="en-US" sz="1100" b="0" i="0" u="none" strike="noStrike" kern="1200" dirty="0">
                          <a:solidFill>
                            <a:schemeClr val="tx1"/>
                          </a:solidFill>
                          <a:effectLst/>
                          <a:latin typeface="+mn-lt"/>
                          <a:ea typeface="+mn-ea"/>
                          <a:cs typeface="+mn-cs"/>
                        </a:rPr>
                        <a:t> Interoperability standards and industry standards should be followed unless there is a compelling business reason to implement a non-standard solution.</a:t>
                      </a:r>
                    </a:p>
                    <a:p>
                      <a:pPr algn="l" rtl="0" fontAlgn="b">
                        <a:spcAft>
                          <a:spcPts val="1200"/>
                        </a:spcAft>
                      </a:pPr>
                      <a:r>
                        <a:rPr lang="en-US" sz="1100" b="1" i="0" u="none" strike="noStrike" kern="1200" dirty="0">
                          <a:solidFill>
                            <a:schemeClr val="tx1"/>
                          </a:solidFill>
                          <a:effectLst/>
                          <a:latin typeface="+mn-lt"/>
                          <a:ea typeface="+mn-ea"/>
                          <a:cs typeface="+mn-cs"/>
                        </a:rPr>
                        <a:t>Define a process for standardization: </a:t>
                      </a:r>
                      <a:r>
                        <a:rPr lang="en-US" sz="1100" b="0" i="0" u="none" strike="noStrike" kern="1200" dirty="0">
                          <a:solidFill>
                            <a:schemeClr val="tx1"/>
                          </a:solidFill>
                          <a:effectLst/>
                          <a:latin typeface="+mn-lt"/>
                          <a:ea typeface="+mn-ea"/>
                          <a:cs typeface="+mn-cs"/>
                        </a:rPr>
                        <a:t>A process for setting standards, reviewing and revising them periodically, and granting exceptions must be established.</a:t>
                      </a:r>
                    </a:p>
                    <a:p>
                      <a:pPr algn="l" rtl="0" fontAlgn="b">
                        <a:spcAft>
                          <a:spcPts val="1200"/>
                        </a:spcAft>
                      </a:pPr>
                      <a:r>
                        <a:rPr lang="en-US" sz="1100" b="1" i="0" u="none" strike="noStrike" kern="1200" dirty="0">
                          <a:solidFill>
                            <a:schemeClr val="tx1"/>
                          </a:solidFill>
                          <a:effectLst/>
                          <a:latin typeface="+mn-lt"/>
                          <a:ea typeface="+mn-ea"/>
                          <a:cs typeface="+mn-cs"/>
                        </a:rPr>
                        <a:t>Prioritize end-to-end automation: </a:t>
                      </a:r>
                      <a:r>
                        <a:rPr lang="en-US" sz="1100" b="0" i="0" u="none" strike="noStrike" kern="1200" dirty="0">
                          <a:solidFill>
                            <a:schemeClr val="tx1"/>
                          </a:solidFill>
                          <a:effectLst/>
                          <a:latin typeface="+mn-lt"/>
                          <a:ea typeface="+mn-ea"/>
                          <a:cs typeface="+mn-cs"/>
                        </a:rPr>
                        <a:t>All technology solutions will seek to automate and integrate seamlessly end-to-end processes as far as possible.</a:t>
                      </a:r>
                    </a:p>
                    <a:p>
                      <a:pPr algn="l" rtl="0" fontAlgn="b">
                        <a:spcAft>
                          <a:spcPts val="1200"/>
                        </a:spcAft>
                      </a:pPr>
                      <a:r>
                        <a:rPr lang="en-US" sz="1100" b="1" i="0" u="none" strike="noStrike" kern="1200" dirty="0">
                          <a:solidFill>
                            <a:schemeClr val="tx1"/>
                          </a:solidFill>
                          <a:effectLst/>
                          <a:latin typeface="+mn-lt"/>
                          <a:ea typeface="+mn-ea"/>
                          <a:cs typeface="+mn-cs"/>
                        </a:rPr>
                        <a:t>Generalize services: </a:t>
                      </a:r>
                      <a:r>
                        <a:rPr lang="en-US" sz="1100" b="0" i="0" u="none" strike="noStrike" kern="1200" dirty="0">
                          <a:solidFill>
                            <a:schemeClr val="tx1"/>
                          </a:solidFill>
                          <a:effectLst/>
                          <a:latin typeface="+mn-lt"/>
                          <a:ea typeface="+mn-ea"/>
                          <a:cs typeface="+mn-cs"/>
                        </a:rPr>
                        <a:t>Services (corporate APIs, for example) should be designed with no affinity to a specific service consumer, to promote re-use and reducing vendor lock-in.</a:t>
                      </a:r>
                    </a:p>
                    <a:p>
                      <a:pPr algn="l" rtl="0" fontAlgn="b">
                        <a:spcAft>
                          <a:spcPts val="1200"/>
                        </a:spcAft>
                      </a:pPr>
                      <a:r>
                        <a:rPr lang="en-US" sz="1100" b="1" i="0" u="none" strike="noStrike" kern="1200" dirty="0">
                          <a:solidFill>
                            <a:schemeClr val="tx1"/>
                          </a:solidFill>
                          <a:effectLst/>
                          <a:latin typeface="+mn-lt"/>
                          <a:ea typeface="+mn-ea"/>
                          <a:cs typeface="+mn-cs"/>
                        </a:rPr>
                        <a:t>Provide local exception handling: </a:t>
                      </a:r>
                      <a:r>
                        <a:rPr lang="en-US" sz="1100" b="0" i="0" u="none" strike="noStrike" kern="1200" dirty="0">
                          <a:solidFill>
                            <a:schemeClr val="tx1"/>
                          </a:solidFill>
                          <a:effectLst/>
                          <a:latin typeface="+mn-lt"/>
                          <a:ea typeface="+mn-ea"/>
                          <a:cs typeface="+mn-cs"/>
                        </a:rPr>
                        <a:t>Exception handling, and treatment should be managed by individual systems and should not span system boundaries.</a:t>
                      </a:r>
                    </a:p>
                    <a:p>
                      <a:pPr algn="l" rtl="0" fontAlgn="b">
                        <a:spcAft>
                          <a:spcPts val="1200"/>
                        </a:spcAft>
                      </a:pPr>
                      <a:r>
                        <a:rPr lang="en-US" sz="1100" b="1" i="0" u="none" strike="noStrike" kern="1200" dirty="0">
                          <a:solidFill>
                            <a:schemeClr val="tx1"/>
                          </a:solidFill>
                          <a:effectLst/>
                          <a:latin typeface="+mn-lt"/>
                          <a:ea typeface="+mn-ea"/>
                          <a:cs typeface="+mn-cs"/>
                        </a:rPr>
                        <a:t>Standardize integration patterns: </a:t>
                      </a:r>
                      <a:r>
                        <a:rPr lang="en-US" sz="1100" b="0" i="0" u="none" strike="noStrike" kern="1200" dirty="0">
                          <a:solidFill>
                            <a:schemeClr val="tx1"/>
                          </a:solidFill>
                          <a:effectLst/>
                          <a:latin typeface="+mn-lt"/>
                          <a:ea typeface="+mn-ea"/>
                          <a:cs typeface="+mn-cs"/>
                        </a:rPr>
                        <a:t>Where systems are to be integrated, pre-existing integrations patterns should be used where possible. Bespoke integrations should be by exception only.</a:t>
                      </a:r>
                      <a:endParaRPr lang="en-US" sz="1100" b="0" i="0" u="none" strike="noStrike" dirty="0">
                        <a:solidFill>
                          <a:schemeClr val="tx1"/>
                        </a:solidFill>
                        <a:effectLst/>
                        <a:latin typeface="+mj-lt"/>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Tree>
    <p:extLst>
      <p:ext uri="{BB962C8B-B14F-4D97-AF65-F5344CB8AC3E}">
        <p14:creationId xmlns:p14="http://schemas.microsoft.com/office/powerpoint/2010/main" val="305969133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61CBF2F0-7F0B-4168-960D-09F166F7D897}"/>
              </a:ext>
            </a:extLst>
          </p:cNvPr>
          <p:cNvGraphicFramePr>
            <a:graphicFrameLocks noGrp="1"/>
          </p:cNvGraphicFramePr>
          <p:nvPr>
            <p:extLst>
              <p:ext uri="{D42A27DB-BD31-4B8C-83A1-F6EECF244321}">
                <p14:modId xmlns:p14="http://schemas.microsoft.com/office/powerpoint/2010/main" val="198292659"/>
              </p:ext>
            </p:extLst>
          </p:nvPr>
        </p:nvGraphicFramePr>
        <p:xfrm>
          <a:off x="469900" y="1680549"/>
          <a:ext cx="11253101" cy="368808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4. Data management optimized for efficiency and reuse</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chemeClr val="tx1"/>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Enterprise data systems should be managed efficiently to support processing a variety of datasets using standardized tools and policies and procedures, to reduce cost and duplication of effort and data. Data should be sourced directly from authoritative systems of record. The history and lineage of that data should be maintained in the enterprise data systems to ensure a common and accurate view of data </a:t>
                      </a:r>
                      <a:br>
                        <a:rPr lang="en-US" sz="1100" b="0" i="0" u="none" strike="noStrike" dirty="0">
                          <a:solidFill>
                            <a:schemeClr val="tx1"/>
                          </a:solidFill>
                          <a:effectLst/>
                          <a:latin typeface="+mj-lt"/>
                        </a:rPr>
                      </a:br>
                      <a:r>
                        <a:rPr lang="en-US" sz="1100" b="0" i="0" u="none" strike="noStrike" dirty="0">
                          <a:solidFill>
                            <a:schemeClr val="tx1"/>
                          </a:solidFill>
                          <a:effectLst/>
                          <a:latin typeface="+mj-lt"/>
                        </a:rPr>
                        <a:t>over time.</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chemeClr val="tx1"/>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System agility: </a:t>
                      </a:r>
                      <a:r>
                        <a:rPr lang="en-US" sz="1100" b="0" i="0" u="none" strike="noStrike" kern="1200" dirty="0">
                          <a:solidFill>
                            <a:schemeClr val="tx1"/>
                          </a:solidFill>
                          <a:effectLst/>
                          <a:latin typeface="+mn-lt"/>
                          <a:ea typeface="+mn-ea"/>
                          <a:cs typeface="+mn-cs"/>
                        </a:rPr>
                        <a:t>Enterprise data systems should provide agility to accept diverse datasets at varying speeds </a:t>
                      </a:r>
                    </a:p>
                    <a:p>
                      <a:pPr algn="l" rtl="0" fontAlgn="b">
                        <a:spcAft>
                          <a:spcPts val="1200"/>
                        </a:spcAft>
                      </a:pPr>
                      <a:r>
                        <a:rPr lang="en-US" sz="1100" b="1" i="0" u="none" strike="noStrike" kern="1200" dirty="0">
                          <a:solidFill>
                            <a:schemeClr val="tx1"/>
                          </a:solidFill>
                          <a:effectLst/>
                          <a:latin typeface="+mn-lt"/>
                          <a:ea typeface="+mn-ea"/>
                          <a:cs typeface="+mn-cs"/>
                        </a:rPr>
                        <a:t>Prioritize data and reporting: </a:t>
                      </a:r>
                      <a:r>
                        <a:rPr lang="en-US" sz="1100" b="0" i="0" u="none" strike="noStrike" kern="1200" dirty="0">
                          <a:solidFill>
                            <a:schemeClr val="tx1"/>
                          </a:solidFill>
                          <a:effectLst/>
                          <a:latin typeface="+mn-lt"/>
                          <a:ea typeface="+mn-ea"/>
                          <a:cs typeface="+mn-cs"/>
                        </a:rPr>
                        <a:t>Data and reporting systems should be identified and prioritized based on consumption needs</a:t>
                      </a:r>
                    </a:p>
                    <a:p>
                      <a:pPr algn="l" rtl="0" fontAlgn="b">
                        <a:spcAft>
                          <a:spcPts val="1200"/>
                        </a:spcAft>
                      </a:pPr>
                      <a:r>
                        <a:rPr lang="en-US" sz="1100" b="1" i="0" u="none" strike="noStrike" kern="1200" dirty="0">
                          <a:solidFill>
                            <a:schemeClr val="tx1"/>
                          </a:solidFill>
                          <a:effectLst/>
                          <a:latin typeface="+mn-lt"/>
                          <a:ea typeface="+mn-ea"/>
                          <a:cs typeface="+mn-cs"/>
                        </a:rPr>
                        <a:t>One source of record: </a:t>
                      </a:r>
                      <a:r>
                        <a:rPr lang="en-US" sz="1100" b="0" i="0" u="none" strike="noStrike" kern="1200" dirty="0">
                          <a:solidFill>
                            <a:schemeClr val="tx1"/>
                          </a:solidFill>
                          <a:effectLst/>
                          <a:latin typeface="+mn-lt"/>
                          <a:ea typeface="+mn-ea"/>
                          <a:cs typeface="+mn-cs"/>
                        </a:rPr>
                        <a:t>Data should be sourced only from the System of Record for all domains of data</a:t>
                      </a:r>
                    </a:p>
                    <a:p>
                      <a:pPr algn="l" rtl="0" fontAlgn="b">
                        <a:spcAft>
                          <a:spcPts val="1200"/>
                        </a:spcAft>
                      </a:pPr>
                      <a:r>
                        <a:rPr lang="en-US" sz="1100" b="1" i="0" u="none" strike="noStrike" kern="1200" dirty="0">
                          <a:solidFill>
                            <a:schemeClr val="tx1"/>
                          </a:solidFill>
                          <a:effectLst/>
                          <a:latin typeface="+mn-lt"/>
                          <a:ea typeface="+mn-ea"/>
                          <a:cs typeface="+mn-cs"/>
                        </a:rPr>
                        <a:t>Common integration tools and standards: </a:t>
                      </a:r>
                      <a:r>
                        <a:rPr lang="en-US" sz="1100" b="0" i="0" u="none" strike="noStrike" kern="1200" dirty="0">
                          <a:solidFill>
                            <a:schemeClr val="tx1"/>
                          </a:solidFill>
                          <a:effectLst/>
                          <a:latin typeface="+mn-lt"/>
                          <a:ea typeface="+mn-ea"/>
                          <a:cs typeface="+mn-cs"/>
                        </a:rPr>
                        <a:t>Data should be ingested using enterprise level integration tools and standards</a:t>
                      </a:r>
                    </a:p>
                    <a:p>
                      <a:pPr algn="l" rtl="0" fontAlgn="b">
                        <a:spcAft>
                          <a:spcPts val="1200"/>
                        </a:spcAft>
                      </a:pPr>
                      <a:r>
                        <a:rPr lang="en-US" sz="1100" b="1" i="0" u="none" strike="noStrike" kern="1200" dirty="0">
                          <a:solidFill>
                            <a:schemeClr val="tx1"/>
                          </a:solidFill>
                          <a:effectLst/>
                          <a:latin typeface="+mn-lt"/>
                          <a:ea typeface="+mn-ea"/>
                          <a:cs typeface="+mn-cs"/>
                        </a:rPr>
                        <a:t>Common data storage design: </a:t>
                      </a:r>
                      <a:r>
                        <a:rPr lang="en-US" sz="1100" b="0" i="0" u="none" strike="noStrike" kern="1200" dirty="0">
                          <a:solidFill>
                            <a:schemeClr val="tx1"/>
                          </a:solidFill>
                          <a:effectLst/>
                          <a:latin typeface="+mn-lt"/>
                          <a:ea typeface="+mn-ea"/>
                          <a:cs typeface="+mn-cs"/>
                        </a:rPr>
                        <a:t>Data should be stored at the appropriate granularity for a consistent/immutable view of core facts and then aggregated as needed</a:t>
                      </a:r>
                    </a:p>
                    <a:p>
                      <a:pPr algn="l" rtl="0" fontAlgn="b">
                        <a:spcAft>
                          <a:spcPts val="1200"/>
                        </a:spcAft>
                      </a:pPr>
                      <a:r>
                        <a:rPr lang="en-US" sz="1100" b="1" i="0" u="none" strike="noStrike" kern="1200" dirty="0">
                          <a:solidFill>
                            <a:schemeClr val="tx1"/>
                          </a:solidFill>
                          <a:effectLst/>
                          <a:latin typeface="+mn-lt"/>
                          <a:ea typeface="+mn-ea"/>
                          <a:cs typeface="+mn-cs"/>
                        </a:rPr>
                        <a:t>Minimize data duplication: </a:t>
                      </a:r>
                      <a:r>
                        <a:rPr lang="en-US" sz="1100" b="0" i="0" u="none" strike="noStrike" kern="1200" dirty="0">
                          <a:solidFill>
                            <a:schemeClr val="tx1"/>
                          </a:solidFill>
                          <a:effectLst/>
                          <a:latin typeface="+mn-lt"/>
                          <a:ea typeface="+mn-ea"/>
                          <a:cs typeface="+mn-cs"/>
                        </a:rPr>
                        <a:t>There should be an effort minimize data duplication, and redundancy of systems</a:t>
                      </a:r>
                    </a:p>
                    <a:p>
                      <a:pPr algn="l" rtl="0" fontAlgn="b">
                        <a:spcAft>
                          <a:spcPts val="1200"/>
                        </a:spcAft>
                      </a:pPr>
                      <a:r>
                        <a:rPr lang="en-US" sz="1100" b="1" i="0" u="none" strike="noStrike" kern="1200" dirty="0">
                          <a:solidFill>
                            <a:schemeClr val="tx1"/>
                          </a:solidFill>
                          <a:effectLst/>
                          <a:latin typeface="+mn-lt"/>
                          <a:ea typeface="+mn-ea"/>
                          <a:cs typeface="+mn-cs"/>
                        </a:rPr>
                        <a:t>Data lineage and history: </a:t>
                      </a:r>
                      <a:r>
                        <a:rPr lang="en-US" sz="1100" b="0" i="0" u="none" strike="noStrike" kern="1200" dirty="0">
                          <a:solidFill>
                            <a:schemeClr val="tx1"/>
                          </a:solidFill>
                          <a:effectLst/>
                          <a:latin typeface="+mn-lt"/>
                          <a:ea typeface="+mn-ea"/>
                          <a:cs typeface="+mn-cs"/>
                        </a:rPr>
                        <a:t>Transactional and master/reference data history should be managed for rolling N years</a:t>
                      </a:r>
                    </a:p>
                    <a:p>
                      <a:pPr algn="l" rtl="0" fontAlgn="b">
                        <a:spcAft>
                          <a:spcPts val="1200"/>
                        </a:spcAft>
                      </a:pPr>
                      <a:r>
                        <a:rPr lang="en-US" sz="1100" b="1" i="0" u="none" strike="noStrike" kern="1200" dirty="0">
                          <a:solidFill>
                            <a:schemeClr val="tx1"/>
                          </a:solidFill>
                          <a:effectLst/>
                          <a:latin typeface="+mn-lt"/>
                          <a:ea typeface="+mn-ea"/>
                          <a:cs typeface="+mn-cs"/>
                        </a:rPr>
                        <a:t>Centralize audit in system of record: </a:t>
                      </a:r>
                      <a:r>
                        <a:rPr lang="en-US" sz="1100" b="0" i="0" u="none" strike="noStrike" kern="1200" dirty="0">
                          <a:solidFill>
                            <a:schemeClr val="tx1"/>
                          </a:solidFill>
                          <a:effectLst/>
                          <a:latin typeface="+mn-lt"/>
                          <a:ea typeface="+mn-ea"/>
                          <a:cs typeface="+mn-cs"/>
                        </a:rPr>
                        <a:t>Assume Audit and Retention regulatory requirements will be addressed by System Of Record</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
        <p:nvSpPr>
          <p:cNvPr id="13" name="Title 12">
            <a:extLst>
              <a:ext uri="{FF2B5EF4-FFF2-40B4-BE49-F238E27FC236}">
                <a16:creationId xmlns:a16="http://schemas.microsoft.com/office/drawing/2014/main" id="{D8988B41-E19B-4DA4-AD86-61FC8BD73D64}"/>
              </a:ext>
            </a:extLst>
          </p:cNvPr>
          <p:cNvSpPr>
            <a:spLocks noGrp="1"/>
          </p:cNvSpPr>
          <p:nvPr>
            <p:ph type="title"/>
          </p:nvPr>
        </p:nvSpPr>
        <p:spPr/>
        <p:txBody>
          <a:bodyPr/>
          <a:lstStyle/>
          <a:p>
            <a:r>
              <a:rPr lang="en-US" dirty="0"/>
              <a:t>Information principles</a:t>
            </a:r>
          </a:p>
        </p:txBody>
      </p:sp>
    </p:spTree>
    <p:extLst>
      <p:ext uri="{BB962C8B-B14F-4D97-AF65-F5344CB8AC3E}">
        <p14:creationId xmlns:p14="http://schemas.microsoft.com/office/powerpoint/2010/main" val="267638912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928CA806-8602-4CE8-ABF0-12A38E0491DD}"/>
              </a:ext>
            </a:extLst>
          </p:cNvPr>
          <p:cNvGraphicFramePr>
            <a:graphicFrameLocks noGrp="1"/>
          </p:cNvGraphicFramePr>
          <p:nvPr>
            <p:extLst>
              <p:ext uri="{D42A27DB-BD31-4B8C-83A1-F6EECF244321}">
                <p14:modId xmlns:p14="http://schemas.microsoft.com/office/powerpoint/2010/main" val="3422668275"/>
              </p:ext>
            </p:extLst>
          </p:nvPr>
        </p:nvGraphicFramePr>
        <p:xfrm>
          <a:off x="469900" y="1680549"/>
          <a:ext cx="11253101" cy="336804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5. Data standardization and governance to ensure consistency and accuracy</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chemeClr val="tx1"/>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Enterprise data systems should have common standards for modeling so that data will be understood in a common business context, and data quality issues can be addressed. The lineage and Lifecyle of data should be managed to ensure that data is accurate and up-to-date. This management needs to be by members of the organization who understand and have a stake in the data and its quality.</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chemeClr val="tx1"/>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Standard data models: </a:t>
                      </a:r>
                      <a:r>
                        <a:rPr lang="en-US" sz="1100" b="0" i="0" u="none" strike="noStrike" kern="1200" dirty="0">
                          <a:solidFill>
                            <a:schemeClr val="tx1"/>
                          </a:solidFill>
                          <a:effectLst/>
                          <a:latin typeface="+mn-lt"/>
                          <a:ea typeface="+mn-ea"/>
                          <a:cs typeface="+mn-cs"/>
                        </a:rPr>
                        <a:t>Standardize and conform data to enterprise Data Model standards</a:t>
                      </a:r>
                    </a:p>
                    <a:p>
                      <a:pPr algn="l" rtl="0" fontAlgn="b">
                        <a:spcAft>
                          <a:spcPts val="1200"/>
                        </a:spcAft>
                      </a:pPr>
                      <a:r>
                        <a:rPr lang="en-US" sz="1100" b="1" i="0" u="none" strike="noStrike" kern="1200" dirty="0">
                          <a:solidFill>
                            <a:schemeClr val="tx1"/>
                          </a:solidFill>
                          <a:effectLst/>
                          <a:latin typeface="+mn-lt"/>
                          <a:ea typeface="+mn-ea"/>
                          <a:cs typeface="+mn-cs"/>
                        </a:rPr>
                        <a:t>Standard business semantics: </a:t>
                      </a:r>
                      <a:r>
                        <a:rPr lang="en-US" sz="1100" b="0" i="0" u="none" strike="noStrike" kern="1200" dirty="0">
                          <a:solidFill>
                            <a:schemeClr val="tx1"/>
                          </a:solidFill>
                          <a:effectLst/>
                          <a:latin typeface="+mn-lt"/>
                          <a:ea typeface="+mn-ea"/>
                          <a:cs typeface="+mn-cs"/>
                        </a:rPr>
                        <a:t>Use standardized business terms and logical data model definitions, and provide central documentation.</a:t>
                      </a:r>
                    </a:p>
                    <a:p>
                      <a:pPr algn="l" rtl="0" fontAlgn="b">
                        <a:spcAft>
                          <a:spcPts val="1200"/>
                        </a:spcAft>
                      </a:pPr>
                      <a:r>
                        <a:rPr lang="en-US" sz="1100" b="1" i="0" u="none" strike="noStrike" kern="1200" dirty="0">
                          <a:solidFill>
                            <a:schemeClr val="tx1"/>
                          </a:solidFill>
                          <a:effectLst/>
                          <a:latin typeface="+mn-lt"/>
                          <a:ea typeface="+mn-ea"/>
                          <a:cs typeface="+mn-cs"/>
                        </a:rPr>
                        <a:t>Common </a:t>
                      </a:r>
                      <a:r>
                        <a:rPr lang="en-US" sz="1100" b="1" i="0" u="none" strike="noStrike" kern="1200" dirty="0" err="1">
                          <a:solidFill>
                            <a:schemeClr val="tx1"/>
                          </a:solidFill>
                          <a:effectLst/>
                          <a:latin typeface="+mn-lt"/>
                          <a:ea typeface="+mn-ea"/>
                          <a:cs typeface="+mn-cs"/>
                        </a:rPr>
                        <a:t>MetaData</a:t>
                      </a:r>
                      <a:r>
                        <a:rPr lang="en-US" sz="1100" b="1" i="0" u="none" strike="noStrike" kern="1200" dirty="0">
                          <a:solidFill>
                            <a:schemeClr val="tx1"/>
                          </a:solidFill>
                          <a:effectLst/>
                          <a:latin typeface="+mn-lt"/>
                          <a:ea typeface="+mn-ea"/>
                          <a:cs typeface="+mn-cs"/>
                        </a:rPr>
                        <a:t>: </a:t>
                      </a:r>
                      <a:r>
                        <a:rPr lang="en-US" sz="1100" b="0" i="0" u="none" strike="noStrike" kern="1200" dirty="0">
                          <a:solidFill>
                            <a:schemeClr val="tx1"/>
                          </a:solidFill>
                          <a:effectLst/>
                          <a:latin typeface="+mn-lt"/>
                          <a:ea typeface="+mn-ea"/>
                          <a:cs typeface="+mn-cs"/>
                        </a:rPr>
                        <a:t>Capture and maintain metadata at all points through the data lifecycle</a:t>
                      </a:r>
                    </a:p>
                    <a:p>
                      <a:pPr algn="l" rtl="0" fontAlgn="b">
                        <a:spcAft>
                          <a:spcPts val="1200"/>
                        </a:spcAft>
                      </a:pPr>
                      <a:r>
                        <a:rPr lang="en-US" sz="1100" b="1" i="0" u="none" strike="noStrike" kern="1200" dirty="0">
                          <a:solidFill>
                            <a:schemeClr val="tx1"/>
                          </a:solidFill>
                          <a:effectLst/>
                          <a:latin typeface="+mn-lt"/>
                          <a:ea typeface="+mn-ea"/>
                          <a:cs typeface="+mn-cs"/>
                        </a:rPr>
                        <a:t>Data stewardship: </a:t>
                      </a:r>
                      <a:r>
                        <a:rPr lang="en-US" sz="1100" b="0" i="0" u="none" strike="noStrike" kern="1200" dirty="0">
                          <a:solidFill>
                            <a:schemeClr val="tx1"/>
                          </a:solidFill>
                          <a:effectLst/>
                          <a:latin typeface="+mn-lt"/>
                          <a:ea typeface="+mn-ea"/>
                          <a:cs typeface="+mn-cs"/>
                        </a:rPr>
                        <a:t>Enforce certification/validation of data through data stewardship processes, with clear ownership of data systems and processes</a:t>
                      </a:r>
                    </a:p>
                    <a:p>
                      <a:pPr algn="l" rtl="0" fontAlgn="b">
                        <a:spcAft>
                          <a:spcPts val="1200"/>
                        </a:spcAft>
                      </a:pPr>
                      <a:r>
                        <a:rPr lang="en-US" sz="1100" b="1" i="0" u="none" strike="noStrike" kern="1200" dirty="0">
                          <a:solidFill>
                            <a:schemeClr val="tx1"/>
                          </a:solidFill>
                          <a:effectLst/>
                          <a:latin typeface="+mn-lt"/>
                          <a:ea typeface="+mn-ea"/>
                          <a:cs typeface="+mn-cs"/>
                        </a:rPr>
                        <a:t>Monitoring and logging: </a:t>
                      </a:r>
                      <a:r>
                        <a:rPr lang="en-US" sz="1100" b="0" i="0" u="none" strike="noStrike" kern="1200" dirty="0">
                          <a:solidFill>
                            <a:schemeClr val="tx1"/>
                          </a:solidFill>
                          <a:effectLst/>
                          <a:latin typeface="+mn-lt"/>
                          <a:ea typeface="+mn-ea"/>
                          <a:cs typeface="+mn-cs"/>
                        </a:rPr>
                        <a:t>Enforce data health monitoring processes to ensure accuracy, completeness, consistency</a:t>
                      </a:r>
                    </a:p>
                    <a:p>
                      <a:pPr algn="l" rtl="0" fontAlgn="b">
                        <a:spcAft>
                          <a:spcPts val="1200"/>
                        </a:spcAft>
                      </a:pPr>
                      <a:r>
                        <a:rPr lang="en-US" sz="1100" b="1" i="0" u="none" strike="noStrike" kern="1200" dirty="0">
                          <a:solidFill>
                            <a:schemeClr val="tx1"/>
                          </a:solidFill>
                          <a:effectLst/>
                          <a:latin typeface="+mn-lt"/>
                          <a:ea typeface="+mn-ea"/>
                          <a:cs typeface="+mn-cs"/>
                        </a:rPr>
                        <a:t>Health and audit reporting: </a:t>
                      </a:r>
                      <a:r>
                        <a:rPr lang="en-US" sz="1100" b="0" i="0" u="none" strike="noStrike" kern="1200" dirty="0">
                          <a:solidFill>
                            <a:schemeClr val="tx1"/>
                          </a:solidFill>
                          <a:effectLst/>
                          <a:latin typeface="+mn-lt"/>
                          <a:ea typeface="+mn-ea"/>
                          <a:cs typeface="+mn-cs"/>
                        </a:rPr>
                        <a:t>Report data health monitoring using enterprise monitoring tools &amp; guidelines. Provide ongoing DQ reports and dashboards in an automated fashion.</a:t>
                      </a:r>
                    </a:p>
                    <a:p>
                      <a:pPr algn="l" rtl="0" fontAlgn="b">
                        <a:spcAft>
                          <a:spcPts val="1200"/>
                        </a:spcAft>
                      </a:pPr>
                      <a:r>
                        <a:rPr lang="en-US" sz="1100" b="1" i="0" u="none" strike="noStrike" kern="1200" dirty="0">
                          <a:solidFill>
                            <a:schemeClr val="tx1"/>
                          </a:solidFill>
                          <a:effectLst/>
                          <a:latin typeface="+mn-lt"/>
                          <a:ea typeface="+mn-ea"/>
                          <a:cs typeface="+mn-cs"/>
                        </a:rPr>
                        <a:t>Data profiling and DQ: </a:t>
                      </a:r>
                      <a:r>
                        <a:rPr lang="en-US" sz="1100" b="0" i="0" u="none" strike="noStrike" kern="1200" dirty="0">
                          <a:solidFill>
                            <a:schemeClr val="tx1"/>
                          </a:solidFill>
                          <a:effectLst/>
                          <a:latin typeface="+mn-lt"/>
                          <a:ea typeface="+mn-ea"/>
                          <a:cs typeface="+mn-cs"/>
                        </a:rPr>
                        <a:t>Profile data prior to integration with enterprise data to identify anomalies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
        <p:nvSpPr>
          <p:cNvPr id="14" name="Title 13">
            <a:extLst>
              <a:ext uri="{FF2B5EF4-FFF2-40B4-BE49-F238E27FC236}">
                <a16:creationId xmlns:a16="http://schemas.microsoft.com/office/drawing/2014/main" id="{A7623518-0DCA-4F7D-8DF7-D5DAEB1AE1B1}"/>
              </a:ext>
            </a:extLst>
          </p:cNvPr>
          <p:cNvSpPr>
            <a:spLocks noGrp="1"/>
          </p:cNvSpPr>
          <p:nvPr>
            <p:ph type="title"/>
          </p:nvPr>
        </p:nvSpPr>
        <p:spPr/>
        <p:txBody>
          <a:bodyPr/>
          <a:lstStyle/>
          <a:p>
            <a:r>
              <a:rPr lang="en-US" dirty="0"/>
              <a:t>Information principles (cont.)</a:t>
            </a:r>
          </a:p>
        </p:txBody>
      </p:sp>
    </p:spTree>
    <p:extLst>
      <p:ext uri="{BB962C8B-B14F-4D97-AF65-F5344CB8AC3E}">
        <p14:creationId xmlns:p14="http://schemas.microsoft.com/office/powerpoint/2010/main" val="279649297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2D45279-3A1D-427F-820E-D33FBC9F5FB1}"/>
              </a:ext>
            </a:extLst>
          </p:cNvPr>
          <p:cNvSpPr>
            <a:spLocks noGrp="1"/>
          </p:cNvSpPr>
          <p:nvPr>
            <p:ph type="title"/>
          </p:nvPr>
        </p:nvSpPr>
        <p:spPr/>
        <p:txBody>
          <a:bodyPr/>
          <a:lstStyle/>
          <a:p>
            <a:r>
              <a:rPr lang="en-US" dirty="0"/>
              <a:t>Information principles (cont.)</a:t>
            </a:r>
          </a:p>
        </p:txBody>
      </p:sp>
      <p:graphicFrame>
        <p:nvGraphicFramePr>
          <p:cNvPr id="14" name="Table 13">
            <a:extLst>
              <a:ext uri="{FF2B5EF4-FFF2-40B4-BE49-F238E27FC236}">
                <a16:creationId xmlns:a16="http://schemas.microsoft.com/office/drawing/2014/main" id="{C840A587-3745-4F0A-BAA0-0A372375D556}"/>
              </a:ext>
            </a:extLst>
          </p:cNvPr>
          <p:cNvGraphicFramePr>
            <a:graphicFrameLocks noGrp="1"/>
          </p:cNvGraphicFramePr>
          <p:nvPr>
            <p:extLst>
              <p:ext uri="{D42A27DB-BD31-4B8C-83A1-F6EECF244321}">
                <p14:modId xmlns:p14="http://schemas.microsoft.com/office/powerpoint/2010/main" val="2147712363"/>
              </p:ext>
            </p:extLst>
          </p:nvPr>
        </p:nvGraphicFramePr>
        <p:xfrm>
          <a:off x="469900" y="1680549"/>
          <a:ext cx="11253101" cy="306324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6. Common vocabulary and data definitions</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chemeClr val="tx1"/>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Data must have a common definition standard(s) with varying degrees of detail to enable sharing of data throughout the organization. A common vocabulary (aligned wherever possible with industry standards) facilitates effective communication and is also required to enable systems to exchange data.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chemeClr val="tx1"/>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Provide common vocabulary and business ownership: </a:t>
                      </a:r>
                      <a:r>
                        <a:rPr lang="en-US" sz="1100" b="0" i="0" u="none" strike="noStrike" kern="1200" dirty="0">
                          <a:solidFill>
                            <a:schemeClr val="tx1"/>
                          </a:solidFill>
                          <a:effectLst/>
                          <a:latin typeface="+mn-lt"/>
                          <a:ea typeface="+mn-ea"/>
                          <a:cs typeface="+mn-cs"/>
                        </a:rPr>
                        <a:t>A common vocabulary must be established and used throughout the organization where definitions are understandable and available to all users. An owner must be identified for this vocabulary. </a:t>
                      </a:r>
                    </a:p>
                    <a:p>
                      <a:pPr algn="l" rtl="0" fontAlgn="b">
                        <a:spcAft>
                          <a:spcPts val="1200"/>
                        </a:spcAft>
                      </a:pPr>
                      <a:r>
                        <a:rPr lang="en-US" sz="1100" b="1" i="0" u="none" strike="noStrike" kern="1200" dirty="0">
                          <a:solidFill>
                            <a:schemeClr val="tx1"/>
                          </a:solidFill>
                          <a:effectLst/>
                          <a:latin typeface="+mn-lt"/>
                          <a:ea typeface="+mn-ea"/>
                          <a:cs typeface="+mn-cs"/>
                        </a:rPr>
                        <a:t>Review process: </a:t>
                      </a:r>
                      <a:r>
                        <a:rPr lang="en-US" sz="1100" b="0" i="0" u="none" strike="noStrike" kern="1200" dirty="0">
                          <a:solidFill>
                            <a:schemeClr val="tx1"/>
                          </a:solidFill>
                          <a:effectLst/>
                          <a:latin typeface="+mn-lt"/>
                          <a:ea typeface="+mn-ea"/>
                          <a:cs typeface="+mn-cs"/>
                        </a:rPr>
                        <a:t>Whenever a new data definition is required, this will be produced through the use of the vocabulary.</a:t>
                      </a:r>
                    </a:p>
                    <a:p>
                      <a:pPr algn="l" rtl="0" fontAlgn="b">
                        <a:spcAft>
                          <a:spcPts val="1200"/>
                        </a:spcAft>
                      </a:pPr>
                      <a:r>
                        <a:rPr lang="en-US" sz="1100" b="1" i="0" u="none" strike="noStrike" kern="1200" dirty="0">
                          <a:solidFill>
                            <a:schemeClr val="tx1"/>
                          </a:solidFill>
                          <a:effectLst/>
                          <a:latin typeface="+mn-lt"/>
                          <a:ea typeface="+mn-ea"/>
                          <a:cs typeface="+mn-cs"/>
                        </a:rPr>
                        <a:t>Provide higher level conceptual definition: </a:t>
                      </a:r>
                      <a:r>
                        <a:rPr lang="en-US" sz="1100" b="0" i="0" u="none" strike="noStrike" kern="1200" dirty="0">
                          <a:solidFill>
                            <a:schemeClr val="tx1"/>
                          </a:solidFill>
                          <a:effectLst/>
                          <a:latin typeface="+mn-lt"/>
                          <a:ea typeface="+mn-ea"/>
                          <a:cs typeface="+mn-cs"/>
                        </a:rPr>
                        <a:t>Conceptual definitions will be required to identify the characteristics of the main entities within the business. These definitions will be neutral and organization-wide.</a:t>
                      </a:r>
                    </a:p>
                    <a:p>
                      <a:pPr algn="l" rtl="0" fontAlgn="b">
                        <a:spcAft>
                          <a:spcPts val="1200"/>
                        </a:spcAft>
                      </a:pPr>
                      <a:r>
                        <a:rPr lang="en-US" sz="1100" b="1" i="0" u="none" strike="noStrike" kern="1200" dirty="0">
                          <a:solidFill>
                            <a:schemeClr val="tx1"/>
                          </a:solidFill>
                          <a:effectLst/>
                          <a:latin typeface="+mn-lt"/>
                          <a:ea typeface="+mn-ea"/>
                          <a:cs typeface="+mn-cs"/>
                        </a:rPr>
                        <a:t>Provide detail drill down: </a:t>
                      </a:r>
                      <a:r>
                        <a:rPr lang="en-US" sz="1100" b="0" i="0" u="none" strike="noStrike" kern="1200" dirty="0">
                          <a:solidFill>
                            <a:schemeClr val="tx1"/>
                          </a:solidFill>
                          <a:effectLst/>
                          <a:latin typeface="+mn-lt"/>
                          <a:ea typeface="+mn-ea"/>
                          <a:cs typeface="+mn-cs"/>
                        </a:rPr>
                        <a:t>Detailed definitions will be required to identify the attributes of these entities within their area of ownership and control. These definitions will be influenced by the best practice identified in the area of control.</a:t>
                      </a:r>
                    </a:p>
                    <a:p>
                      <a:pPr algn="l" rtl="0" fontAlgn="b">
                        <a:spcAft>
                          <a:spcPts val="1200"/>
                        </a:spcAft>
                      </a:pPr>
                      <a:r>
                        <a:rPr lang="en-US" sz="1100" b="1" i="0" u="none" strike="noStrike" kern="1200" dirty="0">
                          <a:solidFill>
                            <a:schemeClr val="tx1"/>
                          </a:solidFill>
                          <a:effectLst/>
                          <a:latin typeface="+mn-lt"/>
                          <a:ea typeface="+mn-ea"/>
                          <a:cs typeface="+mn-cs"/>
                        </a:rPr>
                        <a:t>Resolve ambiguities, ongoing: </a:t>
                      </a:r>
                      <a:r>
                        <a:rPr lang="en-US" sz="1100" b="0" i="0" u="none" strike="noStrike" kern="1200" dirty="0">
                          <a:solidFill>
                            <a:schemeClr val="tx1"/>
                          </a:solidFill>
                          <a:effectLst/>
                          <a:latin typeface="+mn-lt"/>
                          <a:ea typeface="+mn-ea"/>
                          <a:cs typeface="+mn-cs"/>
                        </a:rPr>
                        <a:t>Ambiguities resulting from multiple departmental definitions of data must give way to accepted enterprise-wide definitions agreed by the technical design authority.</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Tree>
    <p:extLst>
      <p:ext uri="{BB962C8B-B14F-4D97-AF65-F5344CB8AC3E}">
        <p14:creationId xmlns:p14="http://schemas.microsoft.com/office/powerpoint/2010/main" val="129527539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3B4AB0A-40D4-4442-BD0E-2E609D73AD54}"/>
              </a:ext>
            </a:extLst>
          </p:cNvPr>
          <p:cNvSpPr>
            <a:spLocks noGrp="1"/>
          </p:cNvSpPr>
          <p:nvPr>
            <p:ph type="title"/>
          </p:nvPr>
        </p:nvSpPr>
        <p:spPr/>
        <p:txBody>
          <a:bodyPr/>
          <a:lstStyle/>
          <a:p>
            <a:r>
              <a:rPr lang="en-US" dirty="0"/>
              <a:t>Information principles (cont.)</a:t>
            </a:r>
          </a:p>
        </p:txBody>
      </p:sp>
      <p:graphicFrame>
        <p:nvGraphicFramePr>
          <p:cNvPr id="12" name="Table 11">
            <a:extLst>
              <a:ext uri="{FF2B5EF4-FFF2-40B4-BE49-F238E27FC236}">
                <a16:creationId xmlns:a16="http://schemas.microsoft.com/office/drawing/2014/main" id="{0ED10324-1068-484A-B0AB-D45343E60592}"/>
              </a:ext>
            </a:extLst>
          </p:cNvPr>
          <p:cNvGraphicFramePr>
            <a:graphicFrameLocks noGrp="1"/>
          </p:cNvGraphicFramePr>
          <p:nvPr>
            <p:extLst>
              <p:ext uri="{D42A27DB-BD31-4B8C-83A1-F6EECF244321}">
                <p14:modId xmlns:p14="http://schemas.microsoft.com/office/powerpoint/2010/main" val="745431770"/>
              </p:ext>
            </p:extLst>
          </p:nvPr>
        </p:nvGraphicFramePr>
        <p:xfrm>
          <a:off x="469900" y="1680549"/>
          <a:ext cx="11253101" cy="272796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7. Information is stored and maintained by policy</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chemeClr val="tx1"/>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Information and records are official pieces of information that must be catalogued and maintained according to specific policies so that they can be searchable and provide confidence that the information is authentic, accurate and true. To aid this, metadata must be stored close to the data that it describes, and retention policies set for the information.</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chemeClr val="tx1"/>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Develop common information stores: </a:t>
                      </a:r>
                      <a:r>
                        <a:rPr lang="en-US" sz="1100" b="0" i="0" u="none" strike="noStrike" kern="1200" dirty="0">
                          <a:solidFill>
                            <a:schemeClr val="tx1"/>
                          </a:solidFill>
                          <a:effectLst/>
                          <a:latin typeface="+mn-lt"/>
                          <a:ea typeface="+mn-ea"/>
                          <a:cs typeface="+mn-cs"/>
                        </a:rPr>
                        <a:t>Systems should not maintain independent or duplicate records.</a:t>
                      </a:r>
                    </a:p>
                    <a:p>
                      <a:pPr algn="l" rtl="0" fontAlgn="b">
                        <a:spcAft>
                          <a:spcPts val="1200"/>
                        </a:spcAft>
                      </a:pPr>
                      <a:r>
                        <a:rPr lang="en-US" sz="1100" b="1" i="0" u="none" strike="noStrike" kern="1200" dirty="0">
                          <a:solidFill>
                            <a:schemeClr val="tx1"/>
                          </a:solidFill>
                          <a:effectLst/>
                          <a:latin typeface="+mn-lt"/>
                          <a:ea typeface="+mn-ea"/>
                          <a:cs typeface="+mn-cs"/>
                        </a:rPr>
                        <a:t>Provide information context, location: </a:t>
                      </a:r>
                      <a:r>
                        <a:rPr lang="en-US" sz="1100" b="0" i="0" u="none" strike="noStrike" kern="1200" dirty="0">
                          <a:solidFill>
                            <a:schemeClr val="tx1"/>
                          </a:solidFill>
                          <a:effectLst/>
                          <a:latin typeface="+mn-lt"/>
                          <a:ea typeface="+mn-ea"/>
                          <a:cs typeface="+mn-cs"/>
                        </a:rPr>
                        <a:t>Records should be referenced by their location</a:t>
                      </a:r>
                    </a:p>
                    <a:p>
                      <a:pPr algn="l" rtl="0" fontAlgn="b">
                        <a:spcAft>
                          <a:spcPts val="1200"/>
                        </a:spcAft>
                      </a:pPr>
                      <a:r>
                        <a:rPr lang="en-US" sz="1100" b="1" i="0" u="none" strike="noStrike" kern="1200" dirty="0">
                          <a:solidFill>
                            <a:schemeClr val="tx1"/>
                          </a:solidFill>
                          <a:effectLst/>
                          <a:latin typeface="+mn-lt"/>
                          <a:ea typeface="+mn-ea"/>
                          <a:cs typeface="+mn-cs"/>
                        </a:rPr>
                        <a:t>Prioritize data resources: </a:t>
                      </a:r>
                      <a:r>
                        <a:rPr lang="en-US" sz="1100" b="0" i="0" u="none" strike="noStrike" kern="1200" dirty="0">
                          <a:solidFill>
                            <a:schemeClr val="tx1"/>
                          </a:solidFill>
                          <a:effectLst/>
                          <a:latin typeface="+mn-lt"/>
                          <a:ea typeface="+mn-ea"/>
                          <a:cs typeface="+mn-cs"/>
                        </a:rPr>
                        <a:t>Data will have deletion and archiving policies to ensure that resources are concentrated on data delivering most business benefit</a:t>
                      </a:r>
                    </a:p>
                    <a:p>
                      <a:pPr algn="l" rtl="0" fontAlgn="b">
                        <a:spcAft>
                          <a:spcPts val="1200"/>
                        </a:spcAft>
                      </a:pPr>
                      <a:r>
                        <a:rPr lang="en-US" sz="1100" b="1" i="0" u="none" strike="noStrike" kern="1200" dirty="0">
                          <a:solidFill>
                            <a:schemeClr val="tx1"/>
                          </a:solidFill>
                          <a:effectLst/>
                          <a:latin typeface="+mn-lt"/>
                          <a:ea typeface="+mn-ea"/>
                          <a:cs typeface="+mn-cs"/>
                        </a:rPr>
                        <a:t>Validate meta-data: </a:t>
                      </a:r>
                      <a:r>
                        <a:rPr lang="en-US" sz="1100" b="0" i="0" u="none" strike="noStrike" kern="1200" dirty="0">
                          <a:solidFill>
                            <a:schemeClr val="tx1"/>
                          </a:solidFill>
                          <a:effectLst/>
                          <a:latin typeface="+mn-lt"/>
                          <a:ea typeface="+mn-ea"/>
                          <a:cs typeface="+mn-cs"/>
                        </a:rPr>
                        <a:t>Information within systems should be evaluated against common data vocabularies, ensure reference meta-data needs maintaining according to policy</a:t>
                      </a:r>
                    </a:p>
                    <a:p>
                      <a:pPr algn="l" rtl="0" fontAlgn="b">
                        <a:spcAft>
                          <a:spcPts val="1200"/>
                        </a:spcAft>
                      </a:pPr>
                      <a:r>
                        <a:rPr lang="en-US" sz="1100" b="1" i="0" u="none" strike="noStrike" kern="1200" dirty="0">
                          <a:solidFill>
                            <a:schemeClr val="tx1"/>
                          </a:solidFill>
                          <a:effectLst/>
                          <a:latin typeface="+mn-lt"/>
                          <a:ea typeface="+mn-ea"/>
                          <a:cs typeface="+mn-cs"/>
                        </a:rPr>
                        <a:t>Searchability and accessibility: </a:t>
                      </a:r>
                      <a:r>
                        <a:rPr lang="en-US" sz="1100" b="0" i="0" u="none" strike="noStrike" kern="1200" dirty="0">
                          <a:solidFill>
                            <a:schemeClr val="tx1"/>
                          </a:solidFill>
                          <a:effectLst/>
                          <a:latin typeface="+mn-lt"/>
                          <a:ea typeface="+mn-ea"/>
                          <a:cs typeface="+mn-cs"/>
                        </a:rPr>
                        <a:t>Information must be catalogued and searchable</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Tree>
    <p:extLst>
      <p:ext uri="{BB962C8B-B14F-4D97-AF65-F5344CB8AC3E}">
        <p14:creationId xmlns:p14="http://schemas.microsoft.com/office/powerpoint/2010/main" val="2368526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84A78B2-3341-46EC-B0E6-C76367C2C93B}"/>
              </a:ext>
            </a:extLst>
          </p:cNvPr>
          <p:cNvSpPr>
            <a:spLocks noGrp="1"/>
          </p:cNvSpPr>
          <p:nvPr>
            <p:ph type="title"/>
          </p:nvPr>
        </p:nvSpPr>
        <p:spPr/>
        <p:txBody>
          <a:bodyPr/>
          <a:lstStyle/>
          <a:p>
            <a:r>
              <a:rPr lang="en-US" dirty="0"/>
              <a:t>Information principles (cont.)</a:t>
            </a:r>
          </a:p>
        </p:txBody>
      </p:sp>
      <p:graphicFrame>
        <p:nvGraphicFramePr>
          <p:cNvPr id="18" name="Table 17">
            <a:extLst>
              <a:ext uri="{FF2B5EF4-FFF2-40B4-BE49-F238E27FC236}">
                <a16:creationId xmlns:a16="http://schemas.microsoft.com/office/drawing/2014/main" id="{E74D31DE-4F24-4D49-BC9B-75F8BBEF7A40}"/>
              </a:ext>
            </a:extLst>
          </p:cNvPr>
          <p:cNvGraphicFramePr>
            <a:graphicFrameLocks noGrp="1"/>
          </p:cNvGraphicFramePr>
          <p:nvPr>
            <p:extLst>
              <p:ext uri="{D42A27DB-BD31-4B8C-83A1-F6EECF244321}">
                <p14:modId xmlns:p14="http://schemas.microsoft.com/office/powerpoint/2010/main" val="2810168363"/>
              </p:ext>
            </p:extLst>
          </p:nvPr>
        </p:nvGraphicFramePr>
        <p:xfrm>
          <a:off x="469900" y="1680549"/>
          <a:ext cx="11253101" cy="420624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8. Information is owned, accessible and secure</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ysClr val="windowText" lastClr="000000"/>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Data is an asset that has value to an organization and will be managed accordingly. It has a real measurable value—access to accurate, timely data is critical to decision making. Data ownership is key to data quality.</a:t>
                      </a:r>
                    </a:p>
                    <a:p>
                      <a:pPr algn="l" rtl="0" fontAlgn="b">
                        <a:spcAft>
                          <a:spcPts val="1200"/>
                        </a:spcAft>
                      </a:pPr>
                      <a:r>
                        <a:rPr lang="en-US" sz="1100" b="0" i="0" u="none" strike="noStrike" dirty="0">
                          <a:solidFill>
                            <a:schemeClr val="tx1"/>
                          </a:solidFill>
                          <a:effectLst/>
                          <a:latin typeface="+mj-lt"/>
                        </a:rPr>
                        <a:t>Data cannot be leveraged when inaccessible, thus access to information by the business through appropriately controlled channels is essential. There also needs to be recognition that some data is commercially or legally sensitive and access must be gated and/or protected appropriately.</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ysClr val="windowText" lastClr="000000"/>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Master data at one location:</a:t>
                      </a:r>
                      <a:r>
                        <a:rPr lang="en-US" sz="1100" b="0" i="0" u="none" strike="noStrike" kern="1200" dirty="0">
                          <a:solidFill>
                            <a:schemeClr val="tx1"/>
                          </a:solidFill>
                          <a:effectLst/>
                          <a:latin typeface="+mn-lt"/>
                          <a:ea typeface="+mn-ea"/>
                          <a:cs typeface="+mn-cs"/>
                        </a:rPr>
                        <a:t> Data is collected where there is a business, regulatory or legal need. Data mastering (in a single location) will enable data to be as accurate as possible and avoid ambiguities.</a:t>
                      </a:r>
                    </a:p>
                    <a:p>
                      <a:pPr algn="l" rtl="0" fontAlgn="b">
                        <a:spcAft>
                          <a:spcPts val="1200"/>
                        </a:spcAft>
                      </a:pPr>
                      <a:r>
                        <a:rPr lang="en-US" sz="1100" b="1" i="0" u="none" strike="noStrike" kern="1200" dirty="0">
                          <a:solidFill>
                            <a:schemeClr val="tx1"/>
                          </a:solidFill>
                          <a:effectLst/>
                          <a:latin typeface="+mn-lt"/>
                          <a:ea typeface="+mn-ea"/>
                          <a:cs typeface="+mn-cs"/>
                        </a:rPr>
                        <a:t>Ensure data resilience:</a:t>
                      </a:r>
                      <a:r>
                        <a:rPr lang="en-US" sz="1100" b="0" i="0" u="none" strike="noStrike" kern="1200" dirty="0">
                          <a:solidFill>
                            <a:schemeClr val="tx1"/>
                          </a:solidFill>
                          <a:effectLst/>
                          <a:latin typeface="+mn-lt"/>
                          <a:ea typeface="+mn-ea"/>
                          <a:cs typeface="+mn-cs"/>
                        </a:rPr>
                        <a:t> Data should be resilient, secure and recoverable to meet the agreed requirements of the organization. Each piece of data should be assessed to understand the appropriate level of control required for it.</a:t>
                      </a:r>
                    </a:p>
                    <a:p>
                      <a:pPr algn="l" rtl="0" fontAlgn="b">
                        <a:spcAft>
                          <a:spcPts val="1200"/>
                        </a:spcAft>
                      </a:pPr>
                      <a:r>
                        <a:rPr lang="en-US" sz="1100" b="1" i="0" u="none" strike="noStrike" kern="1200" dirty="0">
                          <a:solidFill>
                            <a:schemeClr val="tx1"/>
                          </a:solidFill>
                          <a:effectLst/>
                          <a:latin typeface="+mn-lt"/>
                          <a:ea typeface="+mn-ea"/>
                          <a:cs typeface="+mn-cs"/>
                        </a:rPr>
                        <a:t>Define business ownership of data:</a:t>
                      </a:r>
                      <a:r>
                        <a:rPr lang="en-US" sz="1100" b="0" i="0" u="none" strike="noStrike" kern="1200" dirty="0">
                          <a:solidFill>
                            <a:schemeClr val="tx1"/>
                          </a:solidFill>
                          <a:effectLst/>
                          <a:latin typeface="+mn-lt"/>
                          <a:ea typeface="+mn-ea"/>
                          <a:cs typeface="+mn-cs"/>
                        </a:rPr>
                        <a:t> Data content, accuracy and access authorization is the responsibility of a business custodian, while the storage of data is a technical concern.</a:t>
                      </a:r>
                    </a:p>
                    <a:p>
                      <a:pPr algn="l" rtl="0" fontAlgn="b">
                        <a:spcAft>
                          <a:spcPts val="1200"/>
                        </a:spcAft>
                      </a:pPr>
                      <a:r>
                        <a:rPr lang="en-US" sz="1100" b="1" i="0" u="none" strike="noStrike" kern="1200" dirty="0">
                          <a:solidFill>
                            <a:schemeClr val="tx1"/>
                          </a:solidFill>
                          <a:effectLst/>
                          <a:latin typeface="+mn-lt"/>
                          <a:ea typeface="+mn-ea"/>
                          <a:cs typeface="+mn-cs"/>
                        </a:rPr>
                        <a:t>Ensure accessibility: </a:t>
                      </a:r>
                      <a:r>
                        <a:rPr lang="en-US" sz="1100" b="0" i="0" u="none" strike="noStrike" kern="1200" dirty="0">
                          <a:solidFill>
                            <a:schemeClr val="tx1"/>
                          </a:solidFill>
                          <a:effectLst/>
                          <a:latin typeface="+mn-lt"/>
                          <a:ea typeface="+mn-ea"/>
                          <a:cs typeface="+mn-cs"/>
                        </a:rPr>
                        <a:t>Data Should be accessible by areas of the organization that need it to fulfil their role. Accessibility includes information about the data (metadata). Access to data does not grant the user rights to modify or disclose the data.</a:t>
                      </a:r>
                    </a:p>
                    <a:p>
                      <a:pPr algn="l" rtl="0" fontAlgn="b">
                        <a:spcAft>
                          <a:spcPts val="1200"/>
                        </a:spcAft>
                      </a:pPr>
                      <a:r>
                        <a:rPr lang="en-US" sz="1100" b="1" i="0" u="none" strike="noStrike" kern="1200" dirty="0">
                          <a:solidFill>
                            <a:schemeClr val="tx1"/>
                          </a:solidFill>
                          <a:effectLst/>
                          <a:latin typeface="+mn-lt"/>
                          <a:ea typeface="+mn-ea"/>
                          <a:cs typeface="+mn-cs"/>
                        </a:rPr>
                        <a:t>Control access through applications:</a:t>
                      </a:r>
                      <a:r>
                        <a:rPr lang="en-US" sz="1100" b="0" i="0" u="none" strike="noStrike" kern="1200" dirty="0">
                          <a:solidFill>
                            <a:schemeClr val="tx1"/>
                          </a:solidFill>
                          <a:effectLst/>
                          <a:latin typeface="+mn-lt"/>
                          <a:ea typeface="+mn-ea"/>
                          <a:cs typeface="+mn-cs"/>
                        </a:rPr>
                        <a:t> Updates to data must always be through the controlling application to ensure that the appropriate business and technical controls are used.</a:t>
                      </a:r>
                    </a:p>
                    <a:p>
                      <a:pPr algn="l" rtl="0" fontAlgn="b">
                        <a:spcAft>
                          <a:spcPts val="1200"/>
                        </a:spcAft>
                      </a:pPr>
                      <a:r>
                        <a:rPr lang="en-US" sz="1100" b="1" i="0" u="none" strike="noStrike" kern="1200" dirty="0">
                          <a:solidFill>
                            <a:schemeClr val="tx1"/>
                          </a:solidFill>
                          <a:effectLst/>
                          <a:latin typeface="+mn-lt"/>
                          <a:ea typeface="+mn-ea"/>
                          <a:cs typeface="+mn-cs"/>
                        </a:rPr>
                        <a:t>Secure PII data:</a:t>
                      </a:r>
                      <a:r>
                        <a:rPr lang="en-US" sz="1100" b="0" i="0" u="none" strike="noStrike" kern="1200" dirty="0">
                          <a:solidFill>
                            <a:schemeClr val="tx1"/>
                          </a:solidFill>
                          <a:effectLst/>
                          <a:latin typeface="+mn-lt"/>
                          <a:ea typeface="+mn-ea"/>
                          <a:cs typeface="+mn-cs"/>
                        </a:rPr>
                        <a:t> Personally identifiable information (PII) should be separated in a distinct data domain, and be treated with appropriate protection according to legal requirements.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Tree>
    <p:extLst>
      <p:ext uri="{BB962C8B-B14F-4D97-AF65-F5344CB8AC3E}">
        <p14:creationId xmlns:p14="http://schemas.microsoft.com/office/powerpoint/2010/main" val="360246609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84A78B2-3341-46EC-B0E6-C76367C2C93B}"/>
              </a:ext>
            </a:extLst>
          </p:cNvPr>
          <p:cNvSpPr>
            <a:spLocks noGrp="1"/>
          </p:cNvSpPr>
          <p:nvPr>
            <p:ph type="title"/>
          </p:nvPr>
        </p:nvSpPr>
        <p:spPr/>
        <p:txBody>
          <a:bodyPr/>
          <a:lstStyle/>
          <a:p>
            <a:r>
              <a:rPr lang="en-US" dirty="0"/>
              <a:t>Security principles</a:t>
            </a:r>
          </a:p>
        </p:txBody>
      </p:sp>
      <p:graphicFrame>
        <p:nvGraphicFramePr>
          <p:cNvPr id="12" name="Table 11">
            <a:extLst>
              <a:ext uri="{FF2B5EF4-FFF2-40B4-BE49-F238E27FC236}">
                <a16:creationId xmlns:a16="http://schemas.microsoft.com/office/drawing/2014/main" id="{CAF6FA69-8445-450B-8F6E-254D48C84037}"/>
              </a:ext>
            </a:extLst>
          </p:cNvPr>
          <p:cNvGraphicFramePr>
            <a:graphicFrameLocks noGrp="1"/>
          </p:cNvGraphicFramePr>
          <p:nvPr>
            <p:extLst>
              <p:ext uri="{D42A27DB-BD31-4B8C-83A1-F6EECF244321}">
                <p14:modId xmlns:p14="http://schemas.microsoft.com/office/powerpoint/2010/main" val="4077925980"/>
              </p:ext>
            </p:extLst>
          </p:nvPr>
        </p:nvGraphicFramePr>
        <p:xfrm>
          <a:off x="469900" y="1680549"/>
          <a:ext cx="11253101" cy="306324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9. Security of Information, Systems and Intellectual Property</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ysClr val="windowText" lastClr="000000"/>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The overall security, integrity and reliability of the data that an organization collects, stores, creates, receives or transmits is critical. Also compliance is a major requirement. Data breaches can result in litigation cases and can damage to an organization's reputation. The importance of shielding data from security threats, and protecting the companies intellectual property is increasingly vital to the organization.</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ysClr val="windowText" lastClr="000000"/>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Implement comprehensive security: </a:t>
                      </a:r>
                      <a:r>
                        <a:rPr lang="en-US" sz="1100" b="0" i="0" u="none" strike="noStrike" kern="1200" dirty="0">
                          <a:solidFill>
                            <a:schemeClr val="tx1"/>
                          </a:solidFill>
                          <a:effectLst/>
                          <a:latin typeface="+mn-lt"/>
                          <a:ea typeface="+mn-ea"/>
                          <a:cs typeface="+mn-cs"/>
                        </a:rPr>
                        <a:t>Security will be implemented in depth. All aspects of the architecture, including personal devices, etc. should be addressed, to protect against both Internal and external threats</a:t>
                      </a:r>
                    </a:p>
                    <a:p>
                      <a:pPr algn="l" rtl="0" fontAlgn="b">
                        <a:spcAft>
                          <a:spcPts val="1200"/>
                        </a:spcAft>
                      </a:pPr>
                      <a:r>
                        <a:rPr lang="en-US" sz="1100" b="1" i="0" u="none" strike="noStrike" kern="1200" dirty="0">
                          <a:solidFill>
                            <a:schemeClr val="tx1"/>
                          </a:solidFill>
                          <a:effectLst/>
                          <a:latin typeface="+mn-lt"/>
                          <a:ea typeface="+mn-ea"/>
                          <a:cs typeface="+mn-cs"/>
                        </a:rPr>
                        <a:t>Perform risk based assessment:</a:t>
                      </a:r>
                      <a:r>
                        <a:rPr lang="en-US" sz="1100" b="0" i="0" u="none" strike="noStrike" kern="1200" dirty="0">
                          <a:solidFill>
                            <a:schemeClr val="tx1"/>
                          </a:solidFill>
                          <a:effectLst/>
                          <a:latin typeface="+mn-lt"/>
                          <a:ea typeface="+mn-ea"/>
                          <a:cs typeface="+mn-cs"/>
                        </a:rPr>
                        <a:t> Use a risk-based approach to security that looks holistically at the threats facing the organocation and prioritizes security threats, and implement pro-active monitoring </a:t>
                      </a:r>
                    </a:p>
                    <a:p>
                      <a:pPr algn="l" rtl="0" fontAlgn="b">
                        <a:spcAft>
                          <a:spcPts val="1200"/>
                        </a:spcAft>
                      </a:pPr>
                      <a:r>
                        <a:rPr lang="en-US" sz="1100" b="1" i="0" u="none" strike="noStrike" kern="1200" dirty="0">
                          <a:solidFill>
                            <a:schemeClr val="tx1"/>
                          </a:solidFill>
                          <a:effectLst/>
                          <a:latin typeface="+mn-lt"/>
                          <a:ea typeface="+mn-ea"/>
                          <a:cs typeface="+mn-cs"/>
                        </a:rPr>
                        <a:t>Track and classify all sources of secure data:</a:t>
                      </a:r>
                      <a:r>
                        <a:rPr lang="en-US" sz="1100" b="0" i="0" u="none" strike="noStrike" kern="1200" dirty="0">
                          <a:solidFill>
                            <a:schemeClr val="tx1"/>
                          </a:solidFill>
                          <a:effectLst/>
                          <a:latin typeface="+mn-lt"/>
                          <a:ea typeface="+mn-ea"/>
                          <a:cs typeface="+mn-cs"/>
                        </a:rPr>
                        <a:t> All information/objects to be protected should be identified, classified and associated planning should be put in place.</a:t>
                      </a:r>
                    </a:p>
                    <a:p>
                      <a:pPr algn="l" rtl="0" fontAlgn="b">
                        <a:spcAft>
                          <a:spcPts val="1200"/>
                        </a:spcAft>
                      </a:pPr>
                      <a:r>
                        <a:rPr lang="en-US" sz="1100" b="1" i="0" u="none" strike="noStrike" kern="1200" dirty="0">
                          <a:solidFill>
                            <a:schemeClr val="tx1"/>
                          </a:solidFill>
                          <a:effectLst/>
                          <a:latin typeface="+mn-lt"/>
                          <a:ea typeface="+mn-ea"/>
                          <a:cs typeface="+mn-cs"/>
                        </a:rPr>
                        <a:t>Perform security reviews: </a:t>
                      </a:r>
                      <a:r>
                        <a:rPr lang="en-US" sz="1100" b="0" i="0" u="none" strike="noStrike" kern="1200" dirty="0">
                          <a:solidFill>
                            <a:schemeClr val="tx1"/>
                          </a:solidFill>
                          <a:effectLst/>
                          <a:latin typeface="+mn-lt"/>
                          <a:ea typeface="+mn-ea"/>
                          <a:cs typeface="+mn-cs"/>
                        </a:rPr>
                        <a:t>Conduct regular(at least annually) security reviews of threats to all the organization’s systems</a:t>
                      </a:r>
                    </a:p>
                    <a:p>
                      <a:pPr algn="l" rtl="0" fontAlgn="b">
                        <a:spcAft>
                          <a:spcPts val="1200"/>
                        </a:spcAft>
                      </a:pPr>
                      <a:r>
                        <a:rPr lang="en-US" sz="1100" b="1" i="0" u="none" strike="noStrike" kern="1200" dirty="0">
                          <a:solidFill>
                            <a:schemeClr val="tx1"/>
                          </a:solidFill>
                          <a:effectLst/>
                          <a:latin typeface="+mn-lt"/>
                          <a:ea typeface="+mn-ea"/>
                          <a:cs typeface="+mn-cs"/>
                        </a:rPr>
                        <a:t>Apply domain separation: </a:t>
                      </a:r>
                      <a:r>
                        <a:rPr lang="en-US" sz="1100" b="0" i="0" u="none" strike="noStrike" kern="1200" dirty="0">
                          <a:solidFill>
                            <a:schemeClr val="tx1"/>
                          </a:solidFill>
                          <a:effectLst/>
                          <a:latin typeface="+mn-lt"/>
                          <a:ea typeface="+mn-ea"/>
                          <a:cs typeface="+mn-cs"/>
                        </a:rPr>
                        <a:t>Separate data systems into domains to support application specific security rules. For example, between corporate and operational domains.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Tree>
    <p:extLst>
      <p:ext uri="{BB962C8B-B14F-4D97-AF65-F5344CB8AC3E}">
        <p14:creationId xmlns:p14="http://schemas.microsoft.com/office/powerpoint/2010/main" val="303064778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BE1A8-CAAB-4F24-B7B4-BCAB1DC2AC9F}"/>
              </a:ext>
            </a:extLst>
          </p:cNvPr>
          <p:cNvSpPr>
            <a:spLocks noGrp="1"/>
          </p:cNvSpPr>
          <p:nvPr>
            <p:ph type="title"/>
          </p:nvPr>
        </p:nvSpPr>
        <p:spPr/>
        <p:txBody>
          <a:bodyPr/>
          <a:lstStyle/>
          <a:p>
            <a:r>
              <a:rPr lang="en-US" dirty="0"/>
              <a:t>Technology principles</a:t>
            </a:r>
          </a:p>
        </p:txBody>
      </p:sp>
      <p:graphicFrame>
        <p:nvGraphicFramePr>
          <p:cNvPr id="15" name="Table 14">
            <a:extLst>
              <a:ext uri="{FF2B5EF4-FFF2-40B4-BE49-F238E27FC236}">
                <a16:creationId xmlns:a16="http://schemas.microsoft.com/office/drawing/2014/main" id="{DC7983FD-B685-4C26-8AC2-37982A9A64F6}"/>
              </a:ext>
            </a:extLst>
          </p:cNvPr>
          <p:cNvGraphicFramePr>
            <a:graphicFrameLocks noGrp="1"/>
          </p:cNvGraphicFramePr>
          <p:nvPr>
            <p:extLst>
              <p:ext uri="{D42A27DB-BD31-4B8C-83A1-F6EECF244321}">
                <p14:modId xmlns:p14="http://schemas.microsoft.com/office/powerpoint/2010/main" val="3250905116"/>
              </p:ext>
            </p:extLst>
          </p:nvPr>
        </p:nvGraphicFramePr>
        <p:xfrm>
          <a:off x="469900" y="1680549"/>
          <a:ext cx="11253101" cy="373380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10. Use cloud-based software-as-a-service for commodity services</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ysClr val="windowText" lastClr="000000"/>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Cloud hosting has become a commodity service with cloud service providers providing reliable, secure, expandable and low-cost computing infrastructure, platforms and software.</a:t>
                      </a:r>
                    </a:p>
                    <a:p>
                      <a:pPr algn="l" rtl="0" fontAlgn="b">
                        <a:spcAft>
                          <a:spcPts val="1200"/>
                        </a:spcAft>
                      </a:pPr>
                      <a:r>
                        <a:rPr lang="en-US" sz="1100" b="0" i="0" u="none" strike="noStrike" dirty="0">
                          <a:solidFill>
                            <a:schemeClr val="tx1"/>
                          </a:solidFill>
                          <a:effectLst/>
                          <a:latin typeface="+mj-lt"/>
                        </a:rPr>
                        <a:t>Software-as-a-service (SaaS) ensures that software is designed to make the best use of cloud platform and infrastructure capabilities and is resiliently designed.</a:t>
                      </a:r>
                    </a:p>
                    <a:p>
                      <a:pPr algn="l" rtl="0" fontAlgn="b">
                        <a:spcAft>
                          <a:spcPts val="1200"/>
                        </a:spcAft>
                      </a:pPr>
                      <a:r>
                        <a:rPr lang="en-US" sz="1100" b="0" i="0" u="none" strike="noStrike" dirty="0">
                          <a:solidFill>
                            <a:schemeClr val="tx1"/>
                          </a:solidFill>
                          <a:effectLst/>
                          <a:latin typeface="+mj-lt"/>
                        </a:rPr>
                        <a:t>For clients seeking a 'commodity service’, who are not seeking competitive advantage within specific software solutions, low Capex SaaS solutions offer best-of-breed functionality more efficiently. By going with best of breed SaaS services, the client moves the burden of product development and functionality increases to the SaaS supplier.</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ysClr val="windowText" lastClr="000000"/>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Measure total infrastructure costs:</a:t>
                      </a:r>
                      <a:r>
                        <a:rPr lang="en-US" sz="1100" b="0" i="0" u="none" strike="noStrike" kern="1200" dirty="0">
                          <a:solidFill>
                            <a:schemeClr val="tx1"/>
                          </a:solidFill>
                          <a:effectLst/>
                          <a:latin typeface="+mn-lt"/>
                          <a:ea typeface="+mn-ea"/>
                          <a:cs typeface="+mn-cs"/>
                        </a:rPr>
                        <a:t> There is a high impact on the total cost of ownership of operating and supporting infrastructure and platforms. Identify costs and determine the impact of using cloud IAAS and PAAS. Prioritize investments in data migrations and new services based on cost savings.</a:t>
                      </a:r>
                    </a:p>
                    <a:p>
                      <a:pPr algn="l" rtl="0" fontAlgn="b">
                        <a:spcAft>
                          <a:spcPts val="1200"/>
                        </a:spcAft>
                      </a:pPr>
                      <a:r>
                        <a:rPr lang="en-US" sz="1100" b="1" i="0" u="none" strike="noStrike" kern="1200" dirty="0">
                          <a:solidFill>
                            <a:schemeClr val="tx1"/>
                          </a:solidFill>
                          <a:effectLst/>
                          <a:latin typeface="+mn-lt"/>
                          <a:ea typeface="+mn-ea"/>
                          <a:cs typeface="+mn-cs"/>
                        </a:rPr>
                        <a:t>Restructure IT operating models to enable SaaS:</a:t>
                      </a:r>
                      <a:r>
                        <a:rPr lang="en-US" sz="1100" b="0" i="0" u="none" strike="noStrike" kern="1200" dirty="0">
                          <a:solidFill>
                            <a:schemeClr val="tx1"/>
                          </a:solidFill>
                          <a:effectLst/>
                          <a:latin typeface="+mn-lt"/>
                          <a:ea typeface="+mn-ea"/>
                          <a:cs typeface="+mn-cs"/>
                        </a:rPr>
                        <a:t> IT operations and financial expenditure models (</a:t>
                      </a:r>
                      <a:r>
                        <a:rPr lang="en-US" sz="1100" b="0" i="0" u="none" strike="noStrike" kern="1200" dirty="0" err="1">
                          <a:solidFill>
                            <a:schemeClr val="tx1"/>
                          </a:solidFill>
                          <a:effectLst/>
                          <a:latin typeface="+mn-lt"/>
                          <a:ea typeface="+mn-ea"/>
                          <a:cs typeface="+mn-cs"/>
                        </a:rPr>
                        <a:t>Opex:Capex</a:t>
                      </a:r>
                      <a:r>
                        <a:rPr lang="en-US" sz="1100" b="0" i="0" u="none" strike="noStrike" kern="1200" dirty="0">
                          <a:solidFill>
                            <a:schemeClr val="tx1"/>
                          </a:solidFill>
                          <a:effectLst/>
                          <a:latin typeface="+mn-lt"/>
                          <a:ea typeface="+mn-ea"/>
                          <a:cs typeface="+mn-cs"/>
                        </a:rPr>
                        <a:t>) are different for cloud hosted solutions and require additional definition, different management competencies and control measures. Revisit IT operations to enable SaaS and cloud services in the organization.</a:t>
                      </a:r>
                    </a:p>
                    <a:p>
                      <a:pPr algn="l" rtl="0" fontAlgn="b">
                        <a:spcAft>
                          <a:spcPts val="1200"/>
                        </a:spcAft>
                      </a:pPr>
                      <a:r>
                        <a:rPr lang="en-US" sz="1100" b="1" i="0" u="none" strike="noStrike" kern="1200" dirty="0">
                          <a:solidFill>
                            <a:schemeClr val="tx1"/>
                          </a:solidFill>
                          <a:effectLst/>
                          <a:latin typeface="+mn-lt"/>
                          <a:ea typeface="+mn-ea"/>
                          <a:cs typeface="+mn-cs"/>
                        </a:rPr>
                        <a:t>Assess COTS products based on cloud adoption: </a:t>
                      </a:r>
                      <a:r>
                        <a:rPr lang="en-US" sz="1100" b="0" i="0" u="none" strike="noStrike" kern="1200" dirty="0">
                          <a:solidFill>
                            <a:schemeClr val="tx1"/>
                          </a:solidFill>
                          <a:effectLst/>
                          <a:latin typeface="+mn-lt"/>
                          <a:ea typeface="+mn-ea"/>
                          <a:cs typeface="+mn-cs"/>
                        </a:rPr>
                        <a:t>COTS Products should be assessed for their maturity with regard to SaaS and cloud services. The use of non-SAAS products should be by exception only. Also, COTS Products should be assessed for their maturity with regard to changes being delivered inherently in SaaS systems, or via a </a:t>
                      </a:r>
                      <a:r>
                        <a:rPr lang="en-US" sz="1100" b="0" i="0" u="none" strike="noStrike" kern="1200" dirty="0" err="1">
                          <a:solidFill>
                            <a:schemeClr val="tx1"/>
                          </a:solidFill>
                          <a:effectLst/>
                          <a:latin typeface="+mn-lt"/>
                          <a:ea typeface="+mn-ea"/>
                          <a:cs typeface="+mn-cs"/>
                        </a:rPr>
                        <a:t>devops</a:t>
                      </a:r>
                      <a:r>
                        <a:rPr lang="en-US" sz="1100" b="0" i="0" u="none" strike="noStrike" kern="1200" dirty="0">
                          <a:solidFill>
                            <a:schemeClr val="tx1"/>
                          </a:solidFill>
                          <a:effectLst/>
                          <a:latin typeface="+mn-lt"/>
                          <a:ea typeface="+mn-ea"/>
                          <a:cs typeface="+mn-cs"/>
                        </a:rPr>
                        <a:t> approach.</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Tree>
    <p:extLst>
      <p:ext uri="{BB962C8B-B14F-4D97-AF65-F5344CB8AC3E}">
        <p14:creationId xmlns:p14="http://schemas.microsoft.com/office/powerpoint/2010/main" val="85215635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308FB7F-49EB-45F8-8683-771B6333A4E9}"/>
              </a:ext>
            </a:extLst>
          </p:cNvPr>
          <p:cNvSpPr>
            <a:spLocks noGrp="1"/>
          </p:cNvSpPr>
          <p:nvPr>
            <p:ph type="title"/>
          </p:nvPr>
        </p:nvSpPr>
        <p:spPr/>
        <p:txBody>
          <a:bodyPr/>
          <a:lstStyle/>
          <a:p>
            <a:r>
              <a:rPr lang="en-US" dirty="0"/>
              <a:t>Technology principles (cont.)</a:t>
            </a:r>
          </a:p>
        </p:txBody>
      </p:sp>
      <p:graphicFrame>
        <p:nvGraphicFramePr>
          <p:cNvPr id="18" name="Table 17">
            <a:extLst>
              <a:ext uri="{FF2B5EF4-FFF2-40B4-BE49-F238E27FC236}">
                <a16:creationId xmlns:a16="http://schemas.microsoft.com/office/drawing/2014/main" id="{E43C252C-23B6-4F29-8B24-EEF42A9F28DF}"/>
              </a:ext>
            </a:extLst>
          </p:cNvPr>
          <p:cNvGraphicFramePr>
            <a:graphicFrameLocks noGrp="1"/>
          </p:cNvGraphicFramePr>
          <p:nvPr>
            <p:extLst>
              <p:ext uri="{D42A27DB-BD31-4B8C-83A1-F6EECF244321}">
                <p14:modId xmlns:p14="http://schemas.microsoft.com/office/powerpoint/2010/main" val="3355445860"/>
              </p:ext>
            </p:extLst>
          </p:nvPr>
        </p:nvGraphicFramePr>
        <p:xfrm>
          <a:off x="469900" y="1680549"/>
          <a:ext cx="11253101" cy="2590800"/>
        </p:xfrm>
        <a:graphic>
          <a:graphicData uri="http://schemas.openxmlformats.org/drawingml/2006/table">
            <a:tbl>
              <a:tblPr>
                <a:effectLst/>
              </a:tblPr>
              <a:tblGrid>
                <a:gridCol w="1103261">
                  <a:extLst>
                    <a:ext uri="{9D8B030D-6E8A-4147-A177-3AD203B41FA5}">
                      <a16:colId xmlns:a16="http://schemas.microsoft.com/office/drawing/2014/main" val="3221282514"/>
                    </a:ext>
                  </a:extLst>
                </a:gridCol>
                <a:gridCol w="10149840">
                  <a:extLst>
                    <a:ext uri="{9D8B030D-6E8A-4147-A177-3AD203B41FA5}">
                      <a16:colId xmlns:a16="http://schemas.microsoft.com/office/drawing/2014/main" val="3473481410"/>
                    </a:ext>
                  </a:extLst>
                </a:gridCol>
              </a:tblGrid>
              <a:tr h="0">
                <a:tc>
                  <a:txBody>
                    <a:bodyPr/>
                    <a:lstStyle/>
                    <a:p>
                      <a:pPr algn="l" rtl="0" fontAlgn="ctr"/>
                      <a:endParaRPr lang="en-US" sz="1100" b="1" i="0" u="none" strike="noStrike" dirty="0">
                        <a:solidFill>
                          <a:schemeClr val="bg1"/>
                        </a:solidFill>
                        <a:effectLst/>
                        <a:latin typeface="+mj-lt"/>
                      </a:endParaRP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1100" b="1" u="none" strike="noStrike" dirty="0">
                          <a:solidFill>
                            <a:schemeClr val="bg1"/>
                          </a:solidFill>
                          <a:effectLst/>
                          <a:latin typeface="+mj-lt"/>
                        </a:rPr>
                        <a:t>11. Use lifelike testing and proving</a:t>
                      </a:r>
                    </a:p>
                  </a:txBody>
                  <a:tcPr marL="45720" marR="45720">
                    <a:lnL w="12700" cmpd="sng">
                      <a:noFill/>
                      <a:prstDash val="solid"/>
                    </a:lnL>
                    <a:lnR w="12700" cmpd="sng">
                      <a:noFill/>
                      <a:prstDash val="solid"/>
                    </a:lnR>
                    <a:lnT w="38100" cap="flat" cmpd="sng" algn="ctr">
                      <a:no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09518687"/>
                  </a:ext>
                </a:extLst>
              </a:tr>
              <a:tr h="0">
                <a:tc>
                  <a:txBody>
                    <a:bodyPr/>
                    <a:lstStyle/>
                    <a:p>
                      <a:pPr algn="l" rtl="0" fontAlgn="b"/>
                      <a:r>
                        <a:rPr lang="en-US" sz="1100" b="1" u="none" strike="noStrike" dirty="0">
                          <a:solidFill>
                            <a:sysClr val="windowText" lastClr="000000"/>
                          </a:solidFill>
                          <a:effectLst/>
                          <a:latin typeface="+mj-lt"/>
                        </a:rPr>
                        <a:t>Rational</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0" i="0" u="none" strike="noStrike" dirty="0">
                          <a:solidFill>
                            <a:schemeClr val="tx1"/>
                          </a:solidFill>
                          <a:effectLst/>
                          <a:latin typeface="+mj-lt"/>
                        </a:rPr>
                        <a:t>The effects of failure of a production data system may affect not only the direct users of the system or application, but also upstream and downstream systems—many business areas, customers and partners may be impacted. By using a test environment that closely matches the production systems, the risk of failures during a live implementation can be measured, and minimized. This can also serve as a sandbox for agile development, iterative testing, and security/failure simulation.</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4246570"/>
                  </a:ext>
                </a:extLst>
              </a:tr>
              <a:tr h="0">
                <a:tc>
                  <a:txBody>
                    <a:bodyPr/>
                    <a:lstStyle/>
                    <a:p>
                      <a:pPr algn="l" rtl="0" fontAlgn="b"/>
                      <a:r>
                        <a:rPr lang="en-US" sz="1100" b="1" u="none" strike="noStrike" dirty="0">
                          <a:solidFill>
                            <a:sysClr val="windowText" lastClr="000000"/>
                          </a:solidFill>
                          <a:effectLst/>
                          <a:latin typeface="+mj-lt"/>
                        </a:rPr>
                        <a:t>Implications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b">
                        <a:spcAft>
                          <a:spcPts val="1200"/>
                        </a:spcAft>
                      </a:pPr>
                      <a:r>
                        <a:rPr lang="en-US" sz="1100" b="1" i="0" u="none" strike="noStrike" kern="1200" dirty="0">
                          <a:solidFill>
                            <a:schemeClr val="tx1"/>
                          </a:solidFill>
                          <a:effectLst/>
                          <a:latin typeface="+mn-lt"/>
                          <a:ea typeface="+mn-ea"/>
                          <a:cs typeface="+mn-cs"/>
                        </a:rPr>
                        <a:t>Integrate testing into systems architectures:</a:t>
                      </a:r>
                      <a:r>
                        <a:rPr lang="en-US" sz="1100" b="0" i="0" u="none" strike="noStrike" kern="1200" dirty="0">
                          <a:solidFill>
                            <a:schemeClr val="tx1"/>
                          </a:solidFill>
                          <a:effectLst/>
                          <a:latin typeface="+mn-lt"/>
                          <a:ea typeface="+mn-ea"/>
                          <a:cs typeface="+mn-cs"/>
                        </a:rPr>
                        <a:t> Systems should be responsible for their own test data sets by either synthesizing life-like data or anonymizing production data. System testing should be part of a development and release cycle for products, and preformed on an ongoing basis on production systems.</a:t>
                      </a:r>
                    </a:p>
                    <a:p>
                      <a:pPr algn="l" rtl="0" fontAlgn="b">
                        <a:spcAft>
                          <a:spcPts val="1200"/>
                        </a:spcAft>
                      </a:pPr>
                      <a:r>
                        <a:rPr lang="en-US" sz="1100" b="1" i="0" u="none" strike="noStrike" kern="1200" dirty="0">
                          <a:solidFill>
                            <a:schemeClr val="tx1"/>
                          </a:solidFill>
                          <a:effectLst/>
                          <a:latin typeface="+mn-lt"/>
                          <a:ea typeface="+mn-ea"/>
                          <a:cs typeface="+mn-cs"/>
                        </a:rPr>
                        <a:t>Integrate testing with data governance:</a:t>
                      </a:r>
                      <a:r>
                        <a:rPr lang="en-US" sz="1100" b="0" i="0" u="none" strike="noStrike" kern="1200" dirty="0">
                          <a:solidFill>
                            <a:schemeClr val="tx1"/>
                          </a:solidFill>
                          <a:effectLst/>
                          <a:latin typeface="+mn-lt"/>
                          <a:ea typeface="+mn-ea"/>
                          <a:cs typeface="+mn-cs"/>
                        </a:rPr>
                        <a:t> Test data sets and processes should be integrated with governance policies and procedures, and be based on common definitions to ensure coherent end to end testing.</a:t>
                      </a:r>
                    </a:p>
                    <a:p>
                      <a:pPr algn="l" rtl="0" fontAlgn="b">
                        <a:spcAft>
                          <a:spcPts val="1200"/>
                        </a:spcAft>
                      </a:pPr>
                      <a:r>
                        <a:rPr lang="en-US" sz="1100" b="1" i="0" u="none" strike="noStrike" kern="1200" dirty="0">
                          <a:solidFill>
                            <a:schemeClr val="tx1"/>
                          </a:solidFill>
                          <a:effectLst/>
                          <a:latin typeface="+mn-lt"/>
                          <a:ea typeface="+mn-ea"/>
                          <a:cs typeface="+mn-cs"/>
                        </a:rPr>
                        <a:t>Fully test all new systems before releasing:</a:t>
                      </a:r>
                      <a:r>
                        <a:rPr lang="en-US" sz="1100" b="0" i="0" u="none" strike="noStrike" kern="1200" dirty="0">
                          <a:solidFill>
                            <a:schemeClr val="tx1"/>
                          </a:solidFill>
                          <a:effectLst/>
                          <a:latin typeface="+mn-lt"/>
                          <a:ea typeface="+mn-ea"/>
                          <a:cs typeface="+mn-cs"/>
                        </a:rPr>
                        <a:t> All new products will be checked to establish stability, scalability, reliability and throughput. This testing should be undertaken on a system with similar characteristics to the proposed live system.</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0785045"/>
                  </a:ext>
                </a:extLst>
              </a:tr>
            </a:tbl>
          </a:graphicData>
        </a:graphic>
      </p:graphicFrame>
    </p:spTree>
    <p:extLst>
      <p:ext uri="{BB962C8B-B14F-4D97-AF65-F5344CB8AC3E}">
        <p14:creationId xmlns:p14="http://schemas.microsoft.com/office/powerpoint/2010/main" val="338383271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noProof="0" dirty="0"/>
              <a:t>Architecture description</a:t>
            </a:r>
          </a:p>
        </p:txBody>
      </p:sp>
      <p:sp>
        <p:nvSpPr>
          <p:cNvPr id="2" name="Text Placeholder 1">
            <a:extLst>
              <a:ext uri="{FF2B5EF4-FFF2-40B4-BE49-F238E27FC236}">
                <a16:creationId xmlns:a16="http://schemas.microsoft.com/office/drawing/2014/main" id="{0BFF9379-A177-499D-B02B-8ABEE08A1C4D}"/>
              </a:ext>
            </a:extLst>
          </p:cNvPr>
          <p:cNvSpPr>
            <a:spLocks noGrp="1"/>
          </p:cNvSpPr>
          <p:nvPr>
            <p:ph type="body" idx="1"/>
          </p:nvPr>
        </p:nvSpPr>
        <p:spPr/>
        <p:txBody>
          <a:bodyPr/>
          <a:lstStyle/>
          <a:p>
            <a:r>
              <a:rPr lang="en-US" dirty="0"/>
              <a:t>Reference architecture</a:t>
            </a:r>
          </a:p>
        </p:txBody>
      </p:sp>
    </p:spTree>
    <p:extLst>
      <p:ext uri="{BB962C8B-B14F-4D97-AF65-F5344CB8AC3E}">
        <p14:creationId xmlns:p14="http://schemas.microsoft.com/office/powerpoint/2010/main" val="314252989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blocks for big data analytics</a:t>
            </a:r>
            <a:br>
              <a:rPr lang="en-US" dirty="0"/>
            </a:br>
            <a:endParaRPr lang="en-US" dirty="0"/>
          </a:p>
        </p:txBody>
      </p:sp>
      <p:grpSp>
        <p:nvGrpSpPr>
          <p:cNvPr id="8" name="Group 7">
            <a:extLst>
              <a:ext uri="{FF2B5EF4-FFF2-40B4-BE49-F238E27FC236}">
                <a16:creationId xmlns:a16="http://schemas.microsoft.com/office/drawing/2014/main" id="{F9048831-375A-43E0-BA0D-520AFA420046}"/>
              </a:ext>
            </a:extLst>
          </p:cNvPr>
          <p:cNvGrpSpPr/>
          <p:nvPr/>
        </p:nvGrpSpPr>
        <p:grpSpPr>
          <a:xfrm>
            <a:off x="493550" y="1351884"/>
            <a:ext cx="11698450" cy="4870526"/>
            <a:chOff x="1326338" y="1356322"/>
            <a:chExt cx="10930442" cy="4550774"/>
          </a:xfrm>
        </p:grpSpPr>
        <p:sp>
          <p:nvSpPr>
            <p:cNvPr id="84" name="Freeform 83"/>
            <p:cNvSpPr/>
            <p:nvPr/>
          </p:nvSpPr>
          <p:spPr bwMode="gray">
            <a:xfrm>
              <a:off x="1326338" y="3870985"/>
              <a:ext cx="3077495" cy="205716"/>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6350" cap="flat" cmpd="sng" algn="ctr">
              <a:solidFill>
                <a:schemeClr val="tx2"/>
              </a:solidFill>
              <a:prstDash val="solid"/>
              <a:tailEnd type="oval"/>
            </a:ln>
            <a:effectLst/>
          </p:spPr>
          <p:txBody>
            <a:bodyPr rtlCol="0" anchor="ctr"/>
            <a:lstStyle/>
            <a:p>
              <a:pPr marL="0" marR="0" lvl="0" indent="0" algn="ctr" defTabSz="84721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white"/>
                </a:solidFill>
                <a:effectLst/>
                <a:uLnTx/>
                <a:uFillTx/>
                <a:latin typeface="+mj-lt"/>
                <a:ea typeface="+mn-ea"/>
                <a:cs typeface="+mn-cs"/>
              </a:endParaRPr>
            </a:p>
          </p:txBody>
        </p:sp>
        <p:sp>
          <p:nvSpPr>
            <p:cNvPr id="85" name="Freeform 84"/>
            <p:cNvSpPr/>
            <p:nvPr/>
          </p:nvSpPr>
          <p:spPr bwMode="gray">
            <a:xfrm flipV="1">
              <a:off x="1582676" y="2145910"/>
              <a:ext cx="2832271" cy="65641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6350" cap="flat" cmpd="sng" algn="ctr">
              <a:solidFill>
                <a:schemeClr val="tx2"/>
              </a:solidFill>
              <a:prstDash val="solid"/>
              <a:tailEnd type="oval"/>
            </a:ln>
            <a:effectLst/>
          </p:spPr>
          <p:txBody>
            <a:bodyPr rtlCol="0" anchor="ctr"/>
            <a:lstStyle/>
            <a:p>
              <a:pPr marL="0" marR="0" lvl="0" indent="0" algn="ctr" defTabSz="635407"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white"/>
                </a:solidFill>
                <a:effectLst/>
                <a:uLnTx/>
                <a:uFillTx/>
                <a:latin typeface="+mj-lt"/>
                <a:ea typeface="+mn-ea"/>
                <a:cs typeface="+mn-cs"/>
              </a:endParaRPr>
            </a:p>
          </p:txBody>
        </p:sp>
        <p:sp>
          <p:nvSpPr>
            <p:cNvPr id="87" name="Rectangle 86"/>
            <p:cNvSpPr/>
            <p:nvPr/>
          </p:nvSpPr>
          <p:spPr>
            <a:xfrm>
              <a:off x="1614398" y="1912976"/>
              <a:ext cx="1794274" cy="158164"/>
            </a:xfrm>
            <a:prstGeom prst="rect">
              <a:avLst/>
            </a:prstGeom>
            <a:effectLst/>
          </p:spPr>
          <p:txBody>
            <a:bodyPr wrap="square" lIns="0" tIns="0" rIns="0" bIns="0">
              <a:spAutoFit/>
            </a:bodyPr>
            <a:lstStyle/>
            <a:p>
              <a:pPr marL="0" marR="0" lvl="0" indent="0" algn="l"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latin typeface="+mj-lt"/>
                  <a:ea typeface="+mn-ea"/>
                  <a:cs typeface="+mn-cs"/>
                </a:rPr>
                <a:t>Data acquisition</a:t>
              </a:r>
              <a:endParaRPr kumimoji="0" lang="en-US" sz="1100" b="0" i="0" u="none" strike="noStrike" kern="0" cap="none" spc="0" normalizeH="0" baseline="0" noProof="0" dirty="0">
                <a:ln>
                  <a:noFill/>
                </a:ln>
                <a:effectLst/>
                <a:uLnTx/>
                <a:uFillTx/>
                <a:latin typeface="+mj-lt"/>
                <a:ea typeface="+mn-ea"/>
                <a:cs typeface="+mn-cs"/>
              </a:endParaRPr>
            </a:p>
          </p:txBody>
        </p:sp>
        <p:sp>
          <p:nvSpPr>
            <p:cNvPr id="90" name="Freeform 89"/>
            <p:cNvSpPr/>
            <p:nvPr/>
          </p:nvSpPr>
          <p:spPr bwMode="gray">
            <a:xfrm flipV="1">
              <a:off x="5360276" y="1566134"/>
              <a:ext cx="1317904" cy="942802"/>
            </a:xfrm>
            <a:custGeom>
              <a:avLst/>
              <a:gdLst>
                <a:gd name="connsiteX0" fmla="*/ 0 w 2241550"/>
                <a:gd name="connsiteY0" fmla="*/ 0 h 819150"/>
                <a:gd name="connsiteX1" fmla="*/ 165100 w 2241550"/>
                <a:gd name="connsiteY1" fmla="*/ 819150 h 819150"/>
                <a:gd name="connsiteX2" fmla="*/ 2241550 w 2241550"/>
                <a:gd name="connsiteY2" fmla="*/ 819150 h 819150"/>
              </a:gdLst>
              <a:ahLst/>
              <a:cxnLst>
                <a:cxn ang="0">
                  <a:pos x="connsiteX0" y="connsiteY0"/>
                </a:cxn>
                <a:cxn ang="0">
                  <a:pos x="connsiteX1" y="connsiteY1"/>
                </a:cxn>
                <a:cxn ang="0">
                  <a:pos x="connsiteX2" y="connsiteY2"/>
                </a:cxn>
              </a:cxnLst>
              <a:rect l="l" t="t" r="r" b="b"/>
              <a:pathLst>
                <a:path w="2241550" h="819150">
                  <a:moveTo>
                    <a:pt x="0" y="0"/>
                  </a:moveTo>
                  <a:lnTo>
                    <a:pt x="165100" y="819150"/>
                  </a:lnTo>
                  <a:lnTo>
                    <a:pt x="2241550" y="819150"/>
                  </a:lnTo>
                </a:path>
              </a:pathLst>
            </a:custGeom>
            <a:noFill/>
            <a:ln w="6350" cap="flat" cmpd="sng" algn="ctr">
              <a:solidFill>
                <a:schemeClr val="tx2"/>
              </a:solidFill>
              <a:prstDash val="solid"/>
              <a:tailEnd type="oval"/>
            </a:ln>
            <a:effectLst/>
          </p:spPr>
          <p:txBody>
            <a:bodyPr rtlCol="0" anchor="ctr"/>
            <a:lstStyle/>
            <a:p>
              <a:pPr marL="0" marR="0" lvl="0" indent="0" algn="ctr" defTabSz="635407"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75787B"/>
                </a:solidFill>
                <a:effectLst/>
                <a:uLnTx/>
                <a:uFillTx/>
                <a:latin typeface="+mj-lt"/>
                <a:ea typeface="+mn-ea"/>
                <a:cs typeface="+mn-cs"/>
              </a:endParaRPr>
            </a:p>
          </p:txBody>
        </p:sp>
        <p:sp>
          <p:nvSpPr>
            <p:cNvPr id="91" name="Rectangle 90"/>
            <p:cNvSpPr/>
            <p:nvPr/>
          </p:nvSpPr>
          <p:spPr>
            <a:xfrm>
              <a:off x="5565744" y="1356322"/>
              <a:ext cx="2710635" cy="158164"/>
            </a:xfrm>
            <a:prstGeom prst="rect">
              <a:avLst/>
            </a:prstGeom>
          </p:spPr>
          <p:txBody>
            <a:bodyPr wrap="square" lIns="0" tIns="0" rIns="0" bIns="0">
              <a:spAutoFit/>
            </a:bodyPr>
            <a:lstStyle/>
            <a:p>
              <a:pPr marL="0" marR="0" lvl="0" indent="0" algn="l"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latin typeface="+mj-lt"/>
                  <a:ea typeface="+mn-ea"/>
                  <a:cs typeface="+mn-cs"/>
                </a:rPr>
                <a:t>Data storage and transformation</a:t>
              </a:r>
            </a:p>
          </p:txBody>
        </p:sp>
        <p:sp>
          <p:nvSpPr>
            <p:cNvPr id="93" name="Rectangle 92"/>
            <p:cNvSpPr/>
            <p:nvPr/>
          </p:nvSpPr>
          <p:spPr>
            <a:xfrm>
              <a:off x="3788420" y="4687535"/>
              <a:ext cx="2230469" cy="158164"/>
            </a:xfrm>
            <a:prstGeom prst="rect">
              <a:avLst/>
            </a:prstGeom>
          </p:spPr>
          <p:txBody>
            <a:bodyPr wrap="square" lIns="0" tIns="0" rIns="0" bIns="0">
              <a:spAutoFit/>
            </a:bodyPr>
            <a:lstStyle/>
            <a:p>
              <a:pPr marL="0" marR="0" lvl="0" indent="0" algn="l"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latin typeface="+mj-lt"/>
                  <a:ea typeface="+mn-ea"/>
                  <a:cs typeface="+mn-cs"/>
                </a:rPr>
                <a:t>Models and analytics</a:t>
              </a:r>
              <a:endParaRPr kumimoji="0" lang="en-US" sz="1100" b="0" i="0" u="none" strike="noStrike" kern="0" cap="none" spc="0" normalizeH="0" baseline="0" noProof="0" dirty="0">
                <a:ln>
                  <a:noFill/>
                </a:ln>
                <a:effectLst/>
                <a:uLnTx/>
                <a:uFillTx/>
                <a:latin typeface="+mj-lt"/>
                <a:ea typeface="+mn-ea"/>
                <a:cs typeface="+mn-cs"/>
              </a:endParaRPr>
            </a:p>
          </p:txBody>
        </p:sp>
        <p:sp>
          <p:nvSpPr>
            <p:cNvPr id="94" name="Freeform 93"/>
            <p:cNvSpPr/>
            <p:nvPr/>
          </p:nvSpPr>
          <p:spPr bwMode="gray">
            <a:xfrm>
              <a:off x="3711068" y="4444330"/>
              <a:ext cx="2618176" cy="437838"/>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6350" cap="flat" cmpd="sng" algn="ctr">
              <a:solidFill>
                <a:schemeClr val="tx2"/>
              </a:solidFill>
              <a:prstDash val="solid"/>
              <a:tailEnd type="oval"/>
            </a:ln>
            <a:effectLst/>
          </p:spPr>
          <p:txBody>
            <a:bodyPr rtlCol="0" anchor="ctr"/>
            <a:lstStyle/>
            <a:p>
              <a:pPr marL="0" marR="0" lvl="0" indent="0" algn="ctr" defTabSz="84721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white"/>
                </a:solidFill>
                <a:effectLst/>
                <a:uLnTx/>
                <a:uFillTx/>
                <a:latin typeface="+mj-lt"/>
                <a:ea typeface="+mn-ea"/>
                <a:cs typeface="+mn-cs"/>
              </a:endParaRPr>
            </a:p>
          </p:txBody>
        </p:sp>
        <p:sp>
          <p:nvSpPr>
            <p:cNvPr id="102" name="Freeform 101"/>
            <p:cNvSpPr/>
            <p:nvPr/>
          </p:nvSpPr>
          <p:spPr bwMode="gray">
            <a:xfrm flipH="1" flipV="1">
              <a:off x="7613581" y="2730349"/>
              <a:ext cx="2386082" cy="471972"/>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6350" cap="flat" cmpd="sng" algn="ctr">
              <a:solidFill>
                <a:schemeClr val="tx2"/>
              </a:solidFill>
              <a:prstDash val="solid"/>
              <a:tailEnd type="oval"/>
            </a:ln>
            <a:effectLst/>
          </p:spPr>
          <p:txBody>
            <a:bodyPr rtlCol="0" anchor="ctr"/>
            <a:lstStyle/>
            <a:p>
              <a:pPr marL="0" marR="0" lvl="0" indent="0" algn="ctr" defTabSz="635407"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75787B"/>
                </a:solidFill>
                <a:effectLst/>
                <a:uLnTx/>
                <a:uFillTx/>
                <a:latin typeface="+mj-lt"/>
                <a:ea typeface="+mn-ea"/>
                <a:cs typeface="+mn-cs"/>
              </a:endParaRPr>
            </a:p>
          </p:txBody>
        </p:sp>
        <p:sp>
          <p:nvSpPr>
            <p:cNvPr id="103" name="Rectangle 102"/>
            <p:cNvSpPr/>
            <p:nvPr/>
          </p:nvSpPr>
          <p:spPr>
            <a:xfrm>
              <a:off x="8527430" y="2335936"/>
              <a:ext cx="3729350" cy="316328"/>
            </a:xfrm>
            <a:prstGeom prst="rect">
              <a:avLst/>
            </a:prstGeom>
          </p:spPr>
          <p:txBody>
            <a:bodyPr wrap="square" lIns="0" tIns="0" rIns="0" bIns="0">
              <a:spAutoFit/>
            </a:bodyPr>
            <a:lstStyle/>
            <a:p>
              <a:pPr marL="0" marR="0" lvl="0" indent="0" algn="l"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latin typeface="+mj-lt"/>
                  <a:ea typeface="+mn-ea"/>
                  <a:cs typeface="+mn-cs"/>
                </a:rPr>
                <a:t>Data consumption </a:t>
              </a:r>
            </a:p>
            <a:p>
              <a:pPr marL="0" marR="0" lvl="0" indent="0" algn="l"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latin typeface="+mj-lt"/>
                  <a:ea typeface="+mn-ea"/>
                  <a:cs typeface="+mn-cs"/>
                </a:rPr>
                <a:t>(BI reporting and visualization)</a:t>
              </a:r>
            </a:p>
          </p:txBody>
        </p:sp>
        <p:sp>
          <p:nvSpPr>
            <p:cNvPr id="40" name="Rectangle 39"/>
            <p:cNvSpPr/>
            <p:nvPr/>
          </p:nvSpPr>
          <p:spPr>
            <a:xfrm>
              <a:off x="5565744" y="1665288"/>
              <a:ext cx="2650718" cy="474492"/>
            </a:xfrm>
            <a:prstGeom prst="rect">
              <a:avLst/>
            </a:prstGeom>
          </p:spPr>
          <p:txBody>
            <a:bodyPr wrap="square" lIns="0" tIns="0" rIns="0" bIns="0">
              <a:spAutoFit/>
            </a:bodyPr>
            <a:lstStyle/>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Structured data transformation</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Un-structured data transformation </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0" dirty="0">
                  <a:solidFill>
                    <a:srgbClr val="000000"/>
                  </a:solidFill>
                  <a:latin typeface="+mj-lt"/>
                </a:rPr>
                <a:t>Machine Learning</a:t>
              </a:r>
              <a:endParaRPr kumimoji="0" lang="en-US" sz="1100" b="0" i="0" u="none" strike="noStrike" kern="0" cap="none" spc="0" normalizeH="0" baseline="0" noProof="0" dirty="0">
                <a:ln>
                  <a:noFill/>
                </a:ln>
                <a:solidFill>
                  <a:srgbClr val="000000"/>
                </a:solidFill>
                <a:effectLst/>
                <a:uLnTx/>
                <a:uFillTx/>
                <a:latin typeface="+mj-lt"/>
                <a:ea typeface="+mn-ea"/>
                <a:cs typeface="+mn-cs"/>
              </a:endParaRPr>
            </a:p>
          </p:txBody>
        </p:sp>
        <p:sp>
          <p:nvSpPr>
            <p:cNvPr id="41" name="Rectangle 40"/>
            <p:cNvSpPr/>
            <p:nvPr/>
          </p:nvSpPr>
          <p:spPr>
            <a:xfrm>
              <a:off x="3914421" y="4960880"/>
              <a:ext cx="2123799" cy="790820"/>
            </a:xfrm>
            <a:prstGeom prst="rect">
              <a:avLst/>
            </a:prstGeom>
          </p:spPr>
          <p:txBody>
            <a:bodyPr wrap="square" lIns="0" tIns="0" rIns="0" bIns="0">
              <a:spAutoFit/>
            </a:bodyPr>
            <a:lstStyle/>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Predictive Analytics</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NLP/Text Analytics</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Data Enrichment</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Robotics &amp; Automation</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Cognitive Analytics</a:t>
              </a:r>
            </a:p>
          </p:txBody>
        </p:sp>
        <p:sp>
          <p:nvSpPr>
            <p:cNvPr id="43" name="Rectangle 42"/>
            <p:cNvSpPr/>
            <p:nvPr/>
          </p:nvSpPr>
          <p:spPr>
            <a:xfrm>
              <a:off x="8527430" y="2814935"/>
              <a:ext cx="3646378" cy="632656"/>
            </a:xfrm>
            <a:prstGeom prst="rect">
              <a:avLst/>
            </a:prstGeom>
          </p:spPr>
          <p:txBody>
            <a:bodyPr wrap="square" lIns="0" tIns="0" rIns="0" bIns="0">
              <a:spAutoFit/>
            </a:bodyPr>
            <a:lstStyle/>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Ad-hoc analysis/Data Discovery </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BI Reporting with inbuilt charts &amp; dashboards</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Advance Visualizations (interactive </a:t>
              </a:r>
              <a:br>
                <a:rPr kumimoji="0" lang="en-US" sz="1100" b="0" i="0" u="none" strike="noStrike" kern="0" cap="none" spc="0" normalizeH="0" baseline="0" noProof="0" dirty="0">
                  <a:ln>
                    <a:noFill/>
                  </a:ln>
                  <a:solidFill>
                    <a:srgbClr val="000000"/>
                  </a:solidFill>
                  <a:effectLst/>
                  <a:uLnTx/>
                  <a:uFillTx/>
                  <a:latin typeface="+mj-lt"/>
                  <a:ea typeface="+mn-ea"/>
                  <a:cs typeface="+mn-cs"/>
                </a:rPr>
              </a:br>
              <a:r>
                <a:rPr kumimoji="0" lang="en-US" sz="1100" b="0" i="0" u="none" strike="noStrike" kern="0" cap="none" spc="0" normalizeH="0" baseline="0" noProof="0" dirty="0">
                  <a:ln>
                    <a:noFill/>
                  </a:ln>
                  <a:solidFill>
                    <a:srgbClr val="000000"/>
                  </a:solidFill>
                  <a:effectLst/>
                  <a:uLnTx/>
                  <a:uFillTx/>
                  <a:latin typeface="+mj-lt"/>
                  <a:ea typeface="+mn-ea"/>
                  <a:cs typeface="+mn-cs"/>
                </a:rPr>
                <a:t>chart frameworks)</a:t>
              </a:r>
            </a:p>
          </p:txBody>
        </p:sp>
        <p:sp>
          <p:nvSpPr>
            <p:cNvPr id="45" name="Rectangle 44"/>
            <p:cNvSpPr/>
            <p:nvPr/>
          </p:nvSpPr>
          <p:spPr>
            <a:xfrm>
              <a:off x="1404226" y="4144162"/>
              <a:ext cx="1648611" cy="474492"/>
            </a:xfrm>
            <a:prstGeom prst="rect">
              <a:avLst/>
            </a:prstGeom>
          </p:spPr>
          <p:txBody>
            <a:bodyPr wrap="square" lIns="0" tIns="0" rIns="0" bIns="0">
              <a:spAutoFit/>
            </a:bodyPr>
            <a:lstStyle/>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effectLst/>
                  <a:uLnTx/>
                  <a:uFillTx/>
                  <a:latin typeface="+mj-lt"/>
                  <a:ea typeface="+mn-ea"/>
                  <a:cs typeface="+mn-cs"/>
                </a:rPr>
                <a:t>File</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effectLst/>
                  <a:uLnTx/>
                  <a:uFillTx/>
                  <a:latin typeface="+mj-lt"/>
                  <a:ea typeface="+mn-ea"/>
                  <a:cs typeface="+mn-cs"/>
                </a:rPr>
                <a:t>Event</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effectLst/>
                  <a:uLnTx/>
                  <a:uFillTx/>
                  <a:latin typeface="+mj-lt"/>
                  <a:ea typeface="+mn-ea"/>
                  <a:cs typeface="+mn-cs"/>
                </a:rPr>
                <a:t>RDBMS</a:t>
              </a:r>
            </a:p>
          </p:txBody>
        </p:sp>
        <p:sp>
          <p:nvSpPr>
            <p:cNvPr id="49" name="Rectangle 48"/>
            <p:cNvSpPr/>
            <p:nvPr/>
          </p:nvSpPr>
          <p:spPr>
            <a:xfrm>
              <a:off x="1614398" y="2228626"/>
              <a:ext cx="1802224" cy="632656"/>
            </a:xfrm>
            <a:prstGeom prst="rect">
              <a:avLst/>
            </a:prstGeom>
          </p:spPr>
          <p:txBody>
            <a:bodyPr wrap="square" lIns="0" tIns="0" rIns="0" bIns="0">
              <a:spAutoFit/>
            </a:bodyPr>
            <a:lstStyle/>
            <a:p>
              <a:pPr marL="173736" marR="0" lvl="0" indent="-17373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mj-lt"/>
                  <a:ea typeface="+mn-ea"/>
                  <a:cs typeface="Calibri" panose="020F0502020204030204" pitchFamily="34" charset="0"/>
                </a:rPr>
                <a:t>File Storage</a:t>
              </a:r>
            </a:p>
            <a:p>
              <a:pPr marL="173736" marR="0" lvl="0" indent="-17373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mj-lt"/>
                  <a:ea typeface="+mn-ea"/>
                  <a:cs typeface="Calibri" panose="020F0502020204030204" pitchFamily="34" charset="0"/>
                </a:rPr>
                <a:t>Event Storage</a:t>
              </a:r>
            </a:p>
            <a:p>
              <a:pPr marL="173736" marR="0" lvl="0" indent="-17373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mj-lt"/>
                  <a:ea typeface="+mn-ea"/>
                  <a:cs typeface="Calibri" panose="020F0502020204030204" pitchFamily="34" charset="0"/>
                </a:rPr>
                <a:t>Transactional Storage</a:t>
              </a:r>
            </a:p>
            <a:p>
              <a:pPr marL="173736" marR="0" lvl="0" indent="-17373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mj-lt"/>
                <a:ea typeface="+mn-ea"/>
                <a:cs typeface="Calibri" panose="020F0502020204030204" pitchFamily="34" charset="0"/>
              </a:endParaRPr>
            </a:p>
          </p:txBody>
        </p:sp>
        <p:sp>
          <p:nvSpPr>
            <p:cNvPr id="57" name="Freeform 93">
              <a:extLst>
                <a:ext uri="{FF2B5EF4-FFF2-40B4-BE49-F238E27FC236}">
                  <a16:creationId xmlns:a16="http://schemas.microsoft.com/office/drawing/2014/main" id="{C07D169F-DD8D-4D02-8674-5209DBD6D7D6}"/>
                </a:ext>
              </a:extLst>
            </p:cNvPr>
            <p:cNvSpPr/>
            <p:nvPr/>
          </p:nvSpPr>
          <p:spPr bwMode="gray">
            <a:xfrm flipH="1">
              <a:off x="7182684" y="4652426"/>
              <a:ext cx="2689491" cy="536404"/>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6350" cap="flat" cmpd="sng" algn="ctr">
              <a:solidFill>
                <a:schemeClr val="tx2"/>
              </a:solidFill>
              <a:prstDash val="solid"/>
              <a:tailEnd type="oval"/>
            </a:ln>
            <a:effectLst/>
          </p:spPr>
          <p:txBody>
            <a:bodyPr rtlCol="0" anchor="ctr"/>
            <a:lstStyle/>
            <a:p>
              <a:pPr marL="0" marR="0" lvl="0" indent="0" algn="ctr" defTabSz="84721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white"/>
                </a:solidFill>
                <a:effectLst/>
                <a:uLnTx/>
                <a:uFillTx/>
                <a:latin typeface="+mj-lt"/>
                <a:ea typeface="+mn-ea"/>
                <a:cs typeface="+mn-cs"/>
              </a:endParaRPr>
            </a:p>
          </p:txBody>
        </p:sp>
        <p:sp>
          <p:nvSpPr>
            <p:cNvPr id="59" name="Rectangle 58">
              <a:extLst>
                <a:ext uri="{FF2B5EF4-FFF2-40B4-BE49-F238E27FC236}">
                  <a16:creationId xmlns:a16="http://schemas.microsoft.com/office/drawing/2014/main" id="{F3FF2F0D-582D-4510-839B-3DAA5137A15D}"/>
                </a:ext>
              </a:extLst>
            </p:cNvPr>
            <p:cNvSpPr/>
            <p:nvPr/>
          </p:nvSpPr>
          <p:spPr>
            <a:xfrm>
              <a:off x="7940702" y="5274440"/>
              <a:ext cx="2311343" cy="632656"/>
            </a:xfrm>
            <a:prstGeom prst="rect">
              <a:avLst/>
            </a:prstGeom>
          </p:spPr>
          <p:txBody>
            <a:bodyPr wrap="square" lIns="0" tIns="0" rIns="0" bIns="0">
              <a:spAutoFit/>
            </a:bodyPr>
            <a:lstStyle/>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Common Data Services</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DQ &amp; Profiling</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Data Governance</a:t>
              </a:r>
            </a:p>
            <a:p>
              <a:pPr marL="173736" marR="0" lvl="0" indent="-173736" algn="l" defTabSz="84721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mj-lt"/>
                  <a:ea typeface="+mn-ea"/>
                  <a:cs typeface="+mn-cs"/>
                </a:rPr>
                <a:t>Infrastructure &amp; Security</a:t>
              </a:r>
            </a:p>
          </p:txBody>
        </p:sp>
        <p:grpSp>
          <p:nvGrpSpPr>
            <p:cNvPr id="7" name="Group 6">
              <a:extLst>
                <a:ext uri="{FF2B5EF4-FFF2-40B4-BE49-F238E27FC236}">
                  <a16:creationId xmlns:a16="http://schemas.microsoft.com/office/drawing/2014/main" id="{43139F7A-C2B4-4A3F-B692-3AD73AB416A0}"/>
                </a:ext>
              </a:extLst>
            </p:cNvPr>
            <p:cNvGrpSpPr/>
            <p:nvPr/>
          </p:nvGrpSpPr>
          <p:grpSpPr>
            <a:xfrm>
              <a:off x="4306978" y="2508935"/>
              <a:ext cx="3578045" cy="2237479"/>
              <a:chOff x="3626645" y="2508935"/>
              <a:chExt cx="3578045" cy="2237479"/>
            </a:xfrm>
          </p:grpSpPr>
          <p:grpSp>
            <p:nvGrpSpPr>
              <p:cNvPr id="38" name="Group 37">
                <a:extLst>
                  <a:ext uri="{FF2B5EF4-FFF2-40B4-BE49-F238E27FC236}">
                    <a16:creationId xmlns:a16="http://schemas.microsoft.com/office/drawing/2014/main" id="{DDA37444-708A-4047-93A9-5B4B27DD513D}"/>
                  </a:ext>
                </a:extLst>
              </p:cNvPr>
              <p:cNvGrpSpPr/>
              <p:nvPr/>
            </p:nvGrpSpPr>
            <p:grpSpPr>
              <a:xfrm>
                <a:off x="3626645" y="2508935"/>
                <a:ext cx="2412212" cy="2202298"/>
                <a:chOff x="1525589" y="2286000"/>
                <a:chExt cx="3155948" cy="2881313"/>
              </a:xfrm>
              <a:effectLst/>
            </p:grpSpPr>
            <p:sp>
              <p:nvSpPr>
                <p:cNvPr id="39" name="Freeform 3">
                  <a:extLst>
                    <a:ext uri="{FF2B5EF4-FFF2-40B4-BE49-F238E27FC236}">
                      <a16:creationId xmlns:a16="http://schemas.microsoft.com/office/drawing/2014/main" id="{94AC87D8-6047-4AA9-A782-201B9023C85F}"/>
                    </a:ext>
                  </a:extLst>
                </p:cNvPr>
                <p:cNvSpPr>
                  <a:spLocks/>
                </p:cNvSpPr>
                <p:nvPr/>
              </p:nvSpPr>
              <p:spPr bwMode="blackWhite">
                <a:xfrm>
                  <a:off x="3379788" y="3524250"/>
                  <a:ext cx="1301749" cy="1643063"/>
                </a:xfrm>
                <a:custGeom>
                  <a:avLst/>
                  <a:gdLst>
                    <a:gd name="T0" fmla="*/ 2147483647 w 691"/>
                    <a:gd name="T1" fmla="*/ 2147483647 h 828"/>
                    <a:gd name="T2" fmla="*/ 2147483647 w 691"/>
                    <a:gd name="T3" fmla="*/ 2147483647 h 828"/>
                    <a:gd name="T4" fmla="*/ 2147483647 w 691"/>
                    <a:gd name="T5" fmla="*/ 2147483647 h 828"/>
                    <a:gd name="T6" fmla="*/ 0 w 691"/>
                    <a:gd name="T7" fmla="*/ 0 h 828"/>
                    <a:gd name="T8" fmla="*/ 0 w 691"/>
                    <a:gd name="T9" fmla="*/ 2147483647 h 828"/>
                    <a:gd name="T10" fmla="*/ 0 w 691"/>
                    <a:gd name="T11" fmla="*/ 2147483647 h 828"/>
                    <a:gd name="T12" fmla="*/ 0 w 691"/>
                    <a:gd name="T13" fmla="*/ 2147483647 h 828"/>
                    <a:gd name="T14" fmla="*/ 2147483647 w 691"/>
                    <a:gd name="T15" fmla="*/ 2147483647 h 828"/>
                    <a:gd name="T16" fmla="*/ 2147483647 w 691"/>
                    <a:gd name="T17" fmla="*/ 2147483647 h 828"/>
                    <a:gd name="T18" fmla="*/ 2147483647 w 691"/>
                    <a:gd name="T19" fmla="*/ 2147483647 h 828"/>
                    <a:gd name="T20" fmla="*/ 2147483647 w 691"/>
                    <a:gd name="T21" fmla="*/ 2147483647 h 828"/>
                    <a:gd name="T22" fmla="*/ 2147483647 w 691"/>
                    <a:gd name="T23" fmla="*/ 2147483647 h 828"/>
                    <a:gd name="T24" fmla="*/ 2147483647 w 691"/>
                    <a:gd name="T25" fmla="*/ 2147483647 h 828"/>
                    <a:gd name="T26" fmla="*/ 2147483647 w 691"/>
                    <a:gd name="T27" fmla="*/ 2147483647 h 828"/>
                    <a:gd name="T28" fmla="*/ 2147483647 w 691"/>
                    <a:gd name="T29" fmla="*/ 2147483647 h 828"/>
                    <a:gd name="T30" fmla="*/ 2147483647 w 691"/>
                    <a:gd name="T31" fmla="*/ 2147483647 h 828"/>
                    <a:gd name="T32" fmla="*/ 2147483647 w 691"/>
                    <a:gd name="T33" fmla="*/ 2147483647 h 828"/>
                    <a:gd name="T34" fmla="*/ 2147483647 w 691"/>
                    <a:gd name="T35" fmla="*/ 2147483647 h 828"/>
                    <a:gd name="T36" fmla="*/ 2147483647 w 691"/>
                    <a:gd name="T37" fmla="*/ 2147483647 h 828"/>
                    <a:gd name="T38" fmla="*/ 2147483647 w 691"/>
                    <a:gd name="T39" fmla="*/ 2147483647 h 828"/>
                    <a:gd name="T40" fmla="*/ 2147483647 w 691"/>
                    <a:gd name="T41" fmla="*/ 2147483647 h 828"/>
                    <a:gd name="T42" fmla="*/ 2147483647 w 691"/>
                    <a:gd name="T43" fmla="*/ 2147483647 h 828"/>
                    <a:gd name="T44" fmla="*/ 2147483647 w 691"/>
                    <a:gd name="T45" fmla="*/ 2147483647 h 828"/>
                    <a:gd name="T46" fmla="*/ 2147483647 w 691"/>
                    <a:gd name="T47" fmla="*/ 2147483647 h 828"/>
                    <a:gd name="T48" fmla="*/ 2147483647 w 691"/>
                    <a:gd name="T49" fmla="*/ 2147483647 h 828"/>
                    <a:gd name="T50" fmla="*/ 2147483647 w 691"/>
                    <a:gd name="T51" fmla="*/ 2147483647 h 828"/>
                    <a:gd name="T52" fmla="*/ 2147483647 w 691"/>
                    <a:gd name="T53" fmla="*/ 2147483647 h 828"/>
                    <a:gd name="T54" fmla="*/ 2147483647 w 691"/>
                    <a:gd name="T55" fmla="*/ 2147483647 h 828"/>
                    <a:gd name="T56" fmla="*/ 2147483647 w 691"/>
                    <a:gd name="T57" fmla="*/ 2147483647 h 828"/>
                    <a:gd name="T58" fmla="*/ 2147483647 w 691"/>
                    <a:gd name="T59" fmla="*/ 2147483647 h 828"/>
                    <a:gd name="T60" fmla="*/ 2147483647 w 691"/>
                    <a:gd name="T61" fmla="*/ 2147483647 h 82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91"/>
                    <a:gd name="T94" fmla="*/ 0 h 828"/>
                    <a:gd name="T95" fmla="*/ 691 w 691"/>
                    <a:gd name="T96" fmla="*/ 828 h 82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91" h="828">
                      <a:moveTo>
                        <a:pt x="472" y="310"/>
                      </a:moveTo>
                      <a:lnTo>
                        <a:pt x="474" y="6"/>
                      </a:lnTo>
                      <a:lnTo>
                        <a:pt x="243" y="98"/>
                      </a:lnTo>
                      <a:lnTo>
                        <a:pt x="0" y="0"/>
                      </a:lnTo>
                      <a:lnTo>
                        <a:pt x="0" y="309"/>
                      </a:lnTo>
                      <a:lnTo>
                        <a:pt x="0" y="618"/>
                      </a:lnTo>
                      <a:lnTo>
                        <a:pt x="0" y="640"/>
                      </a:lnTo>
                      <a:lnTo>
                        <a:pt x="4" y="661"/>
                      </a:lnTo>
                      <a:lnTo>
                        <a:pt x="9" y="681"/>
                      </a:lnTo>
                      <a:lnTo>
                        <a:pt x="17" y="701"/>
                      </a:lnTo>
                      <a:lnTo>
                        <a:pt x="28" y="720"/>
                      </a:lnTo>
                      <a:lnTo>
                        <a:pt x="41" y="738"/>
                      </a:lnTo>
                      <a:lnTo>
                        <a:pt x="58" y="754"/>
                      </a:lnTo>
                      <a:lnTo>
                        <a:pt x="75" y="768"/>
                      </a:lnTo>
                      <a:lnTo>
                        <a:pt x="95" y="782"/>
                      </a:lnTo>
                      <a:lnTo>
                        <a:pt x="118" y="794"/>
                      </a:lnTo>
                      <a:lnTo>
                        <a:pt x="142" y="804"/>
                      </a:lnTo>
                      <a:lnTo>
                        <a:pt x="167" y="812"/>
                      </a:lnTo>
                      <a:lnTo>
                        <a:pt x="194" y="819"/>
                      </a:lnTo>
                      <a:lnTo>
                        <a:pt x="223" y="824"/>
                      </a:lnTo>
                      <a:lnTo>
                        <a:pt x="252" y="827"/>
                      </a:lnTo>
                      <a:lnTo>
                        <a:pt x="614" y="827"/>
                      </a:lnTo>
                      <a:lnTo>
                        <a:pt x="690" y="586"/>
                      </a:lnTo>
                      <a:lnTo>
                        <a:pt x="609" y="355"/>
                      </a:lnTo>
                      <a:lnTo>
                        <a:pt x="512" y="355"/>
                      </a:lnTo>
                      <a:lnTo>
                        <a:pt x="501" y="352"/>
                      </a:lnTo>
                      <a:lnTo>
                        <a:pt x="492" y="346"/>
                      </a:lnTo>
                      <a:lnTo>
                        <a:pt x="484" y="339"/>
                      </a:lnTo>
                      <a:lnTo>
                        <a:pt x="478" y="330"/>
                      </a:lnTo>
                      <a:lnTo>
                        <a:pt x="474" y="321"/>
                      </a:lnTo>
                      <a:lnTo>
                        <a:pt x="472" y="310"/>
                      </a:lnTo>
                    </a:path>
                  </a:pathLst>
                </a:custGeom>
                <a:solidFill>
                  <a:srgbClr val="86BC25"/>
                </a:solidFill>
                <a:ln w="12700" cap="rnd">
                  <a:noFill/>
                  <a:round/>
                  <a:headEnd/>
                  <a:tailEnd/>
                </a:ln>
                <a:effectLst/>
              </p:spPr>
              <p:txBody>
                <a:bodyPr lIns="25015" tIns="525309" rIns="25015" bIns="25015" anchor="ctr">
                  <a:noAutofit/>
                </a:bodyPr>
                <a:lstStyle/>
                <a:p>
                  <a:pPr marL="0" marR="0" lvl="0" indent="0" algn="ctr"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mj-lt"/>
                      <a:ea typeface="+mn-ea"/>
                      <a:cs typeface="+mn-cs"/>
                    </a:rPr>
                    <a:t>Analytics</a:t>
                  </a:r>
                </a:p>
              </p:txBody>
            </p:sp>
            <p:sp>
              <p:nvSpPr>
                <p:cNvPr id="42" name="Freeform 7">
                  <a:extLst>
                    <a:ext uri="{FF2B5EF4-FFF2-40B4-BE49-F238E27FC236}">
                      <a16:creationId xmlns:a16="http://schemas.microsoft.com/office/drawing/2014/main" id="{9386FD8D-629F-410B-B7D1-7C7A0FC8F8B9}"/>
                    </a:ext>
                  </a:extLst>
                </p:cNvPr>
                <p:cNvSpPr>
                  <a:spLocks/>
                </p:cNvSpPr>
                <p:nvPr/>
              </p:nvSpPr>
              <p:spPr bwMode="blackWhite">
                <a:xfrm>
                  <a:off x="2693988" y="2286000"/>
                  <a:ext cx="1577975" cy="1379538"/>
                </a:xfrm>
                <a:custGeom>
                  <a:avLst/>
                  <a:gdLst>
                    <a:gd name="T0" fmla="*/ 2147483647 w 836"/>
                    <a:gd name="T1" fmla="*/ 2147483647 h 696"/>
                    <a:gd name="T2" fmla="*/ 2147483647 w 836"/>
                    <a:gd name="T3" fmla="*/ 2147483647 h 696"/>
                    <a:gd name="T4" fmla="*/ 2147483647 w 836"/>
                    <a:gd name="T5" fmla="*/ 2147483647 h 696"/>
                    <a:gd name="T6" fmla="*/ 2147483647 w 836"/>
                    <a:gd name="T7" fmla="*/ 2147483647 h 696"/>
                    <a:gd name="T8" fmla="*/ 2147483647 w 836"/>
                    <a:gd name="T9" fmla="*/ 2147483647 h 696"/>
                    <a:gd name="T10" fmla="*/ 2147483647 w 836"/>
                    <a:gd name="T11" fmla="*/ 2147483647 h 696"/>
                    <a:gd name="T12" fmla="*/ 2147483647 w 836"/>
                    <a:gd name="T13" fmla="*/ 2147483647 h 696"/>
                    <a:gd name="T14" fmla="*/ 2147483647 w 836"/>
                    <a:gd name="T15" fmla="*/ 2147483647 h 696"/>
                    <a:gd name="T16" fmla="*/ 2147483647 w 836"/>
                    <a:gd name="T17" fmla="*/ 2147483647 h 696"/>
                    <a:gd name="T18" fmla="*/ 2147483647 w 836"/>
                    <a:gd name="T19" fmla="*/ 2147483647 h 696"/>
                    <a:gd name="T20" fmla="*/ 2147483647 w 836"/>
                    <a:gd name="T21" fmla="*/ 2147483647 h 696"/>
                    <a:gd name="T22" fmla="*/ 2147483647 w 836"/>
                    <a:gd name="T23" fmla="*/ 2147483647 h 696"/>
                    <a:gd name="T24" fmla="*/ 2147483647 w 836"/>
                    <a:gd name="T25" fmla="*/ 2147483647 h 696"/>
                    <a:gd name="T26" fmla="*/ 2147483647 w 836"/>
                    <a:gd name="T27" fmla="*/ 2147483647 h 696"/>
                    <a:gd name="T28" fmla="*/ 2147483647 w 836"/>
                    <a:gd name="T29" fmla="*/ 2147483647 h 696"/>
                    <a:gd name="T30" fmla="*/ 2147483647 w 836"/>
                    <a:gd name="T31" fmla="*/ 2147483647 h 696"/>
                    <a:gd name="T32" fmla="*/ 2147483647 w 836"/>
                    <a:gd name="T33" fmla="*/ 2147483647 h 696"/>
                    <a:gd name="T34" fmla="*/ 2147483647 w 836"/>
                    <a:gd name="T35" fmla="*/ 2147483647 h 696"/>
                    <a:gd name="T36" fmla="*/ 2147483647 w 836"/>
                    <a:gd name="T37" fmla="*/ 2147483647 h 696"/>
                    <a:gd name="T38" fmla="*/ 2147483647 w 836"/>
                    <a:gd name="T39" fmla="*/ 2147483647 h 696"/>
                    <a:gd name="T40" fmla="*/ 2147483647 w 836"/>
                    <a:gd name="T41" fmla="*/ 2147483647 h 696"/>
                    <a:gd name="T42" fmla="*/ 2147483647 w 836"/>
                    <a:gd name="T43" fmla="*/ 2147483647 h 696"/>
                    <a:gd name="T44" fmla="*/ 2147483647 w 836"/>
                    <a:gd name="T45" fmla="*/ 2147483647 h 696"/>
                    <a:gd name="T46" fmla="*/ 2147483647 w 836"/>
                    <a:gd name="T47" fmla="*/ 2147483647 h 696"/>
                    <a:gd name="T48" fmla="*/ 2147483647 w 836"/>
                    <a:gd name="T49" fmla="*/ 2147483647 h 696"/>
                    <a:gd name="T50" fmla="*/ 2147483647 w 836"/>
                    <a:gd name="T51" fmla="*/ 2147483647 h 696"/>
                    <a:gd name="T52" fmla="*/ 2147483647 w 836"/>
                    <a:gd name="T53" fmla="*/ 0 h 696"/>
                    <a:gd name="T54" fmla="*/ 2147483647 w 836"/>
                    <a:gd name="T55" fmla="*/ 0 h 696"/>
                    <a:gd name="T56" fmla="*/ 2147483647 w 836"/>
                    <a:gd name="T57" fmla="*/ 2147483647 h 696"/>
                    <a:gd name="T58" fmla="*/ 0 w 836"/>
                    <a:gd name="T59" fmla="*/ 2147483647 h 696"/>
                    <a:gd name="T60" fmla="*/ 2147483647 w 836"/>
                    <a:gd name="T61" fmla="*/ 2147483647 h 696"/>
                    <a:gd name="T62" fmla="*/ 2147483647 w 836"/>
                    <a:gd name="T63" fmla="*/ 2147483647 h 69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36"/>
                    <a:gd name="T97" fmla="*/ 0 h 696"/>
                    <a:gd name="T98" fmla="*/ 836 w 836"/>
                    <a:gd name="T99" fmla="*/ 696 h 69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36" h="696">
                      <a:moveTo>
                        <a:pt x="304" y="473"/>
                      </a:moveTo>
                      <a:lnTo>
                        <a:pt x="316" y="475"/>
                      </a:lnTo>
                      <a:lnTo>
                        <a:pt x="327" y="478"/>
                      </a:lnTo>
                      <a:lnTo>
                        <a:pt x="338" y="484"/>
                      </a:lnTo>
                      <a:lnTo>
                        <a:pt x="347" y="491"/>
                      </a:lnTo>
                      <a:lnTo>
                        <a:pt x="355" y="501"/>
                      </a:lnTo>
                      <a:lnTo>
                        <a:pt x="361" y="512"/>
                      </a:lnTo>
                      <a:lnTo>
                        <a:pt x="363" y="523"/>
                      </a:lnTo>
                      <a:lnTo>
                        <a:pt x="365" y="535"/>
                      </a:lnTo>
                      <a:lnTo>
                        <a:pt x="365" y="602"/>
                      </a:lnTo>
                      <a:lnTo>
                        <a:pt x="604" y="695"/>
                      </a:lnTo>
                      <a:lnTo>
                        <a:pt x="834" y="610"/>
                      </a:lnTo>
                      <a:lnTo>
                        <a:pt x="834" y="259"/>
                      </a:lnTo>
                      <a:lnTo>
                        <a:pt x="835" y="227"/>
                      </a:lnTo>
                      <a:lnTo>
                        <a:pt x="833" y="197"/>
                      </a:lnTo>
                      <a:lnTo>
                        <a:pt x="830" y="168"/>
                      </a:lnTo>
                      <a:lnTo>
                        <a:pt x="825" y="142"/>
                      </a:lnTo>
                      <a:lnTo>
                        <a:pt x="817" y="117"/>
                      </a:lnTo>
                      <a:lnTo>
                        <a:pt x="808" y="96"/>
                      </a:lnTo>
                      <a:lnTo>
                        <a:pt x="797" y="76"/>
                      </a:lnTo>
                      <a:lnTo>
                        <a:pt x="784" y="58"/>
                      </a:lnTo>
                      <a:lnTo>
                        <a:pt x="769" y="43"/>
                      </a:lnTo>
                      <a:lnTo>
                        <a:pt x="753" y="29"/>
                      </a:lnTo>
                      <a:lnTo>
                        <a:pt x="735" y="19"/>
                      </a:lnTo>
                      <a:lnTo>
                        <a:pt x="715" y="10"/>
                      </a:lnTo>
                      <a:lnTo>
                        <a:pt x="694" y="4"/>
                      </a:lnTo>
                      <a:lnTo>
                        <a:pt x="671" y="0"/>
                      </a:lnTo>
                      <a:lnTo>
                        <a:pt x="12" y="0"/>
                      </a:lnTo>
                      <a:lnTo>
                        <a:pt x="97" y="231"/>
                      </a:lnTo>
                      <a:lnTo>
                        <a:pt x="0" y="473"/>
                      </a:lnTo>
                      <a:lnTo>
                        <a:pt x="152" y="474"/>
                      </a:lnTo>
                      <a:lnTo>
                        <a:pt x="304" y="473"/>
                      </a:lnTo>
                    </a:path>
                  </a:pathLst>
                </a:custGeom>
                <a:solidFill>
                  <a:srgbClr val="86BC25"/>
                </a:solidFill>
                <a:ln w="12700" cap="rnd">
                  <a:noFill/>
                  <a:round/>
                  <a:headEnd/>
                  <a:tailEnd/>
                </a:ln>
                <a:effectLst/>
              </p:spPr>
              <p:txBody>
                <a:bodyPr lIns="25015" tIns="25015" rIns="25015" bIns="350206" anchor="ctr">
                  <a:noAutofit/>
                </a:bodyPr>
                <a:lstStyle/>
                <a:p>
                  <a:pPr marL="118036" marR="0" lvl="0" indent="0" algn="ctr" defTabSz="635407"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schemeClr val="bg1"/>
                    </a:solidFill>
                    <a:effectLst/>
                    <a:uLnTx/>
                    <a:uFillTx/>
                    <a:latin typeface="+mj-lt"/>
                    <a:ea typeface="+mn-ea"/>
                    <a:cs typeface="+mn-cs"/>
                  </a:endParaRPr>
                </a:p>
              </p:txBody>
            </p:sp>
            <p:sp>
              <p:nvSpPr>
                <p:cNvPr id="44" name="Freeform 8">
                  <a:extLst>
                    <a:ext uri="{FF2B5EF4-FFF2-40B4-BE49-F238E27FC236}">
                      <a16:creationId xmlns:a16="http://schemas.microsoft.com/office/drawing/2014/main" id="{331744CC-57EE-423C-9650-D8945C50E9BC}"/>
                    </a:ext>
                  </a:extLst>
                </p:cNvPr>
                <p:cNvSpPr>
                  <a:spLocks/>
                </p:cNvSpPr>
                <p:nvPr/>
              </p:nvSpPr>
              <p:spPr bwMode="blackWhite">
                <a:xfrm>
                  <a:off x="1525589" y="3476625"/>
                  <a:ext cx="1725612" cy="1379538"/>
                </a:xfrm>
                <a:custGeom>
                  <a:avLst/>
                  <a:gdLst>
                    <a:gd name="T0" fmla="*/ 2147483647 w 936"/>
                    <a:gd name="T1" fmla="*/ 2147483647 h 696"/>
                    <a:gd name="T2" fmla="*/ 2147483647 w 936"/>
                    <a:gd name="T3" fmla="*/ 2147483647 h 696"/>
                    <a:gd name="T4" fmla="*/ 2147483647 w 936"/>
                    <a:gd name="T5" fmla="*/ 2147483647 h 696"/>
                    <a:gd name="T6" fmla="*/ 2147483647 w 936"/>
                    <a:gd name="T7" fmla="*/ 2147483647 h 696"/>
                    <a:gd name="T8" fmla="*/ 2147483647 w 936"/>
                    <a:gd name="T9" fmla="*/ 2147483647 h 696"/>
                    <a:gd name="T10" fmla="*/ 2147483647 w 936"/>
                    <a:gd name="T11" fmla="*/ 2147483647 h 696"/>
                    <a:gd name="T12" fmla="*/ 2147483647 w 936"/>
                    <a:gd name="T13" fmla="*/ 2147483647 h 696"/>
                    <a:gd name="T14" fmla="*/ 2147483647 w 936"/>
                    <a:gd name="T15" fmla="*/ 2147483647 h 696"/>
                    <a:gd name="T16" fmla="*/ 2147483647 w 936"/>
                    <a:gd name="T17" fmla="*/ 2147483647 h 696"/>
                    <a:gd name="T18" fmla="*/ 2147483647 w 936"/>
                    <a:gd name="T19" fmla="*/ 0 h 696"/>
                    <a:gd name="T20" fmla="*/ 0 w 936"/>
                    <a:gd name="T21" fmla="*/ 2147483647 h 696"/>
                    <a:gd name="T22" fmla="*/ 2147483647 w 936"/>
                    <a:gd name="T23" fmla="*/ 2147483647 h 696"/>
                    <a:gd name="T24" fmla="*/ 2147483647 w 936"/>
                    <a:gd name="T25" fmla="*/ 2147483647 h 696"/>
                    <a:gd name="T26" fmla="*/ 2147483647 w 936"/>
                    <a:gd name="T27" fmla="*/ 2147483647 h 696"/>
                    <a:gd name="T28" fmla="*/ 2147483647 w 936"/>
                    <a:gd name="T29" fmla="*/ 2147483647 h 696"/>
                    <a:gd name="T30" fmla="*/ 2147483647 w 936"/>
                    <a:gd name="T31" fmla="*/ 2147483647 h 696"/>
                    <a:gd name="T32" fmla="*/ 2147483647 w 936"/>
                    <a:gd name="T33" fmla="*/ 2147483647 h 696"/>
                    <a:gd name="T34" fmla="*/ 2147483647 w 936"/>
                    <a:gd name="T35" fmla="*/ 2147483647 h 696"/>
                    <a:gd name="T36" fmla="*/ 2147483647 w 936"/>
                    <a:gd name="T37" fmla="*/ 2147483647 h 696"/>
                    <a:gd name="T38" fmla="*/ 2147483647 w 936"/>
                    <a:gd name="T39" fmla="*/ 2147483647 h 696"/>
                    <a:gd name="T40" fmla="*/ 2147483647 w 936"/>
                    <a:gd name="T41" fmla="*/ 2147483647 h 696"/>
                    <a:gd name="T42" fmla="*/ 2147483647 w 936"/>
                    <a:gd name="T43" fmla="*/ 2147483647 h 696"/>
                    <a:gd name="T44" fmla="*/ 2147483647 w 936"/>
                    <a:gd name="T45" fmla="*/ 2147483647 h 696"/>
                    <a:gd name="T46" fmla="*/ 2147483647 w 936"/>
                    <a:gd name="T47" fmla="*/ 2147483647 h 696"/>
                    <a:gd name="T48" fmla="*/ 2147483647 w 936"/>
                    <a:gd name="T49" fmla="*/ 2147483647 h 696"/>
                    <a:gd name="T50" fmla="*/ 2147483647 w 936"/>
                    <a:gd name="T51" fmla="*/ 2147483647 h 696"/>
                    <a:gd name="T52" fmla="*/ 2147483647 w 936"/>
                    <a:gd name="T53" fmla="*/ 2147483647 h 696"/>
                    <a:gd name="T54" fmla="*/ 2147483647 w 936"/>
                    <a:gd name="T55" fmla="*/ 2147483647 h 696"/>
                    <a:gd name="T56" fmla="*/ 2147483647 w 936"/>
                    <a:gd name="T57" fmla="*/ 2147483647 h 696"/>
                    <a:gd name="T58" fmla="*/ 2147483647 w 936"/>
                    <a:gd name="T59" fmla="*/ 2147483647 h 69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36"/>
                    <a:gd name="T91" fmla="*/ 0 h 696"/>
                    <a:gd name="T92" fmla="*/ 936 w 936"/>
                    <a:gd name="T93" fmla="*/ 696 h 69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36" h="696">
                      <a:moveTo>
                        <a:pt x="532" y="222"/>
                      </a:moveTo>
                      <a:lnTo>
                        <a:pt x="519" y="220"/>
                      </a:lnTo>
                      <a:lnTo>
                        <a:pt x="507" y="216"/>
                      </a:lnTo>
                      <a:lnTo>
                        <a:pt x="496" y="210"/>
                      </a:lnTo>
                      <a:lnTo>
                        <a:pt x="487" y="201"/>
                      </a:lnTo>
                      <a:lnTo>
                        <a:pt x="479" y="190"/>
                      </a:lnTo>
                      <a:lnTo>
                        <a:pt x="474" y="179"/>
                      </a:lnTo>
                      <a:lnTo>
                        <a:pt x="472" y="165"/>
                      </a:lnTo>
                      <a:lnTo>
                        <a:pt x="472" y="94"/>
                      </a:lnTo>
                      <a:lnTo>
                        <a:pt x="231" y="0"/>
                      </a:lnTo>
                      <a:lnTo>
                        <a:pt x="0" y="91"/>
                      </a:lnTo>
                      <a:lnTo>
                        <a:pt x="1" y="435"/>
                      </a:lnTo>
                      <a:lnTo>
                        <a:pt x="1" y="468"/>
                      </a:lnTo>
                      <a:lnTo>
                        <a:pt x="2" y="498"/>
                      </a:lnTo>
                      <a:lnTo>
                        <a:pt x="5" y="527"/>
                      </a:lnTo>
                      <a:lnTo>
                        <a:pt x="11" y="553"/>
                      </a:lnTo>
                      <a:lnTo>
                        <a:pt x="18" y="577"/>
                      </a:lnTo>
                      <a:lnTo>
                        <a:pt x="28" y="599"/>
                      </a:lnTo>
                      <a:lnTo>
                        <a:pt x="39" y="619"/>
                      </a:lnTo>
                      <a:lnTo>
                        <a:pt x="52" y="637"/>
                      </a:lnTo>
                      <a:lnTo>
                        <a:pt x="66" y="652"/>
                      </a:lnTo>
                      <a:lnTo>
                        <a:pt x="82" y="665"/>
                      </a:lnTo>
                      <a:lnTo>
                        <a:pt x="100" y="676"/>
                      </a:lnTo>
                      <a:lnTo>
                        <a:pt x="120" y="685"/>
                      </a:lnTo>
                      <a:lnTo>
                        <a:pt x="142" y="691"/>
                      </a:lnTo>
                      <a:lnTo>
                        <a:pt x="165" y="694"/>
                      </a:lnTo>
                      <a:lnTo>
                        <a:pt x="935" y="695"/>
                      </a:lnTo>
                      <a:lnTo>
                        <a:pt x="935" y="221"/>
                      </a:lnTo>
                      <a:lnTo>
                        <a:pt x="734" y="220"/>
                      </a:lnTo>
                      <a:lnTo>
                        <a:pt x="532" y="222"/>
                      </a:lnTo>
                    </a:path>
                  </a:pathLst>
                </a:custGeom>
                <a:solidFill>
                  <a:schemeClr val="tx1"/>
                </a:solidFill>
                <a:ln w="12700" cap="rnd">
                  <a:noFill/>
                  <a:round/>
                  <a:headEnd/>
                  <a:tailEnd/>
                </a:ln>
                <a:effectLst/>
              </p:spPr>
              <p:txBody>
                <a:bodyPr lIns="25015" tIns="25015" rIns="350206" bIns="25015" anchor="ctr">
                  <a:noAutofit/>
                </a:bodyPr>
                <a:lstStyle/>
                <a:p>
                  <a:pPr marL="0" marR="0" lvl="0" indent="0" algn="ctr"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mj-lt"/>
                      <a:ea typeface="+mn-ea"/>
                      <a:cs typeface="+mn-cs"/>
                    </a:rPr>
                    <a:t>Data Sources</a:t>
                  </a:r>
                </a:p>
              </p:txBody>
            </p:sp>
            <p:sp>
              <p:nvSpPr>
                <p:cNvPr id="46" name="Freeform 9">
                  <a:extLst>
                    <a:ext uri="{FF2B5EF4-FFF2-40B4-BE49-F238E27FC236}">
                      <a16:creationId xmlns:a16="http://schemas.microsoft.com/office/drawing/2014/main" id="{797713A1-B765-42E4-A5C7-9CFB2A162EF6}"/>
                    </a:ext>
                  </a:extLst>
                </p:cNvPr>
                <p:cNvSpPr>
                  <a:spLocks/>
                </p:cNvSpPr>
                <p:nvPr/>
              </p:nvSpPr>
              <p:spPr bwMode="blackWhite">
                <a:xfrm>
                  <a:off x="1527174" y="2287589"/>
                  <a:ext cx="1296987" cy="1335087"/>
                </a:xfrm>
                <a:custGeom>
                  <a:avLst/>
                  <a:gdLst>
                    <a:gd name="T0" fmla="*/ 2147483647 w 686"/>
                    <a:gd name="T1" fmla="*/ 2147483647 h 673"/>
                    <a:gd name="T2" fmla="*/ 2147483647 w 686"/>
                    <a:gd name="T3" fmla="*/ 2147483647 h 673"/>
                    <a:gd name="T4" fmla="*/ 2147483647 w 686"/>
                    <a:gd name="T5" fmla="*/ 2147483647 h 673"/>
                    <a:gd name="T6" fmla="*/ 2147483647 w 686"/>
                    <a:gd name="T7" fmla="*/ 2147483647 h 673"/>
                    <a:gd name="T8" fmla="*/ 2147483647 w 686"/>
                    <a:gd name="T9" fmla="*/ 2147483647 h 673"/>
                    <a:gd name="T10" fmla="*/ 2147483647 w 686"/>
                    <a:gd name="T11" fmla="*/ 2147483647 h 673"/>
                    <a:gd name="T12" fmla="*/ 2147483647 w 686"/>
                    <a:gd name="T13" fmla="*/ 2147483647 h 673"/>
                    <a:gd name="T14" fmla="*/ 2147483647 w 686"/>
                    <a:gd name="T15" fmla="*/ 2147483647 h 673"/>
                    <a:gd name="T16" fmla="*/ 2147483647 w 686"/>
                    <a:gd name="T17" fmla="*/ 2147483647 h 673"/>
                    <a:gd name="T18" fmla="*/ 2147483647 w 686"/>
                    <a:gd name="T19" fmla="*/ 2147483647 h 673"/>
                    <a:gd name="T20" fmla="*/ 2147483647 w 686"/>
                    <a:gd name="T21" fmla="*/ 2147483647 h 673"/>
                    <a:gd name="T22" fmla="*/ 2147483647 w 686"/>
                    <a:gd name="T23" fmla="*/ 2147483647 h 673"/>
                    <a:gd name="T24" fmla="*/ 2147483647 w 686"/>
                    <a:gd name="T25" fmla="*/ 0 h 673"/>
                    <a:gd name="T26" fmla="*/ 2147483647 w 686"/>
                    <a:gd name="T27" fmla="*/ 2147483647 h 673"/>
                    <a:gd name="T28" fmla="*/ 2147483647 w 686"/>
                    <a:gd name="T29" fmla="*/ 2147483647 h 673"/>
                    <a:gd name="T30" fmla="*/ 2147483647 w 686"/>
                    <a:gd name="T31" fmla="*/ 2147483647 h 673"/>
                    <a:gd name="T32" fmla="*/ 2147483647 w 686"/>
                    <a:gd name="T33" fmla="*/ 2147483647 h 673"/>
                    <a:gd name="T34" fmla="*/ 2147483647 w 686"/>
                    <a:gd name="T35" fmla="*/ 2147483647 h 673"/>
                    <a:gd name="T36" fmla="*/ 2147483647 w 686"/>
                    <a:gd name="T37" fmla="*/ 2147483647 h 673"/>
                    <a:gd name="T38" fmla="*/ 2147483647 w 686"/>
                    <a:gd name="T39" fmla="*/ 2147483647 h 673"/>
                    <a:gd name="T40" fmla="*/ 2147483647 w 686"/>
                    <a:gd name="T41" fmla="*/ 2147483647 h 673"/>
                    <a:gd name="T42" fmla="*/ 2147483647 w 686"/>
                    <a:gd name="T43" fmla="*/ 2147483647 h 673"/>
                    <a:gd name="T44" fmla="*/ 2147483647 w 686"/>
                    <a:gd name="T45" fmla="*/ 2147483647 h 673"/>
                    <a:gd name="T46" fmla="*/ 2147483647 w 686"/>
                    <a:gd name="T47" fmla="*/ 2147483647 h 673"/>
                    <a:gd name="T48" fmla="*/ 2147483647 w 686"/>
                    <a:gd name="T49" fmla="*/ 2147483647 h 673"/>
                    <a:gd name="T50" fmla="*/ 0 w 686"/>
                    <a:gd name="T51" fmla="*/ 2147483647 h 673"/>
                    <a:gd name="T52" fmla="*/ 0 w 686"/>
                    <a:gd name="T53" fmla="*/ 2147483647 h 673"/>
                    <a:gd name="T54" fmla="*/ 2147483647 w 686"/>
                    <a:gd name="T55" fmla="*/ 2147483647 h 673"/>
                    <a:gd name="T56" fmla="*/ 2147483647 w 686"/>
                    <a:gd name="T57" fmla="*/ 2147483647 h 673"/>
                    <a:gd name="T58" fmla="*/ 2147483647 w 686"/>
                    <a:gd name="T59" fmla="*/ 2147483647 h 67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86"/>
                    <a:gd name="T91" fmla="*/ 0 h 673"/>
                    <a:gd name="T92" fmla="*/ 686 w 686"/>
                    <a:gd name="T93" fmla="*/ 673 h 67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86" h="673">
                      <a:moveTo>
                        <a:pt x="466" y="525"/>
                      </a:moveTo>
                      <a:lnTo>
                        <a:pt x="468" y="514"/>
                      </a:lnTo>
                      <a:lnTo>
                        <a:pt x="473" y="502"/>
                      </a:lnTo>
                      <a:lnTo>
                        <a:pt x="479" y="492"/>
                      </a:lnTo>
                      <a:lnTo>
                        <a:pt x="489" y="484"/>
                      </a:lnTo>
                      <a:lnTo>
                        <a:pt x="499" y="477"/>
                      </a:lnTo>
                      <a:lnTo>
                        <a:pt x="511" y="474"/>
                      </a:lnTo>
                      <a:lnTo>
                        <a:pt x="523" y="472"/>
                      </a:lnTo>
                      <a:lnTo>
                        <a:pt x="592" y="471"/>
                      </a:lnTo>
                      <a:lnTo>
                        <a:pt x="685" y="231"/>
                      </a:lnTo>
                      <a:lnTo>
                        <a:pt x="601" y="1"/>
                      </a:lnTo>
                      <a:lnTo>
                        <a:pt x="255" y="1"/>
                      </a:lnTo>
                      <a:lnTo>
                        <a:pt x="223" y="0"/>
                      </a:lnTo>
                      <a:lnTo>
                        <a:pt x="194" y="1"/>
                      </a:lnTo>
                      <a:lnTo>
                        <a:pt x="166" y="4"/>
                      </a:lnTo>
                      <a:lnTo>
                        <a:pt x="140" y="10"/>
                      </a:lnTo>
                      <a:lnTo>
                        <a:pt x="116" y="18"/>
                      </a:lnTo>
                      <a:lnTo>
                        <a:pt x="93" y="27"/>
                      </a:lnTo>
                      <a:lnTo>
                        <a:pt x="75" y="38"/>
                      </a:lnTo>
                      <a:lnTo>
                        <a:pt x="57" y="50"/>
                      </a:lnTo>
                      <a:lnTo>
                        <a:pt x="42" y="64"/>
                      </a:lnTo>
                      <a:lnTo>
                        <a:pt x="30" y="81"/>
                      </a:lnTo>
                      <a:lnTo>
                        <a:pt x="19" y="99"/>
                      </a:lnTo>
                      <a:lnTo>
                        <a:pt x="10" y="119"/>
                      </a:lnTo>
                      <a:lnTo>
                        <a:pt x="4" y="141"/>
                      </a:lnTo>
                      <a:lnTo>
                        <a:pt x="0" y="164"/>
                      </a:lnTo>
                      <a:lnTo>
                        <a:pt x="0" y="666"/>
                      </a:lnTo>
                      <a:lnTo>
                        <a:pt x="224" y="575"/>
                      </a:lnTo>
                      <a:lnTo>
                        <a:pt x="466" y="672"/>
                      </a:lnTo>
                      <a:lnTo>
                        <a:pt x="466" y="525"/>
                      </a:lnTo>
                    </a:path>
                  </a:pathLst>
                </a:custGeom>
                <a:solidFill>
                  <a:schemeClr val="accent2"/>
                </a:solidFill>
                <a:ln w="12700" cap="rnd">
                  <a:noFill/>
                  <a:round/>
                  <a:headEnd/>
                  <a:tailEnd/>
                </a:ln>
                <a:effectLst/>
              </p:spPr>
              <p:txBody>
                <a:bodyPr lIns="25015" tIns="25015" rIns="25015" bIns="325191" anchor="ctr">
                  <a:noAutofit/>
                </a:bodyPr>
                <a:lstStyle/>
                <a:p>
                  <a:pPr marL="0" marR="0" lvl="0" indent="0" algn="ctr"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1"/>
                      </a:solidFill>
                      <a:effectLst/>
                      <a:uLnTx/>
                      <a:uFillTx/>
                      <a:latin typeface="+mj-lt"/>
                      <a:ea typeface="+mn-ea"/>
                      <a:cs typeface="+mn-cs"/>
                    </a:rPr>
                    <a:t>Data Acquisition</a:t>
                  </a:r>
                </a:p>
              </p:txBody>
            </p:sp>
          </p:grpSp>
          <p:sp>
            <p:nvSpPr>
              <p:cNvPr id="47" name="Freeform 5">
                <a:extLst>
                  <a:ext uri="{FF2B5EF4-FFF2-40B4-BE49-F238E27FC236}">
                    <a16:creationId xmlns:a16="http://schemas.microsoft.com/office/drawing/2014/main" id="{C3F56BB3-3C73-45E3-AC8A-7AB72F2A0E9E}"/>
                  </a:ext>
                </a:extLst>
              </p:cNvPr>
              <p:cNvSpPr>
                <a:spLocks/>
              </p:cNvSpPr>
              <p:nvPr/>
            </p:nvSpPr>
            <p:spPr bwMode="blackWhite">
              <a:xfrm rot="5400000">
                <a:off x="6087681" y="2659050"/>
                <a:ext cx="1189119" cy="1042299"/>
              </a:xfrm>
              <a:custGeom>
                <a:avLst/>
                <a:gdLst>
                  <a:gd name="T0" fmla="*/ 2147483647 w 824"/>
                  <a:gd name="T1" fmla="*/ 2147483647 h 688"/>
                  <a:gd name="T2" fmla="*/ 2147483647 w 824"/>
                  <a:gd name="T3" fmla="*/ 2147483647 h 688"/>
                  <a:gd name="T4" fmla="*/ 2147483647 w 824"/>
                  <a:gd name="T5" fmla="*/ 2147483647 h 688"/>
                  <a:gd name="T6" fmla="*/ 2147483647 w 824"/>
                  <a:gd name="T7" fmla="*/ 2147483647 h 688"/>
                  <a:gd name="T8" fmla="*/ 2147483647 w 824"/>
                  <a:gd name="T9" fmla="*/ 0 h 688"/>
                  <a:gd name="T10" fmla="*/ 2147483647 w 824"/>
                  <a:gd name="T11" fmla="*/ 0 h 688"/>
                  <a:gd name="T12" fmla="*/ 2147483647 w 824"/>
                  <a:gd name="T13" fmla="*/ 2147483647 h 688"/>
                  <a:gd name="T14" fmla="*/ 2147483647 w 824"/>
                  <a:gd name="T15" fmla="*/ 2147483647 h 688"/>
                  <a:gd name="T16" fmla="*/ 2147483647 w 824"/>
                  <a:gd name="T17" fmla="*/ 2147483647 h 688"/>
                  <a:gd name="T18" fmla="*/ 2147483647 w 824"/>
                  <a:gd name="T19" fmla="*/ 2147483647 h 688"/>
                  <a:gd name="T20" fmla="*/ 2147483647 w 824"/>
                  <a:gd name="T21" fmla="*/ 2147483647 h 688"/>
                  <a:gd name="T22" fmla="*/ 2147483647 w 824"/>
                  <a:gd name="T23" fmla="*/ 2147483647 h 688"/>
                  <a:gd name="T24" fmla="*/ 2147483647 w 824"/>
                  <a:gd name="T25" fmla="*/ 2147483647 h 688"/>
                  <a:gd name="T26" fmla="*/ 2147483647 w 824"/>
                  <a:gd name="T27" fmla="*/ 2147483647 h 688"/>
                  <a:gd name="T28" fmla="*/ 2147483647 w 824"/>
                  <a:gd name="T29" fmla="*/ 2147483647 h 688"/>
                  <a:gd name="T30" fmla="*/ 2147483647 w 824"/>
                  <a:gd name="T31" fmla="*/ 2147483647 h 688"/>
                  <a:gd name="T32" fmla="*/ 2147483647 w 824"/>
                  <a:gd name="T33" fmla="*/ 2147483647 h 688"/>
                  <a:gd name="T34" fmla="*/ 2147483647 w 824"/>
                  <a:gd name="T35" fmla="*/ 2147483647 h 688"/>
                  <a:gd name="T36" fmla="*/ 0 w 824"/>
                  <a:gd name="T37" fmla="*/ 2147483647 h 688"/>
                  <a:gd name="T38" fmla="*/ 2147483647 w 824"/>
                  <a:gd name="T39" fmla="*/ 2147483647 h 688"/>
                  <a:gd name="T40" fmla="*/ 2147483647 w 824"/>
                  <a:gd name="T41" fmla="*/ 2147483647 h 688"/>
                  <a:gd name="T42" fmla="*/ 2147483647 w 824"/>
                  <a:gd name="T43" fmla="*/ 2147483647 h 688"/>
                  <a:gd name="T44" fmla="*/ 2147483647 w 824"/>
                  <a:gd name="T45" fmla="*/ 2147483647 h 688"/>
                  <a:gd name="T46" fmla="*/ 2147483647 w 824"/>
                  <a:gd name="T47" fmla="*/ 2147483647 h 688"/>
                  <a:gd name="T48" fmla="*/ 2147483647 w 824"/>
                  <a:gd name="T49" fmla="*/ 2147483647 h 688"/>
                  <a:gd name="T50" fmla="*/ 2147483647 w 824"/>
                  <a:gd name="T51" fmla="*/ 2147483647 h 688"/>
                  <a:gd name="T52" fmla="*/ 2147483647 w 824"/>
                  <a:gd name="T53" fmla="*/ 2147483647 h 688"/>
                  <a:gd name="T54" fmla="*/ 2147483647 w 824"/>
                  <a:gd name="T55" fmla="*/ 2147483647 h 688"/>
                  <a:gd name="T56" fmla="*/ 2147483647 w 824"/>
                  <a:gd name="T57" fmla="*/ 2147483647 h 688"/>
                  <a:gd name="T58" fmla="*/ 2147483647 w 824"/>
                  <a:gd name="T59" fmla="*/ 2147483647 h 68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24"/>
                  <a:gd name="T91" fmla="*/ 0 h 688"/>
                  <a:gd name="T92" fmla="*/ 824 w 824"/>
                  <a:gd name="T93" fmla="*/ 688 h 68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24" h="688">
                    <a:moveTo>
                      <a:pt x="531" y="473"/>
                    </a:moveTo>
                    <a:lnTo>
                      <a:pt x="675" y="474"/>
                    </a:lnTo>
                    <a:lnTo>
                      <a:pt x="819" y="473"/>
                    </a:lnTo>
                    <a:lnTo>
                      <a:pt x="729" y="244"/>
                    </a:lnTo>
                    <a:lnTo>
                      <a:pt x="823" y="0"/>
                    </a:lnTo>
                    <a:lnTo>
                      <a:pt x="164" y="0"/>
                    </a:lnTo>
                    <a:lnTo>
                      <a:pt x="141" y="4"/>
                    </a:lnTo>
                    <a:lnTo>
                      <a:pt x="120" y="10"/>
                    </a:lnTo>
                    <a:lnTo>
                      <a:pt x="100" y="19"/>
                    </a:lnTo>
                    <a:lnTo>
                      <a:pt x="82" y="30"/>
                    </a:lnTo>
                    <a:lnTo>
                      <a:pt x="66" y="43"/>
                    </a:lnTo>
                    <a:lnTo>
                      <a:pt x="51" y="58"/>
                    </a:lnTo>
                    <a:lnTo>
                      <a:pt x="38" y="76"/>
                    </a:lnTo>
                    <a:lnTo>
                      <a:pt x="27" y="96"/>
                    </a:lnTo>
                    <a:lnTo>
                      <a:pt x="18" y="118"/>
                    </a:lnTo>
                    <a:lnTo>
                      <a:pt x="10" y="142"/>
                    </a:lnTo>
                    <a:lnTo>
                      <a:pt x="5" y="168"/>
                    </a:lnTo>
                    <a:lnTo>
                      <a:pt x="1" y="196"/>
                    </a:lnTo>
                    <a:lnTo>
                      <a:pt x="0" y="227"/>
                    </a:lnTo>
                    <a:lnTo>
                      <a:pt x="1" y="259"/>
                    </a:lnTo>
                    <a:lnTo>
                      <a:pt x="1" y="611"/>
                    </a:lnTo>
                    <a:lnTo>
                      <a:pt x="244" y="687"/>
                    </a:lnTo>
                    <a:lnTo>
                      <a:pt x="472" y="607"/>
                    </a:lnTo>
                    <a:lnTo>
                      <a:pt x="472" y="517"/>
                    </a:lnTo>
                    <a:lnTo>
                      <a:pt x="477" y="504"/>
                    </a:lnTo>
                    <a:lnTo>
                      <a:pt x="485" y="493"/>
                    </a:lnTo>
                    <a:lnTo>
                      <a:pt x="495" y="485"/>
                    </a:lnTo>
                    <a:lnTo>
                      <a:pt x="506" y="479"/>
                    </a:lnTo>
                    <a:lnTo>
                      <a:pt x="519" y="475"/>
                    </a:lnTo>
                    <a:lnTo>
                      <a:pt x="531" y="473"/>
                    </a:lnTo>
                  </a:path>
                </a:pathLst>
              </a:custGeom>
              <a:solidFill>
                <a:schemeClr val="tx2"/>
              </a:solidFill>
              <a:ln w="12700" cap="rnd">
                <a:noFill/>
                <a:round/>
                <a:headEnd/>
                <a:tailEnd/>
              </a:ln>
              <a:effectLst/>
            </p:spPr>
            <p:txBody>
              <a:bodyPr vert="vert270" lIns="25015" tIns="25015" rIns="25015" bIns="300176" anchor="ctr">
                <a:noAutofit/>
              </a:bodyPr>
              <a:lstStyle/>
              <a:p>
                <a:pPr marL="0" marR="0" lvl="0" indent="0" algn="ctr" defTabSz="635407"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prstClr val="white"/>
                  </a:solidFill>
                  <a:effectLst/>
                  <a:uLnTx/>
                  <a:uFillTx/>
                  <a:latin typeface="+mj-lt"/>
                  <a:ea typeface="+mn-ea"/>
                  <a:cs typeface="+mn-cs"/>
                </a:endParaRPr>
              </a:p>
            </p:txBody>
          </p:sp>
          <p:sp>
            <p:nvSpPr>
              <p:cNvPr id="48" name="Freeform 4">
                <a:extLst>
                  <a:ext uri="{FF2B5EF4-FFF2-40B4-BE49-F238E27FC236}">
                    <a16:creationId xmlns:a16="http://schemas.microsoft.com/office/drawing/2014/main" id="{7F5A3200-73E6-442E-8F0A-25333E006561}"/>
                  </a:ext>
                </a:extLst>
              </p:cNvPr>
              <p:cNvSpPr>
                <a:spLocks/>
              </p:cNvSpPr>
              <p:nvPr/>
            </p:nvSpPr>
            <p:spPr bwMode="blackWhite">
              <a:xfrm>
                <a:off x="6014357" y="3705328"/>
                <a:ext cx="1190333" cy="1041086"/>
              </a:xfrm>
              <a:custGeom>
                <a:avLst/>
                <a:gdLst>
                  <a:gd name="T0" fmla="*/ 2147483647 w 824"/>
                  <a:gd name="T1" fmla="*/ 2147483647 h 687"/>
                  <a:gd name="T2" fmla="*/ 2147483647 w 824"/>
                  <a:gd name="T3" fmla="*/ 2147483647 h 687"/>
                  <a:gd name="T4" fmla="*/ 2147483647 w 824"/>
                  <a:gd name="T5" fmla="*/ 2147483647 h 687"/>
                  <a:gd name="T6" fmla="*/ 2147483647 w 824"/>
                  <a:gd name="T7" fmla="*/ 2147483647 h 687"/>
                  <a:gd name="T8" fmla="*/ 0 w 824"/>
                  <a:gd name="T9" fmla="*/ 2147483647 h 687"/>
                  <a:gd name="T10" fmla="*/ 2147483647 w 824"/>
                  <a:gd name="T11" fmla="*/ 2147483647 h 687"/>
                  <a:gd name="T12" fmla="*/ 2147483647 w 824"/>
                  <a:gd name="T13" fmla="*/ 2147483647 h 687"/>
                  <a:gd name="T14" fmla="*/ 2147483647 w 824"/>
                  <a:gd name="T15" fmla="*/ 2147483647 h 687"/>
                  <a:gd name="T16" fmla="*/ 2147483647 w 824"/>
                  <a:gd name="T17" fmla="*/ 2147483647 h 687"/>
                  <a:gd name="T18" fmla="*/ 2147483647 w 824"/>
                  <a:gd name="T19" fmla="*/ 2147483647 h 687"/>
                  <a:gd name="T20" fmla="*/ 2147483647 w 824"/>
                  <a:gd name="T21" fmla="*/ 2147483647 h 687"/>
                  <a:gd name="T22" fmla="*/ 2147483647 w 824"/>
                  <a:gd name="T23" fmla="*/ 2147483647 h 687"/>
                  <a:gd name="T24" fmla="*/ 2147483647 w 824"/>
                  <a:gd name="T25" fmla="*/ 2147483647 h 687"/>
                  <a:gd name="T26" fmla="*/ 2147483647 w 824"/>
                  <a:gd name="T27" fmla="*/ 2147483647 h 687"/>
                  <a:gd name="T28" fmla="*/ 2147483647 w 824"/>
                  <a:gd name="T29" fmla="*/ 2147483647 h 687"/>
                  <a:gd name="T30" fmla="*/ 2147483647 w 824"/>
                  <a:gd name="T31" fmla="*/ 2147483647 h 687"/>
                  <a:gd name="T32" fmla="*/ 2147483647 w 824"/>
                  <a:gd name="T33" fmla="*/ 2147483647 h 687"/>
                  <a:gd name="T34" fmla="*/ 2147483647 w 824"/>
                  <a:gd name="T35" fmla="*/ 2147483647 h 687"/>
                  <a:gd name="T36" fmla="*/ 2147483647 w 824"/>
                  <a:gd name="T37" fmla="*/ 2147483647 h 687"/>
                  <a:gd name="T38" fmla="*/ 2147483647 w 824"/>
                  <a:gd name="T39" fmla="*/ 2147483647 h 687"/>
                  <a:gd name="T40" fmla="*/ 2147483647 w 824"/>
                  <a:gd name="T41" fmla="*/ 2147483647 h 687"/>
                  <a:gd name="T42" fmla="*/ 2147483647 w 824"/>
                  <a:gd name="T43" fmla="*/ 0 h 687"/>
                  <a:gd name="T44" fmla="*/ 2147483647 w 824"/>
                  <a:gd name="T45" fmla="*/ 2147483647 h 687"/>
                  <a:gd name="T46" fmla="*/ 2147483647 w 824"/>
                  <a:gd name="T47" fmla="*/ 2147483647 h 687"/>
                  <a:gd name="T48" fmla="*/ 2147483647 w 824"/>
                  <a:gd name="T49" fmla="*/ 2147483647 h 687"/>
                  <a:gd name="T50" fmla="*/ 2147483647 w 824"/>
                  <a:gd name="T51" fmla="*/ 2147483647 h 687"/>
                  <a:gd name="T52" fmla="*/ 2147483647 w 824"/>
                  <a:gd name="T53" fmla="*/ 2147483647 h 687"/>
                  <a:gd name="T54" fmla="*/ 2147483647 w 824"/>
                  <a:gd name="T55" fmla="*/ 2147483647 h 687"/>
                  <a:gd name="T56" fmla="*/ 2147483647 w 824"/>
                  <a:gd name="T57" fmla="*/ 2147483647 h 687"/>
                  <a:gd name="T58" fmla="*/ 2147483647 w 824"/>
                  <a:gd name="T59" fmla="*/ 2147483647 h 68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24"/>
                  <a:gd name="T91" fmla="*/ 0 h 687"/>
                  <a:gd name="T92" fmla="*/ 824 w 824"/>
                  <a:gd name="T93" fmla="*/ 687 h 68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24" h="687">
                    <a:moveTo>
                      <a:pt x="292" y="213"/>
                    </a:moveTo>
                    <a:lnTo>
                      <a:pt x="149" y="213"/>
                    </a:lnTo>
                    <a:lnTo>
                      <a:pt x="6" y="213"/>
                    </a:lnTo>
                    <a:lnTo>
                      <a:pt x="89" y="439"/>
                    </a:lnTo>
                    <a:lnTo>
                      <a:pt x="0" y="686"/>
                    </a:lnTo>
                    <a:lnTo>
                      <a:pt x="659" y="686"/>
                    </a:lnTo>
                    <a:lnTo>
                      <a:pt x="682" y="682"/>
                    </a:lnTo>
                    <a:lnTo>
                      <a:pt x="703" y="676"/>
                    </a:lnTo>
                    <a:lnTo>
                      <a:pt x="724" y="668"/>
                    </a:lnTo>
                    <a:lnTo>
                      <a:pt x="742" y="658"/>
                    </a:lnTo>
                    <a:lnTo>
                      <a:pt x="758" y="645"/>
                    </a:lnTo>
                    <a:lnTo>
                      <a:pt x="773" y="629"/>
                    </a:lnTo>
                    <a:lnTo>
                      <a:pt x="786" y="611"/>
                    </a:lnTo>
                    <a:lnTo>
                      <a:pt x="797" y="592"/>
                    </a:lnTo>
                    <a:lnTo>
                      <a:pt x="806" y="569"/>
                    </a:lnTo>
                    <a:lnTo>
                      <a:pt x="813" y="545"/>
                    </a:lnTo>
                    <a:lnTo>
                      <a:pt x="818" y="519"/>
                    </a:lnTo>
                    <a:lnTo>
                      <a:pt x="822" y="490"/>
                    </a:lnTo>
                    <a:lnTo>
                      <a:pt x="823" y="460"/>
                    </a:lnTo>
                    <a:lnTo>
                      <a:pt x="823" y="428"/>
                    </a:lnTo>
                    <a:lnTo>
                      <a:pt x="823" y="82"/>
                    </a:lnTo>
                    <a:lnTo>
                      <a:pt x="580" y="0"/>
                    </a:lnTo>
                    <a:lnTo>
                      <a:pt x="352" y="80"/>
                    </a:lnTo>
                    <a:lnTo>
                      <a:pt x="352" y="171"/>
                    </a:lnTo>
                    <a:lnTo>
                      <a:pt x="346" y="183"/>
                    </a:lnTo>
                    <a:lnTo>
                      <a:pt x="339" y="193"/>
                    </a:lnTo>
                    <a:lnTo>
                      <a:pt x="329" y="202"/>
                    </a:lnTo>
                    <a:lnTo>
                      <a:pt x="318" y="209"/>
                    </a:lnTo>
                    <a:lnTo>
                      <a:pt x="305" y="213"/>
                    </a:lnTo>
                    <a:lnTo>
                      <a:pt x="292" y="213"/>
                    </a:lnTo>
                  </a:path>
                </a:pathLst>
              </a:custGeom>
              <a:solidFill>
                <a:schemeClr val="accent2"/>
              </a:solidFill>
              <a:ln w="12700" cap="rnd">
                <a:noFill/>
                <a:round/>
                <a:headEnd/>
                <a:tailEnd/>
              </a:ln>
              <a:effectLst/>
            </p:spPr>
            <p:txBody>
              <a:bodyPr lIns="225132" tIns="325191" rIns="25015" bIns="25015" anchor="ctr">
                <a:noAutofit/>
              </a:bodyPr>
              <a:lstStyle/>
              <a:p>
                <a:pPr marL="0" marR="0" lvl="0" indent="0" algn="ctr"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mj-lt"/>
                    <a:ea typeface="+mn-ea"/>
                    <a:cs typeface="+mn-cs"/>
                  </a:rPr>
                  <a:t>DQ, DG, Infrastructure</a:t>
                </a:r>
              </a:p>
            </p:txBody>
          </p:sp>
        </p:grpSp>
        <p:sp>
          <p:nvSpPr>
            <p:cNvPr id="50" name="Rectangle 49">
              <a:extLst>
                <a:ext uri="{FF2B5EF4-FFF2-40B4-BE49-F238E27FC236}">
                  <a16:creationId xmlns:a16="http://schemas.microsoft.com/office/drawing/2014/main" id="{8135DB1D-8BF4-49EA-8FAF-0346870BD4EC}"/>
                </a:ext>
              </a:extLst>
            </p:cNvPr>
            <p:cNvSpPr/>
            <p:nvPr/>
          </p:nvSpPr>
          <p:spPr>
            <a:xfrm>
              <a:off x="1404226" y="3867411"/>
              <a:ext cx="1941347" cy="158164"/>
            </a:xfrm>
            <a:prstGeom prst="rect">
              <a:avLst/>
            </a:prstGeom>
          </p:spPr>
          <p:txBody>
            <a:bodyPr wrap="square" lIns="0" tIns="0" rIns="0" bIns="0">
              <a:spAutoFit/>
            </a:bodyPr>
            <a:lstStyle/>
            <a:p>
              <a:pPr marL="0" marR="0" lvl="0" indent="0" algn="l"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latin typeface="+mj-lt"/>
                  <a:ea typeface="+mn-ea"/>
                  <a:cs typeface="+mn-cs"/>
                </a:rPr>
                <a:t>Data sources</a:t>
              </a:r>
              <a:endParaRPr kumimoji="0" lang="en-US" sz="1100" b="0" i="0" u="none" strike="noStrike" kern="0" cap="none" spc="0" normalizeH="0" baseline="0" noProof="0" dirty="0">
                <a:ln>
                  <a:noFill/>
                </a:ln>
                <a:effectLst/>
                <a:uLnTx/>
                <a:uFillTx/>
                <a:latin typeface="+mj-lt"/>
                <a:ea typeface="+mn-ea"/>
                <a:cs typeface="+mn-cs"/>
              </a:endParaRPr>
            </a:p>
          </p:txBody>
        </p:sp>
        <p:sp>
          <p:nvSpPr>
            <p:cNvPr id="54" name="Rectangle 53">
              <a:extLst>
                <a:ext uri="{FF2B5EF4-FFF2-40B4-BE49-F238E27FC236}">
                  <a16:creationId xmlns:a16="http://schemas.microsoft.com/office/drawing/2014/main" id="{A5AAA270-0ABA-49D9-BADC-9C48548B44CB}"/>
                </a:ext>
              </a:extLst>
            </p:cNvPr>
            <p:cNvSpPr/>
            <p:nvPr/>
          </p:nvSpPr>
          <p:spPr>
            <a:xfrm>
              <a:off x="7814702" y="4961255"/>
              <a:ext cx="1617782" cy="158164"/>
            </a:xfrm>
            <a:prstGeom prst="rect">
              <a:avLst/>
            </a:prstGeom>
          </p:spPr>
          <p:txBody>
            <a:bodyPr wrap="square" lIns="0" tIns="0" rIns="0" bIns="0">
              <a:spAutoFit/>
            </a:bodyPr>
            <a:lstStyle/>
            <a:p>
              <a:pPr marL="0" marR="0" lvl="0" indent="0" algn="l" defTabSz="635407"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effectLst/>
                  <a:uLnTx/>
                  <a:uFillTx/>
                  <a:latin typeface="+mj-lt"/>
                  <a:ea typeface="+mn-ea"/>
                  <a:cs typeface="+mn-cs"/>
                </a:rPr>
                <a:t>DQ, DG, Infra. </a:t>
              </a:r>
              <a:endParaRPr kumimoji="0" lang="en-US" sz="1100" b="0" i="0" u="none" strike="noStrike" kern="0" cap="none" spc="0" normalizeH="0" baseline="0" noProof="0" dirty="0">
                <a:ln>
                  <a:noFill/>
                </a:ln>
                <a:effectLst/>
                <a:uLnTx/>
                <a:uFillTx/>
                <a:latin typeface="+mj-lt"/>
                <a:ea typeface="+mn-ea"/>
                <a:cs typeface="+mn-cs"/>
              </a:endParaRPr>
            </a:p>
          </p:txBody>
        </p:sp>
      </p:grpSp>
      <p:sp>
        <p:nvSpPr>
          <p:cNvPr id="3" name="Rectangle 2">
            <a:extLst>
              <a:ext uri="{FF2B5EF4-FFF2-40B4-BE49-F238E27FC236}">
                <a16:creationId xmlns:a16="http://schemas.microsoft.com/office/drawing/2014/main" id="{F9072C4B-90A1-49CA-A4D7-B6D1EA4E1569}"/>
              </a:ext>
            </a:extLst>
          </p:cNvPr>
          <p:cNvSpPr/>
          <p:nvPr/>
        </p:nvSpPr>
        <p:spPr>
          <a:xfrm>
            <a:off x="5928851" y="2797192"/>
            <a:ext cx="2123768" cy="461665"/>
          </a:xfrm>
          <a:prstGeom prst="rect">
            <a:avLst/>
          </a:prstGeom>
        </p:spPr>
        <p:txBody>
          <a:bodyPr wrap="square">
            <a:spAutoFit/>
          </a:bodyPr>
          <a:lstStyle/>
          <a:p>
            <a:pPr lvl="0" algn="ctr" defTabSz="635407">
              <a:defRPr/>
            </a:pPr>
            <a:r>
              <a:rPr lang="en-US" sz="1200" b="1" kern="0" dirty="0">
                <a:solidFill>
                  <a:prstClr val="white"/>
                </a:solidFill>
              </a:rPr>
              <a:t>Data </a:t>
            </a:r>
          </a:p>
          <a:p>
            <a:pPr lvl="0" algn="ctr" defTabSz="635407">
              <a:defRPr/>
            </a:pPr>
            <a:r>
              <a:rPr lang="en-US" sz="1200" b="1" kern="0" dirty="0">
                <a:solidFill>
                  <a:prstClr val="white"/>
                </a:solidFill>
              </a:rPr>
              <a:t>Consumers</a:t>
            </a:r>
          </a:p>
        </p:txBody>
      </p:sp>
      <p:sp>
        <p:nvSpPr>
          <p:cNvPr id="4" name="Rectangle 3">
            <a:extLst>
              <a:ext uri="{FF2B5EF4-FFF2-40B4-BE49-F238E27FC236}">
                <a16:creationId xmlns:a16="http://schemas.microsoft.com/office/drawing/2014/main" id="{6FE9F191-0128-450D-B8AF-0DFCB459E205}"/>
              </a:ext>
            </a:extLst>
          </p:cNvPr>
          <p:cNvSpPr/>
          <p:nvPr/>
        </p:nvSpPr>
        <p:spPr>
          <a:xfrm>
            <a:off x="4182180" y="2710037"/>
            <a:ext cx="2124091" cy="600164"/>
          </a:xfrm>
          <a:prstGeom prst="rect">
            <a:avLst/>
          </a:prstGeom>
        </p:spPr>
        <p:txBody>
          <a:bodyPr wrap="square">
            <a:spAutoFit/>
          </a:bodyPr>
          <a:lstStyle/>
          <a:p>
            <a:pPr marL="118036" lvl="0" algn="ctr" defTabSz="635407">
              <a:defRPr/>
            </a:pPr>
            <a:r>
              <a:rPr lang="en-US" sz="1100" b="1" kern="0" dirty="0">
                <a:solidFill>
                  <a:schemeClr val="bg1"/>
                </a:solidFill>
              </a:rPr>
              <a:t>Data </a:t>
            </a:r>
            <a:br>
              <a:rPr lang="en-US" sz="1100" b="1" kern="0" dirty="0">
                <a:solidFill>
                  <a:schemeClr val="bg1"/>
                </a:solidFill>
              </a:rPr>
            </a:br>
            <a:r>
              <a:rPr lang="en-US" sz="1100" b="1" kern="0" dirty="0">
                <a:solidFill>
                  <a:schemeClr val="bg1"/>
                </a:solidFill>
              </a:rPr>
              <a:t>Storage &amp;</a:t>
            </a:r>
          </a:p>
          <a:p>
            <a:pPr marL="118036" lvl="0" algn="ctr" defTabSz="635407">
              <a:defRPr/>
            </a:pPr>
            <a:r>
              <a:rPr lang="en-US" sz="1100" b="1" kern="0" dirty="0">
                <a:solidFill>
                  <a:schemeClr val="bg1"/>
                </a:solidFill>
              </a:rPr>
              <a:t>Transformation</a:t>
            </a:r>
          </a:p>
        </p:txBody>
      </p:sp>
    </p:spTree>
    <p:extLst>
      <p:ext uri="{BB962C8B-B14F-4D97-AF65-F5344CB8AC3E}">
        <p14:creationId xmlns:p14="http://schemas.microsoft.com/office/powerpoint/2010/main" val="340231884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Reference conceptual architecture</a:t>
            </a:r>
          </a:p>
        </p:txBody>
      </p:sp>
      <p:grpSp>
        <p:nvGrpSpPr>
          <p:cNvPr id="9" name="Group 8">
            <a:extLst>
              <a:ext uri="{FF2B5EF4-FFF2-40B4-BE49-F238E27FC236}">
                <a16:creationId xmlns:a16="http://schemas.microsoft.com/office/drawing/2014/main" id="{F1AA0211-15C3-4856-B9D8-35A5EADB16B9}"/>
              </a:ext>
            </a:extLst>
          </p:cNvPr>
          <p:cNvGrpSpPr/>
          <p:nvPr/>
        </p:nvGrpSpPr>
        <p:grpSpPr>
          <a:xfrm>
            <a:off x="469900" y="895678"/>
            <a:ext cx="11252200" cy="5307591"/>
            <a:chOff x="298703" y="254953"/>
            <a:chExt cx="11434656" cy="6049087"/>
          </a:xfrm>
        </p:grpSpPr>
        <p:grpSp>
          <p:nvGrpSpPr>
            <p:cNvPr id="17" name="Group 16"/>
            <p:cNvGrpSpPr/>
            <p:nvPr/>
          </p:nvGrpSpPr>
          <p:grpSpPr>
            <a:xfrm>
              <a:off x="1805815" y="917976"/>
              <a:ext cx="2747810" cy="3656140"/>
              <a:chOff x="-610402" y="1394577"/>
              <a:chExt cx="1342141" cy="3060680"/>
            </a:xfrm>
            <a:solidFill>
              <a:srgbClr val="7DCDAD"/>
            </a:solidFill>
          </p:grpSpPr>
          <p:sp>
            <p:nvSpPr>
              <p:cNvPr id="24" name="Rounded Rectangle 23"/>
              <p:cNvSpPr/>
              <p:nvPr/>
            </p:nvSpPr>
            <p:spPr bwMode="auto">
              <a:xfrm>
                <a:off x="-540121" y="1509018"/>
                <a:ext cx="1271860" cy="2946239"/>
              </a:xfrm>
              <a:prstGeom prst="roundRect">
                <a:avLst>
                  <a:gd name="adj" fmla="val 8931"/>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endParaRPr lang="en-US" sz="600" b="1" dirty="0">
                  <a:solidFill>
                    <a:schemeClr val="tx1"/>
                  </a:solidFill>
                  <a:latin typeface="+mj-lt"/>
                </a:endParaRPr>
              </a:p>
            </p:txBody>
          </p:sp>
          <p:sp>
            <p:nvSpPr>
              <p:cNvPr id="25" name="Oval 24"/>
              <p:cNvSpPr/>
              <p:nvPr/>
            </p:nvSpPr>
            <p:spPr>
              <a:xfrm>
                <a:off x="-610402" y="1394577"/>
                <a:ext cx="210312" cy="210312"/>
              </a:xfrm>
              <a:prstGeom prst="ellipse">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r>
                  <a:rPr lang="en-US" sz="600" b="1" dirty="0">
                    <a:solidFill>
                      <a:schemeClr val="tx1"/>
                    </a:solidFill>
                    <a:latin typeface="+mj-lt"/>
                  </a:rPr>
                  <a:t>2</a:t>
                </a:r>
              </a:p>
            </p:txBody>
          </p:sp>
        </p:grpSp>
        <p:sp>
          <p:nvSpPr>
            <p:cNvPr id="28" name="Rounded Rectangle 27"/>
            <p:cNvSpPr/>
            <p:nvPr/>
          </p:nvSpPr>
          <p:spPr bwMode="auto">
            <a:xfrm>
              <a:off x="4730953" y="1018575"/>
              <a:ext cx="4139904" cy="3546065"/>
            </a:xfrm>
            <a:prstGeom prst="roundRect">
              <a:avLst>
                <a:gd name="adj" fmla="val 8931"/>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endParaRPr lang="en-US" sz="600" b="1" dirty="0">
                <a:solidFill>
                  <a:schemeClr val="tx1"/>
                </a:solidFill>
                <a:latin typeface="+mj-lt"/>
              </a:endParaRPr>
            </a:p>
          </p:txBody>
        </p:sp>
        <p:sp>
          <p:nvSpPr>
            <p:cNvPr id="37" name="Rounded Rectangle 36"/>
            <p:cNvSpPr/>
            <p:nvPr/>
          </p:nvSpPr>
          <p:spPr bwMode="auto">
            <a:xfrm>
              <a:off x="4861569" y="1324414"/>
              <a:ext cx="2901918" cy="1922405"/>
            </a:xfrm>
            <a:prstGeom prst="roundRect">
              <a:avLst>
                <a:gd name="adj" fmla="val 8931"/>
              </a:avLst>
            </a:prstGeom>
            <a:solidFill>
              <a:schemeClr val="bg1"/>
            </a:solid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45719" rIns="9144" bIns="9144" anchor="t" anchorCtr="0"/>
            <a:lstStyle/>
            <a:p>
              <a:pPr algn="ctr"/>
              <a:r>
                <a:rPr lang="en-US" sz="600" b="1" dirty="0">
                  <a:solidFill>
                    <a:schemeClr val="tx1"/>
                  </a:solidFill>
                  <a:latin typeface="+mj-lt"/>
                </a:rPr>
                <a:t>Data Lake</a:t>
              </a:r>
            </a:p>
          </p:txBody>
        </p:sp>
        <p:sp>
          <p:nvSpPr>
            <p:cNvPr id="38" name="Oval 37"/>
            <p:cNvSpPr/>
            <p:nvPr/>
          </p:nvSpPr>
          <p:spPr>
            <a:xfrm>
              <a:off x="4585821" y="990051"/>
              <a:ext cx="434110" cy="234914"/>
            </a:xfrm>
            <a:prstGeom prst="ellipse">
              <a:avLst/>
            </a:prstGeom>
            <a:solidFill>
              <a:schemeClr val="bg1"/>
            </a:solidFill>
            <a:ln w="1270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 b="1" dirty="0">
                  <a:solidFill>
                    <a:schemeClr val="tx1"/>
                  </a:solidFill>
                  <a:latin typeface="+mj-lt"/>
                </a:rPr>
                <a:t>3</a:t>
              </a:r>
            </a:p>
          </p:txBody>
        </p:sp>
        <p:sp>
          <p:nvSpPr>
            <p:cNvPr id="41" name="Rounded Rectangle 40"/>
            <p:cNvSpPr/>
            <p:nvPr/>
          </p:nvSpPr>
          <p:spPr bwMode="auto">
            <a:xfrm>
              <a:off x="9031579" y="1018574"/>
              <a:ext cx="1228430" cy="3531854"/>
            </a:xfrm>
            <a:prstGeom prst="roundRect">
              <a:avLst>
                <a:gd name="adj" fmla="val 4436"/>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endParaRPr lang="en-US" sz="600" b="1" dirty="0">
                <a:solidFill>
                  <a:schemeClr val="tx1"/>
                </a:solidFill>
                <a:latin typeface="+mj-lt"/>
              </a:endParaRPr>
            </a:p>
          </p:txBody>
        </p:sp>
        <p:sp>
          <p:nvSpPr>
            <p:cNvPr id="42" name="Oval 41"/>
            <p:cNvSpPr/>
            <p:nvPr/>
          </p:nvSpPr>
          <p:spPr>
            <a:xfrm>
              <a:off x="8893667" y="885366"/>
              <a:ext cx="355294" cy="228238"/>
            </a:xfrm>
            <a:prstGeom prst="ellipse">
              <a:avLst/>
            </a:prstGeom>
            <a:ln w="12700">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600" dirty="0">
                  <a:solidFill>
                    <a:schemeClr val="tx1"/>
                  </a:solidFill>
                  <a:latin typeface="+mj-lt"/>
                </a:rPr>
                <a:t>4</a:t>
              </a:r>
            </a:p>
          </p:txBody>
        </p:sp>
        <p:sp>
          <p:nvSpPr>
            <p:cNvPr id="43" name="Rounded Rectangle 42"/>
            <p:cNvSpPr/>
            <p:nvPr/>
          </p:nvSpPr>
          <p:spPr bwMode="auto">
            <a:xfrm>
              <a:off x="4530763" y="4575875"/>
              <a:ext cx="3723359" cy="213468"/>
            </a:xfrm>
            <a:prstGeom prst="roundRect">
              <a:avLst/>
            </a:prstGeom>
            <a:no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9144" rIns="9144" bIns="9144" anchor="ctr"/>
            <a:lstStyle/>
            <a:p>
              <a:pPr algn="ctr">
                <a:defRPr/>
              </a:pPr>
              <a:r>
                <a:rPr lang="en-US" sz="600" dirty="0">
                  <a:solidFill>
                    <a:schemeClr val="tx1"/>
                  </a:solidFill>
                  <a:latin typeface="+mj-lt"/>
                </a:rPr>
                <a:t>Multitenancy, Logical Separation</a:t>
              </a:r>
            </a:p>
          </p:txBody>
        </p:sp>
        <p:sp>
          <p:nvSpPr>
            <p:cNvPr id="45" name="Rounded Rectangle 44"/>
            <p:cNvSpPr/>
            <p:nvPr/>
          </p:nvSpPr>
          <p:spPr bwMode="auto">
            <a:xfrm>
              <a:off x="9179857" y="1292677"/>
              <a:ext cx="933028" cy="3178875"/>
            </a:xfrm>
            <a:prstGeom prst="roundRect">
              <a:avLst>
                <a:gd name="adj" fmla="val 4436"/>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r>
                <a:rPr lang="en-US" sz="600" b="1" dirty="0">
                  <a:solidFill>
                    <a:schemeClr val="tx1"/>
                  </a:solidFill>
                  <a:latin typeface="+mj-lt"/>
                </a:rPr>
                <a:t>Analytics</a:t>
              </a:r>
            </a:p>
          </p:txBody>
        </p:sp>
        <p:sp>
          <p:nvSpPr>
            <p:cNvPr id="128" name="Rounded Rectangle 127"/>
            <p:cNvSpPr/>
            <p:nvPr/>
          </p:nvSpPr>
          <p:spPr bwMode="auto">
            <a:xfrm>
              <a:off x="9261111" y="3196754"/>
              <a:ext cx="76153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Visualization</a:t>
              </a:r>
            </a:p>
          </p:txBody>
        </p:sp>
        <p:sp>
          <p:nvSpPr>
            <p:cNvPr id="143" name="Rounded Rectangle 142"/>
            <p:cNvSpPr/>
            <p:nvPr/>
          </p:nvSpPr>
          <p:spPr bwMode="auto">
            <a:xfrm>
              <a:off x="406093" y="5636528"/>
              <a:ext cx="11327266" cy="667512"/>
            </a:xfrm>
            <a:prstGeom prst="roundRect">
              <a:avLst>
                <a:gd name="adj" fmla="val 14483"/>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r>
                <a:rPr lang="en-US" sz="600" b="1" dirty="0">
                  <a:solidFill>
                    <a:schemeClr val="tx1"/>
                  </a:solidFill>
                  <a:latin typeface="+mj-lt"/>
                </a:rPr>
                <a:t>Enterprise Data Governance</a:t>
              </a:r>
            </a:p>
          </p:txBody>
        </p:sp>
        <p:sp>
          <p:nvSpPr>
            <p:cNvPr id="144" name="Rounded Rectangle 143"/>
            <p:cNvSpPr/>
            <p:nvPr/>
          </p:nvSpPr>
          <p:spPr bwMode="auto">
            <a:xfrm>
              <a:off x="595099" y="5855984"/>
              <a:ext cx="1077227"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Metadata </a:t>
              </a:r>
            </a:p>
            <a:p>
              <a:pPr algn="ctr"/>
              <a:r>
                <a:rPr lang="en-US" sz="600" dirty="0">
                  <a:solidFill>
                    <a:schemeClr val="tx1"/>
                  </a:solidFill>
                  <a:latin typeface="+mj-lt"/>
                </a:rPr>
                <a:t>Management</a:t>
              </a:r>
            </a:p>
          </p:txBody>
        </p:sp>
        <p:sp>
          <p:nvSpPr>
            <p:cNvPr id="146" name="Rounded Rectangle 145"/>
            <p:cNvSpPr/>
            <p:nvPr/>
          </p:nvSpPr>
          <p:spPr bwMode="auto">
            <a:xfrm>
              <a:off x="7604252" y="5855984"/>
              <a:ext cx="1060704"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API Management</a:t>
              </a:r>
            </a:p>
          </p:txBody>
        </p:sp>
        <p:sp>
          <p:nvSpPr>
            <p:cNvPr id="147" name="Rounded Rectangle 146"/>
            <p:cNvSpPr/>
            <p:nvPr/>
          </p:nvSpPr>
          <p:spPr bwMode="auto">
            <a:xfrm>
              <a:off x="9042038" y="5855984"/>
              <a:ext cx="1060704"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Catalogue </a:t>
              </a:r>
            </a:p>
            <a:p>
              <a:pPr algn="ctr"/>
              <a:r>
                <a:rPr lang="en-US" sz="600" dirty="0">
                  <a:solidFill>
                    <a:schemeClr val="tx1"/>
                  </a:solidFill>
                  <a:latin typeface="+mj-lt"/>
                </a:rPr>
                <a:t>Management</a:t>
              </a:r>
            </a:p>
          </p:txBody>
        </p:sp>
        <p:sp>
          <p:nvSpPr>
            <p:cNvPr id="148" name="Rounded Rectangle 147"/>
            <p:cNvSpPr/>
            <p:nvPr/>
          </p:nvSpPr>
          <p:spPr bwMode="auto">
            <a:xfrm>
              <a:off x="10479826" y="5855984"/>
              <a:ext cx="1060704"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Lineage</a:t>
              </a:r>
            </a:p>
          </p:txBody>
        </p:sp>
        <p:sp>
          <p:nvSpPr>
            <p:cNvPr id="160" name="Rounded Rectangle 159"/>
            <p:cNvSpPr/>
            <p:nvPr/>
          </p:nvSpPr>
          <p:spPr bwMode="auto">
            <a:xfrm>
              <a:off x="9261111" y="1538998"/>
              <a:ext cx="76153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Advanced Analytics</a:t>
              </a:r>
            </a:p>
          </p:txBody>
        </p:sp>
        <p:sp>
          <p:nvSpPr>
            <p:cNvPr id="161" name="Rounded Rectangle 160"/>
            <p:cNvSpPr/>
            <p:nvPr/>
          </p:nvSpPr>
          <p:spPr bwMode="auto">
            <a:xfrm>
              <a:off x="9261111" y="1972805"/>
              <a:ext cx="76153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Streaming Analytics</a:t>
              </a:r>
            </a:p>
          </p:txBody>
        </p:sp>
        <p:sp>
          <p:nvSpPr>
            <p:cNvPr id="94" name="Rounded Rectangle 75">
              <a:extLst>
                <a:ext uri="{FF2B5EF4-FFF2-40B4-BE49-F238E27FC236}">
                  <a16:creationId xmlns:a16="http://schemas.microsoft.com/office/drawing/2014/main" id="{75FFFA8E-831C-4306-8602-7FEA52612374}"/>
                </a:ext>
              </a:extLst>
            </p:cNvPr>
            <p:cNvSpPr/>
            <p:nvPr/>
          </p:nvSpPr>
          <p:spPr bwMode="auto">
            <a:xfrm>
              <a:off x="4944690" y="5855984"/>
              <a:ext cx="952699"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Quality</a:t>
              </a:r>
            </a:p>
          </p:txBody>
        </p:sp>
        <p:sp>
          <p:nvSpPr>
            <p:cNvPr id="90" name="Rounded Rectangle 36">
              <a:extLst>
                <a:ext uri="{FF2B5EF4-FFF2-40B4-BE49-F238E27FC236}">
                  <a16:creationId xmlns:a16="http://schemas.microsoft.com/office/drawing/2014/main" id="{95E87F62-DDD1-49C8-BDA6-5108AB66150C}"/>
                </a:ext>
              </a:extLst>
            </p:cNvPr>
            <p:cNvSpPr/>
            <p:nvPr/>
          </p:nvSpPr>
          <p:spPr bwMode="auto">
            <a:xfrm>
              <a:off x="4867530" y="3444655"/>
              <a:ext cx="1729015" cy="1026897"/>
            </a:xfrm>
            <a:prstGeom prst="roundRect">
              <a:avLst>
                <a:gd name="adj" fmla="val 8931"/>
              </a:avLst>
            </a:prstGeom>
            <a:solidFill>
              <a:schemeClr val="bg1"/>
            </a:solid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45719" rIns="9144" bIns="9144" anchor="t" anchorCtr="0"/>
            <a:lstStyle/>
            <a:p>
              <a:pPr algn="ctr"/>
              <a:r>
                <a:rPr lang="en-US" sz="600" b="1" dirty="0">
                  <a:solidFill>
                    <a:schemeClr val="tx1"/>
                  </a:solidFill>
                  <a:latin typeface="+mj-lt"/>
                </a:rPr>
                <a:t>Data Processing &amp; Transformations</a:t>
              </a:r>
            </a:p>
          </p:txBody>
        </p:sp>
        <p:sp>
          <p:nvSpPr>
            <p:cNvPr id="108" name="Rounded Rectangle 107"/>
            <p:cNvSpPr/>
            <p:nvPr/>
          </p:nvSpPr>
          <p:spPr bwMode="auto">
            <a:xfrm>
              <a:off x="5001576" y="4100483"/>
              <a:ext cx="68103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Stream Processing</a:t>
              </a:r>
            </a:p>
          </p:txBody>
        </p:sp>
        <p:sp>
          <p:nvSpPr>
            <p:cNvPr id="98" name="Rounded Rectangle 142">
              <a:extLst>
                <a:ext uri="{FF2B5EF4-FFF2-40B4-BE49-F238E27FC236}">
                  <a16:creationId xmlns:a16="http://schemas.microsoft.com/office/drawing/2014/main" id="{0A957FD3-4E3B-49A7-8224-95208EF7D508}"/>
                </a:ext>
              </a:extLst>
            </p:cNvPr>
            <p:cNvSpPr/>
            <p:nvPr/>
          </p:nvSpPr>
          <p:spPr bwMode="auto">
            <a:xfrm>
              <a:off x="1873407" y="4841946"/>
              <a:ext cx="9859952" cy="678288"/>
            </a:xfrm>
            <a:prstGeom prst="roundRect">
              <a:avLst>
                <a:gd name="adj" fmla="val 14483"/>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r>
                <a:rPr lang="en-US" sz="600" b="1" dirty="0">
                  <a:solidFill>
                    <a:schemeClr val="tx1"/>
                  </a:solidFill>
                  <a:latin typeface="+mj-lt"/>
                </a:rPr>
                <a:t>Infrastructure &amp; Security</a:t>
              </a:r>
            </a:p>
          </p:txBody>
        </p:sp>
        <p:sp>
          <p:nvSpPr>
            <p:cNvPr id="101" name="Rounded Rectangle 40">
              <a:extLst>
                <a:ext uri="{FF2B5EF4-FFF2-40B4-BE49-F238E27FC236}">
                  <a16:creationId xmlns:a16="http://schemas.microsoft.com/office/drawing/2014/main" id="{4CF0FBA8-AD74-4529-942A-0EDC47C99ECA}"/>
                </a:ext>
              </a:extLst>
            </p:cNvPr>
            <p:cNvSpPr/>
            <p:nvPr/>
          </p:nvSpPr>
          <p:spPr bwMode="auto">
            <a:xfrm>
              <a:off x="10427921" y="1018574"/>
              <a:ext cx="1305438" cy="3535370"/>
            </a:xfrm>
            <a:prstGeom prst="roundRect">
              <a:avLst>
                <a:gd name="adj" fmla="val 4436"/>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endParaRPr lang="en-US" sz="600" b="1" dirty="0">
                <a:solidFill>
                  <a:schemeClr val="tx1"/>
                </a:solidFill>
                <a:latin typeface="+mj-lt"/>
              </a:endParaRPr>
            </a:p>
          </p:txBody>
        </p:sp>
        <p:sp>
          <p:nvSpPr>
            <p:cNvPr id="53" name="Rounded Rectangle 52"/>
            <p:cNvSpPr/>
            <p:nvPr/>
          </p:nvSpPr>
          <p:spPr bwMode="auto">
            <a:xfrm>
              <a:off x="10565176" y="1255217"/>
              <a:ext cx="978309" cy="1478134"/>
            </a:xfrm>
            <a:prstGeom prst="roundRect">
              <a:avLst>
                <a:gd name="adj" fmla="val 4436"/>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r>
                <a:rPr lang="en-US" sz="600" b="1" dirty="0">
                  <a:solidFill>
                    <a:schemeClr val="tx1"/>
                  </a:solidFill>
                  <a:latin typeface="+mj-lt"/>
                </a:rPr>
                <a:t>Functional User</a:t>
              </a:r>
            </a:p>
          </p:txBody>
        </p:sp>
        <p:sp>
          <p:nvSpPr>
            <p:cNvPr id="138" name="Rounded Rectangle 137"/>
            <p:cNvSpPr/>
            <p:nvPr/>
          </p:nvSpPr>
          <p:spPr bwMode="auto">
            <a:xfrm>
              <a:off x="9274168" y="3630563"/>
              <a:ext cx="730663"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Adhoc Queries</a:t>
              </a:r>
            </a:p>
          </p:txBody>
        </p:sp>
        <p:sp>
          <p:nvSpPr>
            <p:cNvPr id="140" name="Rounded Rectangle 139"/>
            <p:cNvSpPr/>
            <p:nvPr/>
          </p:nvSpPr>
          <p:spPr bwMode="auto">
            <a:xfrm>
              <a:off x="9281745" y="4064372"/>
              <a:ext cx="71550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Extracts</a:t>
              </a:r>
            </a:p>
          </p:txBody>
        </p:sp>
        <p:sp>
          <p:nvSpPr>
            <p:cNvPr id="164" name="Rounded Rectangle 163"/>
            <p:cNvSpPr/>
            <p:nvPr/>
          </p:nvSpPr>
          <p:spPr bwMode="auto">
            <a:xfrm>
              <a:off x="10715575" y="1455853"/>
              <a:ext cx="65532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Business Consumers</a:t>
              </a:r>
            </a:p>
          </p:txBody>
        </p:sp>
        <p:sp>
          <p:nvSpPr>
            <p:cNvPr id="165" name="Rounded Rectangle 164"/>
            <p:cNvSpPr/>
            <p:nvPr/>
          </p:nvSpPr>
          <p:spPr bwMode="auto">
            <a:xfrm>
              <a:off x="10703716" y="2412636"/>
              <a:ext cx="679047"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Finance &amp; Accounting</a:t>
              </a:r>
            </a:p>
          </p:txBody>
        </p:sp>
        <p:sp>
          <p:nvSpPr>
            <p:cNvPr id="166" name="Rounded Rectangle 165"/>
            <p:cNvSpPr/>
            <p:nvPr/>
          </p:nvSpPr>
          <p:spPr bwMode="auto">
            <a:xfrm>
              <a:off x="10715575" y="1774781"/>
              <a:ext cx="65532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External Consumers</a:t>
              </a:r>
            </a:p>
          </p:txBody>
        </p:sp>
        <p:sp>
          <p:nvSpPr>
            <p:cNvPr id="167" name="Rounded Rectangle 166"/>
            <p:cNvSpPr/>
            <p:nvPr/>
          </p:nvSpPr>
          <p:spPr bwMode="auto">
            <a:xfrm>
              <a:off x="10715575" y="2093709"/>
              <a:ext cx="65532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Scientists</a:t>
              </a:r>
            </a:p>
          </p:txBody>
        </p:sp>
        <p:sp>
          <p:nvSpPr>
            <p:cNvPr id="111" name="Rounded Rectangle 44">
              <a:extLst>
                <a:ext uri="{FF2B5EF4-FFF2-40B4-BE49-F238E27FC236}">
                  <a16:creationId xmlns:a16="http://schemas.microsoft.com/office/drawing/2014/main" id="{1FD21290-5905-4468-B304-7409F5CA8EE1}"/>
                </a:ext>
              </a:extLst>
            </p:cNvPr>
            <p:cNvSpPr/>
            <p:nvPr/>
          </p:nvSpPr>
          <p:spPr bwMode="auto">
            <a:xfrm>
              <a:off x="6690635" y="3428999"/>
              <a:ext cx="1080492" cy="1036133"/>
            </a:xfrm>
            <a:prstGeom prst="roundRect">
              <a:avLst>
                <a:gd name="adj" fmla="val 4436"/>
              </a:avLst>
            </a:prstGeom>
            <a:solidFill>
              <a:schemeClr val="bg1"/>
            </a:solid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45719" rIns="9144" bIns="9144" anchor="t" anchorCtr="0"/>
            <a:lstStyle/>
            <a:p>
              <a:pPr algn="ctr"/>
              <a:r>
                <a:rPr lang="en-US" sz="600" b="1" dirty="0">
                  <a:solidFill>
                    <a:schemeClr val="tx1"/>
                  </a:solidFill>
                  <a:latin typeface="+mj-lt"/>
                </a:rPr>
                <a:t>Data Science</a:t>
              </a:r>
            </a:p>
          </p:txBody>
        </p:sp>
        <p:sp>
          <p:nvSpPr>
            <p:cNvPr id="162" name="Rounded Rectangle 161"/>
            <p:cNvSpPr/>
            <p:nvPr/>
          </p:nvSpPr>
          <p:spPr bwMode="auto">
            <a:xfrm>
              <a:off x="6837168" y="3630563"/>
              <a:ext cx="788902"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Deep Learning</a:t>
              </a:r>
            </a:p>
          </p:txBody>
        </p:sp>
        <p:sp>
          <p:nvSpPr>
            <p:cNvPr id="163" name="Rounded Rectangle 162"/>
            <p:cNvSpPr/>
            <p:nvPr/>
          </p:nvSpPr>
          <p:spPr bwMode="auto">
            <a:xfrm>
              <a:off x="6835295" y="4173356"/>
              <a:ext cx="79077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Random Forest</a:t>
              </a:r>
            </a:p>
          </p:txBody>
        </p:sp>
        <p:sp>
          <p:nvSpPr>
            <p:cNvPr id="113" name="Oval 112">
              <a:extLst>
                <a:ext uri="{FF2B5EF4-FFF2-40B4-BE49-F238E27FC236}">
                  <a16:creationId xmlns:a16="http://schemas.microsoft.com/office/drawing/2014/main" id="{A94170F5-8F49-4F1D-B72D-F56BE32F188D}"/>
                </a:ext>
              </a:extLst>
            </p:cNvPr>
            <p:cNvSpPr/>
            <p:nvPr/>
          </p:nvSpPr>
          <p:spPr>
            <a:xfrm>
              <a:off x="10266562" y="881408"/>
              <a:ext cx="355294" cy="228238"/>
            </a:xfrm>
            <a:prstGeom prst="ellipse">
              <a:avLst/>
            </a:prstGeom>
            <a:ln w="12700">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600" dirty="0">
                  <a:solidFill>
                    <a:schemeClr val="tx1"/>
                  </a:solidFill>
                  <a:latin typeface="+mj-lt"/>
                </a:rPr>
                <a:t>5</a:t>
              </a:r>
            </a:p>
          </p:txBody>
        </p:sp>
        <p:grpSp>
          <p:nvGrpSpPr>
            <p:cNvPr id="82" name="Group 81">
              <a:extLst>
                <a:ext uri="{FF2B5EF4-FFF2-40B4-BE49-F238E27FC236}">
                  <a16:creationId xmlns:a16="http://schemas.microsoft.com/office/drawing/2014/main" id="{474ED2EF-3A8D-45C1-8847-C8954DF78821}"/>
                </a:ext>
              </a:extLst>
            </p:cNvPr>
            <p:cNvGrpSpPr/>
            <p:nvPr/>
          </p:nvGrpSpPr>
          <p:grpSpPr>
            <a:xfrm>
              <a:off x="318937" y="896208"/>
              <a:ext cx="1450988" cy="4629840"/>
              <a:chOff x="-610403" y="1394577"/>
              <a:chExt cx="1164441" cy="3052748"/>
            </a:xfrm>
            <a:solidFill>
              <a:srgbClr val="01A982"/>
            </a:solidFill>
          </p:grpSpPr>
          <p:sp>
            <p:nvSpPr>
              <p:cNvPr id="83" name="Rounded Rectangle 23">
                <a:extLst>
                  <a:ext uri="{FF2B5EF4-FFF2-40B4-BE49-F238E27FC236}">
                    <a16:creationId xmlns:a16="http://schemas.microsoft.com/office/drawing/2014/main" id="{63EE9750-AB2F-4106-8DFB-2BBFF0C9CA69}"/>
                  </a:ext>
                </a:extLst>
              </p:cNvPr>
              <p:cNvSpPr/>
              <p:nvPr/>
            </p:nvSpPr>
            <p:spPr bwMode="auto">
              <a:xfrm>
                <a:off x="-540121" y="1509018"/>
                <a:ext cx="1094159" cy="2938307"/>
              </a:xfrm>
              <a:prstGeom prst="roundRect">
                <a:avLst>
                  <a:gd name="adj" fmla="val 8931"/>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endParaRPr lang="en-US" sz="600" b="1" dirty="0">
                  <a:solidFill>
                    <a:schemeClr val="tx1"/>
                  </a:solidFill>
                  <a:latin typeface="+mj-lt"/>
                </a:endParaRPr>
              </a:p>
            </p:txBody>
          </p:sp>
          <p:sp>
            <p:nvSpPr>
              <p:cNvPr id="84" name="Oval 83">
                <a:extLst>
                  <a:ext uri="{FF2B5EF4-FFF2-40B4-BE49-F238E27FC236}">
                    <a16:creationId xmlns:a16="http://schemas.microsoft.com/office/drawing/2014/main" id="{AE29D1ED-EB1E-40B6-AD4C-DAE4B404BF31}"/>
                  </a:ext>
                </a:extLst>
              </p:cNvPr>
              <p:cNvSpPr/>
              <p:nvPr/>
            </p:nvSpPr>
            <p:spPr>
              <a:xfrm>
                <a:off x="-610403" y="1394577"/>
                <a:ext cx="301244" cy="140733"/>
              </a:xfrm>
              <a:prstGeom prst="ellipse">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r>
                  <a:rPr lang="en-US" sz="600" b="1" dirty="0">
                    <a:solidFill>
                      <a:schemeClr val="tx1"/>
                    </a:solidFill>
                    <a:latin typeface="+mj-lt"/>
                  </a:rPr>
                  <a:t>1</a:t>
                </a:r>
              </a:p>
            </p:txBody>
          </p:sp>
        </p:grpSp>
        <p:sp>
          <p:nvSpPr>
            <p:cNvPr id="105" name="Rounded Rectangle 52">
              <a:extLst>
                <a:ext uri="{FF2B5EF4-FFF2-40B4-BE49-F238E27FC236}">
                  <a16:creationId xmlns:a16="http://schemas.microsoft.com/office/drawing/2014/main" id="{28F5DAEB-A0B7-4743-AB8F-BCB55606BEB4}"/>
                </a:ext>
              </a:extLst>
            </p:cNvPr>
            <p:cNvSpPr/>
            <p:nvPr/>
          </p:nvSpPr>
          <p:spPr bwMode="auto">
            <a:xfrm>
              <a:off x="486012" y="1302720"/>
              <a:ext cx="1169126" cy="2695133"/>
            </a:xfrm>
            <a:prstGeom prst="roundRect">
              <a:avLst>
                <a:gd name="adj" fmla="val 4436"/>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600" b="1" dirty="0">
                  <a:solidFill>
                    <a:schemeClr val="bg1"/>
                  </a:solidFill>
                  <a:latin typeface="+mj-lt"/>
                </a:rPr>
                <a:t>Business Applications</a:t>
              </a:r>
            </a:p>
          </p:txBody>
        </p:sp>
        <p:sp>
          <p:nvSpPr>
            <p:cNvPr id="122" name="Rounded Rectangle 52">
              <a:extLst>
                <a:ext uri="{FF2B5EF4-FFF2-40B4-BE49-F238E27FC236}">
                  <a16:creationId xmlns:a16="http://schemas.microsoft.com/office/drawing/2014/main" id="{43FDD5FB-B525-4977-A873-09A727825DA6}"/>
                </a:ext>
              </a:extLst>
            </p:cNvPr>
            <p:cNvSpPr/>
            <p:nvPr/>
          </p:nvSpPr>
          <p:spPr bwMode="auto">
            <a:xfrm>
              <a:off x="476350" y="4108334"/>
              <a:ext cx="1211995" cy="1313338"/>
            </a:xfrm>
            <a:prstGeom prst="roundRect">
              <a:avLst>
                <a:gd name="adj" fmla="val 4436"/>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600" b="1" dirty="0">
                  <a:solidFill>
                    <a:schemeClr val="bg1"/>
                  </a:solidFill>
                  <a:latin typeface="+mj-lt"/>
                </a:rPr>
                <a:t>Other Data Sources</a:t>
              </a:r>
            </a:p>
          </p:txBody>
        </p:sp>
        <p:sp>
          <p:nvSpPr>
            <p:cNvPr id="126" name="Rounded Rectangle 18">
              <a:extLst>
                <a:ext uri="{FF2B5EF4-FFF2-40B4-BE49-F238E27FC236}">
                  <a16:creationId xmlns:a16="http://schemas.microsoft.com/office/drawing/2014/main" id="{D5EB3395-0E9E-49DF-9A27-2DDA47CB3885}"/>
                </a:ext>
              </a:extLst>
            </p:cNvPr>
            <p:cNvSpPr/>
            <p:nvPr/>
          </p:nvSpPr>
          <p:spPr bwMode="auto">
            <a:xfrm>
              <a:off x="595099" y="4541520"/>
              <a:ext cx="914400" cy="228600"/>
            </a:xfrm>
            <a:prstGeom prst="roundRect">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9144" rIns="9144" bIns="9144" anchor="ctr"/>
            <a:lstStyle/>
            <a:p>
              <a:pPr algn="ctr">
                <a:defRPr/>
              </a:pPr>
              <a:r>
                <a:rPr lang="en-US" sz="600" dirty="0">
                  <a:solidFill>
                    <a:schemeClr val="tx1"/>
                  </a:solidFill>
                  <a:latin typeface="+mj-lt"/>
                </a:rPr>
                <a:t>External Data</a:t>
              </a:r>
            </a:p>
          </p:txBody>
        </p:sp>
        <p:sp>
          <p:nvSpPr>
            <p:cNvPr id="127" name="Rounded Rectangle 18">
              <a:extLst>
                <a:ext uri="{FF2B5EF4-FFF2-40B4-BE49-F238E27FC236}">
                  <a16:creationId xmlns:a16="http://schemas.microsoft.com/office/drawing/2014/main" id="{0DDF2446-8415-40BB-81E9-A44845F6B801}"/>
                </a:ext>
              </a:extLst>
            </p:cNvPr>
            <p:cNvSpPr/>
            <p:nvPr/>
          </p:nvSpPr>
          <p:spPr bwMode="auto">
            <a:xfrm>
              <a:off x="595099" y="4806756"/>
              <a:ext cx="914400" cy="228600"/>
            </a:xfrm>
            <a:prstGeom prst="roundRect">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9144" rIns="9144" bIns="9144" anchor="ctr"/>
            <a:lstStyle/>
            <a:p>
              <a:pPr algn="ctr">
                <a:defRPr/>
              </a:pPr>
              <a:r>
                <a:rPr lang="en-US" sz="600" dirty="0">
                  <a:solidFill>
                    <a:schemeClr val="tx1"/>
                  </a:solidFill>
                  <a:latin typeface="+mj-lt"/>
                </a:rPr>
                <a:t>Live Stream Data</a:t>
              </a:r>
            </a:p>
          </p:txBody>
        </p:sp>
        <p:sp>
          <p:nvSpPr>
            <p:cNvPr id="129" name="Rounded Rectangle 18">
              <a:extLst>
                <a:ext uri="{FF2B5EF4-FFF2-40B4-BE49-F238E27FC236}">
                  <a16:creationId xmlns:a16="http://schemas.microsoft.com/office/drawing/2014/main" id="{C6BE6DC0-44FF-4BB6-8FAF-334ED0527067}"/>
                </a:ext>
              </a:extLst>
            </p:cNvPr>
            <p:cNvSpPr/>
            <p:nvPr/>
          </p:nvSpPr>
          <p:spPr bwMode="auto">
            <a:xfrm>
              <a:off x="595099" y="5071992"/>
              <a:ext cx="914400" cy="228600"/>
            </a:xfrm>
            <a:prstGeom prst="roundRect">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9144" rIns="9144" bIns="9144" anchor="ctr"/>
            <a:lstStyle/>
            <a:p>
              <a:pPr algn="ctr">
                <a:defRPr/>
              </a:pPr>
              <a:r>
                <a:rPr lang="en-US" sz="600" dirty="0">
                  <a:solidFill>
                    <a:schemeClr val="tx1"/>
                  </a:solidFill>
                  <a:latin typeface="+mj-lt"/>
                </a:rPr>
                <a:t>Geo Data</a:t>
              </a:r>
            </a:p>
          </p:txBody>
        </p:sp>
        <p:sp>
          <p:nvSpPr>
            <p:cNvPr id="171" name="Rounded Rectangle 107">
              <a:extLst>
                <a:ext uri="{FF2B5EF4-FFF2-40B4-BE49-F238E27FC236}">
                  <a16:creationId xmlns:a16="http://schemas.microsoft.com/office/drawing/2014/main" id="{295A7EF4-8A9B-4913-B303-4D39E11F25E3}"/>
                </a:ext>
              </a:extLst>
            </p:cNvPr>
            <p:cNvSpPr/>
            <p:nvPr/>
          </p:nvSpPr>
          <p:spPr bwMode="auto">
            <a:xfrm>
              <a:off x="7095971" y="1595633"/>
              <a:ext cx="584612" cy="1510345"/>
            </a:xfrm>
            <a:prstGeom prst="roundRect">
              <a:avLst/>
            </a:prstGeom>
            <a:solidFill>
              <a:schemeClr val="bg1"/>
            </a:solid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9144" rIns="9144" bIns="9144" anchor="t"/>
            <a:lstStyle/>
            <a:p>
              <a:pPr algn="ctr"/>
              <a:r>
                <a:rPr lang="en-US" sz="500" b="1" dirty="0">
                  <a:solidFill>
                    <a:schemeClr val="tx1"/>
                  </a:solidFill>
                  <a:latin typeface="+mj-lt"/>
                </a:rPr>
                <a:t>Research Lake</a:t>
              </a:r>
            </a:p>
          </p:txBody>
        </p:sp>
        <p:sp>
          <p:nvSpPr>
            <p:cNvPr id="97" name="Cylinder 96">
              <a:extLst>
                <a:ext uri="{FF2B5EF4-FFF2-40B4-BE49-F238E27FC236}">
                  <a16:creationId xmlns:a16="http://schemas.microsoft.com/office/drawing/2014/main" id="{975C4C84-DE45-4A05-85FE-B352B4CA775D}"/>
                </a:ext>
              </a:extLst>
            </p:cNvPr>
            <p:cNvSpPr/>
            <p:nvPr/>
          </p:nvSpPr>
          <p:spPr>
            <a:xfrm>
              <a:off x="7155958" y="1842015"/>
              <a:ext cx="464638" cy="292608"/>
            </a:xfrm>
            <a:prstGeom prst="can">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500" dirty="0">
                  <a:solidFill>
                    <a:schemeClr val="tx1"/>
                  </a:solidFill>
                  <a:latin typeface="+mj-lt"/>
                </a:rPr>
                <a:t>Data Models</a:t>
              </a:r>
            </a:p>
          </p:txBody>
        </p:sp>
        <p:sp>
          <p:nvSpPr>
            <p:cNvPr id="172" name="Rounded Rectangle 107">
              <a:extLst>
                <a:ext uri="{FF2B5EF4-FFF2-40B4-BE49-F238E27FC236}">
                  <a16:creationId xmlns:a16="http://schemas.microsoft.com/office/drawing/2014/main" id="{F60CB300-0B34-4775-8F4C-E0168B148B2A}"/>
                </a:ext>
              </a:extLst>
            </p:cNvPr>
            <p:cNvSpPr/>
            <p:nvPr/>
          </p:nvSpPr>
          <p:spPr bwMode="auto">
            <a:xfrm>
              <a:off x="4999768" y="3766639"/>
              <a:ext cx="68283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Batch Processing</a:t>
              </a:r>
            </a:p>
          </p:txBody>
        </p:sp>
        <p:sp>
          <p:nvSpPr>
            <p:cNvPr id="176" name="Rounded Rectangle 107">
              <a:extLst>
                <a:ext uri="{FF2B5EF4-FFF2-40B4-BE49-F238E27FC236}">
                  <a16:creationId xmlns:a16="http://schemas.microsoft.com/office/drawing/2014/main" id="{3D107566-7505-4638-AD76-94690FA42921}"/>
                </a:ext>
              </a:extLst>
            </p:cNvPr>
            <p:cNvSpPr/>
            <p:nvPr/>
          </p:nvSpPr>
          <p:spPr bwMode="auto">
            <a:xfrm>
              <a:off x="5784134" y="3766639"/>
              <a:ext cx="690643"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Encryption</a:t>
              </a:r>
            </a:p>
          </p:txBody>
        </p:sp>
        <p:sp>
          <p:nvSpPr>
            <p:cNvPr id="179" name="Rounded Rectangle 161">
              <a:extLst>
                <a:ext uri="{FF2B5EF4-FFF2-40B4-BE49-F238E27FC236}">
                  <a16:creationId xmlns:a16="http://schemas.microsoft.com/office/drawing/2014/main" id="{4199441F-88AD-48FB-BBC3-5AF3C9038F25}"/>
                </a:ext>
              </a:extLst>
            </p:cNvPr>
            <p:cNvSpPr/>
            <p:nvPr/>
          </p:nvSpPr>
          <p:spPr bwMode="auto">
            <a:xfrm>
              <a:off x="6846544" y="3901960"/>
              <a:ext cx="77952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Reinforcement Learning</a:t>
              </a:r>
            </a:p>
          </p:txBody>
        </p:sp>
        <p:sp>
          <p:nvSpPr>
            <p:cNvPr id="181" name="Rounded Rectangle 159">
              <a:extLst>
                <a:ext uri="{FF2B5EF4-FFF2-40B4-BE49-F238E27FC236}">
                  <a16:creationId xmlns:a16="http://schemas.microsoft.com/office/drawing/2014/main" id="{12FC792A-84E6-4002-8927-CCA83D2C6019}"/>
                </a:ext>
              </a:extLst>
            </p:cNvPr>
            <p:cNvSpPr/>
            <p:nvPr/>
          </p:nvSpPr>
          <p:spPr bwMode="auto">
            <a:xfrm>
              <a:off x="9270761" y="2774500"/>
              <a:ext cx="76153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BI Platform</a:t>
              </a:r>
            </a:p>
          </p:txBody>
        </p:sp>
        <p:sp>
          <p:nvSpPr>
            <p:cNvPr id="183" name="Rounded Rectangle 143">
              <a:extLst>
                <a:ext uri="{FF2B5EF4-FFF2-40B4-BE49-F238E27FC236}">
                  <a16:creationId xmlns:a16="http://schemas.microsoft.com/office/drawing/2014/main" id="{8A00A7E0-E7E9-4CE5-BB4D-B22504CD702A}"/>
                </a:ext>
              </a:extLst>
            </p:cNvPr>
            <p:cNvSpPr/>
            <p:nvPr/>
          </p:nvSpPr>
          <p:spPr bwMode="auto">
            <a:xfrm>
              <a:off x="2049408" y="5855984"/>
              <a:ext cx="1077227"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Enterprise Content</a:t>
              </a:r>
            </a:p>
            <a:p>
              <a:pPr algn="ctr"/>
              <a:r>
                <a:rPr lang="en-US" sz="600" dirty="0">
                  <a:solidFill>
                    <a:schemeClr val="tx1"/>
                  </a:solidFill>
                  <a:latin typeface="+mj-lt"/>
                </a:rPr>
                <a:t>Management</a:t>
              </a:r>
            </a:p>
          </p:txBody>
        </p:sp>
        <p:sp>
          <p:nvSpPr>
            <p:cNvPr id="184" name="Rounded Rectangle 144">
              <a:extLst>
                <a:ext uri="{FF2B5EF4-FFF2-40B4-BE49-F238E27FC236}">
                  <a16:creationId xmlns:a16="http://schemas.microsoft.com/office/drawing/2014/main" id="{7C72F053-0863-4471-A5EE-4D41F3CDC9AF}"/>
                </a:ext>
              </a:extLst>
            </p:cNvPr>
            <p:cNvSpPr/>
            <p:nvPr/>
          </p:nvSpPr>
          <p:spPr bwMode="auto">
            <a:xfrm>
              <a:off x="3503717" y="5855984"/>
              <a:ext cx="1063891"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Master &amp; Reference </a:t>
              </a:r>
            </a:p>
            <a:p>
              <a:pPr algn="ctr"/>
              <a:r>
                <a:rPr lang="en-US" sz="600" dirty="0">
                  <a:solidFill>
                    <a:schemeClr val="tx1"/>
                  </a:solidFill>
                  <a:latin typeface="+mj-lt"/>
                </a:rPr>
                <a:t>Data Management</a:t>
              </a:r>
            </a:p>
          </p:txBody>
        </p:sp>
        <p:sp>
          <p:nvSpPr>
            <p:cNvPr id="5" name="Rectangle: Rounded Corners 4">
              <a:extLst>
                <a:ext uri="{FF2B5EF4-FFF2-40B4-BE49-F238E27FC236}">
                  <a16:creationId xmlns:a16="http://schemas.microsoft.com/office/drawing/2014/main" id="{67A488E1-ECB5-4D5E-A285-78124C58CCB1}"/>
                </a:ext>
              </a:extLst>
            </p:cNvPr>
            <p:cNvSpPr/>
            <p:nvPr/>
          </p:nvSpPr>
          <p:spPr>
            <a:xfrm>
              <a:off x="1849422" y="896208"/>
              <a:ext cx="8498103" cy="3873912"/>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ndParaRPr>
            </a:p>
          </p:txBody>
        </p:sp>
        <p:sp>
          <p:nvSpPr>
            <p:cNvPr id="185" name="Rounded Rectangle 75">
              <a:extLst>
                <a:ext uri="{FF2B5EF4-FFF2-40B4-BE49-F238E27FC236}">
                  <a16:creationId xmlns:a16="http://schemas.microsoft.com/office/drawing/2014/main" id="{000A429A-F7B4-4472-8185-032085C00AAC}"/>
                </a:ext>
              </a:extLst>
            </p:cNvPr>
            <p:cNvSpPr/>
            <p:nvPr/>
          </p:nvSpPr>
          <p:spPr bwMode="auto">
            <a:xfrm>
              <a:off x="2042899" y="5066790"/>
              <a:ext cx="85835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Dev. Tools</a:t>
              </a:r>
            </a:p>
          </p:txBody>
        </p:sp>
        <p:sp>
          <p:nvSpPr>
            <p:cNvPr id="186" name="Rounded Rectangle 75">
              <a:extLst>
                <a:ext uri="{FF2B5EF4-FFF2-40B4-BE49-F238E27FC236}">
                  <a16:creationId xmlns:a16="http://schemas.microsoft.com/office/drawing/2014/main" id="{C142FCA0-AEDC-44D1-9386-83C4D83A6B6E}"/>
                </a:ext>
              </a:extLst>
            </p:cNvPr>
            <p:cNvSpPr/>
            <p:nvPr/>
          </p:nvSpPr>
          <p:spPr bwMode="auto">
            <a:xfrm>
              <a:off x="3277081" y="5066790"/>
              <a:ext cx="85835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Devops Tools</a:t>
              </a:r>
            </a:p>
          </p:txBody>
        </p:sp>
        <p:sp>
          <p:nvSpPr>
            <p:cNvPr id="187" name="Rounded Rectangle 75">
              <a:extLst>
                <a:ext uri="{FF2B5EF4-FFF2-40B4-BE49-F238E27FC236}">
                  <a16:creationId xmlns:a16="http://schemas.microsoft.com/office/drawing/2014/main" id="{54B19C21-99B2-4961-B4A6-792B8DC52F3B}"/>
                </a:ext>
              </a:extLst>
            </p:cNvPr>
            <p:cNvSpPr/>
            <p:nvPr/>
          </p:nvSpPr>
          <p:spPr bwMode="auto">
            <a:xfrm>
              <a:off x="4511263" y="5066790"/>
              <a:ext cx="85835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Authentication</a:t>
              </a:r>
            </a:p>
          </p:txBody>
        </p:sp>
        <p:sp>
          <p:nvSpPr>
            <p:cNvPr id="188" name="Rounded Rectangle 75">
              <a:extLst>
                <a:ext uri="{FF2B5EF4-FFF2-40B4-BE49-F238E27FC236}">
                  <a16:creationId xmlns:a16="http://schemas.microsoft.com/office/drawing/2014/main" id="{276FB0F9-D355-42CA-AD65-727FC8B8443F}"/>
                </a:ext>
              </a:extLst>
            </p:cNvPr>
            <p:cNvSpPr/>
            <p:nvPr/>
          </p:nvSpPr>
          <p:spPr bwMode="auto">
            <a:xfrm>
              <a:off x="5745445" y="5066790"/>
              <a:ext cx="85835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Elasticity &amp; Scaling</a:t>
              </a:r>
            </a:p>
          </p:txBody>
        </p:sp>
        <p:sp>
          <p:nvSpPr>
            <p:cNvPr id="190" name="Rounded Rectangle 75">
              <a:extLst>
                <a:ext uri="{FF2B5EF4-FFF2-40B4-BE49-F238E27FC236}">
                  <a16:creationId xmlns:a16="http://schemas.microsoft.com/office/drawing/2014/main" id="{48F98F18-711D-44DD-96FB-8EC6C3FF2A36}"/>
                </a:ext>
              </a:extLst>
            </p:cNvPr>
            <p:cNvSpPr/>
            <p:nvPr/>
          </p:nvSpPr>
          <p:spPr bwMode="auto">
            <a:xfrm>
              <a:off x="9447991" y="5066790"/>
              <a:ext cx="85835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Load Balancing</a:t>
              </a:r>
            </a:p>
          </p:txBody>
        </p:sp>
        <p:sp>
          <p:nvSpPr>
            <p:cNvPr id="191" name="Rounded Rectangle 75">
              <a:extLst>
                <a:ext uri="{FF2B5EF4-FFF2-40B4-BE49-F238E27FC236}">
                  <a16:creationId xmlns:a16="http://schemas.microsoft.com/office/drawing/2014/main" id="{FB5A998E-CE9E-47C9-8D4B-AB80987980C4}"/>
                </a:ext>
              </a:extLst>
            </p:cNvPr>
            <p:cNvSpPr/>
            <p:nvPr/>
          </p:nvSpPr>
          <p:spPr bwMode="auto">
            <a:xfrm>
              <a:off x="6979627" y="5066790"/>
              <a:ext cx="85835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Operations</a:t>
              </a:r>
            </a:p>
          </p:txBody>
        </p:sp>
        <p:sp>
          <p:nvSpPr>
            <p:cNvPr id="192" name="Rounded Rectangle 75">
              <a:extLst>
                <a:ext uri="{FF2B5EF4-FFF2-40B4-BE49-F238E27FC236}">
                  <a16:creationId xmlns:a16="http://schemas.microsoft.com/office/drawing/2014/main" id="{AE003C9A-7988-41A0-817A-9D7FDF17C44A}"/>
                </a:ext>
              </a:extLst>
            </p:cNvPr>
            <p:cNvSpPr/>
            <p:nvPr/>
          </p:nvSpPr>
          <p:spPr bwMode="auto">
            <a:xfrm>
              <a:off x="8213809" y="5066790"/>
              <a:ext cx="85835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Security</a:t>
              </a:r>
            </a:p>
          </p:txBody>
        </p:sp>
        <p:sp>
          <p:nvSpPr>
            <p:cNvPr id="193" name="Rounded Rectangle 75">
              <a:extLst>
                <a:ext uri="{FF2B5EF4-FFF2-40B4-BE49-F238E27FC236}">
                  <a16:creationId xmlns:a16="http://schemas.microsoft.com/office/drawing/2014/main" id="{643CF2CE-3540-484B-8A01-EB63C16FFBE3}"/>
                </a:ext>
              </a:extLst>
            </p:cNvPr>
            <p:cNvSpPr/>
            <p:nvPr/>
          </p:nvSpPr>
          <p:spPr bwMode="auto">
            <a:xfrm>
              <a:off x="10682174" y="5066790"/>
              <a:ext cx="858356"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Cloud &amp; Other Connectivity</a:t>
              </a:r>
            </a:p>
          </p:txBody>
        </p:sp>
        <p:sp>
          <p:nvSpPr>
            <p:cNvPr id="76" name="Rounded Rectangle 75"/>
            <p:cNvSpPr/>
            <p:nvPr/>
          </p:nvSpPr>
          <p:spPr bwMode="auto">
            <a:xfrm>
              <a:off x="6274471" y="5855984"/>
              <a:ext cx="952699"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Profiling</a:t>
              </a:r>
            </a:p>
          </p:txBody>
        </p:sp>
        <p:sp>
          <p:nvSpPr>
            <p:cNvPr id="91" name="AutoShape 21">
              <a:extLst>
                <a:ext uri="{FF2B5EF4-FFF2-40B4-BE49-F238E27FC236}">
                  <a16:creationId xmlns:a16="http://schemas.microsoft.com/office/drawing/2014/main" id="{E1B01E34-0DDF-4D4D-A0A0-EAB3B8E11445}"/>
                </a:ext>
              </a:extLst>
            </p:cNvPr>
            <p:cNvSpPr>
              <a:spLocks noChangeArrowheads="1"/>
            </p:cNvSpPr>
            <p:nvPr/>
          </p:nvSpPr>
          <p:spPr bwMode="auto">
            <a:xfrm>
              <a:off x="607229" y="1544831"/>
              <a:ext cx="914400" cy="292608"/>
            </a:xfrm>
            <a:prstGeom prst="can">
              <a:avLst>
                <a:gd name="adj" fmla="val 25000"/>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lIns="91440" tIns="0" rIns="91440" bIns="0" anchor="ctr" anchorCtr="1"/>
            <a:lstStyle/>
            <a:p>
              <a:pPr algn="ctr"/>
              <a:r>
                <a:rPr lang="en-US" sz="600" kern="0" dirty="0">
                  <a:latin typeface="+mj-lt"/>
                  <a:ea typeface="Open Sans" panose="020B0606030504020204" pitchFamily="34" charset="0"/>
                  <a:cs typeface="Open Sans" panose="020B0606030504020204" pitchFamily="34" charset="0"/>
                </a:rPr>
                <a:t>ERP</a:t>
              </a:r>
            </a:p>
          </p:txBody>
        </p:sp>
        <p:sp>
          <p:nvSpPr>
            <p:cNvPr id="92" name="AutoShape 21">
              <a:extLst>
                <a:ext uri="{FF2B5EF4-FFF2-40B4-BE49-F238E27FC236}">
                  <a16:creationId xmlns:a16="http://schemas.microsoft.com/office/drawing/2014/main" id="{94FBEC7D-27C5-4A40-865C-E40F98FADBA2}"/>
                </a:ext>
              </a:extLst>
            </p:cNvPr>
            <p:cNvSpPr>
              <a:spLocks noChangeArrowheads="1"/>
            </p:cNvSpPr>
            <p:nvPr/>
          </p:nvSpPr>
          <p:spPr bwMode="auto">
            <a:xfrm>
              <a:off x="607229" y="1939622"/>
              <a:ext cx="914400" cy="292608"/>
            </a:xfrm>
            <a:prstGeom prst="can">
              <a:avLst>
                <a:gd name="adj" fmla="val 25000"/>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lIns="91440" tIns="0" rIns="91440" bIns="0" anchor="ctr" anchorCtr="1"/>
            <a:lstStyle/>
            <a:p>
              <a:pPr algn="ctr"/>
              <a:r>
                <a:rPr lang="en-US" sz="600" kern="0" dirty="0">
                  <a:latin typeface="+mj-lt"/>
                  <a:ea typeface="Open Sans" panose="020B0606030504020204" pitchFamily="34" charset="0"/>
                  <a:cs typeface="Open Sans" panose="020B0606030504020204" pitchFamily="34" charset="0"/>
                </a:rPr>
                <a:t>Master Data</a:t>
              </a:r>
            </a:p>
          </p:txBody>
        </p:sp>
        <p:sp>
          <p:nvSpPr>
            <p:cNvPr id="93" name="AutoShape 21">
              <a:extLst>
                <a:ext uri="{FF2B5EF4-FFF2-40B4-BE49-F238E27FC236}">
                  <a16:creationId xmlns:a16="http://schemas.microsoft.com/office/drawing/2014/main" id="{B4DE1804-4AA7-453A-B75A-2B891AB1B932}"/>
                </a:ext>
              </a:extLst>
            </p:cNvPr>
            <p:cNvSpPr>
              <a:spLocks noChangeArrowheads="1"/>
            </p:cNvSpPr>
            <p:nvPr/>
          </p:nvSpPr>
          <p:spPr bwMode="auto">
            <a:xfrm>
              <a:off x="607229" y="2340118"/>
              <a:ext cx="914400" cy="292608"/>
            </a:xfrm>
            <a:prstGeom prst="can">
              <a:avLst>
                <a:gd name="adj" fmla="val 25000"/>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lIns="91440" tIns="0" rIns="91440" bIns="0" anchor="ctr" anchorCtr="1"/>
            <a:lstStyle/>
            <a:p>
              <a:pPr algn="ctr"/>
              <a:r>
                <a:rPr lang="en-US" sz="600" kern="0" dirty="0">
                  <a:latin typeface="+mj-lt"/>
                  <a:ea typeface="Open Sans" panose="020B0606030504020204" pitchFamily="34" charset="0"/>
                  <a:cs typeface="Open Sans" panose="020B0606030504020204" pitchFamily="34" charset="0"/>
                </a:rPr>
                <a:t>Consumer &amp; Dist.</a:t>
              </a:r>
            </a:p>
          </p:txBody>
        </p:sp>
        <p:sp>
          <p:nvSpPr>
            <p:cNvPr id="99" name="AutoShape 21">
              <a:extLst>
                <a:ext uri="{FF2B5EF4-FFF2-40B4-BE49-F238E27FC236}">
                  <a16:creationId xmlns:a16="http://schemas.microsoft.com/office/drawing/2014/main" id="{55459FAF-9720-4F00-A362-DCE890A71FBC}"/>
                </a:ext>
              </a:extLst>
            </p:cNvPr>
            <p:cNvSpPr>
              <a:spLocks noChangeArrowheads="1"/>
            </p:cNvSpPr>
            <p:nvPr/>
          </p:nvSpPr>
          <p:spPr bwMode="auto">
            <a:xfrm>
              <a:off x="607229" y="3156546"/>
              <a:ext cx="914400" cy="292608"/>
            </a:xfrm>
            <a:prstGeom prst="can">
              <a:avLst>
                <a:gd name="adj" fmla="val 25000"/>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lIns="91440" tIns="0" rIns="91440" bIns="0" anchor="ctr" anchorCtr="1"/>
            <a:lstStyle/>
            <a:p>
              <a:pPr algn="ctr"/>
              <a:r>
                <a:rPr lang="en-US" sz="600" kern="0" dirty="0">
                  <a:latin typeface="+mj-lt"/>
                  <a:ea typeface="Open Sans" panose="020B0606030504020204" pitchFamily="34" charset="0"/>
                  <a:cs typeface="Open Sans" panose="020B0606030504020204" pitchFamily="34" charset="0"/>
                </a:rPr>
                <a:t>Operational Data</a:t>
              </a:r>
            </a:p>
          </p:txBody>
        </p:sp>
        <p:sp>
          <p:nvSpPr>
            <p:cNvPr id="100" name="AutoShape 21">
              <a:extLst>
                <a:ext uri="{FF2B5EF4-FFF2-40B4-BE49-F238E27FC236}">
                  <a16:creationId xmlns:a16="http://schemas.microsoft.com/office/drawing/2014/main" id="{1F40D5E4-F5D4-427D-8FB8-4D46CD1915C5}"/>
                </a:ext>
              </a:extLst>
            </p:cNvPr>
            <p:cNvSpPr>
              <a:spLocks noChangeArrowheads="1"/>
            </p:cNvSpPr>
            <p:nvPr/>
          </p:nvSpPr>
          <p:spPr bwMode="auto">
            <a:xfrm>
              <a:off x="607229" y="3594278"/>
              <a:ext cx="914400" cy="292608"/>
            </a:xfrm>
            <a:prstGeom prst="can">
              <a:avLst>
                <a:gd name="adj" fmla="val 25000"/>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lIns="91440" tIns="0" rIns="91440" bIns="0" anchor="ctr" anchorCtr="1"/>
            <a:lstStyle/>
            <a:p>
              <a:pPr algn="ctr"/>
              <a:r>
                <a:rPr lang="en-US" sz="600" kern="0" dirty="0">
                  <a:latin typeface="+mj-lt"/>
                  <a:ea typeface="Open Sans" panose="020B0606030504020204" pitchFamily="34" charset="0"/>
                  <a:cs typeface="Open Sans" panose="020B0606030504020204" pitchFamily="34" charset="0"/>
                </a:rPr>
                <a:t>Other DBMS</a:t>
              </a:r>
            </a:p>
          </p:txBody>
        </p:sp>
        <p:sp>
          <p:nvSpPr>
            <p:cNvPr id="102" name="AutoShape 21">
              <a:extLst>
                <a:ext uri="{FF2B5EF4-FFF2-40B4-BE49-F238E27FC236}">
                  <a16:creationId xmlns:a16="http://schemas.microsoft.com/office/drawing/2014/main" id="{C3009F37-77BE-4F6D-AF3E-E8E36FC1B49C}"/>
                </a:ext>
              </a:extLst>
            </p:cNvPr>
            <p:cNvSpPr>
              <a:spLocks noChangeArrowheads="1"/>
            </p:cNvSpPr>
            <p:nvPr/>
          </p:nvSpPr>
          <p:spPr bwMode="auto">
            <a:xfrm>
              <a:off x="607229" y="2718815"/>
              <a:ext cx="914400" cy="292608"/>
            </a:xfrm>
            <a:prstGeom prst="can">
              <a:avLst>
                <a:gd name="adj" fmla="val 25000"/>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lIns="91440" tIns="0" rIns="91440" bIns="0" anchor="ctr" anchorCtr="1"/>
            <a:lstStyle/>
            <a:p>
              <a:pPr algn="ctr"/>
              <a:r>
                <a:rPr lang="en-US" sz="600" kern="0" dirty="0">
                  <a:latin typeface="+mj-lt"/>
                  <a:ea typeface="Open Sans" panose="020B0606030504020204" pitchFamily="34" charset="0"/>
                  <a:cs typeface="Open Sans" panose="020B0606030504020204" pitchFamily="34" charset="0"/>
                </a:rPr>
                <a:t>HR &amp; Finance</a:t>
              </a:r>
            </a:p>
          </p:txBody>
        </p:sp>
        <p:sp>
          <p:nvSpPr>
            <p:cNvPr id="103" name="Parallelogram 102">
              <a:extLst>
                <a:ext uri="{FF2B5EF4-FFF2-40B4-BE49-F238E27FC236}">
                  <a16:creationId xmlns:a16="http://schemas.microsoft.com/office/drawing/2014/main" id="{2B01F8B8-77E6-43DD-934F-A7011EE1F467}"/>
                </a:ext>
              </a:extLst>
            </p:cNvPr>
            <p:cNvSpPr/>
            <p:nvPr/>
          </p:nvSpPr>
          <p:spPr bwMode="gray">
            <a:xfrm>
              <a:off x="561424" y="4276284"/>
              <a:ext cx="1012301" cy="228600"/>
            </a:xfrm>
            <a:prstGeom prst="parallelogram">
              <a:avLst>
                <a:gd name="adj" fmla="val 81833"/>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lIns="182880" rtlCol="0" anchor="ctr" anchorCtr="1"/>
            <a:lstStyle/>
            <a:p>
              <a:pPr algn="ctr" eaLnBrk="0" hangingPunct="0">
                <a:lnSpc>
                  <a:spcPct val="106000"/>
                </a:lnSpc>
                <a:defRPr/>
              </a:pPr>
              <a:r>
                <a:rPr lang="en-US" sz="600" kern="0" dirty="0">
                  <a:latin typeface="+mj-lt"/>
                  <a:ea typeface="Open Sans" panose="020B0606030504020204" pitchFamily="34" charset="0"/>
                  <a:cs typeface="Open Sans" panose="020B0606030504020204" pitchFamily="34" charset="0"/>
                </a:rPr>
                <a:t>IOT Data</a:t>
              </a:r>
            </a:p>
          </p:txBody>
        </p:sp>
        <p:sp>
          <p:nvSpPr>
            <p:cNvPr id="104" name="Arrow: Right 103">
              <a:extLst>
                <a:ext uri="{FF2B5EF4-FFF2-40B4-BE49-F238E27FC236}">
                  <a16:creationId xmlns:a16="http://schemas.microsoft.com/office/drawing/2014/main" id="{31BDCFB7-9F89-47D8-B13F-0BF235EAD049}"/>
                </a:ext>
              </a:extLst>
            </p:cNvPr>
            <p:cNvSpPr/>
            <p:nvPr/>
          </p:nvSpPr>
          <p:spPr>
            <a:xfrm>
              <a:off x="1778009" y="2778424"/>
              <a:ext cx="163626" cy="221803"/>
            </a:xfrm>
            <a:prstGeom prst="rightArrow">
              <a:avLst/>
            </a:prstGeom>
            <a:solidFill>
              <a:schemeClr val="tx1">
                <a:lumMod val="65000"/>
                <a:lumOff val="3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a typeface="Open Sans" panose="020B0606030504020204" pitchFamily="34" charset="0"/>
                <a:cs typeface="Open Sans" panose="020B0606030504020204" pitchFamily="34" charset="0"/>
              </a:endParaRPr>
            </a:p>
          </p:txBody>
        </p:sp>
        <p:sp>
          <p:nvSpPr>
            <p:cNvPr id="106" name="Rectangle: Rounded Corners 105">
              <a:extLst>
                <a:ext uri="{FF2B5EF4-FFF2-40B4-BE49-F238E27FC236}">
                  <a16:creationId xmlns:a16="http://schemas.microsoft.com/office/drawing/2014/main" id="{7C502961-538F-4892-901B-C5A68F3D42B4}"/>
                </a:ext>
              </a:extLst>
            </p:cNvPr>
            <p:cNvSpPr/>
            <p:nvPr/>
          </p:nvSpPr>
          <p:spPr>
            <a:xfrm>
              <a:off x="3305886" y="1316680"/>
              <a:ext cx="1111405" cy="3203425"/>
            </a:xfrm>
            <a:prstGeom prst="roundRect">
              <a:avLst/>
            </a:prstGeom>
            <a:ln w="12700">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dirty="0">
                <a:latin typeface="+mj-lt"/>
              </a:endParaRPr>
            </a:p>
          </p:txBody>
        </p:sp>
        <p:sp>
          <p:nvSpPr>
            <p:cNvPr id="124" name="Rectangle: Rounded Corners 123">
              <a:extLst>
                <a:ext uri="{FF2B5EF4-FFF2-40B4-BE49-F238E27FC236}">
                  <a16:creationId xmlns:a16="http://schemas.microsoft.com/office/drawing/2014/main" id="{A9656AB1-19FD-4BBD-8629-E0B5F2C97B50}"/>
                </a:ext>
              </a:extLst>
            </p:cNvPr>
            <p:cNvSpPr/>
            <p:nvPr/>
          </p:nvSpPr>
          <p:spPr>
            <a:xfrm>
              <a:off x="2060824" y="1308534"/>
              <a:ext cx="1111405" cy="3203425"/>
            </a:xfrm>
            <a:prstGeom prst="roundRect">
              <a:avLst/>
            </a:prstGeom>
            <a:ln w="12700">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dirty="0">
                <a:latin typeface="+mj-lt"/>
              </a:endParaRPr>
            </a:p>
          </p:txBody>
        </p:sp>
        <p:sp>
          <p:nvSpPr>
            <p:cNvPr id="145" name="Rectangle: Rounded Corners 144">
              <a:extLst>
                <a:ext uri="{FF2B5EF4-FFF2-40B4-BE49-F238E27FC236}">
                  <a16:creationId xmlns:a16="http://schemas.microsoft.com/office/drawing/2014/main" id="{C689ED8C-707F-4DFC-8EC8-E187B15A32F4}"/>
                </a:ext>
              </a:extLst>
            </p:cNvPr>
            <p:cNvSpPr/>
            <p:nvPr/>
          </p:nvSpPr>
          <p:spPr>
            <a:xfrm>
              <a:off x="4974879" y="1595633"/>
              <a:ext cx="652374" cy="1518723"/>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ndParaRPr>
            </a:p>
          </p:txBody>
        </p:sp>
        <p:sp>
          <p:nvSpPr>
            <p:cNvPr id="150" name="Rounded Rectangle 107">
              <a:extLst>
                <a:ext uri="{FF2B5EF4-FFF2-40B4-BE49-F238E27FC236}">
                  <a16:creationId xmlns:a16="http://schemas.microsoft.com/office/drawing/2014/main" id="{5DC04B85-8A22-4E2D-B534-E9889C8785C2}"/>
                </a:ext>
              </a:extLst>
            </p:cNvPr>
            <p:cNvSpPr/>
            <p:nvPr/>
          </p:nvSpPr>
          <p:spPr bwMode="auto">
            <a:xfrm>
              <a:off x="5009883" y="1842015"/>
              <a:ext cx="58236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Application</a:t>
              </a:r>
            </a:p>
            <a:p>
              <a:pPr algn="ctr"/>
              <a:r>
                <a:rPr lang="en-US" sz="600" dirty="0">
                  <a:solidFill>
                    <a:schemeClr val="tx1"/>
                  </a:solidFill>
                  <a:latin typeface="+mj-lt"/>
                </a:rPr>
                <a:t>Data</a:t>
              </a:r>
            </a:p>
          </p:txBody>
        </p:sp>
        <p:sp>
          <p:nvSpPr>
            <p:cNvPr id="151" name="Rounded Rectangle 42">
              <a:extLst>
                <a:ext uri="{FF2B5EF4-FFF2-40B4-BE49-F238E27FC236}">
                  <a16:creationId xmlns:a16="http://schemas.microsoft.com/office/drawing/2014/main" id="{3A6AE0B6-CA68-45D9-8878-7B16A9A48D6D}"/>
                </a:ext>
              </a:extLst>
            </p:cNvPr>
            <p:cNvSpPr/>
            <p:nvPr/>
          </p:nvSpPr>
          <p:spPr bwMode="auto">
            <a:xfrm>
              <a:off x="5000408" y="1579578"/>
              <a:ext cx="604555" cy="270682"/>
            </a:xfrm>
            <a:prstGeom prst="roundRect">
              <a:avLst/>
            </a:prstGeom>
            <a:no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9144" rIns="9144" bIns="9144" anchor="ctr"/>
            <a:lstStyle/>
            <a:p>
              <a:pPr algn="ctr">
                <a:defRPr/>
              </a:pPr>
              <a:r>
                <a:rPr lang="en-US" sz="600" b="1" dirty="0">
                  <a:solidFill>
                    <a:schemeClr val="tx1"/>
                  </a:solidFill>
                  <a:latin typeface="+mj-lt"/>
                </a:rPr>
                <a:t>RAW Lay</a:t>
              </a:r>
              <a:r>
                <a:rPr lang="en-US" sz="600" b="1" dirty="0">
                  <a:solidFill>
                    <a:schemeClr val="bg1"/>
                  </a:solidFill>
                  <a:latin typeface="+mj-lt"/>
                </a:rPr>
                <a:t>er</a:t>
              </a:r>
            </a:p>
          </p:txBody>
        </p:sp>
        <p:sp>
          <p:nvSpPr>
            <p:cNvPr id="152" name="Rounded Rectangle 107">
              <a:extLst>
                <a:ext uri="{FF2B5EF4-FFF2-40B4-BE49-F238E27FC236}">
                  <a16:creationId xmlns:a16="http://schemas.microsoft.com/office/drawing/2014/main" id="{7D8D479E-4814-4F10-A35D-618B84E5A439}"/>
                </a:ext>
              </a:extLst>
            </p:cNvPr>
            <p:cNvSpPr/>
            <p:nvPr/>
          </p:nvSpPr>
          <p:spPr bwMode="auto">
            <a:xfrm>
              <a:off x="5000408" y="2296202"/>
              <a:ext cx="58236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External</a:t>
              </a:r>
            </a:p>
            <a:p>
              <a:pPr algn="ctr"/>
              <a:r>
                <a:rPr lang="en-US" sz="600" dirty="0">
                  <a:solidFill>
                    <a:schemeClr val="tx1"/>
                  </a:solidFill>
                  <a:latin typeface="+mj-lt"/>
                </a:rPr>
                <a:t>Data</a:t>
              </a:r>
            </a:p>
          </p:txBody>
        </p:sp>
        <p:sp>
          <p:nvSpPr>
            <p:cNvPr id="175" name="Rounded Rectangle 107">
              <a:extLst>
                <a:ext uri="{FF2B5EF4-FFF2-40B4-BE49-F238E27FC236}">
                  <a16:creationId xmlns:a16="http://schemas.microsoft.com/office/drawing/2014/main" id="{1E2F27A2-4048-4578-A0EF-A641659BFA2A}"/>
                </a:ext>
              </a:extLst>
            </p:cNvPr>
            <p:cNvSpPr/>
            <p:nvPr/>
          </p:nvSpPr>
          <p:spPr bwMode="auto">
            <a:xfrm>
              <a:off x="5004114" y="2767814"/>
              <a:ext cx="58236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RAW Files</a:t>
              </a:r>
            </a:p>
          </p:txBody>
        </p:sp>
        <p:sp>
          <p:nvSpPr>
            <p:cNvPr id="180" name="Rectangle: Rounded Corners 179">
              <a:extLst>
                <a:ext uri="{FF2B5EF4-FFF2-40B4-BE49-F238E27FC236}">
                  <a16:creationId xmlns:a16="http://schemas.microsoft.com/office/drawing/2014/main" id="{C53D119D-A6D9-4390-B4A7-B190B4492FC0}"/>
                </a:ext>
              </a:extLst>
            </p:cNvPr>
            <p:cNvSpPr/>
            <p:nvPr/>
          </p:nvSpPr>
          <p:spPr>
            <a:xfrm>
              <a:off x="5700265" y="1606521"/>
              <a:ext cx="652374" cy="1518723"/>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ndParaRPr>
            </a:p>
          </p:txBody>
        </p:sp>
        <p:sp>
          <p:nvSpPr>
            <p:cNvPr id="189" name="Rounded Rectangle 107">
              <a:extLst>
                <a:ext uri="{FF2B5EF4-FFF2-40B4-BE49-F238E27FC236}">
                  <a16:creationId xmlns:a16="http://schemas.microsoft.com/office/drawing/2014/main" id="{DB7B9AFE-25A0-42DE-82D4-084288347D68}"/>
                </a:ext>
              </a:extLst>
            </p:cNvPr>
            <p:cNvSpPr/>
            <p:nvPr/>
          </p:nvSpPr>
          <p:spPr bwMode="auto">
            <a:xfrm>
              <a:off x="5735269" y="1842015"/>
              <a:ext cx="58236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500" dirty="0">
                  <a:solidFill>
                    <a:schemeClr val="tx1"/>
                  </a:solidFill>
                  <a:latin typeface="+mj-lt"/>
                </a:rPr>
                <a:t>App.</a:t>
              </a:r>
            </a:p>
            <a:p>
              <a:pPr algn="ctr"/>
              <a:r>
                <a:rPr lang="en-US" sz="500" dirty="0">
                  <a:solidFill>
                    <a:schemeClr val="tx1"/>
                  </a:solidFill>
                  <a:latin typeface="+mj-lt"/>
                </a:rPr>
                <a:t>Cleansed Data</a:t>
              </a:r>
            </a:p>
          </p:txBody>
        </p:sp>
        <p:sp>
          <p:nvSpPr>
            <p:cNvPr id="194" name="Rounded Rectangle 42">
              <a:extLst>
                <a:ext uri="{FF2B5EF4-FFF2-40B4-BE49-F238E27FC236}">
                  <a16:creationId xmlns:a16="http://schemas.microsoft.com/office/drawing/2014/main" id="{395F6D01-F5FF-4229-9FE3-F1DB8EB650A7}"/>
                </a:ext>
              </a:extLst>
            </p:cNvPr>
            <p:cNvSpPr/>
            <p:nvPr/>
          </p:nvSpPr>
          <p:spPr bwMode="auto">
            <a:xfrm>
              <a:off x="5725794" y="1606990"/>
              <a:ext cx="604555" cy="270682"/>
            </a:xfrm>
            <a:prstGeom prst="roundRect">
              <a:avLst/>
            </a:prstGeom>
            <a:no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9144" rIns="9144" bIns="9144" anchor="ctr"/>
            <a:lstStyle/>
            <a:p>
              <a:pPr algn="ctr">
                <a:defRPr/>
              </a:pPr>
              <a:r>
                <a:rPr lang="en-US" sz="500" b="1" dirty="0">
                  <a:solidFill>
                    <a:schemeClr val="tx1"/>
                  </a:solidFill>
                  <a:latin typeface="+mj-lt"/>
                </a:rPr>
                <a:t>Curated Layer</a:t>
              </a:r>
            </a:p>
          </p:txBody>
        </p:sp>
        <p:sp>
          <p:nvSpPr>
            <p:cNvPr id="195" name="Rounded Rectangle 107">
              <a:extLst>
                <a:ext uri="{FF2B5EF4-FFF2-40B4-BE49-F238E27FC236}">
                  <a16:creationId xmlns:a16="http://schemas.microsoft.com/office/drawing/2014/main" id="{D93D7898-FDE5-427B-8140-CAD364718BFA}"/>
                </a:ext>
              </a:extLst>
            </p:cNvPr>
            <p:cNvSpPr/>
            <p:nvPr/>
          </p:nvSpPr>
          <p:spPr bwMode="auto">
            <a:xfrm>
              <a:off x="5722438" y="2767814"/>
              <a:ext cx="58236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DQ Applied</a:t>
              </a:r>
            </a:p>
            <a:p>
              <a:pPr algn="ctr"/>
              <a:r>
                <a:rPr lang="en-US" sz="600" dirty="0">
                  <a:solidFill>
                    <a:schemeClr val="tx1"/>
                  </a:solidFill>
                  <a:latin typeface="+mj-lt"/>
                </a:rPr>
                <a:t>Data</a:t>
              </a:r>
            </a:p>
          </p:txBody>
        </p:sp>
        <p:sp>
          <p:nvSpPr>
            <p:cNvPr id="197" name="Rectangle: Rounded Corners 196">
              <a:extLst>
                <a:ext uri="{FF2B5EF4-FFF2-40B4-BE49-F238E27FC236}">
                  <a16:creationId xmlns:a16="http://schemas.microsoft.com/office/drawing/2014/main" id="{BCCB6A38-FA01-45EE-80C9-B06C2F30E549}"/>
                </a:ext>
              </a:extLst>
            </p:cNvPr>
            <p:cNvSpPr/>
            <p:nvPr/>
          </p:nvSpPr>
          <p:spPr>
            <a:xfrm>
              <a:off x="6403526" y="1600547"/>
              <a:ext cx="652374" cy="1518723"/>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ndParaRPr>
            </a:p>
          </p:txBody>
        </p:sp>
        <p:sp>
          <p:nvSpPr>
            <p:cNvPr id="198" name="Rounded Rectangle 107">
              <a:extLst>
                <a:ext uri="{FF2B5EF4-FFF2-40B4-BE49-F238E27FC236}">
                  <a16:creationId xmlns:a16="http://schemas.microsoft.com/office/drawing/2014/main" id="{E3D40C49-7B80-488F-8D78-DAAA429106A0}"/>
                </a:ext>
              </a:extLst>
            </p:cNvPr>
            <p:cNvSpPr/>
            <p:nvPr/>
          </p:nvSpPr>
          <p:spPr bwMode="auto">
            <a:xfrm>
              <a:off x="6438530" y="1842015"/>
              <a:ext cx="58236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500" dirty="0">
                  <a:solidFill>
                    <a:schemeClr val="tx1"/>
                  </a:solidFill>
                  <a:latin typeface="+mj-lt"/>
                </a:rPr>
                <a:t>Structured Data</a:t>
              </a:r>
            </a:p>
          </p:txBody>
        </p:sp>
        <p:sp>
          <p:nvSpPr>
            <p:cNvPr id="199" name="Rounded Rectangle 107">
              <a:extLst>
                <a:ext uri="{FF2B5EF4-FFF2-40B4-BE49-F238E27FC236}">
                  <a16:creationId xmlns:a16="http://schemas.microsoft.com/office/drawing/2014/main" id="{1309892C-A7A8-4B15-B832-5E07299A46D9}"/>
                </a:ext>
              </a:extLst>
            </p:cNvPr>
            <p:cNvSpPr/>
            <p:nvPr/>
          </p:nvSpPr>
          <p:spPr bwMode="auto">
            <a:xfrm>
              <a:off x="6455715" y="2767814"/>
              <a:ext cx="58236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Analytical</a:t>
              </a:r>
            </a:p>
            <a:p>
              <a:pPr algn="ctr"/>
              <a:r>
                <a:rPr lang="en-US" sz="600" dirty="0">
                  <a:solidFill>
                    <a:schemeClr val="tx1"/>
                  </a:solidFill>
                  <a:latin typeface="+mj-lt"/>
                </a:rPr>
                <a:t>Data</a:t>
              </a:r>
            </a:p>
          </p:txBody>
        </p:sp>
        <p:sp>
          <p:nvSpPr>
            <p:cNvPr id="200" name="Rounded Rectangle 42">
              <a:extLst>
                <a:ext uri="{FF2B5EF4-FFF2-40B4-BE49-F238E27FC236}">
                  <a16:creationId xmlns:a16="http://schemas.microsoft.com/office/drawing/2014/main" id="{E6B6A475-62E7-4AF9-B681-2CC7F16D5240}"/>
                </a:ext>
              </a:extLst>
            </p:cNvPr>
            <p:cNvSpPr/>
            <p:nvPr/>
          </p:nvSpPr>
          <p:spPr bwMode="auto">
            <a:xfrm>
              <a:off x="6429379" y="1604472"/>
              <a:ext cx="604555" cy="270682"/>
            </a:xfrm>
            <a:prstGeom prst="roundRect">
              <a:avLst/>
            </a:prstGeom>
            <a:no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9144" rIns="9144" bIns="9144" anchor="ctr"/>
            <a:lstStyle/>
            <a:p>
              <a:pPr algn="ctr">
                <a:defRPr/>
              </a:pPr>
              <a:r>
                <a:rPr lang="en-US" sz="500" b="1" dirty="0">
                  <a:solidFill>
                    <a:schemeClr val="tx1"/>
                  </a:solidFill>
                  <a:latin typeface="+mj-lt"/>
                </a:rPr>
                <a:t>Consumption Layer</a:t>
              </a:r>
            </a:p>
          </p:txBody>
        </p:sp>
        <p:sp>
          <p:nvSpPr>
            <p:cNvPr id="201" name="Rounded Rectangle 107">
              <a:extLst>
                <a:ext uri="{FF2B5EF4-FFF2-40B4-BE49-F238E27FC236}">
                  <a16:creationId xmlns:a16="http://schemas.microsoft.com/office/drawing/2014/main" id="{81168083-497F-49AC-AFDF-9392522DBD2C}"/>
                </a:ext>
              </a:extLst>
            </p:cNvPr>
            <p:cNvSpPr/>
            <p:nvPr/>
          </p:nvSpPr>
          <p:spPr bwMode="auto">
            <a:xfrm>
              <a:off x="6444435" y="2296202"/>
              <a:ext cx="582365"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500" dirty="0">
                  <a:solidFill>
                    <a:schemeClr val="tx1"/>
                  </a:solidFill>
                  <a:latin typeface="+mj-lt"/>
                </a:rPr>
                <a:t>Un-Structured Data</a:t>
              </a:r>
            </a:p>
          </p:txBody>
        </p:sp>
        <p:sp>
          <p:nvSpPr>
            <p:cNvPr id="202" name="Cylinder 201">
              <a:extLst>
                <a:ext uri="{FF2B5EF4-FFF2-40B4-BE49-F238E27FC236}">
                  <a16:creationId xmlns:a16="http://schemas.microsoft.com/office/drawing/2014/main" id="{1AD8B731-E349-4AA4-8DAA-33D8E38DC51F}"/>
                </a:ext>
              </a:extLst>
            </p:cNvPr>
            <p:cNvSpPr/>
            <p:nvPr/>
          </p:nvSpPr>
          <p:spPr>
            <a:xfrm>
              <a:off x="7161478" y="2703806"/>
              <a:ext cx="464638" cy="292608"/>
            </a:xfrm>
            <a:prstGeom prst="can">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500" dirty="0">
                  <a:solidFill>
                    <a:schemeClr val="tx1"/>
                  </a:solidFill>
                  <a:latin typeface="+mj-lt"/>
                </a:rPr>
                <a:t>Training</a:t>
              </a:r>
            </a:p>
            <a:p>
              <a:pPr algn="ctr"/>
              <a:r>
                <a:rPr lang="en-US" sz="500" dirty="0">
                  <a:solidFill>
                    <a:schemeClr val="tx1"/>
                  </a:solidFill>
                  <a:latin typeface="+mj-lt"/>
                </a:rPr>
                <a:t>Data</a:t>
              </a:r>
            </a:p>
          </p:txBody>
        </p:sp>
        <p:sp>
          <p:nvSpPr>
            <p:cNvPr id="132" name="Rounded Rectangle 52">
              <a:extLst>
                <a:ext uri="{FF2B5EF4-FFF2-40B4-BE49-F238E27FC236}">
                  <a16:creationId xmlns:a16="http://schemas.microsoft.com/office/drawing/2014/main" id="{CB85E910-E051-4B17-A261-5A61EE930B41}"/>
                </a:ext>
              </a:extLst>
            </p:cNvPr>
            <p:cNvSpPr/>
            <p:nvPr/>
          </p:nvSpPr>
          <p:spPr bwMode="auto">
            <a:xfrm>
              <a:off x="3393387" y="1642482"/>
              <a:ext cx="937010" cy="519025"/>
            </a:xfrm>
            <a:prstGeom prst="roundRect">
              <a:avLst>
                <a:gd name="adj" fmla="val 4436"/>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600" b="1" dirty="0">
                  <a:solidFill>
                    <a:schemeClr val="bg1"/>
                  </a:solidFill>
                  <a:latin typeface="+mj-lt"/>
                </a:rPr>
                <a:t>ETL/ELT</a:t>
              </a:r>
            </a:p>
          </p:txBody>
        </p:sp>
        <p:sp>
          <p:nvSpPr>
            <p:cNvPr id="133" name="Rounded Rectangle 18">
              <a:extLst>
                <a:ext uri="{FF2B5EF4-FFF2-40B4-BE49-F238E27FC236}">
                  <a16:creationId xmlns:a16="http://schemas.microsoft.com/office/drawing/2014/main" id="{91F5F832-E6C6-4F4D-8B07-7F39B1F8E721}"/>
                </a:ext>
              </a:extLst>
            </p:cNvPr>
            <p:cNvSpPr/>
            <p:nvPr/>
          </p:nvSpPr>
          <p:spPr bwMode="auto">
            <a:xfrm>
              <a:off x="3494477" y="1839088"/>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Batch (Intraday, mini)</a:t>
              </a:r>
            </a:p>
          </p:txBody>
        </p:sp>
        <p:sp>
          <p:nvSpPr>
            <p:cNvPr id="149" name="Rounded Rectangle 52">
              <a:extLst>
                <a:ext uri="{FF2B5EF4-FFF2-40B4-BE49-F238E27FC236}">
                  <a16:creationId xmlns:a16="http://schemas.microsoft.com/office/drawing/2014/main" id="{68164312-A20C-4B52-A7B7-74F3F82796E3}"/>
                </a:ext>
              </a:extLst>
            </p:cNvPr>
            <p:cNvSpPr/>
            <p:nvPr/>
          </p:nvSpPr>
          <p:spPr bwMode="auto">
            <a:xfrm>
              <a:off x="3393390" y="2249865"/>
              <a:ext cx="937010" cy="532500"/>
            </a:xfrm>
            <a:prstGeom prst="roundRect">
              <a:avLst>
                <a:gd name="adj" fmla="val 4436"/>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600" b="1" dirty="0">
                  <a:solidFill>
                    <a:schemeClr val="bg1"/>
                  </a:solidFill>
                  <a:latin typeface="+mj-lt"/>
                </a:rPr>
                <a:t>On Demand</a:t>
              </a:r>
            </a:p>
          </p:txBody>
        </p:sp>
        <p:sp>
          <p:nvSpPr>
            <p:cNvPr id="154" name="Rounded Rectangle 18">
              <a:extLst>
                <a:ext uri="{FF2B5EF4-FFF2-40B4-BE49-F238E27FC236}">
                  <a16:creationId xmlns:a16="http://schemas.microsoft.com/office/drawing/2014/main" id="{7FF08114-661E-4AAC-B96E-D5ACBD5C4E73}"/>
                </a:ext>
              </a:extLst>
            </p:cNvPr>
            <p:cNvSpPr/>
            <p:nvPr/>
          </p:nvSpPr>
          <p:spPr bwMode="auto">
            <a:xfrm>
              <a:off x="3494903" y="2459360"/>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Files/Messages</a:t>
              </a:r>
            </a:p>
          </p:txBody>
        </p:sp>
        <p:sp>
          <p:nvSpPr>
            <p:cNvPr id="155" name="Rounded Rectangle 52">
              <a:extLst>
                <a:ext uri="{FF2B5EF4-FFF2-40B4-BE49-F238E27FC236}">
                  <a16:creationId xmlns:a16="http://schemas.microsoft.com/office/drawing/2014/main" id="{0FB38A92-2C46-4678-8538-0D82032E8BDD}"/>
                </a:ext>
              </a:extLst>
            </p:cNvPr>
            <p:cNvSpPr/>
            <p:nvPr/>
          </p:nvSpPr>
          <p:spPr bwMode="auto">
            <a:xfrm>
              <a:off x="3393390" y="2868576"/>
              <a:ext cx="937007" cy="883343"/>
            </a:xfrm>
            <a:prstGeom prst="roundRect">
              <a:avLst>
                <a:gd name="adj" fmla="val 4436"/>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600" b="1" dirty="0">
                  <a:solidFill>
                    <a:schemeClr val="bg1"/>
                  </a:solidFill>
                  <a:latin typeface="+mj-lt"/>
                </a:rPr>
                <a:t>Real Time/NRT</a:t>
              </a:r>
            </a:p>
          </p:txBody>
        </p:sp>
        <p:sp>
          <p:nvSpPr>
            <p:cNvPr id="156" name="Rounded Rectangle 18">
              <a:extLst>
                <a:ext uri="{FF2B5EF4-FFF2-40B4-BE49-F238E27FC236}">
                  <a16:creationId xmlns:a16="http://schemas.microsoft.com/office/drawing/2014/main" id="{9AB3F200-B2D8-4C13-9B92-D2B5E89D2856}"/>
                </a:ext>
              </a:extLst>
            </p:cNvPr>
            <p:cNvSpPr/>
            <p:nvPr/>
          </p:nvSpPr>
          <p:spPr bwMode="auto">
            <a:xfrm>
              <a:off x="3494900" y="3114356"/>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Streams </a:t>
              </a:r>
            </a:p>
          </p:txBody>
        </p:sp>
        <p:sp>
          <p:nvSpPr>
            <p:cNvPr id="157" name="Rounded Rectangle 18">
              <a:extLst>
                <a:ext uri="{FF2B5EF4-FFF2-40B4-BE49-F238E27FC236}">
                  <a16:creationId xmlns:a16="http://schemas.microsoft.com/office/drawing/2014/main" id="{2AE32BF5-679A-4F41-8F66-97B447C7675F}"/>
                </a:ext>
              </a:extLst>
            </p:cNvPr>
            <p:cNvSpPr/>
            <p:nvPr/>
          </p:nvSpPr>
          <p:spPr bwMode="auto">
            <a:xfrm>
              <a:off x="3494900" y="3412049"/>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500" dirty="0">
                  <a:solidFill>
                    <a:schemeClr val="tx1"/>
                  </a:solidFill>
                  <a:latin typeface="+mj-lt"/>
                </a:rPr>
                <a:t>Time Series (Event Data)</a:t>
              </a:r>
            </a:p>
          </p:txBody>
        </p:sp>
        <p:sp>
          <p:nvSpPr>
            <p:cNvPr id="177" name="Rounded Rectangle 52">
              <a:extLst>
                <a:ext uri="{FF2B5EF4-FFF2-40B4-BE49-F238E27FC236}">
                  <a16:creationId xmlns:a16="http://schemas.microsoft.com/office/drawing/2014/main" id="{6DDE654F-6B7C-4926-B90C-330F15512CEC}"/>
                </a:ext>
              </a:extLst>
            </p:cNvPr>
            <p:cNvSpPr/>
            <p:nvPr/>
          </p:nvSpPr>
          <p:spPr bwMode="auto">
            <a:xfrm>
              <a:off x="3393390" y="3836255"/>
              <a:ext cx="937007" cy="573420"/>
            </a:xfrm>
            <a:prstGeom prst="roundRect">
              <a:avLst>
                <a:gd name="adj" fmla="val 4436"/>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600" b="1" dirty="0">
                  <a:solidFill>
                    <a:schemeClr val="bg1"/>
                  </a:solidFill>
                  <a:latin typeface="+mj-lt"/>
                </a:rPr>
                <a:t>Fog Computing</a:t>
              </a:r>
            </a:p>
          </p:txBody>
        </p:sp>
        <p:sp>
          <p:nvSpPr>
            <p:cNvPr id="178" name="Rounded Rectangle 18">
              <a:extLst>
                <a:ext uri="{FF2B5EF4-FFF2-40B4-BE49-F238E27FC236}">
                  <a16:creationId xmlns:a16="http://schemas.microsoft.com/office/drawing/2014/main" id="{DF04CFD1-A9E5-4148-BDBA-93EC6E754A4C}"/>
                </a:ext>
              </a:extLst>
            </p:cNvPr>
            <p:cNvSpPr/>
            <p:nvPr/>
          </p:nvSpPr>
          <p:spPr bwMode="auto">
            <a:xfrm>
              <a:off x="3494900" y="4070135"/>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Edge Processing</a:t>
              </a:r>
            </a:p>
          </p:txBody>
        </p:sp>
        <p:sp>
          <p:nvSpPr>
            <p:cNvPr id="107" name="Rounded Rectangle 42">
              <a:extLst>
                <a:ext uri="{FF2B5EF4-FFF2-40B4-BE49-F238E27FC236}">
                  <a16:creationId xmlns:a16="http://schemas.microsoft.com/office/drawing/2014/main" id="{CD41E0BF-F247-434B-8EED-955255B85BB3}"/>
                </a:ext>
              </a:extLst>
            </p:cNvPr>
            <p:cNvSpPr/>
            <p:nvPr/>
          </p:nvSpPr>
          <p:spPr bwMode="auto">
            <a:xfrm>
              <a:off x="3401617" y="1377441"/>
              <a:ext cx="908914" cy="244578"/>
            </a:xfrm>
            <a:prstGeom prst="roundRect">
              <a:avLst/>
            </a:prstGeom>
            <a:no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9144" rIns="9144" bIns="9144" anchor="ctr"/>
            <a:lstStyle/>
            <a:p>
              <a:pPr algn="ctr">
                <a:defRPr/>
              </a:pPr>
              <a:r>
                <a:rPr lang="en-US" sz="600" b="1" dirty="0">
                  <a:solidFill>
                    <a:schemeClr val="tx1"/>
                  </a:solidFill>
                  <a:latin typeface="+mj-lt"/>
                </a:rPr>
                <a:t>Ingestion Method</a:t>
              </a:r>
            </a:p>
          </p:txBody>
        </p:sp>
        <p:sp>
          <p:nvSpPr>
            <p:cNvPr id="110" name="Rounded Rectangle 52">
              <a:extLst>
                <a:ext uri="{FF2B5EF4-FFF2-40B4-BE49-F238E27FC236}">
                  <a16:creationId xmlns:a16="http://schemas.microsoft.com/office/drawing/2014/main" id="{162330D8-7266-44C6-8895-279D0C356751}"/>
                </a:ext>
              </a:extLst>
            </p:cNvPr>
            <p:cNvSpPr/>
            <p:nvPr/>
          </p:nvSpPr>
          <p:spPr bwMode="auto">
            <a:xfrm>
              <a:off x="2148325" y="1634336"/>
              <a:ext cx="937010" cy="582873"/>
            </a:xfrm>
            <a:prstGeom prst="roundRect">
              <a:avLst>
                <a:gd name="adj" fmla="val 4436"/>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600" b="1" dirty="0">
                  <a:solidFill>
                    <a:schemeClr val="bg1"/>
                  </a:solidFill>
                  <a:latin typeface="+mj-lt"/>
                </a:rPr>
                <a:t>Data Routing</a:t>
              </a:r>
            </a:p>
          </p:txBody>
        </p:sp>
        <p:sp>
          <p:nvSpPr>
            <p:cNvPr id="112" name="Rounded Rectangle 18">
              <a:extLst>
                <a:ext uri="{FF2B5EF4-FFF2-40B4-BE49-F238E27FC236}">
                  <a16:creationId xmlns:a16="http://schemas.microsoft.com/office/drawing/2014/main" id="{C2921E48-1617-477B-9AA1-94FF8B5EE2B7}"/>
                </a:ext>
              </a:extLst>
            </p:cNvPr>
            <p:cNvSpPr/>
            <p:nvPr/>
          </p:nvSpPr>
          <p:spPr bwMode="auto">
            <a:xfrm>
              <a:off x="2250105" y="1996825"/>
              <a:ext cx="777240" cy="197596"/>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500" dirty="0">
                  <a:solidFill>
                    <a:schemeClr val="tx1"/>
                  </a:solidFill>
                  <a:latin typeface="+mj-lt"/>
                </a:rPr>
                <a:t>Exclusive/</a:t>
              </a:r>
            </a:p>
            <a:p>
              <a:pPr algn="ctr"/>
              <a:r>
                <a:rPr lang="en-US" sz="500" dirty="0">
                  <a:solidFill>
                    <a:schemeClr val="tx1"/>
                  </a:solidFill>
                  <a:latin typeface="+mj-lt"/>
                </a:rPr>
                <a:t>Dedicated</a:t>
              </a:r>
            </a:p>
          </p:txBody>
        </p:sp>
        <p:sp>
          <p:nvSpPr>
            <p:cNvPr id="114" name="Rounded Rectangle 52">
              <a:extLst>
                <a:ext uri="{FF2B5EF4-FFF2-40B4-BE49-F238E27FC236}">
                  <a16:creationId xmlns:a16="http://schemas.microsoft.com/office/drawing/2014/main" id="{E8A622D8-8EBA-40AA-BDFA-37C45D5A3E2F}"/>
                </a:ext>
              </a:extLst>
            </p:cNvPr>
            <p:cNvSpPr/>
            <p:nvPr/>
          </p:nvSpPr>
          <p:spPr bwMode="auto">
            <a:xfrm>
              <a:off x="2148328" y="2311834"/>
              <a:ext cx="937010" cy="2097841"/>
            </a:xfrm>
            <a:prstGeom prst="roundRect">
              <a:avLst>
                <a:gd name="adj" fmla="val 4436"/>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600" b="1" dirty="0">
                  <a:solidFill>
                    <a:schemeClr val="bg1"/>
                  </a:solidFill>
                  <a:latin typeface="+mj-lt"/>
                </a:rPr>
                <a:t>Integration Protocols</a:t>
              </a:r>
            </a:p>
          </p:txBody>
        </p:sp>
        <p:sp>
          <p:nvSpPr>
            <p:cNvPr id="115" name="Rounded Rectangle 18">
              <a:extLst>
                <a:ext uri="{FF2B5EF4-FFF2-40B4-BE49-F238E27FC236}">
                  <a16:creationId xmlns:a16="http://schemas.microsoft.com/office/drawing/2014/main" id="{783B85DD-808F-40D3-BDFF-731D8A5B8C18}"/>
                </a:ext>
              </a:extLst>
            </p:cNvPr>
            <p:cNvSpPr/>
            <p:nvPr/>
          </p:nvSpPr>
          <p:spPr bwMode="auto">
            <a:xfrm>
              <a:off x="2236022" y="2500786"/>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defRPr/>
              </a:pPr>
              <a:r>
                <a:rPr lang="en-US" sz="600" dirty="0">
                  <a:solidFill>
                    <a:schemeClr val="tx1"/>
                  </a:solidFill>
                  <a:latin typeface="+mj-lt"/>
                </a:rPr>
                <a:t>API/Web Services</a:t>
              </a:r>
            </a:p>
          </p:txBody>
        </p:sp>
        <p:sp>
          <p:nvSpPr>
            <p:cNvPr id="118" name="Rounded Rectangle 18">
              <a:extLst>
                <a:ext uri="{FF2B5EF4-FFF2-40B4-BE49-F238E27FC236}">
                  <a16:creationId xmlns:a16="http://schemas.microsoft.com/office/drawing/2014/main" id="{764E0E73-4D83-4DF8-BBF3-3789C19FA453}"/>
                </a:ext>
              </a:extLst>
            </p:cNvPr>
            <p:cNvSpPr/>
            <p:nvPr/>
          </p:nvSpPr>
          <p:spPr bwMode="auto">
            <a:xfrm>
              <a:off x="2236022" y="2818299"/>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defRPr/>
              </a:pPr>
              <a:r>
                <a:rPr lang="en-US" sz="600" dirty="0">
                  <a:solidFill>
                    <a:schemeClr val="tx1"/>
                  </a:solidFill>
                  <a:latin typeface="+mj-lt"/>
                </a:rPr>
                <a:t>Publish &amp; </a:t>
              </a:r>
            </a:p>
            <a:p>
              <a:pPr algn="ctr">
                <a:defRPr/>
              </a:pPr>
              <a:r>
                <a:rPr lang="en-US" sz="600" dirty="0">
                  <a:solidFill>
                    <a:schemeClr val="tx1"/>
                  </a:solidFill>
                  <a:latin typeface="+mj-lt"/>
                </a:rPr>
                <a:t>Subscribe</a:t>
              </a:r>
            </a:p>
          </p:txBody>
        </p:sp>
        <p:sp>
          <p:nvSpPr>
            <p:cNvPr id="130" name="Rounded Rectangle 42">
              <a:extLst>
                <a:ext uri="{FF2B5EF4-FFF2-40B4-BE49-F238E27FC236}">
                  <a16:creationId xmlns:a16="http://schemas.microsoft.com/office/drawing/2014/main" id="{6B235A3A-AECD-42EA-9A10-50140553463A}"/>
                </a:ext>
              </a:extLst>
            </p:cNvPr>
            <p:cNvSpPr/>
            <p:nvPr/>
          </p:nvSpPr>
          <p:spPr bwMode="auto">
            <a:xfrm>
              <a:off x="2156555" y="1369295"/>
              <a:ext cx="908914" cy="244578"/>
            </a:xfrm>
            <a:prstGeom prst="roundRect">
              <a:avLst/>
            </a:prstGeom>
            <a:no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9144" rIns="9144" bIns="9144" anchor="ctr"/>
            <a:lstStyle/>
            <a:p>
              <a:pPr algn="ctr">
                <a:defRPr/>
              </a:pPr>
              <a:r>
                <a:rPr lang="en-US" sz="600" b="1" dirty="0">
                  <a:solidFill>
                    <a:schemeClr val="tx1"/>
                  </a:solidFill>
                  <a:latin typeface="+mj-lt"/>
                </a:rPr>
                <a:t>Data Movement</a:t>
              </a:r>
            </a:p>
          </p:txBody>
        </p:sp>
        <p:sp>
          <p:nvSpPr>
            <p:cNvPr id="134" name="Rounded Rectangle 18">
              <a:extLst>
                <a:ext uri="{FF2B5EF4-FFF2-40B4-BE49-F238E27FC236}">
                  <a16:creationId xmlns:a16="http://schemas.microsoft.com/office/drawing/2014/main" id="{553CA60E-C741-46EA-A8E9-00E289D400A8}"/>
                </a:ext>
              </a:extLst>
            </p:cNvPr>
            <p:cNvSpPr/>
            <p:nvPr/>
          </p:nvSpPr>
          <p:spPr bwMode="auto">
            <a:xfrm>
              <a:off x="2236022" y="3135812"/>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defRPr/>
              </a:pPr>
              <a:r>
                <a:rPr lang="en-US" sz="600" dirty="0">
                  <a:solidFill>
                    <a:schemeClr val="tx1"/>
                  </a:solidFill>
                  <a:latin typeface="+mj-lt"/>
                </a:rPr>
                <a:t>FTP</a:t>
              </a:r>
            </a:p>
          </p:txBody>
        </p:sp>
        <p:sp>
          <p:nvSpPr>
            <p:cNvPr id="135" name="Rounded Rectangle 18">
              <a:extLst>
                <a:ext uri="{FF2B5EF4-FFF2-40B4-BE49-F238E27FC236}">
                  <a16:creationId xmlns:a16="http://schemas.microsoft.com/office/drawing/2014/main" id="{3B94A024-B299-442A-8535-B68AB5B2E9BA}"/>
                </a:ext>
              </a:extLst>
            </p:cNvPr>
            <p:cNvSpPr/>
            <p:nvPr/>
          </p:nvSpPr>
          <p:spPr bwMode="auto">
            <a:xfrm>
              <a:off x="2236022" y="3453325"/>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defRPr/>
              </a:pPr>
              <a:r>
                <a:rPr lang="en-US" sz="600" dirty="0">
                  <a:solidFill>
                    <a:schemeClr val="tx1"/>
                  </a:solidFill>
                  <a:latin typeface="+mj-lt"/>
                </a:rPr>
                <a:t>ODBC/JDBC</a:t>
              </a:r>
            </a:p>
          </p:txBody>
        </p:sp>
        <p:sp>
          <p:nvSpPr>
            <p:cNvPr id="139" name="Rounded Rectangle 18">
              <a:extLst>
                <a:ext uri="{FF2B5EF4-FFF2-40B4-BE49-F238E27FC236}">
                  <a16:creationId xmlns:a16="http://schemas.microsoft.com/office/drawing/2014/main" id="{B8576E6B-E63F-47BE-B7B1-71317F1BB2AA}"/>
                </a:ext>
              </a:extLst>
            </p:cNvPr>
            <p:cNvSpPr/>
            <p:nvPr/>
          </p:nvSpPr>
          <p:spPr bwMode="auto">
            <a:xfrm>
              <a:off x="2236022" y="3770838"/>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defRPr/>
              </a:pPr>
              <a:r>
                <a:rPr lang="en-US" sz="600" dirty="0">
                  <a:solidFill>
                    <a:schemeClr val="tx1"/>
                  </a:solidFill>
                  <a:latin typeface="+mj-lt"/>
                </a:rPr>
                <a:t>Data Migration </a:t>
              </a:r>
            </a:p>
            <a:p>
              <a:pPr algn="ctr">
                <a:defRPr/>
              </a:pPr>
              <a:r>
                <a:rPr lang="en-US" sz="600" dirty="0">
                  <a:solidFill>
                    <a:schemeClr val="tx1"/>
                  </a:solidFill>
                  <a:latin typeface="+mj-lt"/>
                </a:rPr>
                <a:t>Services</a:t>
              </a:r>
            </a:p>
          </p:txBody>
        </p:sp>
        <p:sp>
          <p:nvSpPr>
            <p:cNvPr id="141" name="Rounded Rectangle 18">
              <a:extLst>
                <a:ext uri="{FF2B5EF4-FFF2-40B4-BE49-F238E27FC236}">
                  <a16:creationId xmlns:a16="http://schemas.microsoft.com/office/drawing/2014/main" id="{8CF15ECA-D3D7-44C8-B6F4-20AC8C1C690C}"/>
                </a:ext>
              </a:extLst>
            </p:cNvPr>
            <p:cNvSpPr/>
            <p:nvPr/>
          </p:nvSpPr>
          <p:spPr bwMode="auto">
            <a:xfrm>
              <a:off x="2236022" y="4088349"/>
              <a:ext cx="777240"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defRPr/>
              </a:pPr>
              <a:r>
                <a:rPr lang="en-US" sz="600" dirty="0">
                  <a:solidFill>
                    <a:schemeClr val="tx1"/>
                  </a:solidFill>
                  <a:latin typeface="+mj-lt"/>
                </a:rPr>
                <a:t>Other Transfer </a:t>
              </a:r>
            </a:p>
            <a:p>
              <a:pPr algn="ctr">
                <a:defRPr/>
              </a:pPr>
              <a:r>
                <a:rPr lang="en-US" sz="600" dirty="0">
                  <a:solidFill>
                    <a:schemeClr val="tx1"/>
                  </a:solidFill>
                  <a:latin typeface="+mj-lt"/>
                </a:rPr>
                <a:t>Methods</a:t>
              </a:r>
            </a:p>
          </p:txBody>
        </p:sp>
        <p:sp>
          <p:nvSpPr>
            <p:cNvPr id="203" name="Rounded Rectangle 107">
              <a:extLst>
                <a:ext uri="{FF2B5EF4-FFF2-40B4-BE49-F238E27FC236}">
                  <a16:creationId xmlns:a16="http://schemas.microsoft.com/office/drawing/2014/main" id="{95D50C08-8718-4CFD-A2AD-A35090453BDE}"/>
                </a:ext>
              </a:extLst>
            </p:cNvPr>
            <p:cNvSpPr/>
            <p:nvPr/>
          </p:nvSpPr>
          <p:spPr bwMode="auto">
            <a:xfrm>
              <a:off x="5775290" y="4107843"/>
              <a:ext cx="690643"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IOT Processing</a:t>
              </a:r>
            </a:p>
          </p:txBody>
        </p:sp>
        <p:sp>
          <p:nvSpPr>
            <p:cNvPr id="205" name="Arrow: Right 204">
              <a:extLst>
                <a:ext uri="{FF2B5EF4-FFF2-40B4-BE49-F238E27FC236}">
                  <a16:creationId xmlns:a16="http://schemas.microsoft.com/office/drawing/2014/main" id="{CFEB8756-CA5F-4AFE-A1DD-686EF5FC7571}"/>
                </a:ext>
              </a:extLst>
            </p:cNvPr>
            <p:cNvSpPr/>
            <p:nvPr/>
          </p:nvSpPr>
          <p:spPr>
            <a:xfrm>
              <a:off x="3176929" y="2744959"/>
              <a:ext cx="163626" cy="221803"/>
            </a:xfrm>
            <a:prstGeom prst="rightArrow">
              <a:avLst/>
            </a:prstGeom>
            <a:solidFill>
              <a:schemeClr val="tx1">
                <a:lumMod val="65000"/>
                <a:lumOff val="3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a typeface="Open Sans" panose="020B0606030504020204" pitchFamily="34" charset="0"/>
                <a:cs typeface="Open Sans" panose="020B0606030504020204" pitchFamily="34" charset="0"/>
              </a:endParaRPr>
            </a:p>
          </p:txBody>
        </p:sp>
        <p:sp>
          <p:nvSpPr>
            <p:cNvPr id="206" name="Arrow: Right 205">
              <a:extLst>
                <a:ext uri="{FF2B5EF4-FFF2-40B4-BE49-F238E27FC236}">
                  <a16:creationId xmlns:a16="http://schemas.microsoft.com/office/drawing/2014/main" id="{7ADE1D22-CF34-4DFF-976A-100A7ABCCC7C}"/>
                </a:ext>
              </a:extLst>
            </p:cNvPr>
            <p:cNvSpPr/>
            <p:nvPr/>
          </p:nvSpPr>
          <p:spPr>
            <a:xfrm>
              <a:off x="4563433" y="2650286"/>
              <a:ext cx="163626" cy="221803"/>
            </a:xfrm>
            <a:prstGeom prst="rightArrow">
              <a:avLst/>
            </a:prstGeom>
            <a:solidFill>
              <a:schemeClr val="tx1">
                <a:lumMod val="65000"/>
                <a:lumOff val="3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a typeface="Open Sans" panose="020B0606030504020204" pitchFamily="34" charset="0"/>
                <a:cs typeface="Open Sans" panose="020B0606030504020204" pitchFamily="34" charset="0"/>
              </a:endParaRPr>
            </a:p>
          </p:txBody>
        </p:sp>
        <p:sp>
          <p:nvSpPr>
            <p:cNvPr id="208" name="Arrow: Right 207">
              <a:extLst>
                <a:ext uri="{FF2B5EF4-FFF2-40B4-BE49-F238E27FC236}">
                  <a16:creationId xmlns:a16="http://schemas.microsoft.com/office/drawing/2014/main" id="{6870A87C-2B8F-415B-B866-1CB9B87A39A5}"/>
                </a:ext>
              </a:extLst>
            </p:cNvPr>
            <p:cNvSpPr/>
            <p:nvPr/>
          </p:nvSpPr>
          <p:spPr>
            <a:xfrm rot="5400000">
              <a:off x="5594679" y="3248592"/>
              <a:ext cx="163626" cy="221803"/>
            </a:xfrm>
            <a:prstGeom prst="rightArrow">
              <a:avLst/>
            </a:prstGeom>
            <a:solidFill>
              <a:schemeClr val="tx1">
                <a:lumMod val="65000"/>
                <a:lumOff val="3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a typeface="Open Sans" panose="020B0606030504020204" pitchFamily="34" charset="0"/>
                <a:cs typeface="Open Sans" panose="020B0606030504020204" pitchFamily="34" charset="0"/>
              </a:endParaRPr>
            </a:p>
          </p:txBody>
        </p:sp>
        <p:sp>
          <p:nvSpPr>
            <p:cNvPr id="209" name="Arrow: Right 208">
              <a:extLst>
                <a:ext uri="{FF2B5EF4-FFF2-40B4-BE49-F238E27FC236}">
                  <a16:creationId xmlns:a16="http://schemas.microsoft.com/office/drawing/2014/main" id="{B6BFB61C-7FF5-4964-A15A-C03732AAA460}"/>
                </a:ext>
              </a:extLst>
            </p:cNvPr>
            <p:cNvSpPr/>
            <p:nvPr/>
          </p:nvSpPr>
          <p:spPr>
            <a:xfrm rot="16031049">
              <a:off x="6757252" y="3210863"/>
              <a:ext cx="163626" cy="221803"/>
            </a:xfrm>
            <a:prstGeom prst="rightArrow">
              <a:avLst/>
            </a:prstGeom>
            <a:solidFill>
              <a:schemeClr val="tx1">
                <a:lumMod val="65000"/>
                <a:lumOff val="3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a typeface="Open Sans" panose="020B0606030504020204" pitchFamily="34" charset="0"/>
                <a:cs typeface="Open Sans" panose="020B0606030504020204" pitchFamily="34" charset="0"/>
              </a:endParaRPr>
            </a:p>
          </p:txBody>
        </p:sp>
        <p:sp>
          <p:nvSpPr>
            <p:cNvPr id="210" name="Rounded Rectangle 44">
              <a:extLst>
                <a:ext uri="{FF2B5EF4-FFF2-40B4-BE49-F238E27FC236}">
                  <a16:creationId xmlns:a16="http://schemas.microsoft.com/office/drawing/2014/main" id="{CC097CCD-4B47-434E-BF44-28BF47087FEB}"/>
                </a:ext>
              </a:extLst>
            </p:cNvPr>
            <p:cNvSpPr/>
            <p:nvPr/>
          </p:nvSpPr>
          <p:spPr bwMode="auto">
            <a:xfrm>
              <a:off x="7928416" y="1317717"/>
              <a:ext cx="797203" cy="3147415"/>
            </a:xfrm>
            <a:prstGeom prst="roundRect">
              <a:avLst>
                <a:gd name="adj" fmla="val 4436"/>
              </a:avLst>
            </a:prstGeom>
            <a:solidFill>
              <a:schemeClr val="bg1"/>
            </a:solidFill>
            <a:ln w="12700">
              <a:solidFill>
                <a:schemeClr val="tx1">
                  <a:lumMod val="50000"/>
                  <a:lumOff val="50000"/>
                </a:schemeClr>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45719" rIns="9144" bIns="9144" anchor="t" anchorCtr="0"/>
            <a:lstStyle/>
            <a:p>
              <a:pPr algn="ctr"/>
              <a:r>
                <a:rPr lang="en-US" sz="600" b="1" dirty="0">
                  <a:solidFill>
                    <a:schemeClr val="tx1"/>
                  </a:solidFill>
                  <a:latin typeface="+mj-lt"/>
                </a:rPr>
                <a:t>Data Provisioning</a:t>
              </a:r>
            </a:p>
          </p:txBody>
        </p:sp>
        <p:sp>
          <p:nvSpPr>
            <p:cNvPr id="95" name="Cylinder 94">
              <a:extLst>
                <a:ext uri="{FF2B5EF4-FFF2-40B4-BE49-F238E27FC236}">
                  <a16:creationId xmlns:a16="http://schemas.microsoft.com/office/drawing/2014/main" id="{5541DB21-E198-45D4-9A9C-783E92C6A040}"/>
                </a:ext>
              </a:extLst>
            </p:cNvPr>
            <p:cNvSpPr/>
            <p:nvPr/>
          </p:nvSpPr>
          <p:spPr>
            <a:xfrm>
              <a:off x="8024917" y="1699190"/>
              <a:ext cx="584612" cy="273187"/>
            </a:xfrm>
            <a:prstGeom prst="can">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Marts</a:t>
              </a:r>
            </a:p>
          </p:txBody>
        </p:sp>
        <p:sp>
          <p:nvSpPr>
            <p:cNvPr id="211" name="Rounded Rectangle 107">
              <a:extLst>
                <a:ext uri="{FF2B5EF4-FFF2-40B4-BE49-F238E27FC236}">
                  <a16:creationId xmlns:a16="http://schemas.microsoft.com/office/drawing/2014/main" id="{F351CF98-410A-475E-9D64-9D8E9B1D7921}"/>
                </a:ext>
              </a:extLst>
            </p:cNvPr>
            <p:cNvSpPr/>
            <p:nvPr/>
          </p:nvSpPr>
          <p:spPr bwMode="auto">
            <a:xfrm>
              <a:off x="7981848" y="2729386"/>
              <a:ext cx="690643"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In Memory</a:t>
              </a:r>
            </a:p>
            <a:p>
              <a:pPr algn="ctr"/>
              <a:r>
                <a:rPr lang="en-US" sz="600" dirty="0">
                  <a:solidFill>
                    <a:schemeClr val="tx1"/>
                  </a:solidFill>
                  <a:latin typeface="+mj-lt"/>
                </a:rPr>
                <a:t>Processing</a:t>
              </a:r>
            </a:p>
          </p:txBody>
        </p:sp>
        <p:sp>
          <p:nvSpPr>
            <p:cNvPr id="212" name="Rounded Rectangle 107">
              <a:extLst>
                <a:ext uri="{FF2B5EF4-FFF2-40B4-BE49-F238E27FC236}">
                  <a16:creationId xmlns:a16="http://schemas.microsoft.com/office/drawing/2014/main" id="{E58D2720-BA8D-4E79-9F59-5F6300530C9A}"/>
                </a:ext>
              </a:extLst>
            </p:cNvPr>
            <p:cNvSpPr/>
            <p:nvPr/>
          </p:nvSpPr>
          <p:spPr bwMode="auto">
            <a:xfrm>
              <a:off x="7971902" y="4118397"/>
              <a:ext cx="690643"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Real Time </a:t>
              </a:r>
            </a:p>
            <a:p>
              <a:pPr algn="ctr"/>
              <a:r>
                <a:rPr lang="en-US" sz="600" dirty="0">
                  <a:solidFill>
                    <a:schemeClr val="tx1"/>
                  </a:solidFill>
                  <a:latin typeface="+mj-lt"/>
                </a:rPr>
                <a:t>Search</a:t>
              </a:r>
            </a:p>
          </p:txBody>
        </p:sp>
        <p:sp>
          <p:nvSpPr>
            <p:cNvPr id="213" name="Arrow: Right 212">
              <a:extLst>
                <a:ext uri="{FF2B5EF4-FFF2-40B4-BE49-F238E27FC236}">
                  <a16:creationId xmlns:a16="http://schemas.microsoft.com/office/drawing/2014/main" id="{B66B559A-9A9A-4918-8CEA-3FBC633E7970}"/>
                </a:ext>
              </a:extLst>
            </p:cNvPr>
            <p:cNvSpPr/>
            <p:nvPr/>
          </p:nvSpPr>
          <p:spPr>
            <a:xfrm>
              <a:off x="7773476" y="2632726"/>
              <a:ext cx="163626" cy="221803"/>
            </a:xfrm>
            <a:prstGeom prst="rightArrow">
              <a:avLst/>
            </a:prstGeom>
            <a:solidFill>
              <a:schemeClr val="tx1">
                <a:lumMod val="65000"/>
                <a:lumOff val="3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a typeface="Open Sans" panose="020B0606030504020204" pitchFamily="34" charset="0"/>
                <a:cs typeface="Open Sans" panose="020B0606030504020204" pitchFamily="34" charset="0"/>
              </a:endParaRPr>
            </a:p>
          </p:txBody>
        </p:sp>
        <p:sp>
          <p:nvSpPr>
            <p:cNvPr id="214" name="Arrow: Right 213">
              <a:extLst>
                <a:ext uri="{FF2B5EF4-FFF2-40B4-BE49-F238E27FC236}">
                  <a16:creationId xmlns:a16="http://schemas.microsoft.com/office/drawing/2014/main" id="{B5355A7A-8E96-4070-9203-185ABE942326}"/>
                </a:ext>
              </a:extLst>
            </p:cNvPr>
            <p:cNvSpPr/>
            <p:nvPr/>
          </p:nvSpPr>
          <p:spPr>
            <a:xfrm>
              <a:off x="8861400" y="2571597"/>
              <a:ext cx="163626" cy="221803"/>
            </a:xfrm>
            <a:prstGeom prst="rightArrow">
              <a:avLst/>
            </a:prstGeom>
            <a:solidFill>
              <a:schemeClr val="tx1">
                <a:lumMod val="65000"/>
                <a:lumOff val="3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a typeface="Open Sans" panose="020B0606030504020204" pitchFamily="34" charset="0"/>
                <a:cs typeface="Open Sans" panose="020B0606030504020204" pitchFamily="34" charset="0"/>
              </a:endParaRPr>
            </a:p>
          </p:txBody>
        </p:sp>
        <p:sp>
          <p:nvSpPr>
            <p:cNvPr id="215" name="Arrow: Right 214">
              <a:extLst>
                <a:ext uri="{FF2B5EF4-FFF2-40B4-BE49-F238E27FC236}">
                  <a16:creationId xmlns:a16="http://schemas.microsoft.com/office/drawing/2014/main" id="{67683BB5-A73C-4184-8DC2-599FD520CB7B}"/>
                </a:ext>
              </a:extLst>
            </p:cNvPr>
            <p:cNvSpPr/>
            <p:nvPr/>
          </p:nvSpPr>
          <p:spPr>
            <a:xfrm>
              <a:off x="10268350" y="2643316"/>
              <a:ext cx="163626" cy="221803"/>
            </a:xfrm>
            <a:prstGeom prst="rightArrow">
              <a:avLst/>
            </a:prstGeom>
            <a:solidFill>
              <a:schemeClr val="tx1">
                <a:lumMod val="65000"/>
                <a:lumOff val="3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mj-lt"/>
                <a:ea typeface="Open Sans" panose="020B0606030504020204" pitchFamily="34" charset="0"/>
                <a:cs typeface="Open Sans" panose="020B0606030504020204" pitchFamily="34" charset="0"/>
              </a:endParaRPr>
            </a:p>
          </p:txBody>
        </p:sp>
        <p:sp>
          <p:nvSpPr>
            <p:cNvPr id="216" name="Rounded Rectangle 52">
              <a:extLst>
                <a:ext uri="{FF2B5EF4-FFF2-40B4-BE49-F238E27FC236}">
                  <a16:creationId xmlns:a16="http://schemas.microsoft.com/office/drawing/2014/main" id="{391D2E0E-A657-46C6-A5C1-4ED1A2B2C525}"/>
                </a:ext>
              </a:extLst>
            </p:cNvPr>
            <p:cNvSpPr/>
            <p:nvPr/>
          </p:nvSpPr>
          <p:spPr bwMode="auto">
            <a:xfrm>
              <a:off x="10599848" y="2872088"/>
              <a:ext cx="978309" cy="1599463"/>
            </a:xfrm>
            <a:prstGeom prst="roundRect">
              <a:avLst>
                <a:gd name="adj" fmla="val 4436"/>
              </a:avLst>
            </a:prstGeom>
            <a:ln w="12700">
              <a:solidFill>
                <a:schemeClr val="tx1">
                  <a:lumMod val="50000"/>
                  <a:lumOff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r>
                <a:rPr lang="en-US" sz="600" b="1" dirty="0">
                  <a:solidFill>
                    <a:schemeClr val="tx1"/>
                  </a:solidFill>
                  <a:latin typeface="+mj-lt"/>
                </a:rPr>
                <a:t>Other Access Channels</a:t>
              </a:r>
            </a:p>
          </p:txBody>
        </p:sp>
        <p:sp>
          <p:nvSpPr>
            <p:cNvPr id="218" name="Rounded Rectangle 164">
              <a:extLst>
                <a:ext uri="{FF2B5EF4-FFF2-40B4-BE49-F238E27FC236}">
                  <a16:creationId xmlns:a16="http://schemas.microsoft.com/office/drawing/2014/main" id="{A6FD1868-93D6-4FDA-BAA7-11F366E6B46D}"/>
                </a:ext>
              </a:extLst>
            </p:cNvPr>
            <p:cNvSpPr/>
            <p:nvPr/>
          </p:nvSpPr>
          <p:spPr bwMode="auto">
            <a:xfrm>
              <a:off x="10750431" y="4167813"/>
              <a:ext cx="679047"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Search</a:t>
              </a:r>
            </a:p>
          </p:txBody>
        </p:sp>
        <p:sp>
          <p:nvSpPr>
            <p:cNvPr id="219" name="Rounded Rectangle 165">
              <a:extLst>
                <a:ext uri="{FF2B5EF4-FFF2-40B4-BE49-F238E27FC236}">
                  <a16:creationId xmlns:a16="http://schemas.microsoft.com/office/drawing/2014/main" id="{11891963-AB3C-4CA9-A842-E95DC540F2F1}"/>
                </a:ext>
              </a:extLst>
            </p:cNvPr>
            <p:cNvSpPr/>
            <p:nvPr/>
          </p:nvSpPr>
          <p:spPr bwMode="auto">
            <a:xfrm>
              <a:off x="10762290" y="3542136"/>
              <a:ext cx="65532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Portals</a:t>
              </a:r>
            </a:p>
          </p:txBody>
        </p:sp>
        <p:sp>
          <p:nvSpPr>
            <p:cNvPr id="220" name="Rounded Rectangle 166">
              <a:extLst>
                <a:ext uri="{FF2B5EF4-FFF2-40B4-BE49-F238E27FC236}">
                  <a16:creationId xmlns:a16="http://schemas.microsoft.com/office/drawing/2014/main" id="{E13A5EC8-4941-435A-96D6-6BD1D849F67B}"/>
                </a:ext>
              </a:extLst>
            </p:cNvPr>
            <p:cNvSpPr/>
            <p:nvPr/>
          </p:nvSpPr>
          <p:spPr bwMode="auto">
            <a:xfrm>
              <a:off x="10762290" y="3854974"/>
              <a:ext cx="65532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Mobile</a:t>
              </a:r>
            </a:p>
          </p:txBody>
        </p:sp>
        <p:sp>
          <p:nvSpPr>
            <p:cNvPr id="221" name="Rounded Rectangle 165">
              <a:extLst>
                <a:ext uri="{FF2B5EF4-FFF2-40B4-BE49-F238E27FC236}">
                  <a16:creationId xmlns:a16="http://schemas.microsoft.com/office/drawing/2014/main" id="{6DF14CD0-7DC5-451D-80FB-E971473BB655}"/>
                </a:ext>
              </a:extLst>
            </p:cNvPr>
            <p:cNvSpPr/>
            <p:nvPr/>
          </p:nvSpPr>
          <p:spPr bwMode="auto">
            <a:xfrm>
              <a:off x="10762290" y="3229298"/>
              <a:ext cx="655328"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Enterprise App.</a:t>
              </a:r>
            </a:p>
          </p:txBody>
        </p:sp>
        <p:sp>
          <p:nvSpPr>
            <p:cNvPr id="222" name="Oval 221">
              <a:extLst>
                <a:ext uri="{FF2B5EF4-FFF2-40B4-BE49-F238E27FC236}">
                  <a16:creationId xmlns:a16="http://schemas.microsoft.com/office/drawing/2014/main" id="{193F9E97-A79F-452B-B7EE-14148CEA3C43}"/>
                </a:ext>
              </a:extLst>
            </p:cNvPr>
            <p:cNvSpPr/>
            <p:nvPr/>
          </p:nvSpPr>
          <p:spPr>
            <a:xfrm>
              <a:off x="1860871" y="4743826"/>
              <a:ext cx="355294" cy="228238"/>
            </a:xfrm>
            <a:prstGeom prst="ellipse">
              <a:avLst/>
            </a:prstGeom>
            <a:ln w="12700">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600" dirty="0">
                  <a:latin typeface="+mj-lt"/>
                </a:rPr>
                <a:t>6</a:t>
              </a:r>
            </a:p>
          </p:txBody>
        </p:sp>
        <p:sp>
          <p:nvSpPr>
            <p:cNvPr id="131" name="Rounded Rectangle 18">
              <a:extLst>
                <a:ext uri="{FF2B5EF4-FFF2-40B4-BE49-F238E27FC236}">
                  <a16:creationId xmlns:a16="http://schemas.microsoft.com/office/drawing/2014/main" id="{81393CEC-66F1-418B-B23A-7F41BBEE3A89}"/>
                </a:ext>
              </a:extLst>
            </p:cNvPr>
            <p:cNvSpPr/>
            <p:nvPr/>
          </p:nvSpPr>
          <p:spPr bwMode="auto">
            <a:xfrm>
              <a:off x="2248967" y="1774781"/>
              <a:ext cx="777240" cy="197596"/>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Shared</a:t>
              </a:r>
            </a:p>
          </p:txBody>
        </p:sp>
        <p:sp>
          <p:nvSpPr>
            <p:cNvPr id="136" name="Oval 135">
              <a:extLst>
                <a:ext uri="{FF2B5EF4-FFF2-40B4-BE49-F238E27FC236}">
                  <a16:creationId xmlns:a16="http://schemas.microsoft.com/office/drawing/2014/main" id="{18FD38D4-F425-43A4-AABE-C4B34B19AFE6}"/>
                </a:ext>
              </a:extLst>
            </p:cNvPr>
            <p:cNvSpPr/>
            <p:nvPr/>
          </p:nvSpPr>
          <p:spPr>
            <a:xfrm>
              <a:off x="298703" y="5605003"/>
              <a:ext cx="355294" cy="228238"/>
            </a:xfrm>
            <a:prstGeom prst="ellipse">
              <a:avLst/>
            </a:prstGeom>
            <a:ln w="12700">
              <a:solidFill>
                <a:schemeClr val="tx1">
                  <a:lumMod val="50000"/>
                  <a:lumOff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600" dirty="0">
                  <a:latin typeface="+mj-lt"/>
                </a:rPr>
                <a:t>7</a:t>
              </a:r>
            </a:p>
          </p:txBody>
        </p:sp>
        <p:sp>
          <p:nvSpPr>
            <p:cNvPr id="168" name="Rectangle 167">
              <a:extLst>
                <a:ext uri="{FF2B5EF4-FFF2-40B4-BE49-F238E27FC236}">
                  <a16:creationId xmlns:a16="http://schemas.microsoft.com/office/drawing/2014/main" id="{92906B8A-AF89-4C16-89A3-246E0F2ECB18}"/>
                </a:ext>
              </a:extLst>
            </p:cNvPr>
            <p:cNvSpPr/>
            <p:nvPr/>
          </p:nvSpPr>
          <p:spPr bwMode="auto">
            <a:xfrm>
              <a:off x="420492" y="623182"/>
              <a:ext cx="1313298" cy="218392"/>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noAutofit/>
            </a:bodyPr>
            <a:lstStyle/>
            <a:p>
              <a:pPr algn="ctr" fontAlgn="base">
                <a:spcBef>
                  <a:spcPct val="50000"/>
                </a:spcBef>
                <a:spcAft>
                  <a:spcPct val="0"/>
                </a:spcAft>
              </a:pPr>
              <a:r>
                <a:rPr lang="en-US" sz="600" b="1">
                  <a:latin typeface="+mj-lt"/>
                  <a:ea typeface="Open Sans" panose="020B0606030504020204" pitchFamily="34" charset="0"/>
                  <a:cs typeface="Open Sans" panose="020B0606030504020204" pitchFamily="34" charset="0"/>
                </a:rPr>
                <a:t>DATA SOURCES</a:t>
              </a:r>
              <a:endParaRPr lang="en-US" sz="600" b="1" dirty="0">
                <a:latin typeface="+mj-lt"/>
                <a:ea typeface="Open Sans" panose="020B0606030504020204" pitchFamily="34" charset="0"/>
                <a:cs typeface="Open Sans" panose="020B0606030504020204" pitchFamily="34" charset="0"/>
              </a:endParaRPr>
            </a:p>
          </p:txBody>
        </p:sp>
        <p:sp>
          <p:nvSpPr>
            <p:cNvPr id="169" name="Rectangle 168">
              <a:extLst>
                <a:ext uri="{FF2B5EF4-FFF2-40B4-BE49-F238E27FC236}">
                  <a16:creationId xmlns:a16="http://schemas.microsoft.com/office/drawing/2014/main" id="{CC79D147-46C1-48C1-AEC1-6136371CB320}"/>
                </a:ext>
              </a:extLst>
            </p:cNvPr>
            <p:cNvSpPr/>
            <p:nvPr/>
          </p:nvSpPr>
          <p:spPr bwMode="auto">
            <a:xfrm>
              <a:off x="9015177" y="632169"/>
              <a:ext cx="1224565" cy="218392"/>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noAutofit/>
            </a:bodyPr>
            <a:lstStyle/>
            <a:p>
              <a:pPr algn="ctr" fontAlgn="base">
                <a:spcBef>
                  <a:spcPct val="50000"/>
                </a:spcBef>
                <a:spcAft>
                  <a:spcPct val="0"/>
                </a:spcAft>
              </a:pPr>
              <a:r>
                <a:rPr lang="en-US" sz="500" b="1">
                  <a:latin typeface="+mj-lt"/>
                  <a:ea typeface="Open Sans" panose="020B0606030504020204" pitchFamily="34" charset="0"/>
                  <a:cs typeface="Open Sans" panose="020B0606030504020204" pitchFamily="34" charset="0"/>
                </a:rPr>
                <a:t>INFORMATION DELIVERY</a:t>
              </a:r>
              <a:endParaRPr lang="en-US" sz="500" b="1" dirty="0">
                <a:latin typeface="+mj-lt"/>
                <a:ea typeface="Open Sans" panose="020B0606030504020204" pitchFamily="34" charset="0"/>
                <a:cs typeface="Open Sans" panose="020B0606030504020204" pitchFamily="34" charset="0"/>
              </a:endParaRPr>
            </a:p>
          </p:txBody>
        </p:sp>
        <p:sp>
          <p:nvSpPr>
            <p:cNvPr id="170" name="Rectangle 169">
              <a:extLst>
                <a:ext uri="{FF2B5EF4-FFF2-40B4-BE49-F238E27FC236}">
                  <a16:creationId xmlns:a16="http://schemas.microsoft.com/office/drawing/2014/main" id="{F8CD21D0-2487-45B7-AE36-6ADB3A1D0882}"/>
                </a:ext>
              </a:extLst>
            </p:cNvPr>
            <p:cNvSpPr/>
            <p:nvPr/>
          </p:nvSpPr>
          <p:spPr bwMode="auto">
            <a:xfrm>
              <a:off x="2021104" y="623182"/>
              <a:ext cx="2542329" cy="218392"/>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base">
                <a:spcAft>
                  <a:spcPct val="0"/>
                </a:spcAft>
              </a:pPr>
              <a:r>
                <a:rPr lang="en-US" sz="600" b="1">
                  <a:latin typeface="+mj-lt"/>
                  <a:ea typeface="Open Sans" panose="020B0606030504020204" pitchFamily="34" charset="0"/>
                  <a:cs typeface="Open Sans" panose="020B0606030504020204" pitchFamily="34" charset="0"/>
                </a:rPr>
                <a:t>INGEST</a:t>
              </a:r>
              <a:endParaRPr lang="en-US" sz="600" b="1" dirty="0">
                <a:latin typeface="+mj-lt"/>
                <a:ea typeface="Open Sans" panose="020B0606030504020204" pitchFamily="34" charset="0"/>
                <a:cs typeface="Open Sans" panose="020B0606030504020204" pitchFamily="34" charset="0"/>
              </a:endParaRPr>
            </a:p>
          </p:txBody>
        </p:sp>
        <p:sp>
          <p:nvSpPr>
            <p:cNvPr id="173" name="Rectangle 172">
              <a:extLst>
                <a:ext uri="{FF2B5EF4-FFF2-40B4-BE49-F238E27FC236}">
                  <a16:creationId xmlns:a16="http://schemas.microsoft.com/office/drawing/2014/main" id="{C390B09C-8805-4617-899B-0BF9AAA32DED}"/>
                </a:ext>
              </a:extLst>
            </p:cNvPr>
            <p:cNvSpPr/>
            <p:nvPr/>
          </p:nvSpPr>
          <p:spPr bwMode="auto">
            <a:xfrm>
              <a:off x="10527057" y="640773"/>
              <a:ext cx="1107166" cy="215302"/>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base">
                <a:spcAft>
                  <a:spcPct val="0"/>
                </a:spcAft>
              </a:pPr>
              <a:r>
                <a:rPr lang="en-US" sz="500" b="1" dirty="0">
                  <a:latin typeface="+mj-lt"/>
                  <a:ea typeface="Open Sans" panose="020B0606030504020204" pitchFamily="34" charset="0"/>
                  <a:cs typeface="Open Sans" panose="020B0606030504020204" pitchFamily="34" charset="0"/>
                </a:rPr>
                <a:t>INFORMATION CONSUMERS</a:t>
              </a:r>
            </a:p>
          </p:txBody>
        </p:sp>
        <p:sp>
          <p:nvSpPr>
            <p:cNvPr id="174" name="Rectangle 173">
              <a:extLst>
                <a:ext uri="{FF2B5EF4-FFF2-40B4-BE49-F238E27FC236}">
                  <a16:creationId xmlns:a16="http://schemas.microsoft.com/office/drawing/2014/main" id="{FF9A7A89-17C9-4C93-A1A9-7447355491E6}"/>
                </a:ext>
              </a:extLst>
            </p:cNvPr>
            <p:cNvSpPr/>
            <p:nvPr/>
          </p:nvSpPr>
          <p:spPr bwMode="auto">
            <a:xfrm>
              <a:off x="4706094" y="623586"/>
              <a:ext cx="4155306" cy="221806"/>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noAutofit/>
            </a:bodyPr>
            <a:lstStyle/>
            <a:p>
              <a:pPr algn="ctr" fontAlgn="base">
                <a:spcBef>
                  <a:spcPct val="50000"/>
                </a:spcBef>
                <a:spcAft>
                  <a:spcPct val="0"/>
                </a:spcAft>
              </a:pPr>
              <a:r>
                <a:rPr lang="en-US" sz="600" b="1">
                  <a:latin typeface="+mj-lt"/>
                  <a:ea typeface="Open Sans" panose="020B0606030504020204" pitchFamily="34" charset="0"/>
                  <a:cs typeface="Open Sans" panose="020B0606030504020204" pitchFamily="34" charset="0"/>
                </a:rPr>
                <a:t>DATA STORAGE AND PROCESSING</a:t>
              </a:r>
              <a:endParaRPr lang="en-US" sz="600" b="1" dirty="0">
                <a:latin typeface="+mj-lt"/>
                <a:ea typeface="Open Sans" panose="020B0606030504020204" pitchFamily="34" charset="0"/>
                <a:cs typeface="Open Sans" panose="020B0606030504020204" pitchFamily="34" charset="0"/>
              </a:endParaRPr>
            </a:p>
          </p:txBody>
        </p:sp>
        <p:sp>
          <p:nvSpPr>
            <p:cNvPr id="137" name="Rounded Rectangle 137">
              <a:extLst>
                <a:ext uri="{FF2B5EF4-FFF2-40B4-BE49-F238E27FC236}">
                  <a16:creationId xmlns:a16="http://schemas.microsoft.com/office/drawing/2014/main" id="{3FB869C4-8E42-4AE1-9388-B9F38597B103}"/>
                </a:ext>
              </a:extLst>
            </p:cNvPr>
            <p:cNvSpPr/>
            <p:nvPr/>
          </p:nvSpPr>
          <p:spPr bwMode="auto">
            <a:xfrm>
              <a:off x="9278824" y="2371389"/>
              <a:ext cx="730663" cy="228600"/>
            </a:xfrm>
            <a:prstGeom prst="roundRect">
              <a:avLst/>
            </a:prstGeom>
            <a:ln w="12700">
              <a:solidFill>
                <a:schemeClr val="tx1">
                  <a:lumMod val="50000"/>
                  <a:lumOff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Discovery</a:t>
              </a:r>
            </a:p>
          </p:txBody>
        </p:sp>
        <p:sp>
          <p:nvSpPr>
            <p:cNvPr id="2" name="TextBox 1">
              <a:extLst>
                <a:ext uri="{FF2B5EF4-FFF2-40B4-BE49-F238E27FC236}">
                  <a16:creationId xmlns:a16="http://schemas.microsoft.com/office/drawing/2014/main" id="{32C86A04-E62A-4292-A8EB-8C2FF8064C9F}"/>
                </a:ext>
              </a:extLst>
            </p:cNvPr>
            <p:cNvSpPr txBox="1"/>
            <p:nvPr/>
          </p:nvSpPr>
          <p:spPr>
            <a:xfrm>
              <a:off x="1037213" y="254953"/>
              <a:ext cx="9773728" cy="263080"/>
            </a:xfrm>
            <a:prstGeom prst="rect">
              <a:avLst/>
            </a:prstGeom>
            <a:noFill/>
            <a:ln w="12700">
              <a:solidFill>
                <a:schemeClr val="tx1">
                  <a:lumMod val="50000"/>
                  <a:lumOff val="50000"/>
                </a:schemeClr>
              </a:solidFill>
            </a:ln>
          </p:spPr>
          <p:txBody>
            <a:bodyPr wrap="square" rtlCol="0">
              <a:spAutoFit/>
            </a:bodyPr>
            <a:lstStyle/>
            <a:p>
              <a:pPr algn="ctr"/>
              <a:r>
                <a:rPr lang="en-US" sz="900" b="1" dirty="0">
                  <a:latin typeface="+mj-lt"/>
                </a:rPr>
                <a:t>Set of capabilities for a modern big data analytics platform</a:t>
              </a:r>
            </a:p>
          </p:txBody>
        </p:sp>
      </p:grpSp>
    </p:spTree>
    <p:extLst>
      <p:ext uri="{BB962C8B-B14F-4D97-AF65-F5344CB8AC3E}">
        <p14:creationId xmlns:p14="http://schemas.microsoft.com/office/powerpoint/2010/main" val="168584774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noProof="0" dirty="0"/>
              <a:t>Architecture description</a:t>
            </a:r>
          </a:p>
        </p:txBody>
      </p:sp>
      <p:sp>
        <p:nvSpPr>
          <p:cNvPr id="2" name="Text Placeholder 1">
            <a:extLst>
              <a:ext uri="{FF2B5EF4-FFF2-40B4-BE49-F238E27FC236}">
                <a16:creationId xmlns:a16="http://schemas.microsoft.com/office/drawing/2014/main" id="{0BFF9379-A177-499D-B02B-8ABEE08A1C4D}"/>
              </a:ext>
            </a:extLst>
          </p:cNvPr>
          <p:cNvSpPr>
            <a:spLocks noGrp="1"/>
          </p:cNvSpPr>
          <p:nvPr>
            <p:ph type="body" idx="1"/>
          </p:nvPr>
        </p:nvSpPr>
        <p:spPr/>
        <p:txBody>
          <a:bodyPr/>
          <a:lstStyle/>
          <a:p>
            <a:r>
              <a:rPr lang="en-US" dirty="0"/>
              <a:t>Architecture capabilities description</a:t>
            </a:r>
          </a:p>
        </p:txBody>
      </p:sp>
    </p:spTree>
    <p:extLst>
      <p:ext uri="{BB962C8B-B14F-4D97-AF65-F5344CB8AC3E}">
        <p14:creationId xmlns:p14="http://schemas.microsoft.com/office/powerpoint/2010/main" val="63896193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5D003B3-A720-4F95-A383-A7BCCFBDB233}"/>
              </a:ext>
            </a:extLst>
          </p:cNvPr>
          <p:cNvSpPr>
            <a:spLocks noGrp="1"/>
          </p:cNvSpPr>
          <p:nvPr>
            <p:ph type="body" sz="quarter" idx="13"/>
          </p:nvPr>
        </p:nvSpPr>
        <p:spPr/>
        <p:txBody>
          <a:bodyPr/>
          <a:lstStyle/>
          <a:p>
            <a:r>
              <a:rPr lang="en-US" dirty="0"/>
              <a:t>Business applications and other applications</a:t>
            </a:r>
          </a:p>
        </p:txBody>
      </p:sp>
      <p:sp>
        <p:nvSpPr>
          <p:cNvPr id="2" name="Title 1"/>
          <p:cNvSpPr>
            <a:spLocks noGrp="1"/>
          </p:cNvSpPr>
          <p:nvPr>
            <p:ph type="title"/>
          </p:nvPr>
        </p:nvSpPr>
        <p:spPr/>
        <p:txBody>
          <a:bodyPr/>
          <a:lstStyle/>
          <a:p>
            <a:r>
              <a:rPr lang="en-US" dirty="0"/>
              <a:t>1. Data sources</a:t>
            </a:r>
          </a:p>
        </p:txBody>
      </p:sp>
      <p:graphicFrame>
        <p:nvGraphicFramePr>
          <p:cNvPr id="5" name="Table 4">
            <a:extLst>
              <a:ext uri="{FF2B5EF4-FFF2-40B4-BE49-F238E27FC236}">
                <a16:creationId xmlns:a16="http://schemas.microsoft.com/office/drawing/2014/main" id="{750A2CCD-3B90-418B-834A-CEDDE0D0AD3D}"/>
              </a:ext>
            </a:extLst>
          </p:cNvPr>
          <p:cNvGraphicFramePr>
            <a:graphicFrameLocks noGrp="1"/>
          </p:cNvGraphicFramePr>
          <p:nvPr>
            <p:extLst>
              <p:ext uri="{D42A27DB-BD31-4B8C-83A1-F6EECF244321}">
                <p14:modId xmlns:p14="http://schemas.microsoft.com/office/powerpoint/2010/main" val="357917860"/>
              </p:ext>
            </p:extLst>
          </p:nvPr>
        </p:nvGraphicFramePr>
        <p:xfrm>
          <a:off x="469900" y="1665288"/>
          <a:ext cx="11248948" cy="292608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3283975">
                  <a:extLst>
                    <a:ext uri="{9D8B030D-6E8A-4147-A177-3AD203B41FA5}">
                      <a16:colId xmlns:a16="http://schemas.microsoft.com/office/drawing/2014/main" val="3269670294"/>
                    </a:ext>
                  </a:extLst>
                </a:gridCol>
                <a:gridCol w="6517583">
                  <a:extLst>
                    <a:ext uri="{9D8B030D-6E8A-4147-A177-3AD203B41FA5}">
                      <a16:colId xmlns:a16="http://schemas.microsoft.com/office/drawing/2014/main" val="1361826925"/>
                    </a:ext>
                  </a:extLst>
                </a:gridCol>
              </a:tblGrid>
              <a:tr h="0">
                <a:tc>
                  <a:txBody>
                    <a:bodyPr/>
                    <a:lstStyle/>
                    <a:p>
                      <a:pPr algn="l">
                        <a:lnSpc>
                          <a:spcPct val="100000"/>
                        </a:lnSpc>
                        <a:spcBef>
                          <a:spcPts val="0"/>
                        </a:spcBef>
                        <a:spcAft>
                          <a:spcPts val="600"/>
                        </a:spcAft>
                      </a:pPr>
                      <a:r>
                        <a:rPr lang="en-US" sz="1100" b="1" dirty="0">
                          <a:solidFill>
                            <a:schemeClr val="bg1"/>
                          </a:solidFill>
                        </a:rPr>
                        <a:t>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l" rtl="0" eaLnBrk="0" fontAlgn="base" hangingPunct="0">
                        <a:lnSpc>
                          <a:spcPct val="100000"/>
                        </a:lnSpc>
                        <a:spcBef>
                          <a:spcPts val="0"/>
                        </a:spcBef>
                        <a:spcAft>
                          <a:spcPts val="600"/>
                        </a:spcAft>
                        <a:defRPr/>
                      </a:pPr>
                      <a:r>
                        <a:rPr lang="en-US" sz="1100" b="1" kern="1200" dirty="0">
                          <a:solidFill>
                            <a:schemeClr val="bg1"/>
                          </a:solidFill>
                        </a:rPr>
                        <a:t>Description</a:t>
                      </a:r>
                      <a:endParaRPr lang="en-US" sz="110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600"/>
                        </a:spcAft>
                      </a:pPr>
                      <a:r>
                        <a:rPr lang="en-US" sz="1100" b="1" kern="1200" baseline="0" dirty="0">
                          <a:solidFill>
                            <a:sysClr val="windowText" lastClr="000000"/>
                          </a:solidFill>
                        </a:rPr>
                        <a:t>Data sources</a:t>
                      </a:r>
                      <a:endParaRPr lang="en-US" sz="11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algn="l" defTabSz="914400" rtl="0" eaLnBrk="0" fontAlgn="base" latinLnBrk="0" hangingPunct="0">
                        <a:lnSpc>
                          <a:spcPct val="100000"/>
                        </a:lnSpc>
                        <a:spcBef>
                          <a:spcPts val="0"/>
                        </a:spcBef>
                        <a:spcAft>
                          <a:spcPts val="1200"/>
                        </a:spcAft>
                        <a:defRPr/>
                      </a:pPr>
                      <a:r>
                        <a:rPr lang="en-US" sz="1100" b="1" kern="1200" baseline="0" dirty="0"/>
                        <a:t>Business applications:</a:t>
                      </a:r>
                      <a:r>
                        <a:rPr lang="en-US" sz="1100" kern="1200" baseline="0" dirty="0"/>
                        <a:t> The business systems are the applications/devices that are controlled and managed by the enterprise. Business applications provide data to the data and analytics platform. The business applications could be using relational databases as their backend data stores (Oracle, DB2, SQL Server). Relational data stores are characterized as Structured Data Sources. Integration technologies specific to vendor are used to consume data in near real time or at regular intervals to move to data and analytics platform or operational data stores. Very few modern applications give access to the data consumers by services (JSON and XML as output). </a:t>
                      </a:r>
                    </a:p>
                    <a:p>
                      <a:pPr marL="0" algn="l" defTabSz="914400" rtl="0" eaLnBrk="0" fontAlgn="base" latinLnBrk="0" hangingPunct="0">
                        <a:lnSpc>
                          <a:spcPct val="100000"/>
                        </a:lnSpc>
                        <a:spcBef>
                          <a:spcPts val="0"/>
                        </a:spcBef>
                        <a:spcAft>
                          <a:spcPts val="1200"/>
                        </a:spcAft>
                        <a:defRPr/>
                      </a:pPr>
                      <a:r>
                        <a:rPr lang="en-US" sz="1100" b="1" kern="1200" baseline="0" dirty="0"/>
                        <a:t>Other applications: </a:t>
                      </a:r>
                      <a:r>
                        <a:rPr lang="en-US" sz="1100" baseline="0" dirty="0"/>
                        <a:t>The other external systems are not controlled and managed by an enterprise. Such systems can be a partner, or a vendor system that provides data to an enterprise using a well defined data format such as flat files, document data in XML or JSON formats. External systems may provide data in a structured or unstructured data formats. Some applications are hybrid in nature such as IoT applications which provide streaming data to the enterprise because IoT infrastructure </a:t>
                      </a:r>
                      <a:r>
                        <a:rPr lang="en-US" sz="1100" kern="1200" baseline="0" dirty="0"/>
                        <a:t>can be outside the enterprise network boundaries being managed by external providers.</a:t>
                      </a:r>
                      <a:endParaRPr lang="en-US" sz="1100" b="0" kern="1200" baseline="0" dirty="0">
                        <a:solidFill>
                          <a:schemeClr val="tx1"/>
                        </a:solidFill>
                        <a:latin typeface="+mn-lt"/>
                        <a:ea typeface="+mn-ea"/>
                        <a:cs typeface="+mn-cs"/>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525600140"/>
                  </a:ext>
                </a:extLst>
              </a:tr>
              <a:tr h="0">
                <a:tc>
                  <a:txBody>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lang="en-US" sz="1100" b="1" kern="1200" baseline="0" dirty="0">
                          <a:solidFill>
                            <a:sysClr val="windowText" lastClr="000000"/>
                          </a:solidFill>
                        </a:rPr>
                        <a:t>Applicable NFRs and arch principles</a:t>
                      </a:r>
                      <a:endParaRPr lang="en-US" sz="11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6—History</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7—Data Movement</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15—Encryption &amp; Sensitive Data</a:t>
                      </a:r>
                      <a:endParaRPr lang="en-US" sz="1100" kern="0" dirty="0">
                        <a:solidFill>
                          <a:srgbClr val="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PRIN-1 Re-use rather than duplicate capabilities</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PRIN-3 Low coupling between systems but ensure inter-operability</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PRIN-5 Data standardization and governance to ensure consistency and accuracy</a:t>
                      </a:r>
                      <a:endParaRPr lang="en-US" sz="1100" kern="0" dirty="0">
                        <a:solidFill>
                          <a:srgbClr val="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139824164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pPr lvl="0"/>
            <a:r>
              <a:rPr lang="en-US" altLang="en-US" dirty="0"/>
              <a:t>Business applications and other applications</a:t>
            </a:r>
          </a:p>
        </p:txBody>
      </p:sp>
      <p:graphicFrame>
        <p:nvGraphicFramePr>
          <p:cNvPr id="4" name="Table 3">
            <a:extLst>
              <a:ext uri="{FF2B5EF4-FFF2-40B4-BE49-F238E27FC236}">
                <a16:creationId xmlns:a16="http://schemas.microsoft.com/office/drawing/2014/main" id="{368C39B4-A3D3-498E-A7C0-68CDE32E130F}"/>
              </a:ext>
            </a:extLst>
          </p:cNvPr>
          <p:cNvGraphicFramePr>
            <a:graphicFrameLocks noGrp="1"/>
          </p:cNvGraphicFramePr>
          <p:nvPr>
            <p:extLst>
              <p:ext uri="{D42A27DB-BD31-4B8C-83A1-F6EECF244321}">
                <p14:modId xmlns:p14="http://schemas.microsoft.com/office/powerpoint/2010/main" val="3157977981"/>
              </p:ext>
            </p:extLst>
          </p:nvPr>
        </p:nvGraphicFramePr>
        <p:xfrm>
          <a:off x="469900" y="1031057"/>
          <a:ext cx="11248948" cy="511810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0"/>
                        </a:spcAft>
                      </a:pPr>
                      <a:r>
                        <a:rPr lang="en-US" sz="1050" b="1" kern="1200" baseline="0" dirty="0">
                          <a:solidFill>
                            <a:sysClr val="windowText" lastClr="000000"/>
                          </a:solidFill>
                        </a:rPr>
                        <a:t>Business applications</a:t>
                      </a:r>
                      <a:endParaRPr lang="en-US" sz="105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0" fontAlgn="base" latinLnBrk="0" hangingPunct="0">
                        <a:lnSpc>
                          <a:spcPct val="100000"/>
                        </a:lnSpc>
                        <a:spcBef>
                          <a:spcPts val="0"/>
                        </a:spcBef>
                        <a:spcAft>
                          <a:spcPts val="400"/>
                        </a:spcAft>
                        <a:defRPr/>
                      </a:pPr>
                      <a:r>
                        <a:rPr lang="en-US" sz="1050" b="1" kern="1200" baseline="0" dirty="0"/>
                        <a:t>Enterprise resource planning systems: </a:t>
                      </a:r>
                      <a:r>
                        <a:rPr lang="en-US" sz="1050" b="0" kern="1200" baseline="0" dirty="0"/>
                        <a:t>Enterprise resource planning systems implement core business processes such as Manufacturing, Inventory Management, Financial Accounting and Supply Chain. The transaction data from these systems is ingested to the data and analytics platforms or operational data warehouses to perform the analytics and reporting. The backend for these systems is either a proprietary vendor file system or a relational database. The data is available from these systems in structured formats.</a:t>
                      </a:r>
                    </a:p>
                    <a:p>
                      <a:pPr marL="0" algn="l" defTabSz="914400" rtl="0" eaLnBrk="0" fontAlgn="base" latinLnBrk="0" hangingPunct="0">
                        <a:lnSpc>
                          <a:spcPct val="100000"/>
                        </a:lnSpc>
                        <a:spcBef>
                          <a:spcPts val="0"/>
                        </a:spcBef>
                        <a:spcAft>
                          <a:spcPts val="400"/>
                        </a:spcAft>
                        <a:defRPr/>
                      </a:pPr>
                      <a:r>
                        <a:rPr lang="en-US" sz="1050" b="1" kern="1200" baseline="0" dirty="0"/>
                        <a:t>Master data:</a:t>
                      </a:r>
                      <a:r>
                        <a:rPr lang="en-US" sz="1050" b="0" kern="1200" baseline="0" dirty="0"/>
                        <a:t> Master data is the consistent and uniform set of identifiers and extended attributes that describes the core entities of the enterprise including customers, prospects, suppliers, sites, hierarchies and chart of accounts. Unlike transactional entities, these entities are usually slowly changing. Each industry identified master data using a standards data model. e.g., Healthcare industry uses HIPAA to identify the master data and associated processes, Energy and utilities industry uses utility data model and likewise each industry has identified common set of data and master data. Some industries may have an advanced industry data model than others. Master data Management Systems manage the critical data of an organization and provide the data to integrate as a single point of reference. The data that is mastered may include reference data—the set of permissible values, and the analytical data that supports decision making.</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r h="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50" b="1" kern="1200" baseline="0" dirty="0">
                          <a:solidFill>
                            <a:sysClr val="windowText" lastClr="000000"/>
                          </a:solidFill>
                        </a:rPr>
                        <a:t>Other </a:t>
                      </a:r>
                      <a:br>
                        <a:rPr lang="en-US" sz="1050" b="1" kern="1200" baseline="0" dirty="0">
                          <a:solidFill>
                            <a:sysClr val="windowText" lastClr="000000"/>
                          </a:solidFill>
                        </a:rPr>
                      </a:br>
                      <a:r>
                        <a:rPr lang="en-US" sz="1050" b="1" kern="1200" baseline="0" dirty="0">
                          <a:solidFill>
                            <a:sysClr val="windowText" lastClr="000000"/>
                          </a:solidFill>
                        </a:rPr>
                        <a:t>applications</a:t>
                      </a:r>
                      <a:endParaRPr lang="en-US" sz="105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rtl="0" eaLnBrk="0" fontAlgn="base" hangingPunct="0">
                        <a:lnSpc>
                          <a:spcPct val="100000"/>
                        </a:lnSpc>
                        <a:spcBef>
                          <a:spcPts val="0"/>
                        </a:spcBef>
                        <a:spcAft>
                          <a:spcPts val="400"/>
                        </a:spcAft>
                        <a:buFont typeface="Arial" panose="020B0604020202020204" pitchFamily="34" charset="0"/>
                        <a:buNone/>
                        <a:defRPr/>
                      </a:pPr>
                      <a:r>
                        <a:rPr lang="en-US" sz="1050" b="1" kern="0" dirty="0">
                          <a:solidFill>
                            <a:srgbClr val="000000"/>
                          </a:solidFill>
                          <a:latin typeface="+mn-lt"/>
                          <a:ea typeface="+mn-ea"/>
                          <a:cs typeface="+mn-cs"/>
                        </a:rPr>
                        <a:t>IoT data:</a:t>
                      </a:r>
                      <a:r>
                        <a:rPr lang="en-US" sz="1050" kern="0" dirty="0">
                          <a:solidFill>
                            <a:srgbClr val="000000"/>
                          </a:solidFill>
                          <a:latin typeface="+mn-lt"/>
                          <a:ea typeface="+mn-ea"/>
                          <a:cs typeface="+mn-cs"/>
                        </a:rPr>
                        <a:t> The network of devices/sensors that capture and transfer the signal data from industrial devices, home appliances, vehicles, railroads and airplanes form the core of the Internet of Things (IoT) data. The devices can be spread across vast geographical boundaries and use the internet or dedicated networks to transmit data. IoT data is usually machine data which is interpreted by IoT hubs (which registers the distributed devices) before ingesting to the data and analytics platform. The IoT has evolved due to convergence of multiple technologies, real-time analytics, machine learning, commodity sensors, and embedded systems. </a:t>
                      </a:r>
                    </a:p>
                    <a:p>
                      <a:pPr marL="0" indent="0" algn="l" rtl="0" eaLnBrk="0" fontAlgn="base" hangingPunct="0">
                        <a:lnSpc>
                          <a:spcPct val="100000"/>
                        </a:lnSpc>
                        <a:spcBef>
                          <a:spcPts val="0"/>
                        </a:spcBef>
                        <a:spcAft>
                          <a:spcPts val="400"/>
                        </a:spcAft>
                        <a:buFont typeface="Arial" panose="020B0604020202020204" pitchFamily="34" charset="0"/>
                        <a:buNone/>
                        <a:defRPr/>
                      </a:pPr>
                      <a:r>
                        <a:rPr lang="en-US" sz="1050" b="1" kern="0" dirty="0">
                          <a:solidFill>
                            <a:srgbClr val="000000"/>
                          </a:solidFill>
                          <a:latin typeface="+mn-lt"/>
                          <a:ea typeface="+mn-ea"/>
                          <a:cs typeface="+mn-cs"/>
                        </a:rPr>
                        <a:t>External data: </a:t>
                      </a:r>
                      <a:r>
                        <a:rPr lang="en-US" sz="1050" kern="0" dirty="0">
                          <a:solidFill>
                            <a:srgbClr val="000000"/>
                          </a:solidFill>
                          <a:latin typeface="+mn-lt"/>
                          <a:ea typeface="+mn-ea"/>
                          <a:cs typeface="+mn-cs"/>
                        </a:rPr>
                        <a:t>The external systems are controlled by organizations that are not controlled by the enterprise. Such systems can be a partner, or a vendor system that provides data to client using a well defined data format such as flat files, document data in XML or JSON formats. External systems may provide data in a structured or unstructured data format. External data is classified as 2nd party or 3rd party datasets.</a:t>
                      </a:r>
                    </a:p>
                    <a:p>
                      <a:pPr marL="0" indent="0" algn="l" rtl="0" eaLnBrk="0" fontAlgn="base" hangingPunct="0">
                        <a:lnSpc>
                          <a:spcPct val="100000"/>
                        </a:lnSpc>
                        <a:spcBef>
                          <a:spcPts val="0"/>
                        </a:spcBef>
                        <a:spcAft>
                          <a:spcPts val="400"/>
                        </a:spcAft>
                        <a:buFont typeface="Arial" panose="020B0604020202020204" pitchFamily="34" charset="0"/>
                        <a:buNone/>
                        <a:defRPr/>
                      </a:pPr>
                      <a:r>
                        <a:rPr lang="en-US" sz="1050" b="1" kern="0" dirty="0">
                          <a:solidFill>
                            <a:srgbClr val="000000"/>
                          </a:solidFill>
                          <a:latin typeface="+mn-lt"/>
                          <a:ea typeface="+mn-ea"/>
                          <a:cs typeface="+mn-cs"/>
                        </a:rPr>
                        <a:t>Live stream data:</a:t>
                      </a:r>
                      <a:r>
                        <a:rPr lang="en-US" sz="1050" kern="0" dirty="0">
                          <a:solidFill>
                            <a:srgbClr val="000000"/>
                          </a:solidFill>
                          <a:latin typeface="+mn-lt"/>
                          <a:ea typeface="+mn-ea"/>
                          <a:cs typeface="+mn-cs"/>
                        </a:rPr>
                        <a:t> Streaming Data is data that is generated continuously and received at the ingestion layer with high frequency (from couple of minutes to micro seconds). IoT data is a form of streaming data is received from scores of data sources simultaneously, and in small sizes (order of Kilobytes). Streaming data includes a wide variety of data such as log files generated by customers using your mobile or web applications, ecommerce purchases, in-game player activity, information from social networks, financial trading floors, geospatial services, or telemetry from connected devices.</a:t>
                      </a:r>
                    </a:p>
                    <a:p>
                      <a:pPr marL="0" indent="0" algn="l" rtl="0" eaLnBrk="0" fontAlgn="base" hangingPunct="0">
                        <a:lnSpc>
                          <a:spcPct val="100000"/>
                        </a:lnSpc>
                        <a:spcBef>
                          <a:spcPts val="0"/>
                        </a:spcBef>
                        <a:spcAft>
                          <a:spcPts val="400"/>
                        </a:spcAft>
                        <a:buFont typeface="Arial" panose="020B0604020202020204" pitchFamily="34" charset="0"/>
                        <a:buNone/>
                        <a:defRPr/>
                      </a:pPr>
                      <a:r>
                        <a:rPr lang="en-US" sz="1050" b="1" kern="0" dirty="0">
                          <a:solidFill>
                            <a:srgbClr val="000000"/>
                          </a:solidFill>
                          <a:latin typeface="+mn-lt"/>
                          <a:ea typeface="+mn-ea"/>
                          <a:cs typeface="+mn-cs"/>
                        </a:rPr>
                        <a:t>Geospatial data:</a:t>
                      </a:r>
                      <a:r>
                        <a:rPr lang="en-US" sz="1050" kern="0" dirty="0">
                          <a:solidFill>
                            <a:srgbClr val="000000"/>
                          </a:solidFill>
                          <a:latin typeface="+mn-lt"/>
                          <a:ea typeface="+mn-ea"/>
                          <a:cs typeface="+mn-cs"/>
                        </a:rPr>
                        <a:t> Geospatial data contains location information in it. Vector-based, geospatial datasets describe shapes, geographical coordinates and topology. Raster-based geospatial datasets describes images. Geospatial databases are required to store and provide query capabilities for spatial and </a:t>
                      </a:r>
                      <a:r>
                        <a:rPr lang="en-US" sz="1050" kern="0" dirty="0" err="1">
                          <a:solidFill>
                            <a:srgbClr val="000000"/>
                          </a:solidFill>
                          <a:latin typeface="+mn-lt"/>
                          <a:ea typeface="+mn-ea"/>
                          <a:cs typeface="+mn-cs"/>
                        </a:rPr>
                        <a:t>spatio</a:t>
                      </a:r>
                      <a:r>
                        <a:rPr lang="en-US" sz="1050" kern="0" dirty="0">
                          <a:solidFill>
                            <a:srgbClr val="000000"/>
                          </a:solidFill>
                          <a:latin typeface="+mn-lt"/>
                          <a:ea typeface="+mn-ea"/>
                          <a:cs typeface="+mn-cs"/>
                        </a:rPr>
                        <a:t>-temporal attributes. The data is used in map visualizations and analytics in Geographical </a:t>
                      </a:r>
                      <a:br>
                        <a:rPr lang="en-US" sz="1050" kern="0" dirty="0">
                          <a:solidFill>
                            <a:srgbClr val="000000"/>
                          </a:solidFill>
                          <a:latin typeface="+mn-lt"/>
                          <a:ea typeface="+mn-ea"/>
                          <a:cs typeface="+mn-cs"/>
                        </a:rPr>
                      </a:br>
                      <a:r>
                        <a:rPr lang="en-US" sz="1050" kern="0" dirty="0">
                          <a:solidFill>
                            <a:srgbClr val="000000"/>
                          </a:solidFill>
                          <a:latin typeface="+mn-lt"/>
                          <a:ea typeface="+mn-ea"/>
                          <a:cs typeface="+mn-cs"/>
                        </a:rPr>
                        <a:t>Information Systems.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312477986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F66D958-4438-4078-978E-1B5A83649835}"/>
              </a:ext>
            </a:extLst>
          </p:cNvPr>
          <p:cNvSpPr>
            <a:spLocks noGrp="1"/>
          </p:cNvSpPr>
          <p:nvPr>
            <p:ph type="body" sz="quarter" idx="13"/>
          </p:nvPr>
        </p:nvSpPr>
        <p:spPr/>
        <p:txBody>
          <a:bodyPr/>
          <a:lstStyle/>
          <a:p>
            <a:r>
              <a:rPr lang="en-US" dirty="0"/>
              <a:t>Data integration and data ingestion methods</a:t>
            </a:r>
          </a:p>
        </p:txBody>
      </p:sp>
      <p:sp>
        <p:nvSpPr>
          <p:cNvPr id="2" name="Title 1"/>
          <p:cNvSpPr>
            <a:spLocks noGrp="1"/>
          </p:cNvSpPr>
          <p:nvPr>
            <p:ph type="title"/>
          </p:nvPr>
        </p:nvSpPr>
        <p:spPr/>
        <p:txBody>
          <a:bodyPr/>
          <a:lstStyle/>
          <a:p>
            <a:r>
              <a:rPr lang="en-US" dirty="0"/>
              <a:t>2. Data acquisition</a:t>
            </a:r>
          </a:p>
        </p:txBody>
      </p:sp>
      <p:graphicFrame>
        <p:nvGraphicFramePr>
          <p:cNvPr id="15" name="Table 14">
            <a:extLst>
              <a:ext uri="{FF2B5EF4-FFF2-40B4-BE49-F238E27FC236}">
                <a16:creationId xmlns:a16="http://schemas.microsoft.com/office/drawing/2014/main" id="{F1EB8B5A-B063-498A-91B7-FCA4975A5C53}"/>
              </a:ext>
            </a:extLst>
          </p:cNvPr>
          <p:cNvGraphicFramePr>
            <a:graphicFrameLocks noGrp="1"/>
          </p:cNvGraphicFramePr>
          <p:nvPr>
            <p:extLst>
              <p:ext uri="{D42A27DB-BD31-4B8C-83A1-F6EECF244321}">
                <p14:modId xmlns:p14="http://schemas.microsoft.com/office/powerpoint/2010/main" val="107465933"/>
              </p:ext>
            </p:extLst>
          </p:nvPr>
        </p:nvGraphicFramePr>
        <p:xfrm>
          <a:off x="469900" y="1665288"/>
          <a:ext cx="11248948" cy="330708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3283975">
                  <a:extLst>
                    <a:ext uri="{9D8B030D-6E8A-4147-A177-3AD203B41FA5}">
                      <a16:colId xmlns:a16="http://schemas.microsoft.com/office/drawing/2014/main" val="3269670294"/>
                    </a:ext>
                  </a:extLst>
                </a:gridCol>
                <a:gridCol w="6517583">
                  <a:extLst>
                    <a:ext uri="{9D8B030D-6E8A-4147-A177-3AD203B41FA5}">
                      <a16:colId xmlns:a16="http://schemas.microsoft.com/office/drawing/2014/main" val="1361826925"/>
                    </a:ext>
                  </a:extLst>
                </a:gridCol>
              </a:tblGrid>
              <a:tr h="0">
                <a:tc>
                  <a:txBody>
                    <a:bodyPr/>
                    <a:lstStyle/>
                    <a:p>
                      <a:pPr algn="l">
                        <a:lnSpc>
                          <a:spcPct val="100000"/>
                        </a:lnSpc>
                        <a:spcBef>
                          <a:spcPts val="0"/>
                        </a:spcBef>
                        <a:spcAft>
                          <a:spcPts val="600"/>
                        </a:spcAft>
                      </a:pPr>
                      <a:r>
                        <a:rPr lang="en-US" sz="1100" b="1" dirty="0">
                          <a:solidFill>
                            <a:schemeClr val="bg1"/>
                          </a:solidFill>
                        </a:rPr>
                        <a:t>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gridSpan="2">
                  <a:txBody>
                    <a:bodyPr/>
                    <a:lstStyle/>
                    <a:p>
                      <a:pPr algn="l" rtl="0" eaLnBrk="0" fontAlgn="base" hangingPunct="0">
                        <a:lnSpc>
                          <a:spcPct val="100000"/>
                        </a:lnSpc>
                        <a:spcBef>
                          <a:spcPts val="0"/>
                        </a:spcBef>
                        <a:spcAft>
                          <a:spcPts val="600"/>
                        </a:spcAft>
                        <a:defRPr/>
                      </a:pPr>
                      <a:r>
                        <a:rPr lang="en-US" sz="1100" b="1" kern="1200" dirty="0">
                          <a:solidFill>
                            <a:schemeClr val="bg1"/>
                          </a:solidFill>
                        </a:rPr>
                        <a:t>Description</a:t>
                      </a:r>
                      <a:endParaRPr lang="en-US" sz="110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hMerge="1">
                  <a:txBody>
                    <a:bodyPr/>
                    <a:lstStyle/>
                    <a:p>
                      <a:endParaRPr lang="en-US"/>
                    </a:p>
                  </a:txBody>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600"/>
                        </a:spcAft>
                      </a:pPr>
                      <a:r>
                        <a:rPr lang="en-US" sz="1100" b="1" kern="1200" baseline="0" dirty="0">
                          <a:solidFill>
                            <a:sysClr val="windowText" lastClr="000000"/>
                          </a:solidFill>
                        </a:rPr>
                        <a:t>Data acquisition</a:t>
                      </a:r>
                      <a:endParaRPr lang="en-US" sz="11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l" defTabSz="914400" rtl="0" eaLnBrk="0" fontAlgn="base" latinLnBrk="0" hangingPunct="0">
                        <a:lnSpc>
                          <a:spcPct val="100000"/>
                        </a:lnSpc>
                        <a:spcBef>
                          <a:spcPts val="0"/>
                        </a:spcBef>
                        <a:spcAft>
                          <a:spcPts val="1200"/>
                        </a:spcAft>
                        <a:defRPr/>
                      </a:pPr>
                      <a:r>
                        <a:rPr lang="en-US" sz="1100" b="1" kern="1200" baseline="0" dirty="0"/>
                        <a:t>Data movement: </a:t>
                      </a:r>
                      <a:r>
                        <a:rPr lang="en-US" sz="1100" b="0" kern="1200" baseline="0" dirty="0"/>
                        <a:t>Data integration capability moves the data from the upstream source systems to the data &amp; analytics platform. The data pipelines initiate in this stage to integrate data on demand, in batch and in real time, such as streaming data from IoT sensors, events on message queues and other line-of-business systems. </a:t>
                      </a:r>
                    </a:p>
                    <a:p>
                      <a:pPr marL="0" algn="l" defTabSz="914400" rtl="0" eaLnBrk="0" fontAlgn="base" latinLnBrk="0" hangingPunct="0">
                        <a:lnSpc>
                          <a:spcPct val="100000"/>
                        </a:lnSpc>
                        <a:spcBef>
                          <a:spcPts val="0"/>
                        </a:spcBef>
                        <a:spcAft>
                          <a:spcPts val="1200"/>
                        </a:spcAft>
                        <a:defRPr/>
                      </a:pPr>
                      <a:r>
                        <a:rPr lang="en-US" sz="1100" b="0" kern="1200" baseline="0" dirty="0"/>
                        <a:t>The data ingestion patterns and ingestion methods are selected based on data velocity, frequency, volume and latency requirements.</a:t>
                      </a:r>
                    </a:p>
                    <a:p>
                      <a:pPr marL="0" algn="l" defTabSz="914400" rtl="0" eaLnBrk="0" fontAlgn="base" latinLnBrk="0" hangingPunct="0">
                        <a:lnSpc>
                          <a:spcPct val="100000"/>
                        </a:lnSpc>
                        <a:spcBef>
                          <a:spcPts val="0"/>
                        </a:spcBef>
                        <a:spcAft>
                          <a:spcPts val="1200"/>
                        </a:spcAft>
                        <a:defRPr/>
                      </a:pPr>
                      <a:r>
                        <a:rPr lang="en-US" sz="1100" b="1" kern="1200" baseline="0" dirty="0"/>
                        <a:t>Ingestion methods: </a:t>
                      </a:r>
                      <a:r>
                        <a:rPr lang="en-US" sz="1100" b="0" kern="1200" baseline="0" dirty="0"/>
                        <a:t>Data ingestion methods are determined on the data properties such as data velocity, data frequency and volume and latency. The data ingestion methods are characterized as Batch, Near Real Time/Real Time and On-Demand. If possible, ingestion methods must be capable of handling change data capture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525600140"/>
                  </a:ext>
                </a:extLst>
              </a:tr>
              <a:tr h="0">
                <a:tc>
                  <a:txBody>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lang="en-US" sz="1100" b="1" kern="1200" baseline="0" dirty="0">
                          <a:solidFill>
                            <a:sysClr val="windowText" lastClr="000000"/>
                          </a:solidFill>
                        </a:rPr>
                        <a:t>Applicable NFRs and arch principles</a:t>
                      </a:r>
                      <a:endParaRPr lang="en-US" sz="11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1 Workloads</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2 Metadata</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4 Security</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5 Scalability</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7 Data Movement</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NFR 8 Latency/Data Refresh Frequency</a:t>
                      </a:r>
                      <a:endParaRPr lang="en-US" sz="1100" kern="0" dirty="0">
                        <a:solidFill>
                          <a:srgbClr val="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100" kern="0" dirty="0"/>
                        <a:t>PRIN-3 Low coupling between systems but ensure inter-operability</a:t>
                      </a:r>
                      <a:endParaRPr lang="en-US" sz="1100" kern="0" dirty="0">
                        <a:solidFill>
                          <a:srgbClr val="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271014327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F981D29-980B-46F8-8DFF-7CAA72BCE5D7}"/>
              </a:ext>
            </a:extLst>
          </p:cNvPr>
          <p:cNvSpPr>
            <a:spLocks noGrp="1"/>
          </p:cNvSpPr>
          <p:nvPr>
            <p:ph type="title"/>
          </p:nvPr>
        </p:nvSpPr>
        <p:spPr/>
        <p:txBody>
          <a:bodyPr/>
          <a:lstStyle/>
          <a:p>
            <a:r>
              <a:rPr lang="en-US" dirty="0"/>
              <a:t>Data movement and ingestion methods</a:t>
            </a:r>
          </a:p>
        </p:txBody>
      </p:sp>
      <p:graphicFrame>
        <p:nvGraphicFramePr>
          <p:cNvPr id="11" name="Table 10">
            <a:extLst>
              <a:ext uri="{FF2B5EF4-FFF2-40B4-BE49-F238E27FC236}">
                <a16:creationId xmlns:a16="http://schemas.microsoft.com/office/drawing/2014/main" id="{D0151EA6-F934-4057-8082-73EBD7C8A0D9}"/>
              </a:ext>
            </a:extLst>
          </p:cNvPr>
          <p:cNvGraphicFramePr>
            <a:graphicFrameLocks noGrp="1"/>
          </p:cNvGraphicFramePr>
          <p:nvPr>
            <p:extLst>
              <p:ext uri="{D42A27DB-BD31-4B8C-83A1-F6EECF244321}">
                <p14:modId xmlns:p14="http://schemas.microsoft.com/office/powerpoint/2010/main" val="3770543324"/>
              </p:ext>
            </p:extLst>
          </p:nvPr>
        </p:nvGraphicFramePr>
        <p:xfrm>
          <a:off x="469900" y="1031057"/>
          <a:ext cx="11248948" cy="473964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0"/>
                        </a:spcAft>
                      </a:pPr>
                      <a:r>
                        <a:rPr lang="en-US" sz="1050" b="1" kern="1200" baseline="0" dirty="0">
                          <a:solidFill>
                            <a:sysClr val="windowText" lastClr="000000"/>
                          </a:solidFill>
                        </a:rPr>
                        <a:t>Data routing</a:t>
                      </a:r>
                      <a:endParaRPr lang="en-US" sz="105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600"/>
                        </a:spcAft>
                        <a:defRPr/>
                      </a:pPr>
                      <a:r>
                        <a:rPr lang="en-US" sz="1050" b="1" kern="1200" baseline="0" dirty="0"/>
                        <a:t>Data routing: </a:t>
                      </a:r>
                      <a:r>
                        <a:rPr lang="en-US" sz="1050" b="0" kern="1200" baseline="0" dirty="0"/>
                        <a:t>Data routing is the network path used to send the data from data sources to the data and analytics platform. Data routing decision is an important decision to meet the data transfer rate requirements and to determine the number of parallel data pipelines that can be executed. The data routing choices are driven by non functional requirements. </a:t>
                      </a:r>
                    </a:p>
                    <a:p>
                      <a:pPr marL="0" algn="l" defTabSz="914400" rtl="0" eaLnBrk="0" fontAlgn="base" latinLnBrk="0" hangingPunct="0">
                        <a:lnSpc>
                          <a:spcPct val="100000"/>
                        </a:lnSpc>
                        <a:spcBef>
                          <a:spcPts val="0"/>
                        </a:spcBef>
                        <a:spcAft>
                          <a:spcPts val="600"/>
                        </a:spcAft>
                        <a:defRPr/>
                      </a:pPr>
                      <a:r>
                        <a:rPr lang="en-US" sz="1050" b="1" kern="1200" baseline="0" dirty="0"/>
                        <a:t>1. Shared network:</a:t>
                      </a:r>
                      <a:r>
                        <a:rPr lang="en-US" sz="1050" b="0" kern="1200" baseline="0" dirty="0"/>
                        <a:t> The choice is relevant for the data transfer to/from cloud platform. If high data transfer rates are not required, amount of data to transfer in to the cloud based data platform is low then a secured shared internet connection can be selected.</a:t>
                      </a:r>
                    </a:p>
                    <a:p>
                      <a:pPr marL="0" algn="l" defTabSz="914400" rtl="0" eaLnBrk="0" fontAlgn="base" latinLnBrk="0" hangingPunct="0">
                        <a:lnSpc>
                          <a:spcPct val="100000"/>
                        </a:lnSpc>
                        <a:spcBef>
                          <a:spcPts val="0"/>
                        </a:spcBef>
                        <a:spcAft>
                          <a:spcPts val="600"/>
                        </a:spcAft>
                        <a:defRPr/>
                      </a:pPr>
                      <a:r>
                        <a:rPr lang="en-US" sz="1050" b="1" kern="1200" baseline="0" dirty="0"/>
                        <a:t>2. Exclusive/Dedicated network:</a:t>
                      </a:r>
                      <a:r>
                        <a:rPr lang="en-US" sz="1050" b="0" kern="1200" baseline="0" dirty="0"/>
                        <a:t> Telecom providers and Cloud vendors provide a high speed dedicated interconnect as a service to customers to transfer data to/from on-premise systems. A high speed data center backbone network can be configured between the On-premise data platform and cloud end-points to ensure high bandwidth and throughput. A dedicated network from the data sources to the data platform or from the data platform to consumption systems is required if the speed of data transfer and data security is critical to the success of the data and analytics platform.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r h="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50" b="1" kern="1200" baseline="0" dirty="0">
                          <a:solidFill>
                            <a:sysClr val="windowText" lastClr="000000"/>
                          </a:solidFill>
                        </a:rPr>
                        <a:t>Integration protocols</a:t>
                      </a:r>
                      <a:endParaRPr lang="en-US" sz="105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eaLnBrk="0" fontAlgn="base" hangingPunct="0">
                        <a:lnSpc>
                          <a:spcPct val="100000"/>
                        </a:lnSpc>
                        <a:spcBef>
                          <a:spcPts val="0"/>
                        </a:spcBef>
                        <a:spcAft>
                          <a:spcPts val="600"/>
                        </a:spcAft>
                        <a:buFont typeface="Arial" panose="020B0604020202020204" pitchFamily="34" charset="0"/>
                        <a:buNone/>
                        <a:defRPr/>
                      </a:pPr>
                      <a:r>
                        <a:rPr lang="en-US" sz="1050" b="1" kern="0" dirty="0">
                          <a:solidFill>
                            <a:srgbClr val="000000"/>
                          </a:solidFill>
                          <a:latin typeface="+mn-lt"/>
                          <a:ea typeface="+mn-ea"/>
                          <a:cs typeface="+mn-cs"/>
                        </a:rPr>
                        <a:t>Data acquisition:</a:t>
                      </a:r>
                      <a:r>
                        <a:rPr lang="en-US" sz="1050" kern="0" dirty="0">
                          <a:solidFill>
                            <a:srgbClr val="000000"/>
                          </a:solidFill>
                          <a:latin typeface="+mn-lt"/>
                          <a:ea typeface="+mn-ea"/>
                          <a:cs typeface="+mn-cs"/>
                        </a:rPr>
                        <a:t> Data acquisition can be achieved using data integration protocols such as SFTP/FTP, Publish-Subscribe, ODBC/JDBC, Messaging Middleware. These protocols are supported by mainstream data integration platforms. Integration tool choices are available from cloud vendor or a middleware vendors.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r h="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50" b="1" kern="1200" baseline="0" dirty="0">
                          <a:solidFill>
                            <a:sysClr val="windowText" lastClr="000000"/>
                          </a:solidFill>
                          <a:latin typeface="+mn-lt"/>
                          <a:ea typeface="+mn-ea"/>
                          <a:cs typeface="+mn-cs"/>
                        </a:rPr>
                        <a:t>Ingestion methods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eaLnBrk="0" fontAlgn="base" hangingPunct="0">
                        <a:lnSpc>
                          <a:spcPct val="100000"/>
                        </a:lnSpc>
                        <a:spcBef>
                          <a:spcPts val="0"/>
                        </a:spcBef>
                        <a:spcAft>
                          <a:spcPts val="600"/>
                        </a:spcAft>
                        <a:buFont typeface="Arial" panose="020B0604020202020204" pitchFamily="34" charset="0"/>
                        <a:buNone/>
                        <a:defRPr/>
                      </a:pPr>
                      <a:r>
                        <a:rPr lang="en-US" sz="1050" kern="0" dirty="0">
                          <a:solidFill>
                            <a:srgbClr val="000000"/>
                          </a:solidFill>
                          <a:latin typeface="+mn-lt"/>
                          <a:ea typeface="+mn-ea"/>
                          <a:cs typeface="+mn-cs"/>
                        </a:rPr>
                        <a:t>Ingestion methods are the design choices that are selected based on the data frequency, amount of data to be transferred and the speed of data transfer:</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050" b="1" kern="0" dirty="0">
                          <a:solidFill>
                            <a:srgbClr val="000000"/>
                          </a:solidFill>
                          <a:latin typeface="+mn-lt"/>
                          <a:ea typeface="+mn-ea"/>
                          <a:cs typeface="+mn-cs"/>
                        </a:rPr>
                        <a:t>Batch: </a:t>
                      </a:r>
                      <a:r>
                        <a:rPr lang="en-US" sz="1050" kern="0" dirty="0">
                          <a:solidFill>
                            <a:srgbClr val="000000"/>
                          </a:solidFill>
                          <a:latin typeface="+mn-lt"/>
                          <a:ea typeface="+mn-ea"/>
                          <a:cs typeface="+mn-cs"/>
                        </a:rPr>
                        <a:t>All data from internal systems that is ingested into the data lake, be integrated in batch mode as structured data sets conforming to the specified file formats. The data from the source systems is pulled using scheduled batch processes at regular interval of time.</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050" b="1" kern="0" dirty="0">
                          <a:solidFill>
                            <a:srgbClr val="000000"/>
                          </a:solidFill>
                          <a:latin typeface="+mn-lt"/>
                          <a:ea typeface="+mn-ea"/>
                          <a:cs typeface="+mn-cs"/>
                        </a:rPr>
                        <a:t>Near real time:</a:t>
                      </a:r>
                      <a:r>
                        <a:rPr lang="en-US" sz="1050" kern="0" dirty="0">
                          <a:solidFill>
                            <a:srgbClr val="000000"/>
                          </a:solidFill>
                          <a:latin typeface="+mn-lt"/>
                          <a:ea typeface="+mn-ea"/>
                          <a:cs typeface="+mn-cs"/>
                        </a:rPr>
                        <a:t> The speed of data transfer for the near real time data ingestion can range from a few seconds to minutes. </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050" b="1" kern="0" dirty="0">
                          <a:solidFill>
                            <a:srgbClr val="000000"/>
                          </a:solidFill>
                          <a:latin typeface="+mn-lt"/>
                          <a:ea typeface="+mn-ea"/>
                          <a:cs typeface="+mn-cs"/>
                        </a:rPr>
                        <a:t>Real time:</a:t>
                      </a:r>
                      <a:r>
                        <a:rPr lang="en-US" sz="1050" kern="0" dirty="0">
                          <a:solidFill>
                            <a:srgbClr val="000000"/>
                          </a:solidFill>
                          <a:latin typeface="+mn-lt"/>
                          <a:ea typeface="+mn-ea"/>
                          <a:cs typeface="+mn-cs"/>
                        </a:rPr>
                        <a:t> The speed of data transfer is sub-seconds and scalability &amp; concurrency is provided by multi-threading, multi-processing or </a:t>
                      </a:r>
                      <a:r>
                        <a:rPr lang="en-US" sz="1050" kern="0" dirty="0" err="1">
                          <a:solidFill>
                            <a:srgbClr val="000000"/>
                          </a:solidFill>
                          <a:latin typeface="+mn-lt"/>
                          <a:ea typeface="+mn-ea"/>
                          <a:cs typeface="+mn-cs"/>
                        </a:rPr>
                        <a:t>async-io</a:t>
                      </a:r>
                      <a:r>
                        <a:rPr lang="en-US" sz="1050" kern="0" dirty="0">
                          <a:solidFill>
                            <a:srgbClr val="000000"/>
                          </a:solidFill>
                          <a:latin typeface="+mn-lt"/>
                          <a:ea typeface="+mn-ea"/>
                          <a:cs typeface="+mn-cs"/>
                        </a:rPr>
                        <a:t>. These systems are used for critical split second decisions such as stock trading systems, industrial control systems </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050" b="1" kern="0" dirty="0">
                          <a:solidFill>
                            <a:srgbClr val="000000"/>
                          </a:solidFill>
                          <a:latin typeface="+mn-lt"/>
                          <a:ea typeface="+mn-ea"/>
                          <a:cs typeface="+mn-cs"/>
                        </a:rPr>
                        <a:t>On demand:</a:t>
                      </a:r>
                      <a:r>
                        <a:rPr lang="en-US" sz="1050" kern="0" dirty="0">
                          <a:solidFill>
                            <a:srgbClr val="000000"/>
                          </a:solidFill>
                          <a:latin typeface="+mn-lt"/>
                          <a:ea typeface="+mn-ea"/>
                          <a:cs typeface="+mn-cs"/>
                        </a:rPr>
                        <a:t> The data is pulled on to the data platform as and when required. </a:t>
                      </a:r>
                    </a:p>
                    <a:p>
                      <a:pPr marL="171450" indent="-171450" algn="l" rtl="0" eaLnBrk="0" fontAlgn="base" hangingPunct="0">
                        <a:lnSpc>
                          <a:spcPct val="100000"/>
                        </a:lnSpc>
                        <a:spcBef>
                          <a:spcPts val="0"/>
                        </a:spcBef>
                        <a:spcAft>
                          <a:spcPts val="600"/>
                        </a:spcAft>
                        <a:buFont typeface="Arial" panose="020B0604020202020204" pitchFamily="34" charset="0"/>
                        <a:buChar char="•"/>
                        <a:defRPr/>
                      </a:pPr>
                      <a:r>
                        <a:rPr lang="en-US" sz="1050" b="1" kern="0" dirty="0">
                          <a:solidFill>
                            <a:srgbClr val="000000"/>
                          </a:solidFill>
                          <a:latin typeface="+mn-lt"/>
                          <a:ea typeface="+mn-ea"/>
                          <a:cs typeface="+mn-cs"/>
                        </a:rPr>
                        <a:t>Fog computing or fog networking:</a:t>
                      </a:r>
                      <a:r>
                        <a:rPr lang="en-US" sz="1050" kern="0" dirty="0">
                          <a:solidFill>
                            <a:srgbClr val="000000"/>
                          </a:solidFill>
                          <a:latin typeface="+mn-lt"/>
                          <a:ea typeface="+mn-ea"/>
                          <a:cs typeface="+mn-cs"/>
                        </a:rPr>
                        <a:t> Also known as fogging, is an architecture that uses edge devices to carry out a substantial amount of computation, storage, communication locally and routed over the internet backbone.</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2961800"/>
                  </a:ext>
                </a:extLst>
              </a:tr>
            </a:tbl>
          </a:graphicData>
        </a:graphic>
      </p:graphicFrame>
    </p:spTree>
    <p:extLst>
      <p:ext uri="{BB962C8B-B14F-4D97-AF65-F5344CB8AC3E}">
        <p14:creationId xmlns:p14="http://schemas.microsoft.com/office/powerpoint/2010/main" val="254165846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8BCB7F88-9D34-4520-B998-3B258D6B10B3}"/>
              </a:ext>
            </a:extLst>
          </p:cNvPr>
          <p:cNvSpPr>
            <a:spLocks noGrp="1"/>
          </p:cNvSpPr>
          <p:nvPr>
            <p:ph type="body" sz="quarter" idx="13"/>
          </p:nvPr>
        </p:nvSpPr>
        <p:spPr/>
        <p:txBody>
          <a:bodyPr/>
          <a:lstStyle/>
          <a:p>
            <a:r>
              <a:rPr lang="en-US" dirty="0"/>
              <a:t>Data lake, data processing and transformations, data science and data provisioning</a:t>
            </a:r>
          </a:p>
        </p:txBody>
      </p:sp>
      <p:sp>
        <p:nvSpPr>
          <p:cNvPr id="2" name="Title 1"/>
          <p:cNvSpPr>
            <a:spLocks noGrp="1"/>
          </p:cNvSpPr>
          <p:nvPr>
            <p:ph type="title"/>
          </p:nvPr>
        </p:nvSpPr>
        <p:spPr/>
        <p:txBody>
          <a:bodyPr/>
          <a:lstStyle/>
          <a:p>
            <a:r>
              <a:rPr lang="en-US" dirty="0"/>
              <a:t>3. Data storage and processing</a:t>
            </a:r>
          </a:p>
        </p:txBody>
      </p:sp>
      <p:graphicFrame>
        <p:nvGraphicFramePr>
          <p:cNvPr id="6" name="Table 5">
            <a:extLst>
              <a:ext uri="{FF2B5EF4-FFF2-40B4-BE49-F238E27FC236}">
                <a16:creationId xmlns:a16="http://schemas.microsoft.com/office/drawing/2014/main" id="{A8FA9186-EFE2-479C-B264-E0282A07DF73}"/>
              </a:ext>
            </a:extLst>
          </p:cNvPr>
          <p:cNvGraphicFramePr>
            <a:graphicFrameLocks noGrp="1"/>
          </p:cNvGraphicFramePr>
          <p:nvPr>
            <p:extLst>
              <p:ext uri="{D42A27DB-BD31-4B8C-83A1-F6EECF244321}">
                <p14:modId xmlns:p14="http://schemas.microsoft.com/office/powerpoint/2010/main" val="1281979625"/>
              </p:ext>
            </p:extLst>
          </p:nvPr>
        </p:nvGraphicFramePr>
        <p:xfrm>
          <a:off x="469900" y="1665288"/>
          <a:ext cx="11248948" cy="463296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3283975">
                  <a:extLst>
                    <a:ext uri="{9D8B030D-6E8A-4147-A177-3AD203B41FA5}">
                      <a16:colId xmlns:a16="http://schemas.microsoft.com/office/drawing/2014/main" val="3269670294"/>
                    </a:ext>
                  </a:extLst>
                </a:gridCol>
                <a:gridCol w="6517583">
                  <a:extLst>
                    <a:ext uri="{9D8B030D-6E8A-4147-A177-3AD203B41FA5}">
                      <a16:colId xmlns:a16="http://schemas.microsoft.com/office/drawing/2014/main" val="1361826925"/>
                    </a:ext>
                  </a:extLst>
                </a:gridCol>
              </a:tblGrid>
              <a:tr h="0">
                <a:tc>
                  <a:txBody>
                    <a:bodyPr/>
                    <a:lstStyle/>
                    <a:p>
                      <a:pPr algn="l">
                        <a:lnSpc>
                          <a:spcPct val="100000"/>
                        </a:lnSpc>
                        <a:spcBef>
                          <a:spcPts val="0"/>
                        </a:spcBef>
                        <a:spcAft>
                          <a:spcPts val="300"/>
                        </a:spcAft>
                      </a:pPr>
                      <a:r>
                        <a:rPr lang="en-US" sz="900" b="1" dirty="0">
                          <a:solidFill>
                            <a:schemeClr val="bg1"/>
                          </a:solidFill>
                        </a:rPr>
                        <a:t>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l" rtl="0" eaLnBrk="0" fontAlgn="base" hangingPunct="0">
                        <a:lnSpc>
                          <a:spcPct val="100000"/>
                        </a:lnSpc>
                        <a:spcBef>
                          <a:spcPts val="0"/>
                        </a:spcBef>
                        <a:spcAft>
                          <a:spcPts val="300"/>
                        </a:spcAft>
                        <a:defRPr/>
                      </a:pPr>
                      <a:r>
                        <a:rPr lang="en-US" sz="900" b="1" kern="1200" dirty="0">
                          <a:solidFill>
                            <a:schemeClr val="bg1"/>
                          </a:solidFill>
                        </a:rPr>
                        <a:t>Description</a:t>
                      </a:r>
                      <a:endParaRPr lang="en-US" sz="90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300"/>
                        </a:spcAft>
                      </a:pPr>
                      <a:r>
                        <a:rPr lang="en-US" sz="900" b="1" kern="1200" baseline="0" dirty="0">
                          <a:solidFill>
                            <a:sysClr val="windowText" lastClr="000000"/>
                          </a:solidFill>
                        </a:rPr>
                        <a:t>Data storage and processing</a:t>
                      </a:r>
                      <a:endParaRPr lang="en-US" sz="9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l" defTabSz="914400" rtl="0" eaLnBrk="0" fontAlgn="base" latinLnBrk="0" hangingPunct="0">
                        <a:lnSpc>
                          <a:spcPct val="100000"/>
                        </a:lnSpc>
                        <a:spcBef>
                          <a:spcPts val="0"/>
                        </a:spcBef>
                        <a:spcAft>
                          <a:spcPts val="300"/>
                        </a:spcAft>
                        <a:defRPr/>
                      </a:pPr>
                      <a:r>
                        <a:rPr lang="en-US" sz="900" b="1" kern="1200" baseline="0" dirty="0"/>
                        <a:t>Data lake:</a:t>
                      </a:r>
                      <a:r>
                        <a:rPr lang="en-US" sz="900" b="0" kern="1200" baseline="0" dirty="0"/>
                        <a:t> A data lake is a repository of data stored usually as object blobs or files. A data lake is usually a single store of all enterprise data including raw copies of source system data and transformed data used for tasks such as reporting, visualization, analytics and machine learning. A data lake can include structured data from relational databases (rows and columns), semi-structured data (CSV, logs, XML, JSON), unstructured data (emails, documents, PDFs) and binary data (images, audio, video). </a:t>
                      </a:r>
                    </a:p>
                    <a:p>
                      <a:pPr marL="0" algn="l" defTabSz="914400" rtl="0" eaLnBrk="0" fontAlgn="base" latinLnBrk="0" hangingPunct="0">
                        <a:lnSpc>
                          <a:spcPct val="100000"/>
                        </a:lnSpc>
                        <a:spcBef>
                          <a:spcPts val="0"/>
                        </a:spcBef>
                        <a:spcAft>
                          <a:spcPts val="300"/>
                        </a:spcAft>
                        <a:defRPr/>
                      </a:pPr>
                      <a:r>
                        <a:rPr lang="en-US" sz="900" b="0" kern="1200" baseline="0" dirty="0"/>
                        <a:t>Lakes typically use distributed storage such as the Hadoop Distributed File System (HDFS) provided by Cloudera/Hortonworks and </a:t>
                      </a:r>
                      <a:r>
                        <a:rPr lang="en-US" sz="900" b="0" kern="1200" baseline="0" dirty="0" err="1"/>
                        <a:t>MapR</a:t>
                      </a:r>
                      <a:r>
                        <a:rPr lang="en-US" sz="900" b="0" kern="1200" baseline="0" dirty="0"/>
                        <a:t> distributions. HDFS can scale horizontally providing extreme scalability. Cloud vendors provide PaaS offerings that are used as a foundation for the Data Lake, providing similar capabilities as HDFS. </a:t>
                      </a:r>
                    </a:p>
                    <a:p>
                      <a:pPr marL="0" algn="l" defTabSz="914400" rtl="0" eaLnBrk="0" fontAlgn="base" latinLnBrk="0" hangingPunct="0">
                        <a:lnSpc>
                          <a:spcPct val="100000"/>
                        </a:lnSpc>
                        <a:spcBef>
                          <a:spcPts val="0"/>
                        </a:spcBef>
                        <a:spcAft>
                          <a:spcPts val="300"/>
                        </a:spcAft>
                        <a:defRPr/>
                      </a:pPr>
                      <a:r>
                        <a:rPr lang="en-US" sz="900" b="1" kern="1200" baseline="0" dirty="0"/>
                        <a:t>Distributed storage:</a:t>
                      </a:r>
                      <a:r>
                        <a:rPr lang="en-US" sz="900" b="0" kern="1200" baseline="0" dirty="0"/>
                        <a:t> A storage system that allows storing data in multiple computers using Just a bunch of disks (JBODs) directly attached to the nodes. Log files, system files and Hive database files will be stored using HDFS. Edge nodes will have space for local files and the EZ zone. Number of years of history in each storage technology is captured in the non-functional requirements to comply with archival requirements.</a:t>
                      </a:r>
                    </a:p>
                    <a:p>
                      <a:pPr marL="0" algn="l" defTabSz="914400" rtl="0" eaLnBrk="0" fontAlgn="base" latinLnBrk="0" hangingPunct="0">
                        <a:lnSpc>
                          <a:spcPct val="100000"/>
                        </a:lnSpc>
                        <a:spcBef>
                          <a:spcPts val="0"/>
                        </a:spcBef>
                        <a:spcAft>
                          <a:spcPts val="300"/>
                        </a:spcAft>
                        <a:defRPr/>
                      </a:pPr>
                      <a:r>
                        <a:rPr lang="en-US" sz="900" b="1" kern="1200" baseline="0" dirty="0"/>
                        <a:t>Data processing and transformation:</a:t>
                      </a:r>
                      <a:r>
                        <a:rPr lang="en-US" sz="900" b="0" kern="1200" baseline="0" dirty="0"/>
                        <a:t> Raw data is stored in the raw/staging zone in its natural form. The data is moved from raw zone by applying business transformations to capture facts either in to the Historical zone (if part of architecture) or to a conformed layer or zone known as Transformed Layer. The data processing and transformation is based on the metric and measures to be represent the business facts which are required for reporting and analytics requirements. The processing logic and data transformations are written using SQL like or No-SQL languages which are abstractions to process data over the distributed storage layer.</a:t>
                      </a:r>
                    </a:p>
                    <a:p>
                      <a:pPr marL="0" algn="l" defTabSz="914400" rtl="0" eaLnBrk="0" fontAlgn="base" latinLnBrk="0" hangingPunct="0">
                        <a:lnSpc>
                          <a:spcPct val="100000"/>
                        </a:lnSpc>
                        <a:spcBef>
                          <a:spcPts val="0"/>
                        </a:spcBef>
                        <a:spcAft>
                          <a:spcPts val="300"/>
                        </a:spcAft>
                        <a:defRPr/>
                      </a:pPr>
                      <a:r>
                        <a:rPr lang="en-US" sz="900" b="1" kern="1200" baseline="0" dirty="0"/>
                        <a:t>Data science:</a:t>
                      </a:r>
                      <a:r>
                        <a:rPr lang="en-US" sz="900" b="0" kern="1200" baseline="0" dirty="0"/>
                        <a:t> Data science is a multi-disciplinary field that uses scientific methods, processes, algorithms and systems to extract knowledge and insights from data in various forms, both structured and unstructured. Data science is a "concept to unify statistics, data analysis, machine learning and their related methods" in order to "understand and analyze actual phenomena" with data. It employs techniques drawn from the field of mathematics, statistics, information science, and computer science.</a:t>
                      </a:r>
                    </a:p>
                    <a:p>
                      <a:pPr marL="0" algn="l" defTabSz="914400" rtl="0" eaLnBrk="0" fontAlgn="base" latinLnBrk="0" hangingPunct="0">
                        <a:lnSpc>
                          <a:spcPct val="100000"/>
                        </a:lnSpc>
                        <a:spcBef>
                          <a:spcPts val="0"/>
                        </a:spcBef>
                        <a:spcAft>
                          <a:spcPts val="300"/>
                        </a:spcAft>
                        <a:defRPr/>
                      </a:pPr>
                      <a:r>
                        <a:rPr lang="en-US" sz="900" b="1" kern="1200" baseline="0" dirty="0"/>
                        <a:t>Data provisioning:</a:t>
                      </a:r>
                      <a:r>
                        <a:rPr lang="en-US" sz="900" b="0" kern="1200" baseline="0" dirty="0"/>
                        <a:t> Data provisioning is the set of tools and techniques used to provide data for consumption by the downstream applications or users in a format that is easily consumable by them. The data format on the data lake is de-normalized to reduce number of joins required to process the data. Schema-on-read is a familiar technique used for the landing zone. The data from the transformed zone is converted to a star-schema or a normalized schema for consumption as part of the data provisioning.</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525600140"/>
                  </a:ext>
                </a:extLst>
              </a:tr>
              <a:tr h="0">
                <a:tc>
                  <a:txBody>
                    <a:bodyPr/>
                    <a:lstStyle/>
                    <a:p>
                      <a:pPr marL="0" marR="0" lvl="0" indent="0" algn="l" defTabSz="1219170" rtl="0" eaLnBrk="1" fontAlgn="auto" latinLnBrk="0" hangingPunct="1">
                        <a:lnSpc>
                          <a:spcPct val="100000"/>
                        </a:lnSpc>
                        <a:spcBef>
                          <a:spcPts val="0"/>
                        </a:spcBef>
                        <a:spcAft>
                          <a:spcPts val="300"/>
                        </a:spcAft>
                        <a:buClrTx/>
                        <a:buSzTx/>
                        <a:buFontTx/>
                        <a:buNone/>
                        <a:tabLst/>
                        <a:defRPr/>
                      </a:pPr>
                      <a:r>
                        <a:rPr lang="en-US" sz="900" b="1" kern="1200" baseline="0" dirty="0">
                          <a:solidFill>
                            <a:sysClr val="windowText" lastClr="000000"/>
                          </a:solidFill>
                        </a:rPr>
                        <a:t>Applicable NFRs and arch principles</a:t>
                      </a:r>
                      <a:endParaRPr lang="en-US" sz="9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1 Workloads</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2 Metadata</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3 Availability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4 Security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5 Scalability</a:t>
                      </a:r>
                    </a:p>
                    <a:p>
                      <a:pPr marL="171450" marR="0" lvl="0" indent="-171450" algn="l" defTabSz="1219170" rtl="0" eaLnBrk="0" fontAlgn="base" latinLnBrk="0" hangingPunct="0">
                        <a:lnSpc>
                          <a:spcPct val="100000"/>
                        </a:lnSpc>
                        <a:spcBef>
                          <a:spcPts val="0"/>
                        </a:spcBef>
                        <a:spcAft>
                          <a:spcPts val="300"/>
                        </a:spcAft>
                        <a:buClrTx/>
                        <a:buSzTx/>
                        <a:buFont typeface="Arial" panose="020B0604020202020204" pitchFamily="34" charset="0"/>
                        <a:buChar char="•"/>
                        <a:tabLst/>
                        <a:defRPr/>
                      </a:pPr>
                      <a:r>
                        <a:rPr lang="en-US" sz="900" kern="0" dirty="0"/>
                        <a:t>NFR 6 History</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7 Data Movement</a:t>
                      </a:r>
                      <a:endParaRPr lang="en-US" sz="900" kern="0" dirty="0">
                        <a:solidFill>
                          <a:srgbClr val="000000"/>
                        </a:solidFill>
                        <a:latin typeface="+mn-lt"/>
                        <a:ea typeface="+mn-ea"/>
                        <a:cs typeface="+mn-cs"/>
                      </a:endParaRP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8 Latency/Data Refresh Frequency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12 Audit &amp; Data Quality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NFR 13 Provisioning</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900" kern="0" dirty="0"/>
                        <a:t>Source systems and Data &amp; Analytics platforms should not be tightly integrated</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336046566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r>
              <a:rPr lang="en-US" altLang="en-US" dirty="0"/>
              <a:t>Data lake, data processing and transformations </a:t>
            </a:r>
            <a:endParaRPr lang="en-US" dirty="0"/>
          </a:p>
        </p:txBody>
      </p:sp>
      <p:graphicFrame>
        <p:nvGraphicFramePr>
          <p:cNvPr id="4" name="Table 3">
            <a:extLst>
              <a:ext uri="{FF2B5EF4-FFF2-40B4-BE49-F238E27FC236}">
                <a16:creationId xmlns:a16="http://schemas.microsoft.com/office/drawing/2014/main" id="{DD7AE640-5A61-4384-AAD0-9568ACFEE976}"/>
              </a:ext>
            </a:extLst>
          </p:cNvPr>
          <p:cNvGraphicFramePr>
            <a:graphicFrameLocks noGrp="1"/>
          </p:cNvGraphicFramePr>
          <p:nvPr>
            <p:extLst>
              <p:ext uri="{D42A27DB-BD31-4B8C-83A1-F6EECF244321}">
                <p14:modId xmlns:p14="http://schemas.microsoft.com/office/powerpoint/2010/main" val="3260261218"/>
              </p:ext>
            </p:extLst>
          </p:nvPr>
        </p:nvGraphicFramePr>
        <p:xfrm>
          <a:off x="469900" y="1031057"/>
          <a:ext cx="11248948" cy="521208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40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40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400"/>
                        </a:spcAft>
                      </a:pPr>
                      <a:r>
                        <a:rPr lang="en-US" sz="1050" b="1" kern="1200" baseline="0" dirty="0">
                          <a:solidFill>
                            <a:sysClr val="windowText" lastClr="000000"/>
                          </a:solidFill>
                        </a:rPr>
                        <a:t>Data lake—Data layers</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400"/>
                        </a:spcAft>
                        <a:defRPr/>
                      </a:pPr>
                      <a:r>
                        <a:rPr lang="en-US" sz="1050" b="0" kern="1200" baseline="0" dirty="0"/>
                        <a:t>The data in the lake can be managed in following zones or layers. The decision to define a layer is based on requirements. </a:t>
                      </a:r>
                    </a:p>
                    <a:p>
                      <a:pPr marL="171450" indent="-171450" algn="l" defTabSz="914400" rtl="0" eaLnBrk="0" fontAlgn="base" latinLnBrk="0" hangingPunct="0">
                        <a:lnSpc>
                          <a:spcPct val="100000"/>
                        </a:lnSpc>
                        <a:spcBef>
                          <a:spcPts val="0"/>
                        </a:spcBef>
                        <a:spcAft>
                          <a:spcPts val="400"/>
                        </a:spcAft>
                        <a:buFont typeface="Arial" panose="020B0604020202020204" pitchFamily="34" charset="0"/>
                        <a:buChar char="•"/>
                        <a:defRPr/>
                      </a:pPr>
                      <a:r>
                        <a:rPr lang="en-US" sz="1050" b="1" kern="1200" baseline="0" dirty="0"/>
                        <a:t>Landing/Raw Zone (LZ)</a:t>
                      </a:r>
                      <a:r>
                        <a:rPr lang="en-US" sz="1050" b="0" kern="1200" baseline="0" dirty="0"/>
                        <a:t>—Data is loaded in to Edge Node and ingested in to this layer consists of data at the same fidelity as the source system IFS files. Landing zone data is stored for short time duration and is dropped on regular intervals. </a:t>
                      </a:r>
                    </a:p>
                    <a:p>
                      <a:pPr marL="171450" indent="-171450" algn="l" defTabSz="914400" rtl="0" eaLnBrk="0" fontAlgn="base" latinLnBrk="0" hangingPunct="0">
                        <a:lnSpc>
                          <a:spcPct val="100000"/>
                        </a:lnSpc>
                        <a:spcBef>
                          <a:spcPts val="0"/>
                        </a:spcBef>
                        <a:spcAft>
                          <a:spcPts val="400"/>
                        </a:spcAft>
                        <a:buFont typeface="Arial" panose="020B0604020202020204" pitchFamily="34" charset="0"/>
                        <a:buChar char="•"/>
                        <a:defRPr/>
                      </a:pPr>
                      <a:r>
                        <a:rPr lang="en-US" sz="1050" b="1" kern="1200" baseline="0" dirty="0"/>
                        <a:t>History Zone (HZ)</a:t>
                      </a:r>
                      <a:r>
                        <a:rPr lang="en-US" sz="1050" b="0" kern="1200" baseline="0" dirty="0"/>
                        <a:t>—Data is copied from LZ to history zone to maintain historical data over time using an append only design model The records in HZ keep track of changes in data over time.</a:t>
                      </a:r>
                    </a:p>
                    <a:p>
                      <a:pPr marL="171450" indent="-171450" algn="l" defTabSz="914400" rtl="0" eaLnBrk="0" fontAlgn="base" latinLnBrk="0" hangingPunct="0">
                        <a:lnSpc>
                          <a:spcPct val="100000"/>
                        </a:lnSpc>
                        <a:spcBef>
                          <a:spcPts val="0"/>
                        </a:spcBef>
                        <a:spcAft>
                          <a:spcPts val="400"/>
                        </a:spcAft>
                        <a:buFont typeface="Arial" panose="020B0604020202020204" pitchFamily="34" charset="0"/>
                        <a:buChar char="•"/>
                        <a:defRPr/>
                      </a:pPr>
                      <a:r>
                        <a:rPr lang="en-US" sz="1050" b="1" kern="1200" baseline="0" dirty="0"/>
                        <a:t>Transformation Zone (TZ)</a:t>
                      </a:r>
                      <a:r>
                        <a:rPr lang="en-US" sz="1050" b="0" kern="1200" baseline="0" dirty="0"/>
                        <a:t>—Data from multiple tables is processed in to meaningful entities and snapshots to create 1st level of reporting and establish net change processes. Base facts and dimensions will be created in this layer.</a:t>
                      </a:r>
                    </a:p>
                    <a:p>
                      <a:pPr marL="171450" indent="-171450" algn="l" defTabSz="914400" rtl="0" eaLnBrk="0" fontAlgn="base" latinLnBrk="0" hangingPunct="0">
                        <a:lnSpc>
                          <a:spcPct val="100000"/>
                        </a:lnSpc>
                        <a:spcBef>
                          <a:spcPts val="0"/>
                        </a:spcBef>
                        <a:spcAft>
                          <a:spcPts val="400"/>
                        </a:spcAft>
                        <a:buFont typeface="Arial" panose="020B0604020202020204" pitchFamily="34" charset="0"/>
                        <a:buChar char="•"/>
                        <a:defRPr/>
                      </a:pPr>
                      <a:r>
                        <a:rPr lang="en-US" sz="1050" b="1" kern="1200" baseline="0" dirty="0"/>
                        <a:t>Extract Zone (EZ)</a:t>
                      </a:r>
                      <a:r>
                        <a:rPr lang="en-US" sz="1050" b="0" kern="1200" baseline="0" dirty="0"/>
                        <a:t>—The data is simplified and aggregated in to reporting structures to service the reporting requirements and extract requirements from the EDL. </a:t>
                      </a:r>
                    </a:p>
                    <a:p>
                      <a:pPr marL="171450" indent="-171450" algn="l" defTabSz="914400" rtl="0" eaLnBrk="0" fontAlgn="base" latinLnBrk="0" hangingPunct="0">
                        <a:lnSpc>
                          <a:spcPct val="100000"/>
                        </a:lnSpc>
                        <a:spcBef>
                          <a:spcPts val="0"/>
                        </a:spcBef>
                        <a:spcAft>
                          <a:spcPts val="400"/>
                        </a:spcAft>
                        <a:buFont typeface="Arial" panose="020B0604020202020204" pitchFamily="34" charset="0"/>
                        <a:buChar char="•"/>
                        <a:defRPr/>
                      </a:pPr>
                      <a:r>
                        <a:rPr lang="en-US" sz="1050" b="1" kern="1200" baseline="0" dirty="0"/>
                        <a:t>Reporting Zone (EZ)</a:t>
                      </a:r>
                      <a:r>
                        <a:rPr lang="en-US" sz="1050" b="0" kern="1200" baseline="0" dirty="0"/>
                        <a:t>—The data is copy of the base facts and dimensions in the TZ layer. In addition it manages aggregate data structures to service the reporting requirements and extract requirements. This layer will maintain 3 years of history with some exceptions. </a:t>
                      </a:r>
                    </a:p>
                    <a:p>
                      <a:pPr marL="0" algn="l" defTabSz="914400" rtl="0" eaLnBrk="0" fontAlgn="base" latinLnBrk="0" hangingPunct="0">
                        <a:lnSpc>
                          <a:spcPct val="100000"/>
                        </a:lnSpc>
                        <a:spcBef>
                          <a:spcPts val="0"/>
                        </a:spcBef>
                        <a:spcAft>
                          <a:spcPts val="400"/>
                        </a:spcAft>
                        <a:defRPr/>
                      </a:pPr>
                      <a:r>
                        <a:rPr lang="en-US" sz="1050" b="0" kern="1200" baseline="0" dirty="0"/>
                        <a:t>Design of these layers must consider the appropriate serialization techniques such as parquet, Avro, ORC or plain-text.</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r h="0">
                <a:tc>
                  <a:txBody>
                    <a:bodyPr/>
                    <a:lstStyle/>
                    <a:p>
                      <a:pPr marL="0" marR="0" lvl="0" indent="0" algn="l" defTabSz="1219170" rtl="0" eaLnBrk="1" fontAlgn="auto" latinLnBrk="0" hangingPunct="1">
                        <a:lnSpc>
                          <a:spcPct val="100000"/>
                        </a:lnSpc>
                        <a:spcBef>
                          <a:spcPts val="0"/>
                        </a:spcBef>
                        <a:spcAft>
                          <a:spcPts val="400"/>
                        </a:spcAft>
                        <a:buClrTx/>
                        <a:buSzTx/>
                        <a:buFontTx/>
                        <a:buNone/>
                        <a:tabLst/>
                        <a:defRPr/>
                      </a:pPr>
                      <a:r>
                        <a:rPr lang="en-US" sz="1050" b="1" kern="1200" baseline="0" dirty="0">
                          <a:solidFill>
                            <a:sysClr val="windowText" lastClr="000000"/>
                          </a:solidFill>
                        </a:rPr>
                        <a:t>Data processing and</a:t>
                      </a:r>
                      <a:br>
                        <a:rPr lang="en-US" sz="1050" b="1" kern="1200" baseline="0" dirty="0">
                          <a:solidFill>
                            <a:sysClr val="windowText" lastClr="000000"/>
                          </a:solidFill>
                        </a:rPr>
                      </a:br>
                      <a:r>
                        <a:rPr lang="en-US" sz="1050" b="1" kern="1200" baseline="0" dirty="0">
                          <a:solidFill>
                            <a:sysClr val="windowText" lastClr="000000"/>
                          </a:solidFill>
                        </a:rPr>
                        <a:t>transformations</a:t>
                      </a:r>
                      <a:endParaRPr lang="en-US" sz="105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eaLnBrk="0" fontAlgn="base" hangingPunct="0">
                        <a:lnSpc>
                          <a:spcPct val="100000"/>
                        </a:lnSpc>
                        <a:spcBef>
                          <a:spcPts val="0"/>
                        </a:spcBef>
                        <a:spcAft>
                          <a:spcPts val="400"/>
                        </a:spcAft>
                        <a:buFont typeface="Arial" panose="020B0604020202020204" pitchFamily="34" charset="0"/>
                        <a:buNone/>
                        <a:defRPr/>
                      </a:pPr>
                      <a:r>
                        <a:rPr lang="en-US" sz="1050" b="1" kern="0" dirty="0">
                          <a:solidFill>
                            <a:srgbClr val="000000"/>
                          </a:solidFill>
                          <a:latin typeface="+mn-lt"/>
                          <a:ea typeface="+mn-ea"/>
                          <a:cs typeface="+mn-cs"/>
                        </a:rPr>
                        <a:t>Batch processing: </a:t>
                      </a:r>
                      <a:r>
                        <a:rPr lang="en-US" sz="1050" b="0" kern="0" dirty="0">
                          <a:solidFill>
                            <a:srgbClr val="000000"/>
                          </a:solidFill>
                          <a:latin typeface="+mn-lt"/>
                          <a:ea typeface="+mn-ea"/>
                          <a:cs typeface="+mn-cs"/>
                        </a:rPr>
                        <a:t>Batch data integration uses scheduled tasks to transfer data from the source systems to target systems. Batch Files received through integration platform or from internal systems is copied to landing zone (LZ). The data is stored in AS-IS format in the landing zone. Input sources may provide data in an incremental way or as a snapshot of the system at the time of batch transfer. If there are requirements to store data in the data and analytics platform in an incremental way and data in the war layer is not incremental then change data capture mechanism is implemented when data is moved out of raw layer to the next layer.</a:t>
                      </a:r>
                    </a:p>
                    <a:p>
                      <a:pPr marL="0" indent="0" algn="l" rtl="0" eaLnBrk="0" fontAlgn="base" hangingPunct="0">
                        <a:lnSpc>
                          <a:spcPct val="100000"/>
                        </a:lnSpc>
                        <a:spcBef>
                          <a:spcPts val="0"/>
                        </a:spcBef>
                        <a:spcAft>
                          <a:spcPts val="400"/>
                        </a:spcAft>
                        <a:buFont typeface="Arial" panose="020B0604020202020204" pitchFamily="34" charset="0"/>
                        <a:buNone/>
                        <a:defRPr/>
                      </a:pPr>
                      <a:r>
                        <a:rPr lang="en-US" sz="1050" b="1" kern="0" dirty="0">
                          <a:solidFill>
                            <a:srgbClr val="000000"/>
                          </a:solidFill>
                          <a:latin typeface="+mn-lt"/>
                          <a:ea typeface="+mn-ea"/>
                          <a:cs typeface="+mn-cs"/>
                        </a:rPr>
                        <a:t>Stream processing/IoT processing:</a:t>
                      </a:r>
                      <a:r>
                        <a:rPr lang="en-US" sz="1050" b="0" kern="0" dirty="0">
                          <a:solidFill>
                            <a:srgbClr val="000000"/>
                          </a:solidFill>
                          <a:latin typeface="+mn-lt"/>
                          <a:ea typeface="+mn-ea"/>
                          <a:cs typeface="+mn-cs"/>
                        </a:rPr>
                        <a:t> Near Real Time Data Ingestion is the ability to integrate data sources with Raw zone on data and analytics platform in the near real time. The steam data can be structured or semi-structured format. Stream data may be processed and transmitted to the next layer before it is written to the raw layer based on the speed of processing required as per the use case. Usually, stream processing uses messaging infrastructure that is based upon queues or topics. This system is memory based to meet the SLA requirements to process data and make it available for analytics.</a:t>
                      </a:r>
                    </a:p>
                    <a:p>
                      <a:pPr marL="0" indent="0" algn="l" rtl="0" eaLnBrk="0" fontAlgn="base" hangingPunct="0">
                        <a:lnSpc>
                          <a:spcPct val="100000"/>
                        </a:lnSpc>
                        <a:spcBef>
                          <a:spcPts val="0"/>
                        </a:spcBef>
                        <a:spcAft>
                          <a:spcPts val="400"/>
                        </a:spcAft>
                        <a:buFont typeface="Arial" panose="020B0604020202020204" pitchFamily="34" charset="0"/>
                        <a:buNone/>
                        <a:defRPr/>
                      </a:pPr>
                      <a:r>
                        <a:rPr lang="en-US" sz="1050" b="1" kern="0" dirty="0">
                          <a:solidFill>
                            <a:srgbClr val="000000"/>
                          </a:solidFill>
                          <a:latin typeface="+mn-lt"/>
                          <a:ea typeface="+mn-ea"/>
                          <a:cs typeface="+mn-cs"/>
                        </a:rPr>
                        <a:t>Data encryption/Decryption:</a:t>
                      </a:r>
                      <a:r>
                        <a:rPr lang="en-US" sz="1050" b="0" kern="0" dirty="0">
                          <a:solidFill>
                            <a:srgbClr val="000000"/>
                          </a:solidFill>
                          <a:latin typeface="+mn-lt"/>
                          <a:ea typeface="+mn-ea"/>
                          <a:cs typeface="+mn-cs"/>
                        </a:rPr>
                        <a:t> The data received from the data sources can be encrypted by a private key. Before this data can be used in any layer, it must be decrypted; i.e. the data must be encrypted before storing. Data in Raw layer or curated layers can be encrypted across environments using standard encryption and decryption algorithms and products.</a:t>
                      </a:r>
                    </a:p>
                    <a:p>
                      <a:pPr marL="171450" indent="-171450" algn="l" rtl="0" eaLnBrk="0" fontAlgn="base" hangingPunct="0">
                        <a:lnSpc>
                          <a:spcPct val="100000"/>
                        </a:lnSpc>
                        <a:spcBef>
                          <a:spcPts val="0"/>
                        </a:spcBef>
                        <a:spcAft>
                          <a:spcPts val="400"/>
                        </a:spcAft>
                        <a:buFont typeface="Arial" panose="020B0604020202020204" pitchFamily="34" charset="0"/>
                        <a:buChar char="•"/>
                        <a:defRPr/>
                      </a:pPr>
                      <a:r>
                        <a:rPr lang="en-US" sz="1050" b="1" kern="0" dirty="0">
                          <a:solidFill>
                            <a:srgbClr val="000000"/>
                          </a:solidFill>
                          <a:latin typeface="+mn-lt"/>
                          <a:ea typeface="+mn-ea"/>
                          <a:cs typeface="+mn-cs"/>
                        </a:rPr>
                        <a:t>File Encryption</a:t>
                      </a:r>
                      <a:r>
                        <a:rPr lang="en-US" sz="1050" b="0" kern="0" dirty="0">
                          <a:solidFill>
                            <a:srgbClr val="000000"/>
                          </a:solidFill>
                          <a:latin typeface="+mn-lt"/>
                          <a:ea typeface="+mn-ea"/>
                          <a:cs typeface="+mn-cs"/>
                        </a:rPr>
                        <a:t>—GPG encryption with Public-Private keys is used to encrypt the batch files (external file exchanges only). Many cloud providers have native encryption solutions for their storage offerings.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53761977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r>
              <a:rPr lang="en-US" altLang="en-US" dirty="0"/>
              <a:t>Data science</a:t>
            </a:r>
            <a:endParaRPr lang="en-US" dirty="0"/>
          </a:p>
        </p:txBody>
      </p:sp>
      <p:graphicFrame>
        <p:nvGraphicFramePr>
          <p:cNvPr id="4" name="Table 3">
            <a:extLst>
              <a:ext uri="{FF2B5EF4-FFF2-40B4-BE49-F238E27FC236}">
                <a16:creationId xmlns:a16="http://schemas.microsoft.com/office/drawing/2014/main" id="{7A5F71A7-4840-47E5-BC54-886F686B3655}"/>
              </a:ext>
            </a:extLst>
          </p:cNvPr>
          <p:cNvGraphicFramePr>
            <a:graphicFrameLocks noGrp="1"/>
          </p:cNvGraphicFramePr>
          <p:nvPr>
            <p:extLst>
              <p:ext uri="{D42A27DB-BD31-4B8C-83A1-F6EECF244321}">
                <p14:modId xmlns:p14="http://schemas.microsoft.com/office/powerpoint/2010/main" val="1504965669"/>
              </p:ext>
            </p:extLst>
          </p:nvPr>
        </p:nvGraphicFramePr>
        <p:xfrm>
          <a:off x="469900" y="1031057"/>
          <a:ext cx="11248948" cy="448818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40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40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400"/>
                        </a:spcAft>
                      </a:pPr>
                      <a:r>
                        <a:rPr lang="en-US" sz="1050" b="1" kern="1200" baseline="0" dirty="0">
                          <a:solidFill>
                            <a:schemeClr val="bg1"/>
                          </a:solidFill>
                        </a:rPr>
                        <a:t>Data science</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400"/>
                        </a:spcAft>
                        <a:defRPr/>
                      </a:pPr>
                      <a:r>
                        <a:rPr lang="en-US" sz="1050" b="1" kern="1200" baseline="0" dirty="0"/>
                        <a:t>Data science:</a:t>
                      </a:r>
                      <a:r>
                        <a:rPr lang="en-US" sz="1050" b="0" kern="1200" baseline="0" dirty="0"/>
                        <a:t> Data Science is a technical field that applies scientific rigor to the understanding of business data and the associated processes and products to understand the behavior and drive insights to the processes and products. Data Science projects include taxonomy creation (text mining, big data), clustering applied to big data sets, recommendation engines, simulations, rule systems for statistical scoring engines, root cause analysis, automated bidding, forensics, exo-planets detection, and early detection of fraud. An important component of data science is automation, machine-to-machine communications, as well as algorithms running non-stop in production mode (sometimes in real time). The data science tools and algorithms consume the curated or raw data to learn the process behavior from the data. Data Science field is broadly categorized into supervised learning, un-supervised learning and re-enforced learning. </a:t>
                      </a:r>
                    </a:p>
                    <a:p>
                      <a:pPr marL="0" algn="l" defTabSz="914400" rtl="0" eaLnBrk="0" fontAlgn="base" latinLnBrk="0" hangingPunct="0">
                        <a:lnSpc>
                          <a:spcPct val="100000"/>
                        </a:lnSpc>
                        <a:spcBef>
                          <a:spcPts val="0"/>
                        </a:spcBef>
                        <a:spcAft>
                          <a:spcPts val="400"/>
                        </a:spcAft>
                        <a:defRPr/>
                      </a:pPr>
                      <a:r>
                        <a:rPr lang="en-US" sz="1050" b="1" kern="1200" baseline="0" dirty="0"/>
                        <a:t>Statistical models:</a:t>
                      </a:r>
                      <a:r>
                        <a:rPr lang="en-US" sz="1050" b="0" kern="1200" baseline="0" dirty="0"/>
                        <a:t> Statistical modeling is a set of assumptions that are used to define a probability of an event or data outcome. For example a linear trend over time. Modeling can be done to test hypothesis, for example in analyzing survey results for differences by customer segment. Statistical modeling is key to classical disciplines such as econometrics and actuarial science.</a:t>
                      </a:r>
                    </a:p>
                    <a:p>
                      <a:pPr marL="0" algn="l" defTabSz="914400" rtl="0" eaLnBrk="0" fontAlgn="base" latinLnBrk="0" hangingPunct="0">
                        <a:lnSpc>
                          <a:spcPct val="100000"/>
                        </a:lnSpc>
                        <a:spcBef>
                          <a:spcPts val="0"/>
                        </a:spcBef>
                        <a:spcAft>
                          <a:spcPts val="400"/>
                        </a:spcAft>
                        <a:defRPr/>
                      </a:pPr>
                      <a:r>
                        <a:rPr lang="en-US" sz="1050" b="1" kern="1200" baseline="0" dirty="0"/>
                        <a:t>Machine learning:</a:t>
                      </a:r>
                      <a:r>
                        <a:rPr lang="en-US" sz="1050" b="0" kern="1200" baseline="0" dirty="0"/>
                        <a:t> Machine learning is a set of algorithms that train on a data set to make predictions or take actions in order to optimize some systems. For instance, supervised classification algorithms are used to classify potential clients into good or bad prospects, for loan purposes, based on historical data. The techniques involved, for a given task (e.g. supervised clustering), are varied: naive Bayes, SVM, neural nets, ensembles, association rules, decision trees, logistic regression, or a combination of many.</a:t>
                      </a:r>
                    </a:p>
                    <a:p>
                      <a:pPr marL="0" algn="l" defTabSz="914400" rtl="0" eaLnBrk="0" fontAlgn="base" latinLnBrk="0" hangingPunct="0">
                        <a:lnSpc>
                          <a:spcPct val="100000"/>
                        </a:lnSpc>
                        <a:spcBef>
                          <a:spcPts val="0"/>
                        </a:spcBef>
                        <a:spcAft>
                          <a:spcPts val="400"/>
                        </a:spcAft>
                        <a:defRPr/>
                      </a:pPr>
                      <a:r>
                        <a:rPr lang="en-US" sz="1050" b="1" kern="1200" baseline="0" dirty="0"/>
                        <a:t>NLP (Natural language processing): </a:t>
                      </a:r>
                      <a:r>
                        <a:rPr lang="en-US" sz="1050" b="0" kern="1200" baseline="0" dirty="0"/>
                        <a:t>NLP is the interpretation of language by computer systems. It can involve parsing text into vectors of words, or applying taxonomies or ontologies to text, or using AI to find features and train algorithms on text.</a:t>
                      </a:r>
                    </a:p>
                    <a:p>
                      <a:pPr marL="0" algn="l" defTabSz="914400" rtl="0" eaLnBrk="0" fontAlgn="base" latinLnBrk="0" hangingPunct="0">
                        <a:lnSpc>
                          <a:spcPct val="100000"/>
                        </a:lnSpc>
                        <a:spcBef>
                          <a:spcPts val="0"/>
                        </a:spcBef>
                        <a:spcAft>
                          <a:spcPts val="400"/>
                        </a:spcAft>
                        <a:defRPr/>
                      </a:pPr>
                      <a:r>
                        <a:rPr lang="en-US" sz="1050" b="1" kern="1200" baseline="0" dirty="0"/>
                        <a:t>Artificial intelligence: </a:t>
                      </a:r>
                      <a:r>
                        <a:rPr lang="en-US" sz="1050" b="0" kern="1200" baseline="0" dirty="0"/>
                        <a:t>Artificial Intelligence is a rapidly growing area of machine learning that simulates intelligent behavior in computers. Its use is expanding in SaaS environments such as Google’s online ML systems and AWS Sage Maker and Tensor flow libraries. It is typically built using neural networks roughly patterned after biological processes, which provide a framework for algorithms such as the following: </a:t>
                      </a:r>
                    </a:p>
                    <a:p>
                      <a:pPr marL="171450" indent="-171450" algn="l" defTabSz="914400" rtl="0" eaLnBrk="0" fontAlgn="base" latinLnBrk="0" hangingPunct="0">
                        <a:lnSpc>
                          <a:spcPct val="100000"/>
                        </a:lnSpc>
                        <a:spcBef>
                          <a:spcPts val="0"/>
                        </a:spcBef>
                        <a:spcAft>
                          <a:spcPts val="400"/>
                        </a:spcAft>
                        <a:buFont typeface="Arial" panose="020B0604020202020204" pitchFamily="34" charset="0"/>
                        <a:buChar char="•"/>
                        <a:defRPr/>
                      </a:pPr>
                      <a:r>
                        <a:rPr lang="en-US" sz="1050" b="1" kern="1200" baseline="0" dirty="0"/>
                        <a:t>Deep learning:</a:t>
                      </a:r>
                      <a:r>
                        <a:rPr lang="en-US" sz="1050" b="0" kern="1200" baseline="0" dirty="0"/>
                        <a:t> Deep learning is one kind of machine learning involves a particular kind of mathematical model that can be thought of as a composition of simple blocks (function composition) of a certain type, and where some of these blocks can be adjusted to better predict the final outcome. </a:t>
                      </a:r>
                    </a:p>
                    <a:p>
                      <a:pPr marL="171450" indent="-171450" algn="l" defTabSz="914400" rtl="0" eaLnBrk="0" fontAlgn="base" latinLnBrk="0" hangingPunct="0">
                        <a:lnSpc>
                          <a:spcPct val="100000"/>
                        </a:lnSpc>
                        <a:spcBef>
                          <a:spcPts val="0"/>
                        </a:spcBef>
                        <a:spcAft>
                          <a:spcPts val="400"/>
                        </a:spcAft>
                        <a:buFont typeface="Arial" panose="020B0604020202020204" pitchFamily="34" charset="0"/>
                        <a:buChar char="•"/>
                        <a:defRPr/>
                      </a:pPr>
                      <a:r>
                        <a:rPr lang="en-US" sz="1050" b="1" kern="1200" baseline="0" dirty="0"/>
                        <a:t>Reinforced learning: </a:t>
                      </a:r>
                      <a:r>
                        <a:rPr lang="en-US" sz="1050" b="0" kern="1200" baseline="0" dirty="0"/>
                        <a:t>Reinforcement Learning(RL) is a type of machine learning technique that enables an agent to learn in an interactive environment by trial and error using feedback from its own actions and experiences.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bl>
          </a:graphicData>
        </a:graphic>
      </p:graphicFrame>
    </p:spTree>
    <p:extLst>
      <p:ext uri="{BB962C8B-B14F-4D97-AF65-F5344CB8AC3E}">
        <p14:creationId xmlns:p14="http://schemas.microsoft.com/office/powerpoint/2010/main" val="247283870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r>
              <a:rPr lang="en-US" altLang="en-US" dirty="0"/>
              <a:t>Data provisioning</a:t>
            </a:r>
            <a:endParaRPr lang="en-US" dirty="0"/>
          </a:p>
        </p:txBody>
      </p:sp>
      <p:graphicFrame>
        <p:nvGraphicFramePr>
          <p:cNvPr id="5" name="Table 4">
            <a:extLst>
              <a:ext uri="{FF2B5EF4-FFF2-40B4-BE49-F238E27FC236}">
                <a16:creationId xmlns:a16="http://schemas.microsoft.com/office/drawing/2014/main" id="{9C3572BB-E39D-4523-A2AB-F76C8912AE30}"/>
              </a:ext>
            </a:extLst>
          </p:cNvPr>
          <p:cNvGraphicFramePr>
            <a:graphicFrameLocks noGrp="1"/>
          </p:cNvGraphicFramePr>
          <p:nvPr>
            <p:extLst>
              <p:ext uri="{D42A27DB-BD31-4B8C-83A1-F6EECF244321}">
                <p14:modId xmlns:p14="http://schemas.microsoft.com/office/powerpoint/2010/main" val="3785021400"/>
              </p:ext>
            </p:extLst>
          </p:nvPr>
        </p:nvGraphicFramePr>
        <p:xfrm>
          <a:off x="469900" y="1031057"/>
          <a:ext cx="11248948" cy="244602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1100"/>
                        </a:spcAft>
                      </a:pPr>
                      <a:r>
                        <a:rPr lang="en-US" sz="110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1100"/>
                        </a:spcAft>
                        <a:defRPr/>
                      </a:pPr>
                      <a:r>
                        <a:rPr lang="en-US" sz="1100" b="1" kern="1200" dirty="0">
                          <a:solidFill>
                            <a:schemeClr val="bg1"/>
                          </a:solidFill>
                        </a:rPr>
                        <a:t>Description</a:t>
                      </a:r>
                      <a:endParaRPr lang="en-US" sz="110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1100"/>
                        </a:spcAft>
                      </a:pPr>
                      <a:r>
                        <a:rPr lang="en-US" sz="1100" b="1" kern="1200" baseline="0" dirty="0">
                          <a:solidFill>
                            <a:sysClr val="windowText" lastClr="000000"/>
                          </a:solidFill>
                        </a:rPr>
                        <a:t>Data provisioning</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100" b="0" kern="1200" baseline="0" dirty="0"/>
                        <a:t>Data provisioning is the mechanism to make the curated data available for consumption. There are traditional ways such as creating </a:t>
                      </a:r>
                      <a:r>
                        <a:rPr lang="en-US" sz="1100" b="0" kern="1200" baseline="0" dirty="0" err="1"/>
                        <a:t>datamarts</a:t>
                      </a:r>
                      <a:r>
                        <a:rPr lang="en-US" sz="1100" b="0" kern="1200" baseline="0" dirty="0"/>
                        <a:t> over the enterprise data lake or enterprise data warehouse.</a:t>
                      </a:r>
                    </a:p>
                    <a:p>
                      <a:pPr marL="0" algn="l" defTabSz="914400" rtl="0" eaLnBrk="0" fontAlgn="base" latinLnBrk="0" hangingPunct="0">
                        <a:lnSpc>
                          <a:spcPct val="100000"/>
                        </a:lnSpc>
                        <a:spcBef>
                          <a:spcPts val="0"/>
                        </a:spcBef>
                        <a:spcAft>
                          <a:spcPts val="1100"/>
                        </a:spcAft>
                        <a:defRPr/>
                      </a:pPr>
                      <a:r>
                        <a:rPr lang="en-US" sz="1100" b="1" kern="1200" baseline="0" dirty="0"/>
                        <a:t>Data warehousing:</a:t>
                      </a:r>
                      <a:r>
                        <a:rPr lang="en-US" sz="1100" b="0" kern="1200" baseline="0" dirty="0"/>
                        <a:t> This typically uses a relational repository or could also be an MPP appliance with distributed storage and computing capabilities. The data models is usually a star schema for SQL-friendly access and building of a semantic model to facilitate </a:t>
                      </a:r>
                      <a:r>
                        <a:rPr lang="en-US" sz="1100" b="0" kern="1200" baseline="0" dirty="0" err="1"/>
                        <a:t>adhoc</a:t>
                      </a:r>
                      <a:r>
                        <a:rPr lang="en-US" sz="1100" b="0" kern="1200" baseline="0" dirty="0"/>
                        <a:t> analysis.</a:t>
                      </a:r>
                    </a:p>
                    <a:p>
                      <a:pPr marL="0" algn="l" defTabSz="914400" rtl="0" eaLnBrk="0" fontAlgn="base" latinLnBrk="0" hangingPunct="0">
                        <a:lnSpc>
                          <a:spcPct val="100000"/>
                        </a:lnSpc>
                        <a:spcBef>
                          <a:spcPts val="0"/>
                        </a:spcBef>
                        <a:spcAft>
                          <a:spcPts val="1100"/>
                        </a:spcAft>
                        <a:defRPr/>
                      </a:pPr>
                      <a:r>
                        <a:rPr lang="en-US" sz="1100" b="1" kern="1200" baseline="0" dirty="0"/>
                        <a:t>In-memory databases:</a:t>
                      </a:r>
                      <a:r>
                        <a:rPr lang="en-US" sz="1100" b="0" kern="1200" baseline="0" dirty="0"/>
                        <a:t> In-Memory Databases or caches are used to provide access to frequently accessed data such as credit card information, product details. In memory, Analytical Models provide near real time search results to build the dashboards and reports.</a:t>
                      </a:r>
                    </a:p>
                    <a:p>
                      <a:pPr marL="0" algn="l" defTabSz="914400" rtl="0" eaLnBrk="0" fontAlgn="base" latinLnBrk="0" hangingPunct="0">
                        <a:lnSpc>
                          <a:spcPct val="100000"/>
                        </a:lnSpc>
                        <a:spcBef>
                          <a:spcPts val="0"/>
                        </a:spcBef>
                        <a:spcAft>
                          <a:spcPts val="1100"/>
                        </a:spcAft>
                        <a:defRPr/>
                      </a:pPr>
                      <a:r>
                        <a:rPr lang="en-US" sz="1100" b="1" kern="1200" baseline="0" dirty="0"/>
                        <a:t>Real time search:</a:t>
                      </a:r>
                      <a:r>
                        <a:rPr lang="en-US" sz="1100" b="0" kern="1200" baseline="0" dirty="0"/>
                        <a:t> Real time search uses indexing techniques to crawl and index search content from relational and un-structured sources. A search box, typically embedded in a portal application provides fast, secure and faceted search features based upon a keyword or other </a:t>
                      </a:r>
                      <a:r>
                        <a:rPr lang="en-US" sz="1100" b="0" kern="1200" baseline="0" dirty="0" err="1"/>
                        <a:t>boolean</a:t>
                      </a:r>
                      <a:r>
                        <a:rPr lang="en-US" sz="1100" b="0" kern="1200" baseline="0" dirty="0"/>
                        <a:t> query constructs.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bl>
          </a:graphicData>
        </a:graphic>
      </p:graphicFrame>
    </p:spTree>
    <p:extLst>
      <p:ext uri="{BB962C8B-B14F-4D97-AF65-F5344CB8AC3E}">
        <p14:creationId xmlns:p14="http://schemas.microsoft.com/office/powerpoint/2010/main" val="251481777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6C69543B-F630-4027-A181-D66BC4A3936C}"/>
              </a:ext>
            </a:extLst>
          </p:cNvPr>
          <p:cNvSpPr>
            <a:spLocks noGrp="1"/>
          </p:cNvSpPr>
          <p:nvPr>
            <p:ph type="body" sz="quarter" idx="13"/>
          </p:nvPr>
        </p:nvSpPr>
        <p:spPr/>
        <p:txBody>
          <a:bodyPr/>
          <a:lstStyle/>
          <a:p>
            <a:r>
              <a:rPr lang="en-US" dirty="0"/>
              <a:t>Analytics</a:t>
            </a:r>
          </a:p>
        </p:txBody>
      </p:sp>
      <p:sp>
        <p:nvSpPr>
          <p:cNvPr id="2" name="Title 1"/>
          <p:cNvSpPr>
            <a:spLocks noGrp="1"/>
          </p:cNvSpPr>
          <p:nvPr>
            <p:ph type="title"/>
          </p:nvPr>
        </p:nvSpPr>
        <p:spPr/>
        <p:txBody>
          <a:bodyPr/>
          <a:lstStyle/>
          <a:p>
            <a:r>
              <a:rPr lang="en-US" dirty="0"/>
              <a:t>4. Information delivery</a:t>
            </a:r>
          </a:p>
        </p:txBody>
      </p:sp>
      <p:graphicFrame>
        <p:nvGraphicFramePr>
          <p:cNvPr id="21" name="Table 20">
            <a:extLst>
              <a:ext uri="{FF2B5EF4-FFF2-40B4-BE49-F238E27FC236}">
                <a16:creationId xmlns:a16="http://schemas.microsoft.com/office/drawing/2014/main" id="{556194DC-1C8C-4D63-AED5-C735002CB0F6}"/>
              </a:ext>
            </a:extLst>
          </p:cNvPr>
          <p:cNvGraphicFramePr>
            <a:graphicFrameLocks noGrp="1"/>
          </p:cNvGraphicFramePr>
          <p:nvPr>
            <p:extLst>
              <p:ext uri="{D42A27DB-BD31-4B8C-83A1-F6EECF244321}">
                <p14:modId xmlns:p14="http://schemas.microsoft.com/office/powerpoint/2010/main" val="1461699324"/>
              </p:ext>
            </p:extLst>
          </p:nvPr>
        </p:nvGraphicFramePr>
        <p:xfrm>
          <a:off x="469900" y="1665288"/>
          <a:ext cx="11248948" cy="251460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3283975">
                  <a:extLst>
                    <a:ext uri="{9D8B030D-6E8A-4147-A177-3AD203B41FA5}">
                      <a16:colId xmlns:a16="http://schemas.microsoft.com/office/drawing/2014/main" val="3269670294"/>
                    </a:ext>
                  </a:extLst>
                </a:gridCol>
                <a:gridCol w="6517583">
                  <a:extLst>
                    <a:ext uri="{9D8B030D-6E8A-4147-A177-3AD203B41FA5}">
                      <a16:colId xmlns:a16="http://schemas.microsoft.com/office/drawing/2014/main" val="1361826925"/>
                    </a:ext>
                  </a:extLst>
                </a:gridCol>
              </a:tblGrid>
              <a:tr h="0">
                <a:tc>
                  <a:txBody>
                    <a:bodyPr/>
                    <a:lstStyle/>
                    <a:p>
                      <a:pPr algn="l">
                        <a:lnSpc>
                          <a:spcPct val="100000"/>
                        </a:lnSpc>
                        <a:spcBef>
                          <a:spcPts val="0"/>
                        </a:spcBef>
                        <a:spcAft>
                          <a:spcPts val="300"/>
                        </a:spcAft>
                      </a:pPr>
                      <a:r>
                        <a:rPr lang="en-US" sz="1100" b="1" dirty="0">
                          <a:solidFill>
                            <a:schemeClr val="bg1"/>
                          </a:solidFill>
                        </a:rPr>
                        <a:t>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l" rtl="0" eaLnBrk="0" fontAlgn="base" hangingPunct="0">
                        <a:lnSpc>
                          <a:spcPct val="100000"/>
                        </a:lnSpc>
                        <a:spcBef>
                          <a:spcPts val="0"/>
                        </a:spcBef>
                        <a:spcAft>
                          <a:spcPts val="300"/>
                        </a:spcAft>
                        <a:defRPr/>
                      </a:pPr>
                      <a:r>
                        <a:rPr lang="en-US" sz="1100" b="1" kern="1200" dirty="0">
                          <a:solidFill>
                            <a:schemeClr val="bg1"/>
                          </a:solidFill>
                        </a:rPr>
                        <a:t>Description</a:t>
                      </a:r>
                      <a:endParaRPr lang="en-US" sz="110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300"/>
                        </a:spcAft>
                      </a:pPr>
                      <a:r>
                        <a:rPr lang="en-US" sz="1100" b="1" kern="1200" baseline="0" dirty="0">
                          <a:solidFill>
                            <a:sysClr val="windowText" lastClr="000000"/>
                          </a:solidFill>
                        </a:rPr>
                        <a:t>Information delivery</a:t>
                      </a:r>
                      <a:endParaRPr lang="en-US" sz="11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l" defTabSz="914400" rtl="0" eaLnBrk="0" fontAlgn="base" latinLnBrk="0" hangingPunct="0">
                        <a:lnSpc>
                          <a:spcPct val="100000"/>
                        </a:lnSpc>
                        <a:spcBef>
                          <a:spcPts val="0"/>
                        </a:spcBef>
                        <a:spcAft>
                          <a:spcPts val="300"/>
                        </a:spcAft>
                        <a:defRPr/>
                      </a:pPr>
                      <a:r>
                        <a:rPr lang="en-US" sz="1100" b="1" kern="1200" baseline="0" dirty="0"/>
                        <a:t>Analytics:</a:t>
                      </a:r>
                      <a:r>
                        <a:rPr lang="en-US" sz="1100" b="0" kern="1200" baseline="0" dirty="0"/>
                        <a:t> Analytics is the discovery, interpretation, and communication of meaningful patterns in data; and the process of applying those patterns towards effective decision making. In other words, analytics can be understood as the connective tissue between data and effective decision making, within an organization.</a:t>
                      </a:r>
                    </a:p>
                    <a:p>
                      <a:pPr marL="0" algn="l" defTabSz="914400" rtl="0" eaLnBrk="0" fontAlgn="base" latinLnBrk="0" hangingPunct="0">
                        <a:lnSpc>
                          <a:spcPct val="100000"/>
                        </a:lnSpc>
                        <a:spcBef>
                          <a:spcPts val="0"/>
                        </a:spcBef>
                        <a:spcAft>
                          <a:spcPts val="300"/>
                        </a:spcAft>
                        <a:defRPr/>
                      </a:pPr>
                      <a:r>
                        <a:rPr lang="en-US" sz="1100" b="0" kern="1200" baseline="0" dirty="0"/>
                        <a:t>The processed data is made available using information delivery platforms and technologies. Data can be pulled by the analytics platform or the data can be pushed at regular intervals to a location where it is available for information consumers.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525600140"/>
                  </a:ext>
                </a:extLst>
              </a:tr>
              <a:tr h="0">
                <a:tc>
                  <a:txBody>
                    <a:bodyPr/>
                    <a:lstStyle/>
                    <a:p>
                      <a:pPr marL="0" marR="0" lvl="0" indent="0" algn="l" defTabSz="1219170" rtl="0" eaLnBrk="1" fontAlgn="auto" latinLnBrk="0" hangingPunct="1">
                        <a:lnSpc>
                          <a:spcPct val="100000"/>
                        </a:lnSpc>
                        <a:spcBef>
                          <a:spcPts val="0"/>
                        </a:spcBef>
                        <a:spcAft>
                          <a:spcPts val="300"/>
                        </a:spcAft>
                        <a:buClrTx/>
                        <a:buSzTx/>
                        <a:buFontTx/>
                        <a:buNone/>
                        <a:tabLst/>
                        <a:defRPr/>
                      </a:pPr>
                      <a:r>
                        <a:rPr lang="en-US" sz="1100" b="1" kern="1200" baseline="0" dirty="0">
                          <a:solidFill>
                            <a:sysClr val="windowText" lastClr="000000"/>
                          </a:solidFill>
                        </a:rPr>
                        <a:t>Applicable NFRs and arch principles</a:t>
                      </a:r>
                      <a:endParaRPr lang="en-US" sz="11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1—Workloads</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7—Data Movement</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18—Interfaces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PRIN-3 Low coupling between systems but ensure inter-operability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PRIN-3 Low coupling between systems but ensure inter-operability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PRIN-4 Data management optimized for efficiency and reuse</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PRIN-5 Data standardization and governance to ensure consistency and accuracy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PRIN-6 Common vocabulary and data definitions</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PRIN-11 Use lifelike testing and proving</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107073667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pPr lvl="0"/>
            <a:r>
              <a:rPr lang="en-US" altLang="en-US"/>
              <a:t>Analytics</a:t>
            </a:r>
            <a:endParaRPr lang="en-US" altLang="en-US" dirty="0"/>
          </a:p>
        </p:txBody>
      </p:sp>
      <p:graphicFrame>
        <p:nvGraphicFramePr>
          <p:cNvPr id="7" name="Table 6">
            <a:extLst>
              <a:ext uri="{FF2B5EF4-FFF2-40B4-BE49-F238E27FC236}">
                <a16:creationId xmlns:a16="http://schemas.microsoft.com/office/drawing/2014/main" id="{7C3EE37B-ACF8-4D5B-A31D-2E6F7933747C}"/>
              </a:ext>
            </a:extLst>
          </p:cNvPr>
          <p:cNvGraphicFramePr>
            <a:graphicFrameLocks noGrp="1"/>
          </p:cNvGraphicFramePr>
          <p:nvPr>
            <p:extLst>
              <p:ext uri="{D42A27DB-BD31-4B8C-83A1-F6EECF244321}">
                <p14:modId xmlns:p14="http://schemas.microsoft.com/office/powerpoint/2010/main" val="262102825"/>
              </p:ext>
            </p:extLst>
          </p:nvPr>
        </p:nvGraphicFramePr>
        <p:xfrm>
          <a:off x="469900" y="1031057"/>
          <a:ext cx="11248948" cy="502920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40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40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400"/>
                        </a:spcAft>
                      </a:pPr>
                      <a:r>
                        <a:rPr lang="en-US" sz="1050" b="1" kern="1200" baseline="0" dirty="0">
                          <a:solidFill>
                            <a:sysClr val="windowText" lastClr="000000"/>
                          </a:solidFill>
                        </a:rPr>
                        <a:t>Analytics</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600"/>
                        </a:spcAft>
                        <a:defRPr/>
                      </a:pPr>
                      <a:r>
                        <a:rPr lang="en-US" sz="1050" b="1" kern="1200" baseline="0" dirty="0"/>
                        <a:t>Advanced analytics:</a:t>
                      </a:r>
                      <a:r>
                        <a:rPr lang="en-US" sz="1050" b="0" kern="1200" baseline="0" dirty="0"/>
                        <a:t> Advanced Analytics provide deep insights in to the data from the BI reporting platform. Data Mining, Machine learning, pattern matching, forecasting etc. are some of the advanced analytics capabilities.</a:t>
                      </a:r>
                    </a:p>
                    <a:p>
                      <a:pPr marL="0" algn="l" defTabSz="914400" rtl="0" eaLnBrk="0" fontAlgn="base" latinLnBrk="0" hangingPunct="0">
                        <a:lnSpc>
                          <a:spcPct val="100000"/>
                        </a:lnSpc>
                        <a:spcBef>
                          <a:spcPts val="0"/>
                        </a:spcBef>
                        <a:spcAft>
                          <a:spcPts val="600"/>
                        </a:spcAft>
                        <a:defRPr/>
                      </a:pPr>
                      <a:r>
                        <a:rPr lang="en-US" sz="1050" b="1" kern="1200" baseline="0" dirty="0"/>
                        <a:t>Streaming analytics: </a:t>
                      </a:r>
                      <a:r>
                        <a:rPr lang="en-US" sz="1050" b="0" kern="1200" baseline="0" dirty="0"/>
                        <a:t>Stream processing and stream analytics are synonymous. Complex Event Processing (CEP), which processes high speed and high volumes of data in parallel data processing pipelines is an example of Stream Analytics. Stock ticker price analysis for brokerage decisioning is CEP. IoT is another example of streaming analytics. Streaming analytics deals in data streams and the analytics is used to take decisions in autonomous way based on real time data processing. Windowing techniques are used to analyze the temporal data in the stream through analytical functions. </a:t>
                      </a:r>
                    </a:p>
                    <a:p>
                      <a:pPr marL="0" algn="l" defTabSz="914400" rtl="0" eaLnBrk="0" fontAlgn="base" latinLnBrk="0" hangingPunct="0">
                        <a:lnSpc>
                          <a:spcPct val="100000"/>
                        </a:lnSpc>
                        <a:spcBef>
                          <a:spcPts val="0"/>
                        </a:spcBef>
                        <a:spcAft>
                          <a:spcPts val="600"/>
                        </a:spcAft>
                        <a:defRPr/>
                      </a:pPr>
                      <a:r>
                        <a:rPr lang="en-US" sz="1050" b="1" kern="1200" baseline="0" dirty="0"/>
                        <a:t>BI platform: </a:t>
                      </a:r>
                      <a:r>
                        <a:rPr lang="en-US" sz="1050" b="0" kern="1200" baseline="0" dirty="0"/>
                        <a:t>Business intelligence (BI) platforms enable enterprises to build BI applications by providing capabilities in three categories: analysis, such as online analytical processing (OLAP); information delivery, such as reports and dashboards; and platform integration, such as BI metadata management and a development environment</a:t>
                      </a:r>
                    </a:p>
                    <a:p>
                      <a:pPr marL="0" algn="l" defTabSz="914400" rtl="0" eaLnBrk="0" fontAlgn="base" latinLnBrk="0" hangingPunct="0">
                        <a:lnSpc>
                          <a:spcPct val="100000"/>
                        </a:lnSpc>
                        <a:spcBef>
                          <a:spcPts val="0"/>
                        </a:spcBef>
                        <a:spcAft>
                          <a:spcPts val="600"/>
                        </a:spcAft>
                        <a:defRPr/>
                      </a:pPr>
                      <a:r>
                        <a:rPr lang="en-US" sz="1050" b="1" kern="1200" baseline="0" dirty="0"/>
                        <a:t>Data discovery:</a:t>
                      </a:r>
                      <a:r>
                        <a:rPr lang="en-US" sz="1050" b="0" kern="1200" baseline="0" dirty="0"/>
                        <a:t> Data Science Workbench is an application that empowers data scientists to use their preferred technologies, languages and libraries in an environment that can be local to their machines or part of the broader enterprise-wide infrastructure.</a:t>
                      </a:r>
                    </a:p>
                    <a:p>
                      <a:pPr marL="0" algn="l" defTabSz="914400" rtl="0" eaLnBrk="0" fontAlgn="base" latinLnBrk="0" hangingPunct="0">
                        <a:lnSpc>
                          <a:spcPct val="100000"/>
                        </a:lnSpc>
                        <a:spcBef>
                          <a:spcPts val="0"/>
                        </a:spcBef>
                        <a:spcAft>
                          <a:spcPts val="600"/>
                        </a:spcAft>
                        <a:defRPr/>
                      </a:pPr>
                      <a:r>
                        <a:rPr lang="en-US" sz="1050" b="0" kern="1200" baseline="0" dirty="0"/>
                        <a:t>This capability allows data scientists to use tools to build advanced analytical models using techniques associated with statistical analysis, machine learning, and data mining. In addition to model preparation, the management of the model lifecycle including data discovery, data wrangling, visualization, model training, tuning model accuracy through cross-validations and hyper parameters and finally model distribution.</a:t>
                      </a:r>
                    </a:p>
                    <a:p>
                      <a:pPr marL="0" algn="l" defTabSz="914400" rtl="0" eaLnBrk="0" fontAlgn="base" latinLnBrk="0" hangingPunct="0">
                        <a:lnSpc>
                          <a:spcPct val="100000"/>
                        </a:lnSpc>
                        <a:spcBef>
                          <a:spcPts val="0"/>
                        </a:spcBef>
                        <a:spcAft>
                          <a:spcPts val="600"/>
                        </a:spcAft>
                        <a:defRPr/>
                      </a:pPr>
                      <a:r>
                        <a:rPr lang="en-US" sz="1050" b="1" kern="1200" baseline="0" dirty="0"/>
                        <a:t>Visualization: </a:t>
                      </a:r>
                      <a:r>
                        <a:rPr lang="en-US" sz="1050" b="0" kern="1200" baseline="0" dirty="0"/>
                        <a:t>Reports and Dashboards provide the aggregated information to the users. </a:t>
                      </a:r>
                    </a:p>
                    <a:p>
                      <a:pPr marL="0" algn="l" defTabSz="914400" rtl="0" eaLnBrk="0" fontAlgn="base" latinLnBrk="0" hangingPunct="0">
                        <a:lnSpc>
                          <a:spcPct val="100000"/>
                        </a:lnSpc>
                        <a:spcBef>
                          <a:spcPts val="0"/>
                        </a:spcBef>
                        <a:spcAft>
                          <a:spcPts val="600"/>
                        </a:spcAft>
                        <a:defRPr/>
                      </a:pPr>
                      <a:r>
                        <a:rPr lang="en-US" sz="1050" b="1" kern="1200" baseline="0" dirty="0"/>
                        <a:t>Ad-hoc queries: </a:t>
                      </a:r>
                      <a:r>
                        <a:rPr lang="en-US" sz="1050" b="0" kern="1200" baseline="0" dirty="0"/>
                        <a:t>A query capability to search the data based on the consumption data model. A query tool or processor is used to connect to the data store using ODBC/JDBC connectivity to fetch the data in an ad-hoc fashion. </a:t>
                      </a:r>
                    </a:p>
                    <a:p>
                      <a:pPr marL="0" algn="l" defTabSz="914400" rtl="0" eaLnBrk="0" fontAlgn="base" latinLnBrk="0" hangingPunct="0">
                        <a:lnSpc>
                          <a:spcPct val="100000"/>
                        </a:lnSpc>
                        <a:spcBef>
                          <a:spcPts val="0"/>
                        </a:spcBef>
                        <a:spcAft>
                          <a:spcPts val="600"/>
                        </a:spcAft>
                        <a:defRPr/>
                      </a:pPr>
                      <a:r>
                        <a:rPr lang="en-US" sz="1050" b="1" kern="1200" baseline="0" dirty="0"/>
                        <a:t>REST/Webservice interface: </a:t>
                      </a:r>
                      <a:r>
                        <a:rPr lang="en-US" sz="1050" b="0" kern="1200" baseline="0" dirty="0"/>
                        <a:t>This capability exposes data as a REST or a webservice interface to allow query data from the consuming application using standard http/https protocol. Exposing rest interface to external entities require provisioning of an API-gateway for security, authentication and monitoring.</a:t>
                      </a:r>
                    </a:p>
                    <a:p>
                      <a:pPr marL="0" algn="l" defTabSz="914400" rtl="0" eaLnBrk="0" fontAlgn="base" latinLnBrk="0" hangingPunct="0">
                        <a:lnSpc>
                          <a:spcPct val="100000"/>
                        </a:lnSpc>
                        <a:spcBef>
                          <a:spcPts val="0"/>
                        </a:spcBef>
                        <a:spcAft>
                          <a:spcPts val="600"/>
                        </a:spcAft>
                        <a:defRPr/>
                      </a:pPr>
                      <a:r>
                        <a:rPr lang="en-US" sz="1050" b="1" kern="1200" baseline="0" dirty="0"/>
                        <a:t>Distributed query:</a:t>
                      </a:r>
                      <a:r>
                        <a:rPr lang="en-US" sz="1050" b="0" kern="1200" baseline="0" dirty="0"/>
                        <a:t> This capability allows to query disparate data sources in a unified query that spans search across different platforms and it returns a unified result as output. Many tools use a scatter-gather pattern with push-down optimization and caches to provide this capability.</a:t>
                      </a:r>
                    </a:p>
                    <a:p>
                      <a:pPr marL="0" algn="l" defTabSz="914400" rtl="0" eaLnBrk="0" fontAlgn="base" latinLnBrk="0" hangingPunct="0">
                        <a:lnSpc>
                          <a:spcPct val="100000"/>
                        </a:lnSpc>
                        <a:spcBef>
                          <a:spcPts val="0"/>
                        </a:spcBef>
                        <a:spcAft>
                          <a:spcPts val="600"/>
                        </a:spcAft>
                        <a:defRPr/>
                      </a:pPr>
                      <a:r>
                        <a:rPr lang="en-US" sz="1050" b="1" kern="1200" baseline="0" dirty="0"/>
                        <a:t>Data extracts: </a:t>
                      </a:r>
                      <a:r>
                        <a:rPr lang="en-US" sz="1050" b="0" kern="1200" baseline="0" dirty="0"/>
                        <a:t>Data extracts are typically provided using custom batch programs that extract data from one of the layers in the data lake and push the data to a SFTP Server.</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bl>
          </a:graphicData>
        </a:graphic>
      </p:graphicFrame>
    </p:spTree>
    <p:extLst>
      <p:ext uri="{BB962C8B-B14F-4D97-AF65-F5344CB8AC3E}">
        <p14:creationId xmlns:p14="http://schemas.microsoft.com/office/powerpoint/2010/main" val="72684070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B0B3F7B-E900-4CE6-A6CE-AB949A961D3E}"/>
              </a:ext>
            </a:extLst>
          </p:cNvPr>
          <p:cNvSpPr>
            <a:spLocks noGrp="1"/>
          </p:cNvSpPr>
          <p:nvPr>
            <p:ph type="body" sz="quarter" idx="13"/>
          </p:nvPr>
        </p:nvSpPr>
        <p:spPr/>
        <p:txBody>
          <a:bodyPr/>
          <a:lstStyle/>
          <a:p>
            <a:r>
              <a:rPr lang="en-US" dirty="0"/>
              <a:t>Functional users and other access channels</a:t>
            </a:r>
          </a:p>
        </p:txBody>
      </p:sp>
      <p:sp>
        <p:nvSpPr>
          <p:cNvPr id="2" name="Title 1"/>
          <p:cNvSpPr>
            <a:spLocks noGrp="1"/>
          </p:cNvSpPr>
          <p:nvPr>
            <p:ph type="title"/>
          </p:nvPr>
        </p:nvSpPr>
        <p:spPr/>
        <p:txBody>
          <a:bodyPr/>
          <a:lstStyle/>
          <a:p>
            <a:r>
              <a:rPr lang="en-US" dirty="0"/>
              <a:t>5. Information consumers</a:t>
            </a:r>
          </a:p>
        </p:txBody>
      </p:sp>
      <p:graphicFrame>
        <p:nvGraphicFramePr>
          <p:cNvPr id="15" name="Table 14">
            <a:extLst>
              <a:ext uri="{FF2B5EF4-FFF2-40B4-BE49-F238E27FC236}">
                <a16:creationId xmlns:a16="http://schemas.microsoft.com/office/drawing/2014/main" id="{68F55084-6416-48A0-98CC-A85EC154DFE5}"/>
              </a:ext>
            </a:extLst>
          </p:cNvPr>
          <p:cNvGraphicFramePr>
            <a:graphicFrameLocks noGrp="1"/>
          </p:cNvGraphicFramePr>
          <p:nvPr>
            <p:extLst>
              <p:ext uri="{D42A27DB-BD31-4B8C-83A1-F6EECF244321}">
                <p14:modId xmlns:p14="http://schemas.microsoft.com/office/powerpoint/2010/main" val="4167501972"/>
              </p:ext>
            </p:extLst>
          </p:nvPr>
        </p:nvGraphicFramePr>
        <p:xfrm>
          <a:off x="469900" y="1665288"/>
          <a:ext cx="11248948" cy="292608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3283975">
                  <a:extLst>
                    <a:ext uri="{9D8B030D-6E8A-4147-A177-3AD203B41FA5}">
                      <a16:colId xmlns:a16="http://schemas.microsoft.com/office/drawing/2014/main" val="3269670294"/>
                    </a:ext>
                  </a:extLst>
                </a:gridCol>
                <a:gridCol w="6517583">
                  <a:extLst>
                    <a:ext uri="{9D8B030D-6E8A-4147-A177-3AD203B41FA5}">
                      <a16:colId xmlns:a16="http://schemas.microsoft.com/office/drawing/2014/main" val="1361826925"/>
                    </a:ext>
                  </a:extLst>
                </a:gridCol>
              </a:tblGrid>
              <a:tr h="0">
                <a:tc>
                  <a:txBody>
                    <a:bodyPr/>
                    <a:lstStyle/>
                    <a:p>
                      <a:pPr algn="l">
                        <a:lnSpc>
                          <a:spcPct val="100000"/>
                        </a:lnSpc>
                        <a:spcBef>
                          <a:spcPts val="0"/>
                        </a:spcBef>
                        <a:spcAft>
                          <a:spcPts val="300"/>
                        </a:spcAft>
                      </a:pPr>
                      <a:r>
                        <a:rPr lang="en-US" sz="1100" b="1" dirty="0">
                          <a:solidFill>
                            <a:schemeClr val="bg1"/>
                          </a:solidFill>
                        </a:rPr>
                        <a:t>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l" rtl="0" eaLnBrk="0" fontAlgn="base" hangingPunct="0">
                        <a:lnSpc>
                          <a:spcPct val="100000"/>
                        </a:lnSpc>
                        <a:spcBef>
                          <a:spcPts val="0"/>
                        </a:spcBef>
                        <a:spcAft>
                          <a:spcPts val="300"/>
                        </a:spcAft>
                        <a:defRPr/>
                      </a:pPr>
                      <a:r>
                        <a:rPr lang="en-US" sz="1100" b="1" kern="1200" dirty="0">
                          <a:solidFill>
                            <a:schemeClr val="bg1"/>
                          </a:solidFill>
                        </a:rPr>
                        <a:t>Description</a:t>
                      </a:r>
                      <a:endParaRPr lang="en-US" sz="110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862172378"/>
                  </a:ext>
                </a:extLst>
              </a:tr>
              <a:tr h="0">
                <a:tc>
                  <a:txBody>
                    <a:bodyPr/>
                    <a:lstStyle/>
                    <a:p>
                      <a:pPr marL="0" algn="l" defTabSz="914400" rtl="0" eaLnBrk="0" fontAlgn="base" latinLnBrk="0" hangingPunct="0">
                        <a:lnSpc>
                          <a:spcPct val="100000"/>
                        </a:lnSpc>
                        <a:spcBef>
                          <a:spcPts val="0"/>
                        </a:spcBef>
                        <a:spcAft>
                          <a:spcPts val="600"/>
                        </a:spcAft>
                        <a:defRPr/>
                      </a:pPr>
                      <a:r>
                        <a:rPr lang="en-US" sz="1100" b="1" kern="1200" baseline="0" dirty="0">
                          <a:solidFill>
                            <a:schemeClr val="tx1"/>
                          </a:solidFill>
                          <a:latin typeface="+mn-lt"/>
                          <a:ea typeface="+mn-ea"/>
                          <a:cs typeface="+mn-cs"/>
                        </a:rPr>
                        <a:t>Information consumers</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algn="l" defTabSz="914400" rtl="0" eaLnBrk="0" fontAlgn="base" latinLnBrk="0" hangingPunct="0">
                        <a:lnSpc>
                          <a:spcPct val="100000"/>
                        </a:lnSpc>
                        <a:spcBef>
                          <a:spcPts val="0"/>
                        </a:spcBef>
                        <a:spcAft>
                          <a:spcPts val="600"/>
                        </a:spcAft>
                        <a:defRPr/>
                      </a:pPr>
                      <a:r>
                        <a:rPr lang="en-US" sz="1100" b="0" kern="1200" baseline="0" dirty="0"/>
                        <a:t>The data processed on the data and analytics platform is consumed either by the business applications or by the end users by consuming the information in reports and analytics:</a:t>
                      </a:r>
                    </a:p>
                    <a:p>
                      <a:pPr marL="0" algn="l" defTabSz="914400" rtl="0" eaLnBrk="0" fontAlgn="base" latinLnBrk="0" hangingPunct="0">
                        <a:lnSpc>
                          <a:spcPct val="100000"/>
                        </a:lnSpc>
                        <a:spcBef>
                          <a:spcPts val="0"/>
                        </a:spcBef>
                        <a:spcAft>
                          <a:spcPts val="600"/>
                        </a:spcAft>
                        <a:defRPr/>
                      </a:pPr>
                      <a:r>
                        <a:rPr lang="en-US" sz="1100" b="1" kern="1200" baseline="0" dirty="0"/>
                        <a:t>Functional users:</a:t>
                      </a:r>
                      <a:r>
                        <a:rPr lang="en-US" sz="1100" b="0" kern="1200" baseline="0" dirty="0"/>
                        <a:t> Business users, external users, data scientists and users from internal departments use the information and analytics produced by the data and analytics platform Functional users use conformed layer and information delivery tools and technologies to consume data.</a:t>
                      </a:r>
                    </a:p>
                    <a:p>
                      <a:pPr marL="0" algn="l" defTabSz="914400" rtl="0" eaLnBrk="0" fontAlgn="base" latinLnBrk="0" hangingPunct="0">
                        <a:lnSpc>
                          <a:spcPct val="100000"/>
                        </a:lnSpc>
                        <a:spcBef>
                          <a:spcPts val="0"/>
                        </a:spcBef>
                        <a:spcAft>
                          <a:spcPts val="600"/>
                        </a:spcAft>
                        <a:defRPr/>
                      </a:pPr>
                      <a:r>
                        <a:rPr lang="en-US" sz="1100" b="1" kern="1200" baseline="0" dirty="0"/>
                        <a:t>Other access channels: </a:t>
                      </a:r>
                      <a:r>
                        <a:rPr lang="en-US" sz="1100" b="0" kern="1200" baseline="0" dirty="0"/>
                        <a:t>Enterprise Applications, mobile applications, portals and other integrating platforms use standard data exchange protocols to consume data from the data and analytics platform. A standards based service interface based pattern is the most appropriate way to exchange data from the data and analytics platform to the consuming applications.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525600140"/>
                  </a:ext>
                </a:extLst>
              </a:tr>
              <a:tr h="0">
                <a:tc>
                  <a:txBody>
                    <a:bodyPr/>
                    <a:lstStyle/>
                    <a:p>
                      <a:pPr marL="0" marR="0" lvl="0" indent="0" algn="l" defTabSz="914400" rtl="0" eaLnBrk="0" fontAlgn="base" latinLnBrk="0" hangingPunct="0">
                        <a:lnSpc>
                          <a:spcPct val="100000"/>
                        </a:lnSpc>
                        <a:spcBef>
                          <a:spcPts val="0"/>
                        </a:spcBef>
                        <a:spcAft>
                          <a:spcPts val="600"/>
                        </a:spcAft>
                        <a:buClrTx/>
                        <a:buSzTx/>
                        <a:buFontTx/>
                        <a:buNone/>
                        <a:tabLst/>
                        <a:defRPr/>
                      </a:pPr>
                      <a:r>
                        <a:rPr lang="en-US" sz="1100" b="1" kern="1200" baseline="0" dirty="0">
                          <a:solidFill>
                            <a:schemeClr val="tx1"/>
                          </a:solidFill>
                          <a:latin typeface="+mn-lt"/>
                          <a:ea typeface="+mn-ea"/>
                          <a:cs typeface="+mn-cs"/>
                        </a:rPr>
                        <a:t>Applicable NFRs and arch principles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2—Metadata</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PRIN-4 Data management optimized for efficiency and reuse</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PRIN-5 Data standardization and governance to ensure consistency and accuracy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PRIN-6 Common vocabulary and data definitions</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PRIN-7 Information is stored and maintained by policy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PRIN-8 Information is owned, accessible and secure</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230678740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Infrastructure and security</a:t>
            </a:r>
          </a:p>
        </p:txBody>
      </p:sp>
      <p:graphicFrame>
        <p:nvGraphicFramePr>
          <p:cNvPr id="7" name="Table 6">
            <a:extLst>
              <a:ext uri="{FF2B5EF4-FFF2-40B4-BE49-F238E27FC236}">
                <a16:creationId xmlns:a16="http://schemas.microsoft.com/office/drawing/2014/main" id="{2A37DB34-9110-44A4-A4A0-0C591004B538}"/>
              </a:ext>
            </a:extLst>
          </p:cNvPr>
          <p:cNvGraphicFramePr>
            <a:graphicFrameLocks noGrp="1"/>
          </p:cNvGraphicFramePr>
          <p:nvPr>
            <p:extLst>
              <p:ext uri="{D42A27DB-BD31-4B8C-83A1-F6EECF244321}">
                <p14:modId xmlns:p14="http://schemas.microsoft.com/office/powerpoint/2010/main" val="2007360894"/>
              </p:ext>
            </p:extLst>
          </p:nvPr>
        </p:nvGraphicFramePr>
        <p:xfrm>
          <a:off x="469900" y="1665288"/>
          <a:ext cx="11248948" cy="269748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3283975">
                  <a:extLst>
                    <a:ext uri="{9D8B030D-6E8A-4147-A177-3AD203B41FA5}">
                      <a16:colId xmlns:a16="http://schemas.microsoft.com/office/drawing/2014/main" val="3269670294"/>
                    </a:ext>
                  </a:extLst>
                </a:gridCol>
                <a:gridCol w="6517583">
                  <a:extLst>
                    <a:ext uri="{9D8B030D-6E8A-4147-A177-3AD203B41FA5}">
                      <a16:colId xmlns:a16="http://schemas.microsoft.com/office/drawing/2014/main" val="1361826925"/>
                    </a:ext>
                  </a:extLst>
                </a:gridCol>
              </a:tblGrid>
              <a:tr h="0">
                <a:tc>
                  <a:txBody>
                    <a:bodyPr/>
                    <a:lstStyle/>
                    <a:p>
                      <a:pPr algn="l">
                        <a:lnSpc>
                          <a:spcPct val="100000"/>
                        </a:lnSpc>
                        <a:spcBef>
                          <a:spcPts val="0"/>
                        </a:spcBef>
                        <a:spcAft>
                          <a:spcPts val="300"/>
                        </a:spcAft>
                      </a:pPr>
                      <a:r>
                        <a:rPr lang="en-US" sz="1100" b="1" dirty="0">
                          <a:solidFill>
                            <a:schemeClr val="bg1"/>
                          </a:solidFill>
                        </a:rPr>
                        <a:t>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l" rtl="0" eaLnBrk="0" fontAlgn="base" hangingPunct="0">
                        <a:lnSpc>
                          <a:spcPct val="100000"/>
                        </a:lnSpc>
                        <a:spcBef>
                          <a:spcPts val="0"/>
                        </a:spcBef>
                        <a:spcAft>
                          <a:spcPts val="300"/>
                        </a:spcAft>
                        <a:defRPr/>
                      </a:pPr>
                      <a:r>
                        <a:rPr lang="en-US" sz="1100" b="1" kern="1200" dirty="0">
                          <a:solidFill>
                            <a:schemeClr val="bg1"/>
                          </a:solidFill>
                        </a:rPr>
                        <a:t>Description</a:t>
                      </a:r>
                      <a:endParaRPr lang="en-US" sz="110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862172378"/>
                  </a:ext>
                </a:extLst>
              </a:tr>
              <a:tr h="0">
                <a:tc>
                  <a:txBody>
                    <a:bodyPr/>
                    <a:lstStyle/>
                    <a:p>
                      <a:pPr marL="0" algn="l" defTabSz="914400" rtl="0" eaLnBrk="0" fontAlgn="base" latinLnBrk="0" hangingPunct="0">
                        <a:lnSpc>
                          <a:spcPct val="100000"/>
                        </a:lnSpc>
                        <a:spcBef>
                          <a:spcPts val="0"/>
                        </a:spcBef>
                        <a:spcAft>
                          <a:spcPts val="600"/>
                        </a:spcAft>
                        <a:defRPr/>
                      </a:pPr>
                      <a:r>
                        <a:rPr lang="en-US" sz="1100" b="1" kern="1200" baseline="0" dirty="0">
                          <a:solidFill>
                            <a:schemeClr val="tx1"/>
                          </a:solidFill>
                          <a:latin typeface="+mn-lt"/>
                          <a:ea typeface="+mn-ea"/>
                          <a:cs typeface="+mn-cs"/>
                        </a:rPr>
                        <a:t>Infrastructure and security</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algn="l" defTabSz="914400" rtl="0" eaLnBrk="0" fontAlgn="base" latinLnBrk="0" hangingPunct="0">
                        <a:lnSpc>
                          <a:spcPct val="100000"/>
                        </a:lnSpc>
                        <a:spcBef>
                          <a:spcPts val="0"/>
                        </a:spcBef>
                        <a:spcAft>
                          <a:spcPts val="600"/>
                        </a:spcAft>
                        <a:defRPr/>
                      </a:pPr>
                      <a:r>
                        <a:rPr lang="en-US" sz="1100" b="1" kern="1200" baseline="0" dirty="0"/>
                        <a:t>Infrastructure: </a:t>
                      </a:r>
                      <a:r>
                        <a:rPr lang="en-US" sz="1100" b="0" kern="1200" baseline="0" dirty="0"/>
                        <a:t>The data and analytics platform is build by mapping the reference architecture components to the physical hardware and software in the technical architecture during the implementation phase of the project. Product and infrastructure decisions are arrived at based on client’s requirements, and product capabilities. The deployment choices such as on-premise, Hybrid Cloud or Cloud native (IaaS, PaaS or SaaS) infrastructure is selected.</a:t>
                      </a:r>
                    </a:p>
                    <a:p>
                      <a:pPr marL="0" algn="l" defTabSz="914400" rtl="0" eaLnBrk="0" fontAlgn="base" latinLnBrk="0" hangingPunct="0">
                        <a:lnSpc>
                          <a:spcPct val="100000"/>
                        </a:lnSpc>
                        <a:spcBef>
                          <a:spcPts val="0"/>
                        </a:spcBef>
                        <a:spcAft>
                          <a:spcPts val="600"/>
                        </a:spcAft>
                        <a:defRPr/>
                      </a:pPr>
                      <a:r>
                        <a:rPr lang="en-US" sz="1100" b="1" kern="1200" baseline="0" dirty="0"/>
                        <a:t>Data security:</a:t>
                      </a:r>
                      <a:r>
                        <a:rPr lang="en-US" sz="1100" b="0" kern="1200" baseline="0" dirty="0"/>
                        <a:t> This component is aimed at catering to various data security requirements to ensure adherence and compliance. Cryptographic usage requirements will be implemented for protection of information assets associated on the storage layer. Other security capabilities employed are Authorization and Authentication, and Network Security and role-based mapping for the application tier. Enterprise security principles must be adhered to manage security of the data and analytics platform. Audit and Control processes are established to ensure authentication, authorization, and security aspects are working as defined and there are no breach in established security policies.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525600140"/>
                  </a:ext>
                </a:extLst>
              </a:tr>
              <a:tr h="0">
                <a:tc>
                  <a:txBody>
                    <a:bodyPr/>
                    <a:lstStyle/>
                    <a:p>
                      <a:pPr marL="0" marR="0" lvl="0" indent="0" algn="l" defTabSz="914400" rtl="0" eaLnBrk="0" fontAlgn="base" latinLnBrk="0" hangingPunct="0">
                        <a:lnSpc>
                          <a:spcPct val="100000"/>
                        </a:lnSpc>
                        <a:spcBef>
                          <a:spcPts val="0"/>
                        </a:spcBef>
                        <a:spcAft>
                          <a:spcPts val="600"/>
                        </a:spcAft>
                        <a:buClrTx/>
                        <a:buSzTx/>
                        <a:buFontTx/>
                        <a:buNone/>
                        <a:tabLst/>
                        <a:defRPr/>
                      </a:pPr>
                      <a:r>
                        <a:rPr lang="en-US" sz="1100" b="1" kern="1200" baseline="0" dirty="0">
                          <a:solidFill>
                            <a:schemeClr val="tx1"/>
                          </a:solidFill>
                          <a:latin typeface="+mn-lt"/>
                          <a:ea typeface="+mn-ea"/>
                          <a:cs typeface="+mn-cs"/>
                        </a:rPr>
                        <a:t>Applicable NFRs and arch principles</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14—Op Support/Monitoring </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16—Archival &amp; Backup</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PRIN-10 Use cloud-based software-as-a-service for commodity services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388150803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pPr lvl="0"/>
            <a:r>
              <a:rPr lang="en-US" altLang="en-US"/>
              <a:t>Infrastructure</a:t>
            </a:r>
            <a:endParaRPr lang="en-US" altLang="en-US" dirty="0"/>
          </a:p>
        </p:txBody>
      </p:sp>
      <p:graphicFrame>
        <p:nvGraphicFramePr>
          <p:cNvPr id="8" name="Table 7">
            <a:extLst>
              <a:ext uri="{FF2B5EF4-FFF2-40B4-BE49-F238E27FC236}">
                <a16:creationId xmlns:a16="http://schemas.microsoft.com/office/drawing/2014/main" id="{48EA4222-4E36-46AD-8AB8-179C61B7EC76}"/>
              </a:ext>
            </a:extLst>
          </p:cNvPr>
          <p:cNvGraphicFramePr>
            <a:graphicFrameLocks noGrp="1"/>
          </p:cNvGraphicFramePr>
          <p:nvPr>
            <p:extLst>
              <p:ext uri="{D42A27DB-BD31-4B8C-83A1-F6EECF244321}">
                <p14:modId xmlns:p14="http://schemas.microsoft.com/office/powerpoint/2010/main" val="2705258403"/>
              </p:ext>
            </p:extLst>
          </p:nvPr>
        </p:nvGraphicFramePr>
        <p:xfrm>
          <a:off x="469900" y="1031057"/>
          <a:ext cx="11248948" cy="530098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110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110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Infrastructure</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Infrastructure is the cornerstone for a successful Big Data Implementation. Selecting the right set of technologies based on the non functional requirements is essential to meet the program SLAs and meet performance goals. This list is not an exhaustive list of infrastructure components. A glimpse of the tools and technologies is presented here:</a:t>
                      </a:r>
                    </a:p>
                    <a:p>
                      <a:pPr marL="0" algn="l" defTabSz="914400" rtl="0" eaLnBrk="0" fontAlgn="base" latinLnBrk="0" hangingPunct="0">
                        <a:lnSpc>
                          <a:spcPct val="100000"/>
                        </a:lnSpc>
                        <a:spcBef>
                          <a:spcPts val="0"/>
                        </a:spcBef>
                        <a:spcAft>
                          <a:spcPts val="1100"/>
                        </a:spcAft>
                        <a:defRPr/>
                      </a:pPr>
                      <a:r>
                        <a:rPr lang="en-US" sz="1050" b="1" kern="1200" baseline="0" dirty="0"/>
                        <a:t>Development tools:</a:t>
                      </a:r>
                      <a:r>
                        <a:rPr lang="en-US" sz="1050" b="0" kern="1200" baseline="0" dirty="0"/>
                        <a:t> Development tools includes the set of development tools like programming languages, report development, IDE’s, source code and version management repositories associated with development on the big data platform to manage and execute the development process. Following tools will be used for development.</a:t>
                      </a:r>
                    </a:p>
                    <a:p>
                      <a:pPr marL="0" algn="l" defTabSz="914400" rtl="0" eaLnBrk="0" fontAlgn="base" latinLnBrk="0" hangingPunct="0">
                        <a:lnSpc>
                          <a:spcPct val="100000"/>
                        </a:lnSpc>
                        <a:spcBef>
                          <a:spcPts val="0"/>
                        </a:spcBef>
                        <a:spcAft>
                          <a:spcPts val="1100"/>
                        </a:spcAft>
                        <a:defRPr/>
                      </a:pPr>
                      <a:r>
                        <a:rPr lang="en-US" sz="1050" b="1" kern="1200" baseline="0" dirty="0"/>
                        <a:t>DevOps tools:</a:t>
                      </a:r>
                      <a:r>
                        <a:rPr lang="en-US" sz="1050" b="0" kern="1200" baseline="0" dirty="0"/>
                        <a:t> Continuous Integration and Continuous Development tools form the DevOps tools which automate the development and testing processes to support agile development of data and analytics platform capabilities. </a:t>
                      </a:r>
                    </a:p>
                    <a:p>
                      <a:pPr marL="0" algn="l" defTabSz="914400" rtl="0" eaLnBrk="0" fontAlgn="base" latinLnBrk="0" hangingPunct="0">
                        <a:lnSpc>
                          <a:spcPct val="100000"/>
                        </a:lnSpc>
                        <a:spcBef>
                          <a:spcPts val="0"/>
                        </a:spcBef>
                        <a:spcAft>
                          <a:spcPts val="1100"/>
                        </a:spcAft>
                        <a:defRPr/>
                      </a:pPr>
                      <a:r>
                        <a:rPr lang="en-US" sz="1050" b="1" kern="1200" baseline="0" dirty="0"/>
                        <a:t>Authentication and authorization: </a:t>
                      </a:r>
                      <a:r>
                        <a:rPr lang="en-US" sz="1050" b="0" kern="1200" baseline="0" dirty="0"/>
                        <a:t>Authentication using active directory for authenticating users, service accounts, and hosts to access the infrastructure is performed to remedy against unauthorized access to the data and analytics platform. Role based access control provide granular access to the platform components.</a:t>
                      </a:r>
                    </a:p>
                    <a:p>
                      <a:pPr marL="0" algn="l" defTabSz="914400" rtl="0" eaLnBrk="0" fontAlgn="base" latinLnBrk="0" hangingPunct="0">
                        <a:lnSpc>
                          <a:spcPct val="100000"/>
                        </a:lnSpc>
                        <a:spcBef>
                          <a:spcPts val="0"/>
                        </a:spcBef>
                        <a:spcAft>
                          <a:spcPts val="1100"/>
                        </a:spcAft>
                        <a:defRPr/>
                      </a:pPr>
                      <a:r>
                        <a:rPr lang="en-US" sz="1050" b="1" kern="1200" baseline="0" dirty="0"/>
                        <a:t>Load balancing:</a:t>
                      </a:r>
                      <a:r>
                        <a:rPr lang="en-US" sz="1050" b="0" kern="1200" baseline="0" dirty="0"/>
                        <a:t> Load Balanced infrastructure components provides mechanism of ensured high availability of services in case of component failures. </a:t>
                      </a:r>
                    </a:p>
                    <a:p>
                      <a:pPr marL="0" algn="l" defTabSz="914400" rtl="0" eaLnBrk="0" fontAlgn="base" latinLnBrk="0" hangingPunct="0">
                        <a:lnSpc>
                          <a:spcPct val="100000"/>
                        </a:lnSpc>
                        <a:spcBef>
                          <a:spcPts val="0"/>
                        </a:spcBef>
                        <a:spcAft>
                          <a:spcPts val="1100"/>
                        </a:spcAft>
                        <a:defRPr/>
                      </a:pPr>
                      <a:r>
                        <a:rPr lang="en-US" sz="1050" b="1" kern="1200" baseline="0" dirty="0"/>
                        <a:t>Elasticity and scaling:</a:t>
                      </a:r>
                      <a:r>
                        <a:rPr lang="en-US" sz="1050" b="0" kern="1200" baseline="0" dirty="0"/>
                        <a:t> Capability to increase/decrease the computing capability on demand is referred to as Infrastructure Elasticity. Horizontal scaling capability allows to add the computing nodes to the cluster to increase the computing capability. Horizontal scaling or auto scaling based on workloads is a prime feature of the cloud infrastructure. It is favorable to have the capability of scaling storage independently from compute nodes.</a:t>
                      </a:r>
                    </a:p>
                    <a:p>
                      <a:pPr marL="0" algn="l" defTabSz="914400" rtl="0" eaLnBrk="0" fontAlgn="base" latinLnBrk="0" hangingPunct="0">
                        <a:lnSpc>
                          <a:spcPct val="100000"/>
                        </a:lnSpc>
                        <a:spcBef>
                          <a:spcPts val="0"/>
                        </a:spcBef>
                        <a:spcAft>
                          <a:spcPts val="1100"/>
                        </a:spcAft>
                        <a:defRPr/>
                      </a:pPr>
                      <a:r>
                        <a:rPr lang="en-US" sz="1050" b="1" kern="1200" baseline="0" dirty="0"/>
                        <a:t>Administration/Operations:</a:t>
                      </a:r>
                      <a:r>
                        <a:rPr lang="en-US" sz="1050" b="0" kern="1200" baseline="0" dirty="0"/>
                        <a:t> Modern data and analytic platforms provide an integrated operations workbench/tools to monitor and manage the platform. </a:t>
                      </a:r>
                    </a:p>
                    <a:p>
                      <a:pPr marL="0" algn="l" defTabSz="914400" rtl="0" eaLnBrk="0" fontAlgn="base" latinLnBrk="0" hangingPunct="0">
                        <a:lnSpc>
                          <a:spcPct val="100000"/>
                        </a:lnSpc>
                        <a:spcBef>
                          <a:spcPts val="0"/>
                        </a:spcBef>
                        <a:spcAft>
                          <a:spcPts val="1100"/>
                        </a:spcAft>
                        <a:defRPr/>
                      </a:pPr>
                      <a:r>
                        <a:rPr lang="en-US" sz="1050" b="1" kern="1200" baseline="0" dirty="0"/>
                        <a:t>Data profiling:</a:t>
                      </a:r>
                      <a:r>
                        <a:rPr lang="en-US" sz="1050" b="0" kern="1200" baseline="0" dirty="0"/>
                        <a:t> Data profiling is the process of examining the data collected from data sources. Statistical analysis and attribute value checks are performed to create data profiles. </a:t>
                      </a:r>
                    </a:p>
                    <a:p>
                      <a:pPr marL="0" algn="l" defTabSz="914400" rtl="0" eaLnBrk="0" fontAlgn="base" latinLnBrk="0" hangingPunct="0">
                        <a:lnSpc>
                          <a:spcPct val="100000"/>
                        </a:lnSpc>
                        <a:spcBef>
                          <a:spcPts val="0"/>
                        </a:spcBef>
                        <a:spcAft>
                          <a:spcPts val="1100"/>
                        </a:spcAft>
                        <a:defRPr/>
                      </a:pPr>
                      <a:r>
                        <a:rPr lang="en-US" sz="1050" b="1" kern="1200" baseline="0" dirty="0"/>
                        <a:t>Cloud/Network connectivity:</a:t>
                      </a:r>
                      <a:r>
                        <a:rPr lang="en-US" sz="1050" b="0" kern="1200" baseline="0" dirty="0"/>
                        <a:t> A high speed network is used to collect and process data on the data and analytics platform. Cloud vendors in conjunction with telecom providers provide dedicated networks between their cloud data centers and client’s on-premise data sources. Choices include bandwidth, resilience and other QoS features.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bl>
          </a:graphicData>
        </a:graphic>
      </p:graphicFrame>
    </p:spTree>
    <p:extLst>
      <p:ext uri="{BB962C8B-B14F-4D97-AF65-F5344CB8AC3E}">
        <p14:creationId xmlns:p14="http://schemas.microsoft.com/office/powerpoint/2010/main" val="238949051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pPr lvl="0"/>
            <a:r>
              <a:rPr lang="en-US" altLang="en-US" dirty="0"/>
              <a:t>Security services</a:t>
            </a:r>
          </a:p>
        </p:txBody>
      </p:sp>
      <p:graphicFrame>
        <p:nvGraphicFramePr>
          <p:cNvPr id="4" name="Table 3">
            <a:extLst>
              <a:ext uri="{FF2B5EF4-FFF2-40B4-BE49-F238E27FC236}">
                <a16:creationId xmlns:a16="http://schemas.microsoft.com/office/drawing/2014/main" id="{FEB622EF-9478-4041-B3D0-BFF31EECE14E}"/>
              </a:ext>
            </a:extLst>
          </p:cNvPr>
          <p:cNvGraphicFramePr>
            <a:graphicFrameLocks noGrp="1"/>
          </p:cNvGraphicFramePr>
          <p:nvPr>
            <p:extLst>
              <p:ext uri="{D42A27DB-BD31-4B8C-83A1-F6EECF244321}">
                <p14:modId xmlns:p14="http://schemas.microsoft.com/office/powerpoint/2010/main" val="3908904862"/>
              </p:ext>
            </p:extLst>
          </p:nvPr>
        </p:nvGraphicFramePr>
        <p:xfrm>
          <a:off x="469900" y="1031057"/>
          <a:ext cx="11248948" cy="204216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110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110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Security</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The diversity in the technologies and toolsets used to complete a data and analytics platform throws several security challenges. Enterprise security architects must use multiple lines of defense to protect against unauthorized use of information. </a:t>
                      </a:r>
                    </a:p>
                    <a:p>
                      <a:pPr marL="0" algn="l" defTabSz="914400" rtl="0" eaLnBrk="0" fontAlgn="base" latinLnBrk="0" hangingPunct="0">
                        <a:lnSpc>
                          <a:spcPct val="100000"/>
                        </a:lnSpc>
                        <a:spcBef>
                          <a:spcPts val="0"/>
                        </a:spcBef>
                        <a:spcAft>
                          <a:spcPts val="1100"/>
                        </a:spcAft>
                        <a:defRPr/>
                      </a:pPr>
                      <a:r>
                        <a:rPr lang="en-US" sz="1050" b="1" kern="1200" baseline="0" dirty="0"/>
                        <a:t>Infrastructure and platform security:</a:t>
                      </a:r>
                      <a:r>
                        <a:rPr lang="en-US" sz="1050" b="0" kern="1200" baseline="0" dirty="0"/>
                        <a:t> Enterprise security, network security tools and technologies are deployed over the infrastructure to secure the physical data assets. Kerberos and Multi-factor Authentication provides an additional level of defense for the platform. </a:t>
                      </a:r>
                    </a:p>
                    <a:p>
                      <a:pPr marL="0" algn="l" defTabSz="914400" rtl="0" eaLnBrk="0" fontAlgn="base" latinLnBrk="0" hangingPunct="0">
                        <a:lnSpc>
                          <a:spcPct val="100000"/>
                        </a:lnSpc>
                        <a:spcBef>
                          <a:spcPts val="0"/>
                        </a:spcBef>
                        <a:spcAft>
                          <a:spcPts val="1100"/>
                        </a:spcAft>
                        <a:defRPr/>
                      </a:pPr>
                      <a:r>
                        <a:rPr lang="en-US" sz="1050" b="1" kern="1200" baseline="0" dirty="0"/>
                        <a:t>Data ownership based authorization:</a:t>
                      </a:r>
                      <a:r>
                        <a:rPr lang="en-US" sz="1050" b="0" kern="1200" baseline="0" dirty="0"/>
                        <a:t> This capability provides administrators both fine-grained and coarse-grained access. Mature solution externalizes the point of definitions from the point of invocation of these rules.</a:t>
                      </a:r>
                    </a:p>
                    <a:p>
                      <a:pPr marL="0" algn="l" defTabSz="914400" rtl="0" eaLnBrk="0" fontAlgn="base" latinLnBrk="0" hangingPunct="0">
                        <a:lnSpc>
                          <a:spcPct val="100000"/>
                        </a:lnSpc>
                        <a:spcBef>
                          <a:spcPts val="0"/>
                        </a:spcBef>
                        <a:spcAft>
                          <a:spcPts val="1100"/>
                        </a:spcAft>
                        <a:defRPr/>
                      </a:pPr>
                      <a:r>
                        <a:rPr lang="en-US" sz="1050" b="0" kern="1200" baseline="0" dirty="0"/>
                        <a:t>Supporting a multi-tenant environment on a single physical data and analytics platform is possible by using storage and infrastructure (compute) virtualization software and cluster orchestration capabilities.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bl>
          </a:graphicData>
        </a:graphic>
      </p:graphicFrame>
    </p:spTree>
    <p:extLst>
      <p:ext uri="{BB962C8B-B14F-4D97-AF65-F5344CB8AC3E}">
        <p14:creationId xmlns:p14="http://schemas.microsoft.com/office/powerpoint/2010/main" val="100204576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Enterprise data governance</a:t>
            </a:r>
          </a:p>
        </p:txBody>
      </p:sp>
      <p:graphicFrame>
        <p:nvGraphicFramePr>
          <p:cNvPr id="10" name="Table 9">
            <a:extLst>
              <a:ext uri="{FF2B5EF4-FFF2-40B4-BE49-F238E27FC236}">
                <a16:creationId xmlns:a16="http://schemas.microsoft.com/office/drawing/2014/main" id="{5F31478E-671F-45A8-A0AD-5ABC6C6B0B70}"/>
              </a:ext>
            </a:extLst>
          </p:cNvPr>
          <p:cNvGraphicFramePr>
            <a:graphicFrameLocks noGrp="1"/>
          </p:cNvGraphicFramePr>
          <p:nvPr>
            <p:extLst>
              <p:ext uri="{D42A27DB-BD31-4B8C-83A1-F6EECF244321}">
                <p14:modId xmlns:p14="http://schemas.microsoft.com/office/powerpoint/2010/main" val="944719758"/>
              </p:ext>
            </p:extLst>
          </p:nvPr>
        </p:nvGraphicFramePr>
        <p:xfrm>
          <a:off x="469900" y="1665288"/>
          <a:ext cx="11248948" cy="251460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3283975">
                  <a:extLst>
                    <a:ext uri="{9D8B030D-6E8A-4147-A177-3AD203B41FA5}">
                      <a16:colId xmlns:a16="http://schemas.microsoft.com/office/drawing/2014/main" val="3269670294"/>
                    </a:ext>
                  </a:extLst>
                </a:gridCol>
                <a:gridCol w="6517583">
                  <a:extLst>
                    <a:ext uri="{9D8B030D-6E8A-4147-A177-3AD203B41FA5}">
                      <a16:colId xmlns:a16="http://schemas.microsoft.com/office/drawing/2014/main" val="1361826925"/>
                    </a:ext>
                  </a:extLst>
                </a:gridCol>
              </a:tblGrid>
              <a:tr h="0">
                <a:tc>
                  <a:txBody>
                    <a:bodyPr/>
                    <a:lstStyle/>
                    <a:p>
                      <a:pPr algn="l">
                        <a:lnSpc>
                          <a:spcPct val="100000"/>
                        </a:lnSpc>
                        <a:spcBef>
                          <a:spcPts val="0"/>
                        </a:spcBef>
                        <a:spcAft>
                          <a:spcPts val="300"/>
                        </a:spcAft>
                      </a:pPr>
                      <a:r>
                        <a:rPr lang="en-US" sz="1100" b="1" dirty="0">
                          <a:solidFill>
                            <a:schemeClr val="bg1"/>
                          </a:solidFill>
                        </a:rPr>
                        <a:t>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2">
                  <a:txBody>
                    <a:bodyPr/>
                    <a:lstStyle/>
                    <a:p>
                      <a:pPr algn="l" rtl="0" eaLnBrk="0" fontAlgn="base" hangingPunct="0">
                        <a:lnSpc>
                          <a:spcPct val="100000"/>
                        </a:lnSpc>
                        <a:spcBef>
                          <a:spcPts val="0"/>
                        </a:spcBef>
                        <a:spcAft>
                          <a:spcPts val="300"/>
                        </a:spcAft>
                        <a:defRPr/>
                      </a:pPr>
                      <a:r>
                        <a:rPr lang="en-US" sz="1100" b="1" kern="1200" dirty="0">
                          <a:solidFill>
                            <a:schemeClr val="bg1"/>
                          </a:solidFill>
                        </a:rPr>
                        <a:t>Description</a:t>
                      </a:r>
                      <a:endParaRPr lang="en-US" sz="110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300"/>
                        </a:spcAft>
                      </a:pPr>
                      <a:r>
                        <a:rPr lang="en-US" sz="1100" b="1" kern="1200" baseline="0" dirty="0">
                          <a:solidFill>
                            <a:sysClr val="windowText" lastClr="000000"/>
                          </a:solidFill>
                        </a:rPr>
                        <a:t>Enterprise data governance</a:t>
                      </a:r>
                      <a:endParaRPr lang="en-US" sz="11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l" defTabSz="914400" rtl="0" eaLnBrk="0" fontAlgn="base" latinLnBrk="0" hangingPunct="0">
                        <a:lnSpc>
                          <a:spcPct val="100000"/>
                        </a:lnSpc>
                        <a:spcBef>
                          <a:spcPts val="0"/>
                        </a:spcBef>
                        <a:spcAft>
                          <a:spcPts val="300"/>
                        </a:spcAft>
                        <a:defRPr/>
                      </a:pPr>
                      <a:r>
                        <a:rPr lang="en-US" sz="1100" b="0" kern="1200" baseline="0" dirty="0"/>
                        <a:t>Data Governance sets the standards, frameworks, use of tools, technologies and processes to manage the data architecture. Data governance defines data management organization, associated roles and responsibilities and provides direction to the strategic data projects. Data Governance is a an important data discipline and helps control the proliferation of data silos in an organization.</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525600140"/>
                  </a:ext>
                </a:extLst>
              </a:tr>
              <a:tr h="0">
                <a:tc>
                  <a:txBody>
                    <a:bodyPr/>
                    <a:lstStyle/>
                    <a:p>
                      <a:pPr marL="0" marR="0" lvl="0" indent="0" algn="l" defTabSz="1219170" rtl="0" eaLnBrk="1" fontAlgn="auto" latinLnBrk="0" hangingPunct="1">
                        <a:lnSpc>
                          <a:spcPct val="100000"/>
                        </a:lnSpc>
                        <a:spcBef>
                          <a:spcPts val="0"/>
                        </a:spcBef>
                        <a:spcAft>
                          <a:spcPts val="300"/>
                        </a:spcAft>
                        <a:buClrTx/>
                        <a:buSzTx/>
                        <a:buFontTx/>
                        <a:buNone/>
                        <a:tabLst/>
                        <a:defRPr/>
                      </a:pPr>
                      <a:r>
                        <a:rPr lang="en-US" sz="1100" b="1" kern="1200" baseline="0" dirty="0">
                          <a:solidFill>
                            <a:sysClr val="windowText" lastClr="000000"/>
                          </a:solidFill>
                        </a:rPr>
                        <a:t>Applicable NFRs and arch principles</a:t>
                      </a:r>
                      <a:endParaRPr lang="en-US" sz="1100" b="1" kern="1200" baseline="0" dirty="0">
                        <a:solidFill>
                          <a:sysClr val="windowText" lastClr="000000"/>
                        </a:solidFill>
                        <a:latin typeface="+mn-lt"/>
                        <a:ea typeface="+mn-ea"/>
                        <a:cs typeface="+mn-cs"/>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6 History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10 Character Encoding &amp; Language Support</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12 Audit &amp; Data Quality</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15 Encryption &amp; Sensitive Data</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16 Archival &amp; Backup</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17 Regulatory/Sox Compliance</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NFR 19 Data Masking</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PRIN-4 Data management optimized for efficiency and reuse</a:t>
                      </a:r>
                    </a:p>
                    <a:p>
                      <a:pPr marL="171450" indent="-171450" algn="l" rtl="0" eaLnBrk="0" fontAlgn="base" hangingPunct="0">
                        <a:lnSpc>
                          <a:spcPct val="100000"/>
                        </a:lnSpc>
                        <a:spcBef>
                          <a:spcPts val="0"/>
                        </a:spcBef>
                        <a:spcAft>
                          <a:spcPts val="300"/>
                        </a:spcAft>
                        <a:buFont typeface="Arial" panose="020B0604020202020204" pitchFamily="34" charset="0"/>
                        <a:buChar char="•"/>
                        <a:defRPr/>
                      </a:pPr>
                      <a:r>
                        <a:rPr lang="en-US" sz="1100" kern="0" dirty="0"/>
                        <a:t>PRIN-5 Data standardization and governance to ensure consistency and accuracy</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3706182"/>
                  </a:ext>
                </a:extLst>
              </a:tr>
            </a:tbl>
          </a:graphicData>
        </a:graphic>
      </p:graphicFrame>
    </p:spTree>
    <p:extLst>
      <p:ext uri="{BB962C8B-B14F-4D97-AF65-F5344CB8AC3E}">
        <p14:creationId xmlns:p14="http://schemas.microsoft.com/office/powerpoint/2010/main" val="65423446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pPr lvl="0"/>
            <a:r>
              <a:rPr lang="en-US" altLang="en-US" dirty="0"/>
              <a:t>Enterprise data management services</a:t>
            </a:r>
          </a:p>
        </p:txBody>
      </p:sp>
      <p:graphicFrame>
        <p:nvGraphicFramePr>
          <p:cNvPr id="8" name="Table 7">
            <a:extLst>
              <a:ext uri="{FF2B5EF4-FFF2-40B4-BE49-F238E27FC236}">
                <a16:creationId xmlns:a16="http://schemas.microsoft.com/office/drawing/2014/main" id="{7C3EE069-6573-4E7D-BAF2-C37BABE14E78}"/>
              </a:ext>
            </a:extLst>
          </p:cNvPr>
          <p:cNvGraphicFramePr>
            <a:graphicFrameLocks noGrp="1"/>
          </p:cNvGraphicFramePr>
          <p:nvPr>
            <p:extLst>
              <p:ext uri="{D42A27DB-BD31-4B8C-83A1-F6EECF244321}">
                <p14:modId xmlns:p14="http://schemas.microsoft.com/office/powerpoint/2010/main" val="583998521"/>
              </p:ext>
            </p:extLst>
          </p:nvPr>
        </p:nvGraphicFramePr>
        <p:xfrm>
          <a:off x="469900" y="1031057"/>
          <a:ext cx="11248948" cy="375666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110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110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Metadata management</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System must maintain comprehensive Business, Technical and Operational Metadata:</a:t>
                      </a:r>
                    </a:p>
                    <a:p>
                      <a:pPr marL="0" algn="l" defTabSz="914400" rtl="0" eaLnBrk="0" fontAlgn="base" latinLnBrk="0" hangingPunct="0">
                        <a:lnSpc>
                          <a:spcPct val="100000"/>
                        </a:lnSpc>
                        <a:spcBef>
                          <a:spcPts val="0"/>
                        </a:spcBef>
                        <a:spcAft>
                          <a:spcPts val="1100"/>
                        </a:spcAft>
                        <a:defRPr/>
                      </a:pPr>
                      <a:r>
                        <a:rPr lang="en-US" sz="1050" b="1" kern="1200" baseline="0" dirty="0"/>
                        <a:t>Business metadata—</a:t>
                      </a:r>
                      <a:r>
                        <a:rPr lang="en-US" sz="1050" b="0" kern="1200" baseline="0" dirty="0"/>
                        <a:t>This capability provides a semantic layer or abstraction over physical datasets, tables, and columns. This is done in collaboration with business users from various segments by using consistent business terms and business rules that will hide the complexities associated with table joins and lookups. </a:t>
                      </a:r>
                    </a:p>
                    <a:p>
                      <a:pPr marL="0" algn="l" defTabSz="914400" rtl="0" eaLnBrk="0" fontAlgn="base" latinLnBrk="0" hangingPunct="0">
                        <a:lnSpc>
                          <a:spcPct val="100000"/>
                        </a:lnSpc>
                        <a:spcBef>
                          <a:spcPts val="0"/>
                        </a:spcBef>
                        <a:spcAft>
                          <a:spcPts val="1100"/>
                        </a:spcAft>
                        <a:defRPr/>
                      </a:pPr>
                      <a:r>
                        <a:rPr lang="en-US" sz="1050" b="1" kern="1200" baseline="0" dirty="0"/>
                        <a:t>Technical metadata</a:t>
                      </a:r>
                      <a:r>
                        <a:rPr lang="en-US" sz="1050" b="0" kern="1200" baseline="0" dirty="0"/>
                        <a:t>—This capability provides the technical details such as table and column names, data types, storage, and partition clauses associated with the physical implementations of the data structures that span the data zones. </a:t>
                      </a:r>
                    </a:p>
                    <a:p>
                      <a:pPr marL="0" algn="l" defTabSz="914400" rtl="0" eaLnBrk="0" fontAlgn="base" latinLnBrk="0" hangingPunct="0">
                        <a:lnSpc>
                          <a:spcPct val="100000"/>
                        </a:lnSpc>
                        <a:spcBef>
                          <a:spcPts val="0"/>
                        </a:spcBef>
                        <a:spcAft>
                          <a:spcPts val="1100"/>
                        </a:spcAft>
                        <a:defRPr/>
                      </a:pPr>
                      <a:r>
                        <a:rPr lang="en-US" sz="1050" b="1" kern="1200" baseline="0" dirty="0"/>
                        <a:t>Operational metadata</a:t>
                      </a:r>
                      <a:r>
                        <a:rPr lang="en-US" sz="1050" b="0" kern="1200" baseline="0" dirty="0"/>
                        <a:t>—Operational metadata tracks the data creation, changes during transformations and data lineage.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Enterprise content management</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Enterprise content management policy and tools are required to manage the enterprise content across portals/WIKIs/Code repositories to share information. Teams can share progress, knowledge, processes using predefined or customized dashboards and wikis. Code management control processes should be integrated with development processes. The access controls to code repositories to authorized resources should be enforced and audited.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6924403"/>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Master and reference data management</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Master Data Management (MDM) is an enterprise application and includes methodology, process, and tools and repositories to facilitate Master Data-centric system-to-system communications within the enterprise as well as communications with external data providers, reducing the number and complexity of interfaces between systems. MDM provides services that can be invoked and choreographed through this layer through techniques such as messaging, method calls, Web services, and batch processing</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445830"/>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Data profiling</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Data profiling is the process of examining the data collected from data sources. Statistical analysis and attribute value checks are performed to create data profiles.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7094534"/>
                  </a:ext>
                </a:extLst>
              </a:tr>
            </a:tbl>
          </a:graphicData>
        </a:graphic>
      </p:graphicFrame>
    </p:spTree>
    <p:extLst>
      <p:ext uri="{BB962C8B-B14F-4D97-AF65-F5344CB8AC3E}">
        <p14:creationId xmlns:p14="http://schemas.microsoft.com/office/powerpoint/2010/main" val="166235400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DEDF-E3E1-4736-9811-A509D2D6DBFA}"/>
              </a:ext>
            </a:extLst>
          </p:cNvPr>
          <p:cNvSpPr>
            <a:spLocks noGrp="1"/>
          </p:cNvSpPr>
          <p:nvPr>
            <p:ph type="title"/>
          </p:nvPr>
        </p:nvSpPr>
        <p:spPr/>
        <p:txBody>
          <a:bodyPr/>
          <a:lstStyle/>
          <a:p>
            <a:pPr lvl="0"/>
            <a:r>
              <a:rPr lang="en-US" altLang="en-US" dirty="0"/>
              <a:t>Enterprise data management services (cont.)</a:t>
            </a:r>
          </a:p>
        </p:txBody>
      </p:sp>
      <p:graphicFrame>
        <p:nvGraphicFramePr>
          <p:cNvPr id="7" name="Table 6">
            <a:extLst>
              <a:ext uri="{FF2B5EF4-FFF2-40B4-BE49-F238E27FC236}">
                <a16:creationId xmlns:a16="http://schemas.microsoft.com/office/drawing/2014/main" id="{E9FC5DBC-1AAE-4927-A65B-A0C909D38BDC}"/>
              </a:ext>
            </a:extLst>
          </p:cNvPr>
          <p:cNvGraphicFramePr>
            <a:graphicFrameLocks noGrp="1"/>
          </p:cNvGraphicFramePr>
          <p:nvPr>
            <p:extLst>
              <p:ext uri="{D42A27DB-BD31-4B8C-83A1-F6EECF244321}">
                <p14:modId xmlns:p14="http://schemas.microsoft.com/office/powerpoint/2010/main" val="998317857"/>
              </p:ext>
            </p:extLst>
          </p:nvPr>
        </p:nvGraphicFramePr>
        <p:xfrm>
          <a:off x="469900" y="1031057"/>
          <a:ext cx="11248948" cy="4015740"/>
        </p:xfrm>
        <a:graphic>
          <a:graphicData uri="http://schemas.openxmlformats.org/drawingml/2006/table">
            <a:tbl>
              <a:tblPr firstRow="1" bandRow="1">
                <a:effectLst/>
              </a:tblPr>
              <a:tblGrid>
                <a:gridCol w="1447390">
                  <a:extLst>
                    <a:ext uri="{9D8B030D-6E8A-4147-A177-3AD203B41FA5}">
                      <a16:colId xmlns:a16="http://schemas.microsoft.com/office/drawing/2014/main" val="3814407061"/>
                    </a:ext>
                  </a:extLst>
                </a:gridCol>
                <a:gridCol w="9801558">
                  <a:extLst>
                    <a:ext uri="{9D8B030D-6E8A-4147-A177-3AD203B41FA5}">
                      <a16:colId xmlns:a16="http://schemas.microsoft.com/office/drawing/2014/main" val="3269670294"/>
                    </a:ext>
                  </a:extLst>
                </a:gridCol>
              </a:tblGrid>
              <a:tr h="0">
                <a:tc>
                  <a:txBody>
                    <a:bodyPr/>
                    <a:lstStyle/>
                    <a:p>
                      <a:pPr algn="l">
                        <a:lnSpc>
                          <a:spcPct val="100000"/>
                        </a:lnSpc>
                        <a:spcBef>
                          <a:spcPts val="0"/>
                        </a:spcBef>
                        <a:spcAft>
                          <a:spcPts val="1100"/>
                        </a:spcAft>
                      </a:pPr>
                      <a:r>
                        <a:rPr lang="en-US" sz="1050" b="1" dirty="0">
                          <a:solidFill>
                            <a:schemeClr val="bg1"/>
                          </a:solidFill>
                        </a:rPr>
                        <a:t>Sub capability</a:t>
                      </a: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6A8"/>
                    </a:solidFill>
                  </a:tcPr>
                </a:tc>
                <a:tc>
                  <a:txBody>
                    <a:bodyPr/>
                    <a:lstStyle/>
                    <a:p>
                      <a:pPr algn="l" rtl="0" eaLnBrk="0" fontAlgn="base" hangingPunct="0">
                        <a:lnSpc>
                          <a:spcPct val="100000"/>
                        </a:lnSpc>
                        <a:spcBef>
                          <a:spcPts val="0"/>
                        </a:spcBef>
                        <a:spcAft>
                          <a:spcPts val="1100"/>
                        </a:spcAft>
                        <a:defRPr/>
                      </a:pPr>
                      <a:r>
                        <a:rPr lang="en-US" sz="1050" b="1" kern="1200" dirty="0">
                          <a:solidFill>
                            <a:schemeClr val="bg1"/>
                          </a:solidFill>
                        </a:rPr>
                        <a:t>Description</a:t>
                      </a:r>
                      <a:endParaRPr lang="en-US" sz="1050" b="1" kern="1200" dirty="0">
                        <a:solidFill>
                          <a:schemeClr val="bg1"/>
                        </a:solidFill>
                        <a:latin typeface="+mn-lt"/>
                        <a:ea typeface="+mn-ea"/>
                        <a:cs typeface="+mn-cs"/>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0076A8"/>
                    </a:solidFill>
                  </a:tcPr>
                </a:tc>
                <a:extLst>
                  <a:ext uri="{0D108BD9-81ED-4DB2-BD59-A6C34878D82A}">
                    <a16:rowId xmlns:a16="http://schemas.microsoft.com/office/drawing/2014/main" val="862172378"/>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Data quality</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Data quality capability uses a combination of processes and toolsets to address errors and inconsistencies in the quality of data. It provides a structured approach to identify, resolve and ensure ongoing data quality across the environment.</a:t>
                      </a:r>
                    </a:p>
                    <a:p>
                      <a:pPr marL="0" algn="l" defTabSz="914400" rtl="0" eaLnBrk="0" fontAlgn="base" latinLnBrk="0" hangingPunct="0">
                        <a:lnSpc>
                          <a:spcPct val="100000"/>
                        </a:lnSpc>
                        <a:spcBef>
                          <a:spcPts val="0"/>
                        </a:spcBef>
                        <a:spcAft>
                          <a:spcPts val="1100"/>
                        </a:spcAft>
                        <a:defRPr/>
                      </a:pPr>
                      <a:r>
                        <a:rPr lang="en-US" sz="1050" b="0" kern="1200" baseline="0" dirty="0"/>
                        <a:t>The Data Quality framework will include the following set of capabilities:</a:t>
                      </a:r>
                    </a:p>
                    <a:p>
                      <a:pPr marL="171450" indent="-171450" algn="l" defTabSz="914400" rtl="0" eaLnBrk="0" fontAlgn="base" latinLnBrk="0" hangingPunct="0">
                        <a:lnSpc>
                          <a:spcPct val="100000"/>
                        </a:lnSpc>
                        <a:spcBef>
                          <a:spcPts val="0"/>
                        </a:spcBef>
                        <a:spcAft>
                          <a:spcPts val="1100"/>
                        </a:spcAft>
                        <a:buFont typeface="Arial" panose="020B0604020202020204" pitchFamily="34" charset="0"/>
                        <a:buChar char="•"/>
                        <a:defRPr/>
                      </a:pPr>
                      <a:r>
                        <a:rPr lang="en-US" sz="1050" b="0" kern="1200" baseline="0" dirty="0"/>
                        <a:t>Naming Conventions</a:t>
                      </a:r>
                    </a:p>
                    <a:p>
                      <a:pPr marL="171450" indent="-171450" algn="l" defTabSz="914400" rtl="0" eaLnBrk="0" fontAlgn="base" latinLnBrk="0" hangingPunct="0">
                        <a:lnSpc>
                          <a:spcPct val="100000"/>
                        </a:lnSpc>
                        <a:spcBef>
                          <a:spcPts val="0"/>
                        </a:spcBef>
                        <a:spcAft>
                          <a:spcPts val="1100"/>
                        </a:spcAft>
                        <a:buFont typeface="Arial" panose="020B0604020202020204" pitchFamily="34" charset="0"/>
                        <a:buChar char="•"/>
                        <a:defRPr/>
                      </a:pPr>
                      <a:r>
                        <a:rPr lang="en-US" sz="1050" b="0" kern="1200" baseline="0" dirty="0"/>
                        <a:t>Sequence Checks</a:t>
                      </a:r>
                    </a:p>
                    <a:p>
                      <a:pPr marL="171450" indent="-171450" algn="l" defTabSz="914400" rtl="0" eaLnBrk="0" fontAlgn="base" latinLnBrk="0" hangingPunct="0">
                        <a:lnSpc>
                          <a:spcPct val="100000"/>
                        </a:lnSpc>
                        <a:spcBef>
                          <a:spcPts val="0"/>
                        </a:spcBef>
                        <a:spcAft>
                          <a:spcPts val="1100"/>
                        </a:spcAft>
                        <a:buFont typeface="Arial" panose="020B0604020202020204" pitchFamily="34" charset="0"/>
                        <a:buChar char="•"/>
                        <a:defRPr/>
                      </a:pPr>
                      <a:r>
                        <a:rPr lang="en-US" sz="1050" b="0" kern="1200" baseline="0" dirty="0"/>
                        <a:t>Metadata Checks</a:t>
                      </a:r>
                    </a:p>
                    <a:p>
                      <a:pPr marL="171450" indent="-171450" algn="l" defTabSz="914400" rtl="0" eaLnBrk="0" fontAlgn="base" latinLnBrk="0" hangingPunct="0">
                        <a:lnSpc>
                          <a:spcPct val="100000"/>
                        </a:lnSpc>
                        <a:spcBef>
                          <a:spcPts val="0"/>
                        </a:spcBef>
                        <a:spcAft>
                          <a:spcPts val="1100"/>
                        </a:spcAft>
                        <a:buFont typeface="Arial" panose="020B0604020202020204" pitchFamily="34" charset="0"/>
                        <a:buChar char="•"/>
                        <a:defRPr/>
                      </a:pPr>
                      <a:r>
                        <a:rPr lang="en-US" sz="1050" b="0" kern="1200" baseline="0" dirty="0"/>
                        <a:t>Row Count</a:t>
                      </a:r>
                    </a:p>
                    <a:p>
                      <a:pPr marL="171450" indent="-171450" algn="l" defTabSz="914400" rtl="0" eaLnBrk="0" fontAlgn="base" latinLnBrk="0" hangingPunct="0">
                        <a:lnSpc>
                          <a:spcPct val="100000"/>
                        </a:lnSpc>
                        <a:spcBef>
                          <a:spcPts val="0"/>
                        </a:spcBef>
                        <a:spcAft>
                          <a:spcPts val="1100"/>
                        </a:spcAft>
                        <a:buFont typeface="Arial" panose="020B0604020202020204" pitchFamily="34" charset="0"/>
                        <a:buChar char="•"/>
                        <a:defRPr/>
                      </a:pPr>
                      <a:r>
                        <a:rPr lang="en-US" sz="1050" b="0" kern="1200" baseline="0" dirty="0"/>
                        <a:t>Data Type checks</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5600140"/>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API management</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Webservices/API provide ability to exchange data with internal and external consumers using Information Objects. API management involves describing, publishing, securing and scaling the services and micro-services to share data with internal and external consumers using API Gateway infrastructure. </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6924403"/>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Data catalog management</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Data Catalog provides description of data from its origination, modification, ownership and recency to the users to make decisions to use the data in their decision making processes. The metadata produced by the data and analytics platform must be integrated with the enterprise </a:t>
                      </a:r>
                      <a:br>
                        <a:rPr lang="en-US" sz="1050" b="0" kern="1200" baseline="0" dirty="0"/>
                      </a:br>
                      <a:r>
                        <a:rPr lang="en-US" sz="1050" b="0" kern="1200" baseline="0" dirty="0"/>
                        <a:t>data catalog.</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445830"/>
                  </a:ext>
                </a:extLst>
              </a:tr>
              <a:tr h="0">
                <a:tc>
                  <a:txBody>
                    <a:bodyPr/>
                    <a:lstStyle/>
                    <a:p>
                      <a:pPr algn="l">
                        <a:lnSpc>
                          <a:spcPct val="100000"/>
                        </a:lnSpc>
                        <a:spcBef>
                          <a:spcPts val="0"/>
                        </a:spcBef>
                        <a:spcAft>
                          <a:spcPts val="1100"/>
                        </a:spcAft>
                      </a:pPr>
                      <a:r>
                        <a:rPr lang="en-US" sz="1050" b="1" kern="1200" baseline="0" dirty="0">
                          <a:solidFill>
                            <a:sysClr val="windowText" lastClr="000000"/>
                          </a:solidFill>
                        </a:rPr>
                        <a:t>Data lineage</a:t>
                      </a: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0" fontAlgn="base" latinLnBrk="0" hangingPunct="0">
                        <a:lnSpc>
                          <a:spcPct val="100000"/>
                        </a:lnSpc>
                        <a:spcBef>
                          <a:spcPts val="0"/>
                        </a:spcBef>
                        <a:spcAft>
                          <a:spcPts val="1100"/>
                        </a:spcAft>
                        <a:defRPr/>
                      </a:pPr>
                      <a:r>
                        <a:rPr lang="en-US" sz="1050" b="0" kern="1200" baseline="0" dirty="0"/>
                        <a:t>Data lineage captures the data management lifecycle. A tool is required to capture the data origination, its transformation on the data and analytics platform. (Refer to ABC pattern to understand the use of Deloitte framework for data linage).</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7094534"/>
                  </a:ext>
                </a:extLst>
              </a:tr>
            </a:tbl>
          </a:graphicData>
        </a:graphic>
      </p:graphicFrame>
      <p:sp>
        <p:nvSpPr>
          <p:cNvPr id="8" name="Rectangle 7">
            <a:extLst>
              <a:ext uri="{FF2B5EF4-FFF2-40B4-BE49-F238E27FC236}">
                <a16:creationId xmlns:a16="http://schemas.microsoft.com/office/drawing/2014/main" id="{DD4BDDFD-8BF6-45CC-B819-E0BF3B7F7130}"/>
              </a:ext>
            </a:extLst>
          </p:cNvPr>
          <p:cNvSpPr/>
          <p:nvPr/>
        </p:nvSpPr>
        <p:spPr>
          <a:xfrm>
            <a:off x="4316618" y="2049556"/>
            <a:ext cx="6096000" cy="1502976"/>
          </a:xfrm>
          <a:prstGeom prst="rect">
            <a:avLst/>
          </a:prstGeom>
        </p:spPr>
        <p:txBody>
          <a:bodyPr>
            <a:spAutoFit/>
          </a:bodyPr>
          <a:lstStyle/>
          <a:p>
            <a:pPr marL="171450" indent="-171450" defTabSz="914400" eaLnBrk="0" fontAlgn="base" hangingPunct="0">
              <a:spcAft>
                <a:spcPts val="1100"/>
              </a:spcAft>
              <a:buFont typeface="Arial" panose="020B0604020202020204" pitchFamily="34" charset="0"/>
              <a:buChar char="•"/>
              <a:defRPr/>
            </a:pPr>
            <a:r>
              <a:rPr lang="en-US" sz="1100" dirty="0"/>
              <a:t>Duplicate checks</a:t>
            </a:r>
          </a:p>
          <a:p>
            <a:pPr marL="171450" indent="-171450" defTabSz="914400" eaLnBrk="0" fontAlgn="base" hangingPunct="0">
              <a:spcAft>
                <a:spcPts val="1100"/>
              </a:spcAft>
              <a:buFont typeface="Arial" panose="020B0604020202020204" pitchFamily="34" charset="0"/>
              <a:buChar char="•"/>
              <a:defRPr/>
            </a:pPr>
            <a:r>
              <a:rPr lang="en-US" sz="1100" dirty="0"/>
              <a:t>Null checks</a:t>
            </a:r>
          </a:p>
          <a:p>
            <a:pPr marL="171450" indent="-171450" defTabSz="914400" eaLnBrk="0" fontAlgn="base" hangingPunct="0">
              <a:spcAft>
                <a:spcPts val="1100"/>
              </a:spcAft>
              <a:buFont typeface="Arial" panose="020B0604020202020204" pitchFamily="34" charset="0"/>
              <a:buChar char="•"/>
              <a:defRPr/>
            </a:pPr>
            <a:r>
              <a:rPr lang="en-US" sz="1100" dirty="0"/>
              <a:t>Data Rejects</a:t>
            </a:r>
          </a:p>
          <a:p>
            <a:pPr marL="171450" indent="-171450" defTabSz="914400" eaLnBrk="0" fontAlgn="base" hangingPunct="0">
              <a:spcAft>
                <a:spcPts val="1100"/>
              </a:spcAft>
              <a:buFont typeface="Arial" panose="020B0604020202020204" pitchFamily="34" charset="0"/>
              <a:buChar char="•"/>
              <a:defRPr/>
            </a:pPr>
            <a:r>
              <a:rPr lang="en-US" sz="1100" dirty="0"/>
              <a:t>Warning messages</a:t>
            </a:r>
          </a:p>
          <a:p>
            <a:pPr marL="171450" indent="-171450" defTabSz="914400" eaLnBrk="0" fontAlgn="base" hangingPunct="0">
              <a:spcAft>
                <a:spcPts val="1100"/>
              </a:spcAft>
              <a:buFont typeface="Arial" panose="020B0604020202020204" pitchFamily="34" charset="0"/>
              <a:buChar char="•"/>
              <a:defRPr/>
            </a:pPr>
            <a:r>
              <a:rPr lang="en-US" sz="1100" dirty="0"/>
              <a:t>Appending audit columns</a:t>
            </a:r>
          </a:p>
        </p:txBody>
      </p:sp>
    </p:spTree>
    <p:extLst>
      <p:ext uri="{BB962C8B-B14F-4D97-AF65-F5344CB8AC3E}">
        <p14:creationId xmlns:p14="http://schemas.microsoft.com/office/powerpoint/2010/main" val="3954113576"/>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noProof="0" dirty="0"/>
              <a:t>Architecture/Design patterns, standards and best practices</a:t>
            </a:r>
          </a:p>
        </p:txBody>
      </p:sp>
    </p:spTree>
    <p:extLst>
      <p:ext uri="{BB962C8B-B14F-4D97-AF65-F5344CB8AC3E}">
        <p14:creationId xmlns:p14="http://schemas.microsoft.com/office/powerpoint/2010/main" val="2355791577"/>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E986318-4F11-49AA-8878-A26106B89285}"/>
              </a:ext>
            </a:extLst>
          </p:cNvPr>
          <p:cNvSpPr>
            <a:spLocks noGrp="1"/>
          </p:cNvSpPr>
          <p:nvPr>
            <p:ph idx="1"/>
          </p:nvPr>
        </p:nvSpPr>
        <p:spPr>
          <a:xfrm>
            <a:off x="469900" y="1112044"/>
            <a:ext cx="11252200" cy="4633911"/>
          </a:xfrm>
        </p:spPr>
        <p:txBody>
          <a:bodyPr/>
          <a:lstStyle/>
          <a:p>
            <a:pPr marL="228600" indent="-228600">
              <a:spcAft>
                <a:spcPts val="1200"/>
              </a:spcAft>
              <a:buFont typeface="+mj-lt"/>
              <a:buAutoNum type="arabicPeriod"/>
            </a:pPr>
            <a:r>
              <a:rPr lang="en-US" b="1" dirty="0"/>
              <a:t>Architecture patterns provide a established solution to an architectural problem. They specify the relationship of software components and provides guidelines to organize them. This section provides an overview of following architectural patterns:</a:t>
            </a:r>
          </a:p>
          <a:p>
            <a:pPr marL="457200" lvl="3" indent="-228600">
              <a:spcAft>
                <a:spcPts val="600"/>
              </a:spcAft>
              <a:buFont typeface="+mj-lt"/>
              <a:buAutoNum type="alphaLcPeriod"/>
            </a:pPr>
            <a:r>
              <a:rPr lang="en-US" dirty="0"/>
              <a:t>Data Lake </a:t>
            </a:r>
          </a:p>
          <a:p>
            <a:pPr marL="457200" lvl="3" indent="-228600">
              <a:spcAft>
                <a:spcPts val="600"/>
              </a:spcAft>
              <a:buFont typeface="+mj-lt"/>
              <a:buAutoNum type="alphaLcPeriod"/>
            </a:pPr>
            <a:r>
              <a:rPr lang="en-US" dirty="0"/>
              <a:t>Enterprise Data Warehouse</a:t>
            </a:r>
          </a:p>
          <a:p>
            <a:pPr marL="457200" lvl="3" indent="-228600">
              <a:spcAft>
                <a:spcPts val="600"/>
              </a:spcAft>
              <a:buFont typeface="+mj-lt"/>
              <a:buAutoNum type="alphaLcPeriod"/>
            </a:pPr>
            <a:r>
              <a:rPr lang="en-US" dirty="0"/>
              <a:t>Internet of Things</a:t>
            </a:r>
          </a:p>
          <a:p>
            <a:pPr marL="457200" lvl="3" indent="-228600">
              <a:spcAft>
                <a:spcPts val="600"/>
              </a:spcAft>
              <a:buFont typeface="+mj-lt"/>
              <a:buAutoNum type="alphaLcPeriod"/>
            </a:pPr>
            <a:r>
              <a:rPr lang="en-US" dirty="0"/>
              <a:t>Real Time Applications</a:t>
            </a:r>
          </a:p>
          <a:p>
            <a:pPr marL="457200" lvl="3" indent="-228600">
              <a:buFont typeface="+mj-lt"/>
              <a:buAutoNum type="alphaLcPeriod"/>
            </a:pPr>
            <a:r>
              <a:rPr lang="en-US" dirty="0"/>
              <a:t>Edge Computing</a:t>
            </a:r>
          </a:p>
          <a:p>
            <a:pPr marL="228600" indent="-228600">
              <a:spcAft>
                <a:spcPts val="1200"/>
              </a:spcAft>
              <a:buFont typeface="+mj-lt"/>
              <a:buAutoNum type="arabicPeriod"/>
            </a:pPr>
            <a:r>
              <a:rPr lang="en-US" b="1" dirty="0"/>
              <a:t>Design Pattern provide a useful, proven implementation to solve a design issue. The following design patterns are presented in this section:</a:t>
            </a:r>
          </a:p>
          <a:p>
            <a:pPr marL="533400" lvl="3" indent="-228600">
              <a:spcAft>
                <a:spcPts val="600"/>
              </a:spcAft>
              <a:buFont typeface="+mj-lt"/>
              <a:buAutoNum type="alphaLcPeriod"/>
            </a:pPr>
            <a:r>
              <a:rPr lang="en-US" dirty="0"/>
              <a:t>Lambda</a:t>
            </a:r>
          </a:p>
          <a:p>
            <a:pPr marL="533400" lvl="3" indent="-228600">
              <a:spcAft>
                <a:spcPts val="600"/>
              </a:spcAft>
              <a:buFont typeface="+mj-lt"/>
              <a:buAutoNum type="alphaLcPeriod"/>
            </a:pPr>
            <a:r>
              <a:rPr lang="en-US" dirty="0"/>
              <a:t>Zetta</a:t>
            </a:r>
          </a:p>
          <a:p>
            <a:pPr marL="533400" lvl="3" indent="-228600">
              <a:spcAft>
                <a:spcPts val="600"/>
              </a:spcAft>
              <a:buFont typeface="+mj-lt"/>
              <a:buAutoNum type="alphaLcPeriod"/>
            </a:pPr>
            <a:r>
              <a:rPr lang="en-US" dirty="0"/>
              <a:t>Ingestion Patterns</a:t>
            </a:r>
          </a:p>
          <a:p>
            <a:pPr marL="533400" lvl="3" indent="-228600">
              <a:spcAft>
                <a:spcPts val="600"/>
              </a:spcAft>
              <a:buFont typeface="+mj-lt"/>
              <a:buAutoNum type="alphaLcPeriod"/>
            </a:pPr>
            <a:r>
              <a:rPr lang="en-US" dirty="0"/>
              <a:t>Consumption Patterns</a:t>
            </a:r>
          </a:p>
          <a:p>
            <a:pPr marL="533400" lvl="3" indent="-228600">
              <a:spcAft>
                <a:spcPts val="600"/>
              </a:spcAft>
              <a:buFont typeface="+mj-lt"/>
              <a:buAutoNum type="alphaLcPeriod"/>
            </a:pPr>
            <a:r>
              <a:rPr lang="en-US" dirty="0"/>
              <a:t>Audit, Balance Control</a:t>
            </a:r>
          </a:p>
          <a:p>
            <a:pPr marL="533400" lvl="3" indent="-228600">
              <a:buFont typeface="+mj-lt"/>
              <a:buAutoNum type="alphaLcPeriod"/>
            </a:pPr>
            <a:r>
              <a:rPr lang="en-US" dirty="0"/>
              <a:t>Read and Write Isolation</a:t>
            </a:r>
          </a:p>
          <a:p>
            <a:pPr marL="228600" indent="-228600">
              <a:spcAft>
                <a:spcPts val="1200"/>
              </a:spcAft>
              <a:buFont typeface="+mj-lt"/>
              <a:buAutoNum type="arabicPeriod"/>
            </a:pPr>
            <a:r>
              <a:rPr lang="en-US" b="1" dirty="0"/>
              <a:t>This section also highlights design Standards and best practices provide guidelines to organize the development of architectural components:</a:t>
            </a:r>
          </a:p>
          <a:p>
            <a:pPr marL="457200" lvl="3" indent="-228600">
              <a:spcAft>
                <a:spcPts val="600"/>
              </a:spcAft>
              <a:buFont typeface="+mj-lt"/>
              <a:buAutoNum type="alphaLcPeriod"/>
            </a:pPr>
            <a:r>
              <a:rPr lang="en-US" dirty="0" err="1"/>
              <a:t>DataOps</a:t>
            </a:r>
            <a:endParaRPr lang="en-US" dirty="0"/>
          </a:p>
          <a:p>
            <a:pPr marL="457200" lvl="3" indent="-228600">
              <a:buFont typeface="+mj-lt"/>
              <a:buAutoNum type="alphaLcPeriod"/>
            </a:pPr>
            <a:r>
              <a:rPr lang="en-US" dirty="0"/>
              <a:t>Security </a:t>
            </a:r>
          </a:p>
          <a:p>
            <a:endParaRPr lang="en-US" dirty="0"/>
          </a:p>
        </p:txBody>
      </p:sp>
      <p:sp>
        <p:nvSpPr>
          <p:cNvPr id="4" name="Title 3">
            <a:extLst>
              <a:ext uri="{FF2B5EF4-FFF2-40B4-BE49-F238E27FC236}">
                <a16:creationId xmlns:a16="http://schemas.microsoft.com/office/drawing/2014/main" id="{DA10E867-E85C-4FFD-B107-428088FC0492}"/>
              </a:ext>
            </a:extLst>
          </p:cNvPr>
          <p:cNvSpPr>
            <a:spLocks noGrp="1"/>
          </p:cNvSpPr>
          <p:nvPr>
            <p:ph type="title"/>
          </p:nvPr>
        </p:nvSpPr>
        <p:spPr/>
        <p:txBody>
          <a:bodyPr/>
          <a:lstStyle/>
          <a:p>
            <a:r>
              <a:rPr lang="en-US" dirty="0"/>
              <a:t>Architecture/Design patterns, standards and best practices</a:t>
            </a:r>
          </a:p>
        </p:txBody>
      </p:sp>
    </p:spTree>
    <p:extLst>
      <p:ext uri="{BB962C8B-B14F-4D97-AF65-F5344CB8AC3E}">
        <p14:creationId xmlns:p14="http://schemas.microsoft.com/office/powerpoint/2010/main" val="2524519009"/>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Architecture pattern: Data lake</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330605396"/>
              </p:ext>
            </p:extLst>
          </p:nvPr>
        </p:nvGraphicFramePr>
        <p:xfrm>
          <a:off x="6995161" y="1017588"/>
          <a:ext cx="4714240" cy="5265420"/>
        </p:xfrm>
        <a:graphic>
          <a:graphicData uri="http://schemas.openxmlformats.org/drawingml/2006/table">
            <a:tbl>
              <a:tblPr bandRow="1">
                <a:effectLst/>
              </a:tblPr>
              <a:tblGrid>
                <a:gridCol w="4714240">
                  <a:extLst>
                    <a:ext uri="{9D8B030D-6E8A-4147-A177-3AD203B41FA5}">
                      <a16:colId xmlns:a16="http://schemas.microsoft.com/office/drawing/2014/main" val="2219018424"/>
                    </a:ext>
                  </a:extLst>
                </a:gridCol>
              </a:tblGrid>
              <a:tr h="0">
                <a:tc>
                  <a:txBody>
                    <a:bodyPr/>
                    <a:lstStyle/>
                    <a:p>
                      <a:pPr>
                        <a:spcAft>
                          <a:spcPts val="100"/>
                        </a:spcAft>
                      </a:pPr>
                      <a:r>
                        <a:rPr lang="en-US" sz="1000" b="1" dirty="0">
                          <a:solidFill>
                            <a:schemeClr val="tx1"/>
                          </a:solidFill>
                        </a:rPr>
                        <a:t>Context</a:t>
                      </a:r>
                    </a:p>
                    <a:p>
                      <a:pPr>
                        <a:spcAft>
                          <a:spcPts val="100"/>
                        </a:spcAft>
                      </a:pPr>
                      <a:r>
                        <a:rPr lang="en-US" sz="1000" dirty="0">
                          <a:solidFill>
                            <a:schemeClr val="tx1"/>
                          </a:solidFill>
                        </a:rPr>
                        <a:t>A Data Lake stores data as-is from multiple sources and uses a variety of storage formats. It typically can store data from streaming sources, from events in message queues or online event sources, and from traditional periodic batch sources and logs. It serves as a source of raw data storage, that is scalable, less expensive than traditional storage systems, and distributed to support various enterprise data applications.</a:t>
                      </a:r>
                      <a:endParaRPr lang="en-US" sz="1000" b="0" dirty="0">
                        <a:solidFill>
                          <a:schemeClr val="tx1"/>
                        </a:solidFill>
                      </a:endParaRPr>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a:spcAft>
                          <a:spcPts val="100"/>
                        </a:spcAft>
                      </a:pPr>
                      <a:r>
                        <a:rPr lang="en-US" sz="1000" b="1" dirty="0">
                          <a:solidFill>
                            <a:schemeClr val="tx1"/>
                          </a:solidFill>
                        </a:rPr>
                        <a:t>Solution description</a:t>
                      </a:r>
                    </a:p>
                    <a:p>
                      <a:pPr>
                        <a:spcAft>
                          <a:spcPts val="100"/>
                        </a:spcAft>
                      </a:pPr>
                      <a:r>
                        <a:rPr lang="en-US" sz="1000" b="1" dirty="0">
                          <a:solidFill>
                            <a:schemeClr val="tx1"/>
                          </a:solidFill>
                        </a:rPr>
                        <a:t>Heterogenous:</a:t>
                      </a:r>
                      <a:r>
                        <a:rPr lang="en-US" sz="1000" dirty="0">
                          <a:solidFill>
                            <a:schemeClr val="tx1"/>
                          </a:solidFill>
                        </a:rPr>
                        <a:t> Should support multiple data formats, to store data as blobs, raw text, semi-structured data such as JSON, and parquet, etc.</a:t>
                      </a:r>
                    </a:p>
                    <a:p>
                      <a:pPr>
                        <a:spcAft>
                          <a:spcPts val="100"/>
                        </a:spcAft>
                      </a:pPr>
                      <a:r>
                        <a:rPr lang="en-US" sz="1000" b="1" dirty="0">
                          <a:solidFill>
                            <a:schemeClr val="tx1"/>
                          </a:solidFill>
                        </a:rPr>
                        <a:t>As is:</a:t>
                      </a:r>
                      <a:r>
                        <a:rPr lang="en-US" sz="1000" dirty="0">
                          <a:solidFill>
                            <a:schemeClr val="tx1"/>
                          </a:solidFill>
                        </a:rPr>
                        <a:t> Should store incoming data as-is, stored unmodified, as an immutable data set. Data can then be transformed within the datalake is successive layers.</a:t>
                      </a:r>
                    </a:p>
                    <a:p>
                      <a:pPr>
                        <a:spcAft>
                          <a:spcPts val="100"/>
                        </a:spcAft>
                      </a:pPr>
                      <a:r>
                        <a:rPr lang="en-US" sz="1000" b="1" dirty="0">
                          <a:solidFill>
                            <a:schemeClr val="tx1"/>
                          </a:solidFill>
                        </a:rPr>
                        <a:t>Distributed:</a:t>
                      </a:r>
                      <a:r>
                        <a:rPr lang="en-US" sz="1000" dirty="0">
                          <a:solidFill>
                            <a:schemeClr val="tx1"/>
                          </a:solidFill>
                        </a:rPr>
                        <a:t> Should be accessible from from systems distributed in the enterprise, including ETL systems and big data pipelines</a:t>
                      </a:r>
                    </a:p>
                    <a:p>
                      <a:pPr>
                        <a:spcAft>
                          <a:spcPts val="100"/>
                        </a:spcAft>
                      </a:pPr>
                      <a:r>
                        <a:rPr lang="en-US" sz="1000" b="1" dirty="0">
                          <a:solidFill>
                            <a:schemeClr val="tx1"/>
                          </a:solidFill>
                        </a:rPr>
                        <a:t>Secure:</a:t>
                      </a:r>
                      <a:r>
                        <a:rPr lang="en-US" sz="1000" dirty="0">
                          <a:solidFill>
                            <a:schemeClr val="tx1"/>
                          </a:solidFill>
                        </a:rPr>
                        <a:t> Should support encryption at rest using server-side or client supplied encryption keys.</a:t>
                      </a:r>
                    </a:p>
                    <a:p>
                      <a:pPr>
                        <a:spcAft>
                          <a:spcPts val="100"/>
                        </a:spcAft>
                      </a:pPr>
                      <a:r>
                        <a:rPr lang="en-US" sz="1000" b="1" dirty="0">
                          <a:solidFill>
                            <a:schemeClr val="tx1"/>
                          </a:solidFill>
                        </a:rPr>
                        <a:t>Data history:</a:t>
                      </a:r>
                      <a:r>
                        <a:rPr lang="en-US" sz="1000" dirty="0">
                          <a:solidFill>
                            <a:schemeClr val="tx1"/>
                          </a:solidFill>
                        </a:rPr>
                        <a:t> Data should be stored as long as possible, and migrated to less expensive storage to create a historical record.</a:t>
                      </a:r>
                    </a:p>
                    <a:p>
                      <a:pPr>
                        <a:spcAft>
                          <a:spcPts val="100"/>
                        </a:spcAft>
                      </a:pPr>
                      <a:r>
                        <a:rPr lang="en-US" sz="1000" b="1" dirty="0">
                          <a:solidFill>
                            <a:schemeClr val="tx1"/>
                          </a:solidFill>
                        </a:rPr>
                        <a:t>Cataloging and </a:t>
                      </a:r>
                      <a:r>
                        <a:rPr lang="en-US" sz="1000" b="1" dirty="0" err="1">
                          <a:solidFill>
                            <a:schemeClr val="tx1"/>
                          </a:solidFill>
                        </a:rPr>
                        <a:t>MetaData</a:t>
                      </a:r>
                      <a:r>
                        <a:rPr lang="en-US" sz="1000" b="1" dirty="0">
                          <a:solidFill>
                            <a:schemeClr val="tx1"/>
                          </a:solidFill>
                        </a:rPr>
                        <a:t>: </a:t>
                      </a:r>
                      <a:r>
                        <a:rPr lang="en-US" sz="1000" dirty="0">
                          <a:solidFill>
                            <a:schemeClr val="tx1"/>
                          </a:solidFill>
                        </a:rPr>
                        <a:t>Should be integrated with systems that classify data by source, time, owner, etc., either through naming conventions, search tools, or integrated metadata.</a:t>
                      </a:r>
                    </a:p>
                    <a:p>
                      <a:pPr>
                        <a:spcAft>
                          <a:spcPts val="100"/>
                        </a:spcAft>
                      </a:pPr>
                      <a:r>
                        <a:rPr lang="en-US" sz="1000" dirty="0">
                          <a:solidFill>
                            <a:schemeClr val="tx1"/>
                          </a:solidFill>
                        </a:rPr>
                        <a:t>Schema-on-demand: Ideally should support, through associated SaaS service, evolving data schemas on read while storing data.</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a:spcAft>
                          <a:spcPts val="100"/>
                        </a:spcAft>
                      </a:pPr>
                      <a:r>
                        <a:rPr lang="en-US" sz="1000" b="1" dirty="0">
                          <a:solidFill>
                            <a:schemeClr val="tx1"/>
                          </a:solidFill>
                        </a:rPr>
                        <a:t>Rationale</a:t>
                      </a:r>
                    </a:p>
                    <a:p>
                      <a:pPr>
                        <a:spcAft>
                          <a:spcPts val="100"/>
                        </a:spcAft>
                      </a:pPr>
                      <a:r>
                        <a:rPr lang="en-US" sz="1000" dirty="0">
                          <a:solidFill>
                            <a:schemeClr val="tx1"/>
                          </a:solidFill>
                        </a:rPr>
                        <a:t>Can reduce the need to apply expensive transformations to data associated with traditional data factories and pipelines. Lack of structure leads to flexibility in terms of fast data storage and use, though this must be managed through cataloging and meta-data. Research has shown that companies that develop data lakes show greater data agility and have a competitive advantage.</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grpSp>
        <p:nvGrpSpPr>
          <p:cNvPr id="8" name="Group 7">
            <a:extLst>
              <a:ext uri="{FF2B5EF4-FFF2-40B4-BE49-F238E27FC236}">
                <a16:creationId xmlns:a16="http://schemas.microsoft.com/office/drawing/2014/main" id="{3131C07C-6792-4B37-8861-6B493835D778}"/>
              </a:ext>
            </a:extLst>
          </p:cNvPr>
          <p:cNvGrpSpPr/>
          <p:nvPr/>
        </p:nvGrpSpPr>
        <p:grpSpPr>
          <a:xfrm>
            <a:off x="469900" y="2385683"/>
            <a:ext cx="6270062" cy="2596550"/>
            <a:chOff x="243964" y="1725283"/>
            <a:chExt cx="6270062" cy="2596550"/>
          </a:xfrm>
        </p:grpSpPr>
        <p:sp>
          <p:nvSpPr>
            <p:cNvPr id="6" name="AutoShape 6" descr="Image result for data lake icons">
              <a:extLst>
                <a:ext uri="{FF2B5EF4-FFF2-40B4-BE49-F238E27FC236}">
                  <a16:creationId xmlns:a16="http://schemas.microsoft.com/office/drawing/2014/main" id="{C3779653-5422-4B40-A960-3AC07A6FE61C}"/>
                </a:ext>
              </a:extLst>
            </p:cNvPr>
            <p:cNvSpPr>
              <a:spLocks noChangeAspect="1" noChangeArrowheads="1"/>
            </p:cNvSpPr>
            <p:nvPr/>
          </p:nvSpPr>
          <p:spPr bwMode="auto">
            <a:xfrm>
              <a:off x="5833647" y="3431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21" name="Freeform 120">
              <a:extLst>
                <a:ext uri="{FF2B5EF4-FFF2-40B4-BE49-F238E27FC236}">
                  <a16:creationId xmlns:a16="http://schemas.microsoft.com/office/drawing/2014/main" id="{B1452F33-9907-454B-95AE-AC26291319D2}"/>
                </a:ext>
              </a:extLst>
            </p:cNvPr>
            <p:cNvSpPr/>
            <p:nvPr/>
          </p:nvSpPr>
          <p:spPr bwMode="gray">
            <a:xfrm>
              <a:off x="3317322" y="2011605"/>
              <a:ext cx="281519" cy="526602"/>
            </a:xfrm>
            <a:custGeom>
              <a:avLst/>
              <a:gdLst>
                <a:gd name="connsiteX0" fmla="*/ 21997 w 250597"/>
                <a:gd name="connsiteY0" fmla="*/ 145143 h 564250"/>
                <a:gd name="connsiteX1" fmla="*/ 21997 w 250597"/>
                <a:gd name="connsiteY1" fmla="*/ 562428 h 564250"/>
                <a:gd name="connsiteX2" fmla="*/ 250597 w 250597"/>
                <a:gd name="connsiteY2" fmla="*/ 0 h 564250"/>
              </a:gdLst>
              <a:ahLst/>
              <a:cxnLst>
                <a:cxn ang="0">
                  <a:pos x="connsiteX0" y="connsiteY0"/>
                </a:cxn>
                <a:cxn ang="0">
                  <a:pos x="connsiteX1" y="connsiteY1"/>
                </a:cxn>
                <a:cxn ang="0">
                  <a:pos x="connsiteX2" y="connsiteY2"/>
                </a:cxn>
              </a:cxnLst>
              <a:rect l="l" t="t" r="r" b="b"/>
              <a:pathLst>
                <a:path w="250597" h="564250">
                  <a:moveTo>
                    <a:pt x="21997" y="145143"/>
                  </a:moveTo>
                  <a:cubicBezTo>
                    <a:pt x="2947" y="365881"/>
                    <a:pt x="-16103" y="586619"/>
                    <a:pt x="21997" y="562428"/>
                  </a:cubicBezTo>
                  <a:cubicBezTo>
                    <a:pt x="60097" y="538238"/>
                    <a:pt x="214311" y="93133"/>
                    <a:pt x="250597" y="0"/>
                  </a:cubicBezTo>
                </a:path>
              </a:pathLst>
            </a:custGeom>
            <a:noFill/>
            <a:ln w="12700" cap="rnd" algn="ctr">
              <a:noFill/>
              <a:miter lim="800000"/>
              <a:headEnd/>
              <a:tailEnd/>
            </a:ln>
          </p:spPr>
          <p:txBody>
            <a:bodyPr vert="horz" wrap="square" lIns="73152" tIns="73152" rIns="73152" bIns="73152" numCol="1" rtlCol="0" anchor="t" anchorCtr="0" compatLnSpc="1">
              <a:prstTxWarp prst="textNoShape">
                <a:avLst/>
              </a:prstTxWarp>
            </a:bodyPr>
            <a:lstStyle/>
            <a:p>
              <a:pPr marL="0" marR="0" lvl="0" indent="0" algn="l" defTabSz="914400" rtl="0" eaLnBrk="0" fontAlgn="base" latinLnBrk="0" hangingPunct="0">
                <a:lnSpc>
                  <a:spcPct val="106000"/>
                </a:lnSpc>
                <a:spcBef>
                  <a:spcPct val="50000"/>
                </a:spcBef>
                <a:spcAft>
                  <a:spcPct val="0"/>
                </a:spcAft>
                <a:buClrTx/>
                <a:buSzPct val="100000"/>
                <a:buFont typeface="Wingdings 2" pitchFamily="18" charset="2"/>
                <a:buNone/>
                <a:tabLst/>
                <a:defRPr/>
              </a:pPr>
              <a:endParaRPr kumimoji="0" lang="en-US" sz="8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endParaRPr>
            </a:p>
          </p:txBody>
        </p:sp>
        <p:sp>
          <p:nvSpPr>
            <p:cNvPr id="22" name="Rectangle 6">
              <a:extLst>
                <a:ext uri="{FF2B5EF4-FFF2-40B4-BE49-F238E27FC236}">
                  <a16:creationId xmlns:a16="http://schemas.microsoft.com/office/drawing/2014/main" id="{489A7CF2-D23C-4ED8-AF58-4733BAD5279E}"/>
                </a:ext>
              </a:extLst>
            </p:cNvPr>
            <p:cNvSpPr>
              <a:spLocks noChangeArrowheads="1"/>
            </p:cNvSpPr>
            <p:nvPr/>
          </p:nvSpPr>
          <p:spPr bwMode="auto">
            <a:xfrm>
              <a:off x="1728687" y="2268025"/>
              <a:ext cx="2730190" cy="1487851"/>
            </a:xfrm>
            <a:prstGeom prst="rect">
              <a:avLst/>
            </a:prstGeom>
            <a:solidFill>
              <a:sysClr val="window" lastClr="FFFFFF">
                <a:lumMod val="95000"/>
              </a:sysClr>
            </a:solidFill>
            <a:ln w="25400">
              <a:solidFill>
                <a:schemeClr val="accent1">
                  <a:lumMod val="75000"/>
                </a:schemeClr>
              </a:solidFill>
              <a:prstDash val="solid"/>
            </a:ln>
          </p:spPr>
          <p:txBody>
            <a:bodyPr lIns="45720" rIns="45720" anchor="t"/>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000" b="1" i="0" u="none" strike="noStrike" kern="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Data lake</a:t>
              </a:r>
            </a:p>
          </p:txBody>
        </p:sp>
        <p:sp>
          <p:nvSpPr>
            <p:cNvPr id="25" name="Shape 596">
              <a:extLst>
                <a:ext uri="{FF2B5EF4-FFF2-40B4-BE49-F238E27FC236}">
                  <a16:creationId xmlns:a16="http://schemas.microsoft.com/office/drawing/2014/main" id="{73D3EF97-B533-4B35-8A56-872F5CB43F28}"/>
                </a:ext>
              </a:extLst>
            </p:cNvPr>
            <p:cNvSpPr/>
            <p:nvPr/>
          </p:nvSpPr>
          <p:spPr>
            <a:xfrm>
              <a:off x="1812831" y="2524018"/>
              <a:ext cx="1009233" cy="1052063"/>
            </a:xfrm>
            <a:prstGeom prst="roundRect">
              <a:avLst>
                <a:gd name="adj" fmla="val 1674"/>
              </a:avLst>
            </a:prstGeom>
            <a:noFill/>
            <a:ln>
              <a:noFill/>
            </a:ln>
            <a:effectLst/>
          </p:spPr>
          <p:txBody>
            <a:bodyPr lIns="0" tIns="45720" rIns="0" bIns="45720" anchor="t"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1" i="0" u="none" strike="noStrike" kern="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Raw layer</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Data based on Applications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Raw Files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External data</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a:t>
              </a:r>
            </a:p>
          </p:txBody>
        </p:sp>
        <p:sp>
          <p:nvSpPr>
            <p:cNvPr id="26" name="Shape 596">
              <a:extLst>
                <a:ext uri="{FF2B5EF4-FFF2-40B4-BE49-F238E27FC236}">
                  <a16:creationId xmlns:a16="http://schemas.microsoft.com/office/drawing/2014/main" id="{8CF52872-EBCD-4395-964A-AC4CCF73F1FD}"/>
                </a:ext>
              </a:extLst>
            </p:cNvPr>
            <p:cNvSpPr/>
            <p:nvPr/>
          </p:nvSpPr>
          <p:spPr>
            <a:xfrm>
              <a:off x="2999864" y="2511320"/>
              <a:ext cx="1318623" cy="1052063"/>
            </a:xfrm>
            <a:prstGeom prst="roundRect">
              <a:avLst>
                <a:gd name="adj" fmla="val 1674"/>
              </a:avLst>
            </a:prstGeom>
            <a:noFill/>
            <a:ln>
              <a:noFill/>
            </a:ln>
            <a:effectLst/>
          </p:spPr>
          <p:txBody>
            <a:bodyPr lIns="0" tIns="45720" rIns="0" bIns="45720" anchor="t"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1" i="0" u="none" strike="noStrike" kern="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Processed layer</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Cleansed Data from Applications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Cleaned Data</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Consumption Ready External Data </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rPr>
                <a:t>…</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endPar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endParaRPr kumimoji="0" lang="en-US" sz="1000" b="0" i="0" u="none" strike="noStrike" kern="1200" cap="none" spc="0" normalizeH="0" baseline="0" noProof="0" dirty="0">
                <a:ln>
                  <a:noFill/>
                </a:ln>
                <a:solidFill>
                  <a:prstClr val="black"/>
                </a:solidFill>
                <a:effectLst/>
                <a:uLnTx/>
                <a:uFillTx/>
                <a:latin typeface="+mj-lt"/>
                <a:ea typeface="Open Sans" panose="020B0606030504020204" pitchFamily="34" charset="0"/>
                <a:cs typeface="Open Sans" panose="020B0606030504020204" pitchFamily="34" charset="0"/>
              </a:endParaRPr>
            </a:p>
          </p:txBody>
        </p:sp>
        <p:sp>
          <p:nvSpPr>
            <p:cNvPr id="18" name="Arrow: Right 17">
              <a:extLst>
                <a:ext uri="{FF2B5EF4-FFF2-40B4-BE49-F238E27FC236}">
                  <a16:creationId xmlns:a16="http://schemas.microsoft.com/office/drawing/2014/main" id="{F5F1B2B3-9DDC-4CA4-9BF4-51C8855B96AB}"/>
                </a:ext>
              </a:extLst>
            </p:cNvPr>
            <p:cNvSpPr/>
            <p:nvPr/>
          </p:nvSpPr>
          <p:spPr bwMode="gray">
            <a:xfrm>
              <a:off x="243964" y="2268025"/>
              <a:ext cx="1291537" cy="378656"/>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latin typeface="+mj-lt"/>
                </a:rPr>
                <a:t>Batch Data</a:t>
              </a:r>
            </a:p>
          </p:txBody>
        </p:sp>
        <p:sp>
          <p:nvSpPr>
            <p:cNvPr id="29" name="Arrow: Right 28">
              <a:extLst>
                <a:ext uri="{FF2B5EF4-FFF2-40B4-BE49-F238E27FC236}">
                  <a16:creationId xmlns:a16="http://schemas.microsoft.com/office/drawing/2014/main" id="{ED05A303-379C-4F3D-9CB8-18D6E3454EC0}"/>
                </a:ext>
              </a:extLst>
            </p:cNvPr>
            <p:cNvSpPr/>
            <p:nvPr/>
          </p:nvSpPr>
          <p:spPr bwMode="gray">
            <a:xfrm>
              <a:off x="243964" y="2743199"/>
              <a:ext cx="1291537" cy="443876"/>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latin typeface="+mj-lt"/>
                </a:rPr>
                <a:t>Streaming Data</a:t>
              </a:r>
            </a:p>
          </p:txBody>
        </p:sp>
        <p:sp>
          <p:nvSpPr>
            <p:cNvPr id="30" name="Arrow: Right 29">
              <a:extLst>
                <a:ext uri="{FF2B5EF4-FFF2-40B4-BE49-F238E27FC236}">
                  <a16:creationId xmlns:a16="http://schemas.microsoft.com/office/drawing/2014/main" id="{3293DA37-E16D-4C20-9851-8646EBE2775D}"/>
                </a:ext>
              </a:extLst>
            </p:cNvPr>
            <p:cNvSpPr/>
            <p:nvPr/>
          </p:nvSpPr>
          <p:spPr bwMode="gray">
            <a:xfrm>
              <a:off x="243965" y="3276600"/>
              <a:ext cx="1312090" cy="443876"/>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latin typeface="+mj-lt"/>
                </a:rPr>
                <a:t>Events/Messages</a:t>
              </a:r>
            </a:p>
          </p:txBody>
        </p:sp>
        <p:sp>
          <p:nvSpPr>
            <p:cNvPr id="31" name="Rounded Rectangle 44">
              <a:extLst>
                <a:ext uri="{FF2B5EF4-FFF2-40B4-BE49-F238E27FC236}">
                  <a16:creationId xmlns:a16="http://schemas.microsoft.com/office/drawing/2014/main" id="{10AE24D5-FDA6-4D08-A424-31F1C7969E43}"/>
                </a:ext>
              </a:extLst>
            </p:cNvPr>
            <p:cNvSpPr/>
            <p:nvPr/>
          </p:nvSpPr>
          <p:spPr bwMode="auto">
            <a:xfrm>
              <a:off x="4609153" y="2078603"/>
              <a:ext cx="797203" cy="1866691"/>
            </a:xfrm>
            <a:prstGeom prst="roundRect">
              <a:avLst>
                <a:gd name="adj" fmla="val 4436"/>
              </a:avLst>
            </a:prstGeom>
            <a:solidFill>
              <a:schemeClr val="accent1">
                <a:lumMod val="20000"/>
                <a:lumOff val="80000"/>
              </a:schemeClr>
            </a:solidFill>
            <a:ln w="25400">
              <a:solidFill>
                <a:schemeClr val="tx1"/>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9144" tIns="45719" rIns="9144" bIns="9144" anchor="t" anchorCtr="0"/>
            <a:lstStyle/>
            <a:p>
              <a:pPr algn="ctr"/>
              <a:r>
                <a:rPr lang="en-US" sz="700" b="1" dirty="0">
                  <a:solidFill>
                    <a:schemeClr val="tx1"/>
                  </a:solidFill>
                  <a:latin typeface="+mj-lt"/>
                </a:rPr>
                <a:t>Data provisioning</a:t>
              </a:r>
            </a:p>
          </p:txBody>
        </p:sp>
        <p:sp>
          <p:nvSpPr>
            <p:cNvPr id="32" name="Cylinder 31">
              <a:extLst>
                <a:ext uri="{FF2B5EF4-FFF2-40B4-BE49-F238E27FC236}">
                  <a16:creationId xmlns:a16="http://schemas.microsoft.com/office/drawing/2014/main" id="{06C59096-E740-4511-BAA5-376ED1F94603}"/>
                </a:ext>
              </a:extLst>
            </p:cNvPr>
            <p:cNvSpPr/>
            <p:nvPr/>
          </p:nvSpPr>
          <p:spPr>
            <a:xfrm>
              <a:off x="4725355" y="2456447"/>
              <a:ext cx="584612" cy="273187"/>
            </a:xfrm>
            <a:prstGeom prst="can">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Marts</a:t>
              </a:r>
            </a:p>
          </p:txBody>
        </p:sp>
        <p:sp>
          <p:nvSpPr>
            <p:cNvPr id="33" name="Rounded Rectangle 107">
              <a:extLst>
                <a:ext uri="{FF2B5EF4-FFF2-40B4-BE49-F238E27FC236}">
                  <a16:creationId xmlns:a16="http://schemas.microsoft.com/office/drawing/2014/main" id="{0CE43C3C-F7C7-40D1-B9DC-59702AAEDF85}"/>
                </a:ext>
              </a:extLst>
            </p:cNvPr>
            <p:cNvSpPr/>
            <p:nvPr/>
          </p:nvSpPr>
          <p:spPr bwMode="auto">
            <a:xfrm>
              <a:off x="4652606" y="2918174"/>
              <a:ext cx="690643" cy="228600"/>
            </a:xfrm>
            <a:prstGeom prst="roundRect">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In Memory</a:t>
              </a:r>
            </a:p>
            <a:p>
              <a:pPr algn="ctr"/>
              <a:r>
                <a:rPr lang="en-US" sz="600" dirty="0">
                  <a:solidFill>
                    <a:schemeClr val="tx1"/>
                  </a:solidFill>
                  <a:latin typeface="+mj-lt"/>
                </a:rPr>
                <a:t>Processing</a:t>
              </a:r>
            </a:p>
          </p:txBody>
        </p:sp>
        <p:sp>
          <p:nvSpPr>
            <p:cNvPr id="34" name="Rounded Rectangle 107">
              <a:extLst>
                <a:ext uri="{FF2B5EF4-FFF2-40B4-BE49-F238E27FC236}">
                  <a16:creationId xmlns:a16="http://schemas.microsoft.com/office/drawing/2014/main" id="{3AF85890-35E5-43FD-BFDB-2536831EFC56}"/>
                </a:ext>
              </a:extLst>
            </p:cNvPr>
            <p:cNvSpPr/>
            <p:nvPr/>
          </p:nvSpPr>
          <p:spPr bwMode="auto">
            <a:xfrm>
              <a:off x="4672340" y="3392358"/>
              <a:ext cx="690643" cy="228600"/>
            </a:xfrm>
            <a:prstGeom prst="roundRect">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Schema on Demand</a:t>
              </a:r>
            </a:p>
          </p:txBody>
        </p:sp>
        <p:sp>
          <p:nvSpPr>
            <p:cNvPr id="35" name="Rounded Rectangle 44">
              <a:extLst>
                <a:ext uri="{FF2B5EF4-FFF2-40B4-BE49-F238E27FC236}">
                  <a16:creationId xmlns:a16="http://schemas.microsoft.com/office/drawing/2014/main" id="{42C1EA58-88A5-46EE-ADDD-28ACBAE179F6}"/>
                </a:ext>
              </a:extLst>
            </p:cNvPr>
            <p:cNvSpPr/>
            <p:nvPr/>
          </p:nvSpPr>
          <p:spPr bwMode="auto">
            <a:xfrm>
              <a:off x="5580998" y="1725283"/>
              <a:ext cx="933028" cy="2596550"/>
            </a:xfrm>
            <a:prstGeom prst="roundRect">
              <a:avLst>
                <a:gd name="adj" fmla="val 4436"/>
              </a:avLst>
            </a:prstGeom>
            <a:solidFill>
              <a:schemeClr val="accent1">
                <a:lumMod val="20000"/>
                <a:lumOff val="80000"/>
              </a:schemeClr>
            </a:solidFill>
            <a:ln w="25400">
              <a:headEnd/>
              <a:tailEnd/>
            </a:ln>
          </p:spPr>
          <p:style>
            <a:lnRef idx="2">
              <a:schemeClr val="accent2"/>
            </a:lnRef>
            <a:fillRef idx="1">
              <a:schemeClr val="lt1"/>
            </a:fillRef>
            <a:effectRef idx="0">
              <a:schemeClr val="accent2"/>
            </a:effectRef>
            <a:fontRef idx="minor">
              <a:schemeClr val="dk1"/>
            </a:fontRef>
          </p:style>
          <p:txBody>
            <a:bodyPr wrap="square" lIns="9144" tIns="45719" rIns="9144" bIns="9144" anchor="t" anchorCtr="0"/>
            <a:lstStyle/>
            <a:p>
              <a:pPr algn="ctr"/>
              <a:r>
                <a:rPr lang="en-US" sz="700" b="1" dirty="0">
                  <a:solidFill>
                    <a:schemeClr val="tx1"/>
                  </a:solidFill>
                  <a:latin typeface="+mj-lt"/>
                </a:rPr>
                <a:t>Analytics</a:t>
              </a:r>
            </a:p>
          </p:txBody>
        </p:sp>
        <p:sp>
          <p:nvSpPr>
            <p:cNvPr id="36" name="Rounded Rectangle 127">
              <a:extLst>
                <a:ext uri="{FF2B5EF4-FFF2-40B4-BE49-F238E27FC236}">
                  <a16:creationId xmlns:a16="http://schemas.microsoft.com/office/drawing/2014/main" id="{C87C461B-27B5-41DB-9B8E-825EED14B6BA}"/>
                </a:ext>
              </a:extLst>
            </p:cNvPr>
            <p:cNvSpPr/>
            <p:nvPr/>
          </p:nvSpPr>
          <p:spPr bwMode="auto">
            <a:xfrm>
              <a:off x="5688139" y="3120412"/>
              <a:ext cx="720784" cy="204312"/>
            </a:xfrm>
            <a:prstGeom prst="roundRect">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Visualization</a:t>
              </a:r>
            </a:p>
          </p:txBody>
        </p:sp>
        <p:sp>
          <p:nvSpPr>
            <p:cNvPr id="37" name="Rounded Rectangle 159">
              <a:extLst>
                <a:ext uri="{FF2B5EF4-FFF2-40B4-BE49-F238E27FC236}">
                  <a16:creationId xmlns:a16="http://schemas.microsoft.com/office/drawing/2014/main" id="{B6DCB0CB-B425-4E8F-9B36-FDFC6359F1D8}"/>
                </a:ext>
              </a:extLst>
            </p:cNvPr>
            <p:cNvSpPr/>
            <p:nvPr/>
          </p:nvSpPr>
          <p:spPr bwMode="auto">
            <a:xfrm>
              <a:off x="5662823" y="1993962"/>
              <a:ext cx="761538" cy="228600"/>
            </a:xfrm>
            <a:prstGeom prst="roundRect">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Advanced Analytics</a:t>
              </a:r>
            </a:p>
          </p:txBody>
        </p:sp>
        <p:sp>
          <p:nvSpPr>
            <p:cNvPr id="39" name="Rounded Rectangle 139">
              <a:extLst>
                <a:ext uri="{FF2B5EF4-FFF2-40B4-BE49-F238E27FC236}">
                  <a16:creationId xmlns:a16="http://schemas.microsoft.com/office/drawing/2014/main" id="{9AE2B4BD-D8CD-4939-8C60-DB408DDFACE8}"/>
                </a:ext>
              </a:extLst>
            </p:cNvPr>
            <p:cNvSpPr/>
            <p:nvPr/>
          </p:nvSpPr>
          <p:spPr bwMode="auto">
            <a:xfrm>
              <a:off x="5677978" y="3886482"/>
              <a:ext cx="715508" cy="228600"/>
            </a:xfrm>
            <a:prstGeom prst="roundRect">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Extracts</a:t>
              </a:r>
            </a:p>
          </p:txBody>
        </p:sp>
        <p:sp>
          <p:nvSpPr>
            <p:cNvPr id="40" name="Rounded Rectangle 159">
              <a:extLst>
                <a:ext uri="{FF2B5EF4-FFF2-40B4-BE49-F238E27FC236}">
                  <a16:creationId xmlns:a16="http://schemas.microsoft.com/office/drawing/2014/main" id="{9EE5B773-DEF0-4BC6-AB92-4F75CEE55170}"/>
                </a:ext>
              </a:extLst>
            </p:cNvPr>
            <p:cNvSpPr/>
            <p:nvPr/>
          </p:nvSpPr>
          <p:spPr bwMode="auto">
            <a:xfrm>
              <a:off x="5662823" y="2739176"/>
              <a:ext cx="761538" cy="228600"/>
            </a:xfrm>
            <a:prstGeom prst="roundRect">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BI Platform</a:t>
              </a:r>
            </a:p>
          </p:txBody>
        </p:sp>
        <p:sp>
          <p:nvSpPr>
            <p:cNvPr id="41" name="Rounded Rectangle 137">
              <a:extLst>
                <a:ext uri="{FF2B5EF4-FFF2-40B4-BE49-F238E27FC236}">
                  <a16:creationId xmlns:a16="http://schemas.microsoft.com/office/drawing/2014/main" id="{AB1999C9-20F6-43E4-A305-EAB60782CF64}"/>
                </a:ext>
              </a:extLst>
            </p:cNvPr>
            <p:cNvSpPr/>
            <p:nvPr/>
          </p:nvSpPr>
          <p:spPr bwMode="auto">
            <a:xfrm>
              <a:off x="5662823" y="2366569"/>
              <a:ext cx="730663" cy="228600"/>
            </a:xfrm>
            <a:prstGeom prst="roundRect">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Data Discovery</a:t>
              </a:r>
            </a:p>
          </p:txBody>
        </p:sp>
        <p:sp>
          <p:nvSpPr>
            <p:cNvPr id="42" name="Rounded Rectangle 137">
              <a:extLst>
                <a:ext uri="{FF2B5EF4-FFF2-40B4-BE49-F238E27FC236}">
                  <a16:creationId xmlns:a16="http://schemas.microsoft.com/office/drawing/2014/main" id="{EABFD0C9-729F-4625-BBAF-0FB87019360C}"/>
                </a:ext>
              </a:extLst>
            </p:cNvPr>
            <p:cNvSpPr/>
            <p:nvPr/>
          </p:nvSpPr>
          <p:spPr bwMode="auto">
            <a:xfrm>
              <a:off x="5693699" y="3479772"/>
              <a:ext cx="699788" cy="199959"/>
            </a:xfrm>
            <a:prstGeom prst="roundRect">
              <a:avLst/>
            </a:prstGeom>
            <a:ln w="9525">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latin typeface="+mj-lt"/>
                </a:rPr>
                <a:t>Adhoc Queries</a:t>
              </a:r>
            </a:p>
          </p:txBody>
        </p:sp>
        <p:sp>
          <p:nvSpPr>
            <p:cNvPr id="43" name="Arrow: Right 42">
              <a:extLst>
                <a:ext uri="{FF2B5EF4-FFF2-40B4-BE49-F238E27FC236}">
                  <a16:creationId xmlns:a16="http://schemas.microsoft.com/office/drawing/2014/main" id="{50E7D102-9FE4-4C97-87C7-B55E864244DD}"/>
                </a:ext>
              </a:extLst>
            </p:cNvPr>
            <p:cNvSpPr/>
            <p:nvPr/>
          </p:nvSpPr>
          <p:spPr bwMode="gray">
            <a:xfrm>
              <a:off x="4391130" y="2900632"/>
              <a:ext cx="203998" cy="245852"/>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latin typeface="+mj-lt"/>
              </a:endParaRPr>
            </a:p>
          </p:txBody>
        </p:sp>
        <p:sp>
          <p:nvSpPr>
            <p:cNvPr id="44" name="Arrow: Right 43">
              <a:extLst>
                <a:ext uri="{FF2B5EF4-FFF2-40B4-BE49-F238E27FC236}">
                  <a16:creationId xmlns:a16="http://schemas.microsoft.com/office/drawing/2014/main" id="{69EA850D-412C-45D2-A86E-D6618D6DC320}"/>
                </a:ext>
              </a:extLst>
            </p:cNvPr>
            <p:cNvSpPr/>
            <p:nvPr/>
          </p:nvSpPr>
          <p:spPr bwMode="gray">
            <a:xfrm>
              <a:off x="5396820" y="2889022"/>
              <a:ext cx="203998" cy="245852"/>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latin typeface="+mj-lt"/>
              </a:endParaRPr>
            </a:p>
          </p:txBody>
        </p:sp>
      </p:grpSp>
    </p:spTree>
    <p:extLst>
      <p:ext uri="{BB962C8B-B14F-4D97-AF65-F5344CB8AC3E}">
        <p14:creationId xmlns:p14="http://schemas.microsoft.com/office/powerpoint/2010/main" val="398820829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a:xfrm>
            <a:off x="469900" y="402587"/>
            <a:ext cx="11252200" cy="334102"/>
          </a:xfrm>
        </p:spPr>
        <p:txBody>
          <a:bodyPr/>
          <a:lstStyle/>
          <a:p>
            <a:r>
              <a:rPr lang="en-US" dirty="0"/>
              <a:t>Architecture pattern: Enterprise data warehouse</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2605828975"/>
              </p:ext>
            </p:extLst>
          </p:nvPr>
        </p:nvGraphicFramePr>
        <p:xfrm>
          <a:off x="6184900" y="1592580"/>
          <a:ext cx="5639551" cy="4693920"/>
        </p:xfrm>
        <a:graphic>
          <a:graphicData uri="http://schemas.openxmlformats.org/drawingml/2006/table">
            <a:tbl>
              <a:tblPr bandRow="1">
                <a:effectLst/>
              </a:tblPr>
              <a:tblGrid>
                <a:gridCol w="5639551">
                  <a:extLst>
                    <a:ext uri="{9D8B030D-6E8A-4147-A177-3AD203B41FA5}">
                      <a16:colId xmlns:a16="http://schemas.microsoft.com/office/drawing/2014/main" val="2219018424"/>
                    </a:ext>
                  </a:extLst>
                </a:gridCol>
              </a:tblGrid>
              <a:tr h="0">
                <a:tc>
                  <a:txBody>
                    <a:bodyPr/>
                    <a:lstStyle/>
                    <a:p>
                      <a:r>
                        <a:rPr lang="en-US" sz="1000" b="1" dirty="0">
                          <a:solidFill>
                            <a:schemeClr val="tx1"/>
                          </a:solidFill>
                        </a:rPr>
                        <a:t>Context</a:t>
                      </a:r>
                    </a:p>
                    <a:p>
                      <a:r>
                        <a:rPr lang="en-US" sz="1000" dirty="0">
                          <a:solidFill>
                            <a:schemeClr val="tx1"/>
                          </a:solidFill>
                        </a:rPr>
                        <a:t>An Enterprise Data Warehouse stores facts and dimensions form operational systems within the enterprise. An EDW typically supports business intelligence and analytic tools that pull aggregate data built off of fact data. The data warehouse was a term coined in the 1970s’ and represents an attempt to rollup operational information from the enterprise into a common source of enterprise information. The data transformations required to build an EDW have become, with larger data volumes, data variety, and business agility, increasingly difficult to manage and maintain.</a:t>
                      </a:r>
                      <a:endParaRPr lang="en-US" sz="1000" b="0" dirty="0">
                        <a:solidFill>
                          <a:schemeClr val="tx1"/>
                        </a:solidFill>
                      </a:endParaRPr>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r>
                        <a:rPr lang="en-US" sz="1000" b="1" dirty="0">
                          <a:solidFill>
                            <a:schemeClr val="tx1"/>
                          </a:solidFill>
                        </a:rPr>
                        <a:t>Solution description</a:t>
                      </a:r>
                    </a:p>
                    <a:p>
                      <a:r>
                        <a:rPr lang="en-US" sz="1000" b="1" dirty="0">
                          <a:solidFill>
                            <a:schemeClr val="tx1"/>
                          </a:solidFill>
                        </a:rPr>
                        <a:t>Relational databases:</a:t>
                      </a:r>
                      <a:r>
                        <a:rPr lang="en-US" sz="1000" dirty="0">
                          <a:solidFill>
                            <a:schemeClr val="tx1"/>
                          </a:solidFill>
                        </a:rPr>
                        <a:t> EDW systems are typically built on analytic databases that support normalized and dimensional datasets. Often EDW systems support fast access to wide de-normalized data, using MPP architectures and columnar data stores.</a:t>
                      </a:r>
                    </a:p>
                    <a:p>
                      <a:r>
                        <a:rPr lang="en-US" sz="1000" b="1" dirty="0">
                          <a:solidFill>
                            <a:schemeClr val="tx1"/>
                          </a:solidFill>
                        </a:rPr>
                        <a:t>ETL Transformations:</a:t>
                      </a:r>
                      <a:r>
                        <a:rPr lang="en-US" sz="1000" dirty="0">
                          <a:solidFill>
                            <a:schemeClr val="tx1"/>
                          </a:solidFill>
                        </a:rPr>
                        <a:t> Historically EDW systems have required highly conformed datasets that require processing through extract-transform-load tools. Typically these ETL processes are built with integrated tools such as Informatica, and TalenD</a:t>
                      </a:r>
                    </a:p>
                    <a:p>
                      <a:r>
                        <a:rPr lang="en-US" sz="1000" b="1" dirty="0">
                          <a:solidFill>
                            <a:schemeClr val="tx1"/>
                          </a:solidFill>
                        </a:rPr>
                        <a:t>ODS:</a:t>
                      </a:r>
                      <a:r>
                        <a:rPr lang="en-US" sz="1000" dirty="0">
                          <a:solidFill>
                            <a:schemeClr val="tx1"/>
                          </a:solidFill>
                        </a:rPr>
                        <a:t> A mid layer tier in an EDW architect and operational datastore serves to store data in near real time from transactional systems, prior to ingestion into and EDW.</a:t>
                      </a:r>
                    </a:p>
                    <a:p>
                      <a:r>
                        <a:rPr lang="en-US" sz="1000" b="1" dirty="0">
                          <a:solidFill>
                            <a:schemeClr val="tx1"/>
                          </a:solidFill>
                        </a:rPr>
                        <a:t>BI Layer:</a:t>
                      </a:r>
                      <a:r>
                        <a:rPr lang="en-US" sz="1000" dirty="0">
                          <a:solidFill>
                            <a:schemeClr val="tx1"/>
                          </a:solidFill>
                        </a:rPr>
                        <a:t> Business intelligence tools are layered on top of dimensional data built on core fact tables in an EDW.</a:t>
                      </a:r>
                      <a:endParaRPr lang="en-US" sz="1000" b="1"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r>
                        <a:rPr lang="en-US" sz="1000" b="1" dirty="0">
                          <a:solidFill>
                            <a:schemeClr val="tx1"/>
                          </a:solidFill>
                        </a:rPr>
                        <a:t>Rationale</a:t>
                      </a:r>
                    </a:p>
                    <a:p>
                      <a:r>
                        <a:rPr lang="en-US" sz="1000" dirty="0">
                          <a:solidFill>
                            <a:schemeClr val="tx1"/>
                          </a:solidFill>
                        </a:rPr>
                        <a:t>Direct access to historical transactional data systems is often slow and restricted in terms of access. Transactional systems are not optimized for large aggregations and queries. In addition, these systems are typically separated by domain within the company. To query and access data across the enterprise for analysis, a separate data store is required, that integrates data across the organization in a fact analytic data store. EDW MPP systems also typically have lower latency than “big data” stores on HDFS and in data lakes. They also have a SQL friendly interface for faster, interactive data access using various BI tools</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grpSp>
        <p:nvGrpSpPr>
          <p:cNvPr id="2" name="Group 1">
            <a:extLst>
              <a:ext uri="{FF2B5EF4-FFF2-40B4-BE49-F238E27FC236}">
                <a16:creationId xmlns:a16="http://schemas.microsoft.com/office/drawing/2014/main" id="{240284EB-6E20-4E4B-9158-F291AFD93AF6}"/>
              </a:ext>
            </a:extLst>
          </p:cNvPr>
          <p:cNvGrpSpPr/>
          <p:nvPr/>
        </p:nvGrpSpPr>
        <p:grpSpPr>
          <a:xfrm>
            <a:off x="342409" y="2640549"/>
            <a:ext cx="5663104" cy="2872302"/>
            <a:chOff x="342409" y="1953560"/>
            <a:chExt cx="5663104" cy="2872302"/>
          </a:xfrm>
        </p:grpSpPr>
        <p:sp>
          <p:nvSpPr>
            <p:cNvPr id="19" name="Rounded Rectangle 44">
              <a:extLst>
                <a:ext uri="{FF2B5EF4-FFF2-40B4-BE49-F238E27FC236}">
                  <a16:creationId xmlns:a16="http://schemas.microsoft.com/office/drawing/2014/main" id="{DF8D4332-DE04-4B23-A5DF-C36E66A3A87D}"/>
                </a:ext>
              </a:extLst>
            </p:cNvPr>
            <p:cNvSpPr/>
            <p:nvPr/>
          </p:nvSpPr>
          <p:spPr bwMode="auto">
            <a:xfrm>
              <a:off x="3857880" y="2499760"/>
              <a:ext cx="797203" cy="1424751"/>
            </a:xfrm>
            <a:prstGeom prst="roundRect">
              <a:avLst>
                <a:gd name="adj" fmla="val 4436"/>
              </a:avLst>
            </a:prstGeom>
            <a:ln>
              <a:solidFill>
                <a:schemeClr val="accent1">
                  <a:shade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800" b="1" dirty="0">
                  <a:solidFill>
                    <a:schemeClr val="tx1"/>
                  </a:solidFill>
                </a:rPr>
                <a:t>Analytic Data</a:t>
              </a:r>
            </a:p>
          </p:txBody>
        </p:sp>
        <p:sp>
          <p:nvSpPr>
            <p:cNvPr id="7" name="Rectangle: Rounded Corners 6">
              <a:extLst>
                <a:ext uri="{FF2B5EF4-FFF2-40B4-BE49-F238E27FC236}">
                  <a16:creationId xmlns:a16="http://schemas.microsoft.com/office/drawing/2014/main" id="{1D4546BB-0C46-4832-8418-B104CA3CE7FE}"/>
                </a:ext>
              </a:extLst>
            </p:cNvPr>
            <p:cNvSpPr/>
            <p:nvPr/>
          </p:nvSpPr>
          <p:spPr>
            <a:xfrm>
              <a:off x="1405256" y="2505369"/>
              <a:ext cx="1111405" cy="931652"/>
            </a:xfrm>
            <a:prstGeom prst="roundRect">
              <a:avLst/>
            </a:prstGeom>
            <a:ln>
              <a:solidFill>
                <a:schemeClr val="accent1">
                  <a:shade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sp>
          <p:nvSpPr>
            <p:cNvPr id="8" name="Rounded Rectangle 52">
              <a:extLst>
                <a:ext uri="{FF2B5EF4-FFF2-40B4-BE49-F238E27FC236}">
                  <a16:creationId xmlns:a16="http://schemas.microsoft.com/office/drawing/2014/main" id="{E63E96A6-6EEC-4483-A5C4-00B2653A5A16}"/>
                </a:ext>
              </a:extLst>
            </p:cNvPr>
            <p:cNvSpPr/>
            <p:nvPr/>
          </p:nvSpPr>
          <p:spPr bwMode="auto">
            <a:xfrm>
              <a:off x="1492454" y="2696607"/>
              <a:ext cx="937010" cy="251798"/>
            </a:xfrm>
            <a:prstGeom prst="roundRect">
              <a:avLst>
                <a:gd name="adj" fmla="val 4436"/>
              </a:avLst>
            </a:prstGeom>
            <a:ln>
              <a:solidFill>
                <a:schemeClr val="accent1">
                  <a:shade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800" b="1" dirty="0">
                  <a:solidFill>
                    <a:schemeClr val="tx1"/>
                  </a:solidFill>
                </a:rPr>
                <a:t>ETL/ELT</a:t>
              </a:r>
            </a:p>
          </p:txBody>
        </p:sp>
        <p:sp>
          <p:nvSpPr>
            <p:cNvPr id="10" name="Rounded Rectangle 18">
              <a:extLst>
                <a:ext uri="{FF2B5EF4-FFF2-40B4-BE49-F238E27FC236}">
                  <a16:creationId xmlns:a16="http://schemas.microsoft.com/office/drawing/2014/main" id="{6DBE562C-FCEA-4FDD-9158-4D160BF0024E}"/>
                </a:ext>
              </a:extLst>
            </p:cNvPr>
            <p:cNvSpPr/>
            <p:nvPr/>
          </p:nvSpPr>
          <p:spPr bwMode="auto">
            <a:xfrm>
              <a:off x="1492454" y="3074366"/>
              <a:ext cx="937010" cy="183808"/>
            </a:xfrm>
            <a:prstGeom prst="roundRect">
              <a:avLst/>
            </a:prstGeom>
            <a:ln>
              <a:solidFill>
                <a:schemeClr val="accent1">
                  <a:shade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defRPr/>
              </a:pPr>
              <a:r>
                <a:rPr lang="en-US" sz="600" dirty="0">
                  <a:solidFill>
                    <a:schemeClr val="tx1"/>
                  </a:solidFill>
                </a:rPr>
                <a:t>Batch (Intraday, mini)</a:t>
              </a:r>
            </a:p>
          </p:txBody>
        </p:sp>
        <p:sp>
          <p:nvSpPr>
            <p:cNvPr id="12" name="Rounded Rectangle 44">
              <a:extLst>
                <a:ext uri="{FF2B5EF4-FFF2-40B4-BE49-F238E27FC236}">
                  <a16:creationId xmlns:a16="http://schemas.microsoft.com/office/drawing/2014/main" id="{A4A928C7-9BD4-432B-8DD5-CEC304F73F2D}"/>
                </a:ext>
              </a:extLst>
            </p:cNvPr>
            <p:cNvSpPr/>
            <p:nvPr/>
          </p:nvSpPr>
          <p:spPr bwMode="auto">
            <a:xfrm>
              <a:off x="2674326" y="2499760"/>
              <a:ext cx="797203" cy="1424751"/>
            </a:xfrm>
            <a:prstGeom prst="roundRect">
              <a:avLst>
                <a:gd name="adj" fmla="val 4436"/>
              </a:avLst>
            </a:prstGeom>
            <a:ln>
              <a:solidFill>
                <a:schemeClr val="accent1">
                  <a:shade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45719" rIns="9144" bIns="9144" anchor="t" anchorCtr="0"/>
            <a:lstStyle/>
            <a:p>
              <a:pPr algn="ctr"/>
              <a:r>
                <a:rPr lang="en-US" sz="800" b="1" dirty="0">
                  <a:solidFill>
                    <a:schemeClr val="tx1"/>
                  </a:solidFill>
                </a:rPr>
                <a:t>Data Provisioning</a:t>
              </a:r>
            </a:p>
          </p:txBody>
        </p:sp>
        <p:sp>
          <p:nvSpPr>
            <p:cNvPr id="13" name="Cylinder 12">
              <a:extLst>
                <a:ext uri="{FF2B5EF4-FFF2-40B4-BE49-F238E27FC236}">
                  <a16:creationId xmlns:a16="http://schemas.microsoft.com/office/drawing/2014/main" id="{2B975A1C-250A-468B-BFB8-F82AD7585DEF}"/>
                </a:ext>
              </a:extLst>
            </p:cNvPr>
            <p:cNvSpPr/>
            <p:nvPr/>
          </p:nvSpPr>
          <p:spPr>
            <a:xfrm>
              <a:off x="3961826" y="2907364"/>
              <a:ext cx="584612" cy="256982"/>
            </a:xfrm>
            <a:prstGeom prst="can">
              <a:avLst/>
            </a:prstGeom>
            <a:ln>
              <a:solidFill>
                <a:schemeClr val="accent1">
                  <a:shade val="50000"/>
                </a:schemeClr>
              </a:solidFill>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 tIns="9144" rIns="9144" bIns="9144" numCol="1" spcCol="0" rtlCol="0" fromWordArt="0" anchor="ctr" anchorCtr="0" forceAA="0" compatLnSpc="1">
              <a:prstTxWarp prst="textNoShape">
                <a:avLst/>
              </a:prstTxWarp>
              <a:noAutofit/>
            </a:bodyPr>
            <a:lstStyle/>
            <a:p>
              <a:pPr algn="ctr"/>
              <a:r>
                <a:rPr lang="en-US" sz="600" dirty="0">
                  <a:solidFill>
                    <a:schemeClr val="tx1"/>
                  </a:solidFill>
                </a:rPr>
                <a:t>Data Marts</a:t>
              </a:r>
            </a:p>
          </p:txBody>
        </p:sp>
        <p:sp>
          <p:nvSpPr>
            <p:cNvPr id="14" name="Cylinder 13">
              <a:extLst>
                <a:ext uri="{FF2B5EF4-FFF2-40B4-BE49-F238E27FC236}">
                  <a16:creationId xmlns:a16="http://schemas.microsoft.com/office/drawing/2014/main" id="{E730EB98-B4C9-4006-BA1E-137F3718343E}"/>
                </a:ext>
              </a:extLst>
            </p:cNvPr>
            <p:cNvSpPr/>
            <p:nvPr/>
          </p:nvSpPr>
          <p:spPr>
            <a:xfrm>
              <a:off x="2780621" y="2934274"/>
              <a:ext cx="584612" cy="258447"/>
            </a:xfrm>
            <a:prstGeom prst="can">
              <a:avLst/>
            </a:prstGeom>
            <a:ln>
              <a:solidFill>
                <a:schemeClr val="accent1">
                  <a:shade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rPr>
                <a:t>ODS</a:t>
              </a:r>
            </a:p>
          </p:txBody>
        </p:sp>
        <p:sp>
          <p:nvSpPr>
            <p:cNvPr id="15" name="Cylinder 14">
              <a:extLst>
                <a:ext uri="{FF2B5EF4-FFF2-40B4-BE49-F238E27FC236}">
                  <a16:creationId xmlns:a16="http://schemas.microsoft.com/office/drawing/2014/main" id="{90B82B43-78EA-4301-AFCD-52C03A420BC5}"/>
                </a:ext>
              </a:extLst>
            </p:cNvPr>
            <p:cNvSpPr/>
            <p:nvPr/>
          </p:nvSpPr>
          <p:spPr>
            <a:xfrm>
              <a:off x="2780621" y="3371724"/>
              <a:ext cx="584612" cy="258447"/>
            </a:xfrm>
            <a:prstGeom prst="can">
              <a:avLst/>
            </a:prstGeom>
            <a:ln>
              <a:solidFill>
                <a:schemeClr val="accent1">
                  <a:shade val="50000"/>
                </a:schemeClr>
              </a:solidFill>
              <a:headEnd/>
              <a:tailEnd/>
            </a:ln>
          </p:spPr>
          <p:style>
            <a:lnRef idx="2">
              <a:schemeClr val="dk1"/>
            </a:lnRef>
            <a:fillRef idx="1">
              <a:schemeClr val="lt1"/>
            </a:fillRef>
            <a:effectRef idx="0">
              <a:schemeClr val="dk1"/>
            </a:effectRef>
            <a:fontRef idx="minor">
              <a:schemeClr val="dk1"/>
            </a:fontRef>
          </p:style>
          <p:txBody>
            <a:bodyPr wrap="square" lIns="9144" tIns="9144" rIns="9144" bIns="9144" anchor="ctr"/>
            <a:lstStyle/>
            <a:p>
              <a:pPr algn="ctr"/>
              <a:r>
                <a:rPr lang="en-US" sz="600" dirty="0">
                  <a:solidFill>
                    <a:schemeClr val="tx1"/>
                  </a:solidFill>
                </a:rPr>
                <a:t>EDW</a:t>
              </a:r>
            </a:p>
          </p:txBody>
        </p:sp>
        <p:sp>
          <p:nvSpPr>
            <p:cNvPr id="18" name="Cylinder 17">
              <a:extLst>
                <a:ext uri="{FF2B5EF4-FFF2-40B4-BE49-F238E27FC236}">
                  <a16:creationId xmlns:a16="http://schemas.microsoft.com/office/drawing/2014/main" id="{6D9FB62B-1E6C-4227-BD78-22143DED5F89}"/>
                </a:ext>
              </a:extLst>
            </p:cNvPr>
            <p:cNvSpPr/>
            <p:nvPr/>
          </p:nvSpPr>
          <p:spPr>
            <a:xfrm>
              <a:off x="3961826" y="3359421"/>
              <a:ext cx="584612" cy="256982"/>
            </a:xfrm>
            <a:prstGeom prst="can">
              <a:avLst/>
            </a:prstGeom>
            <a:ln>
              <a:solidFill>
                <a:schemeClr val="accent1">
                  <a:shade val="50000"/>
                </a:schemeClr>
              </a:solidFill>
              <a:headEnd/>
              <a:tailEn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 tIns="9144" rIns="9144" bIns="9144" numCol="1" spcCol="0" rtlCol="0" fromWordArt="0" anchor="ctr" anchorCtr="0" forceAA="0" compatLnSpc="1">
              <a:prstTxWarp prst="textNoShape">
                <a:avLst/>
              </a:prstTxWarp>
              <a:noAutofit/>
            </a:bodyPr>
            <a:lstStyle/>
            <a:p>
              <a:pPr algn="ctr"/>
              <a:r>
                <a:rPr lang="en-US" sz="600" dirty="0">
                  <a:solidFill>
                    <a:schemeClr val="tx1"/>
                  </a:solidFill>
                </a:rPr>
                <a:t>OLAP</a:t>
              </a:r>
            </a:p>
          </p:txBody>
        </p:sp>
        <p:pic>
          <p:nvPicPr>
            <p:cNvPr id="6150" name="Picture 6" descr="Image result for star schema icon">
              <a:extLst>
                <a:ext uri="{FF2B5EF4-FFF2-40B4-BE49-F238E27FC236}">
                  <a16:creationId xmlns:a16="http://schemas.microsoft.com/office/drawing/2014/main" id="{FF45056E-0E62-4608-8CC5-D477E0D93BF0}"/>
                </a:ext>
              </a:extLst>
            </p:cNvPr>
            <p:cNvPicPr>
              <a:picLocks noChangeAspect="1" noChangeArrowheads="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942589" y="4030190"/>
              <a:ext cx="603849" cy="603849"/>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Related image">
              <a:extLst>
                <a:ext uri="{FF2B5EF4-FFF2-40B4-BE49-F238E27FC236}">
                  <a16:creationId xmlns:a16="http://schemas.microsoft.com/office/drawing/2014/main" id="{F04C528B-608E-4837-8CD6-1C03AA281BF6}"/>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25258" y="4030189"/>
              <a:ext cx="539975" cy="539975"/>
            </a:xfrm>
            <a:prstGeom prst="rect">
              <a:avLst/>
            </a:prstGeom>
            <a:solidFill>
              <a:schemeClr val="accent2"/>
            </a:solidFill>
          </p:spPr>
        </p:pic>
        <p:pic>
          <p:nvPicPr>
            <p:cNvPr id="6158" name="Picture 14" descr="Image result for raw data 'icon">
              <a:extLst>
                <a:ext uri="{FF2B5EF4-FFF2-40B4-BE49-F238E27FC236}">
                  <a16:creationId xmlns:a16="http://schemas.microsoft.com/office/drawing/2014/main" id="{6724AB92-4D15-426B-9197-FFFA79A5E61C}"/>
                </a:ext>
              </a:extLst>
            </p:cNvPr>
            <p:cNvPicPr>
              <a:picLocks noChangeAspect="1" noChangeArrowheads="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3700" y="2703929"/>
              <a:ext cx="503719" cy="503719"/>
            </a:xfrm>
            <a:prstGeom prst="rect">
              <a:avLst/>
            </a:prstGeom>
            <a:noFill/>
            <a:extLst>
              <a:ext uri="{909E8E84-426E-40DD-AFC4-6F175D3DCCD1}">
                <a14:hiddenFill xmlns:a14="http://schemas.microsoft.com/office/drawing/2010/main">
                  <a:solidFill>
                    <a:srgbClr val="FFFFFF"/>
                  </a:solidFill>
                </a14:hiddenFill>
              </a:ext>
            </a:extLst>
          </p:spPr>
        </p:pic>
        <p:pic>
          <p:nvPicPr>
            <p:cNvPr id="6176" name="Picture 32" descr="Image result for dashboard 'icon">
              <a:extLst>
                <a:ext uri="{FF2B5EF4-FFF2-40B4-BE49-F238E27FC236}">
                  <a16:creationId xmlns:a16="http://schemas.microsoft.com/office/drawing/2014/main" id="{3C513E02-C567-4066-A37F-E921186802AF}"/>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09948" y="2678607"/>
              <a:ext cx="858280" cy="858280"/>
            </a:xfrm>
            <a:prstGeom prst="rect">
              <a:avLst/>
            </a:prstGeom>
            <a:noFill/>
            <a:extLst>
              <a:ext uri="{909E8E84-426E-40DD-AFC4-6F175D3DCCD1}">
                <a14:hiddenFill xmlns:a14="http://schemas.microsoft.com/office/drawing/2010/main">
                  <a:solidFill>
                    <a:srgbClr val="FFFFFF"/>
                  </a:solidFill>
                </a14:hiddenFill>
              </a:ext>
            </a:extLst>
          </p:spPr>
        </p:pic>
        <p:sp>
          <p:nvSpPr>
            <p:cNvPr id="35" name="Arrow: Right 34">
              <a:extLst>
                <a:ext uri="{FF2B5EF4-FFF2-40B4-BE49-F238E27FC236}">
                  <a16:creationId xmlns:a16="http://schemas.microsoft.com/office/drawing/2014/main" id="{C76C6FD7-10FE-4BEE-B4E1-C4FA928F5B5E}"/>
                </a:ext>
              </a:extLst>
            </p:cNvPr>
            <p:cNvSpPr/>
            <p:nvPr/>
          </p:nvSpPr>
          <p:spPr bwMode="gray">
            <a:xfrm>
              <a:off x="483863" y="1953560"/>
              <a:ext cx="921394" cy="503720"/>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Extract</a:t>
              </a:r>
            </a:p>
          </p:txBody>
        </p:sp>
        <p:sp>
          <p:nvSpPr>
            <p:cNvPr id="36" name="Arrow: Right 35">
              <a:extLst>
                <a:ext uri="{FF2B5EF4-FFF2-40B4-BE49-F238E27FC236}">
                  <a16:creationId xmlns:a16="http://schemas.microsoft.com/office/drawing/2014/main" id="{38D43D86-FBF2-4F7F-AD8B-B2D18C5DEB61}"/>
                </a:ext>
              </a:extLst>
            </p:cNvPr>
            <p:cNvSpPr/>
            <p:nvPr/>
          </p:nvSpPr>
          <p:spPr bwMode="gray">
            <a:xfrm>
              <a:off x="1561121" y="1953560"/>
              <a:ext cx="921394" cy="503720"/>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Transform</a:t>
              </a:r>
            </a:p>
          </p:txBody>
        </p:sp>
        <p:sp>
          <p:nvSpPr>
            <p:cNvPr id="37" name="Arrow: Right 36">
              <a:extLst>
                <a:ext uri="{FF2B5EF4-FFF2-40B4-BE49-F238E27FC236}">
                  <a16:creationId xmlns:a16="http://schemas.microsoft.com/office/drawing/2014/main" id="{45704F4A-7A13-4C4C-A011-0F011739EFCB}"/>
                </a:ext>
              </a:extLst>
            </p:cNvPr>
            <p:cNvSpPr/>
            <p:nvPr/>
          </p:nvSpPr>
          <p:spPr bwMode="gray">
            <a:xfrm>
              <a:off x="3868410" y="1953560"/>
              <a:ext cx="982990" cy="459440"/>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Summarize</a:t>
              </a:r>
            </a:p>
          </p:txBody>
        </p:sp>
        <p:sp>
          <p:nvSpPr>
            <p:cNvPr id="38" name="Arrow: Right 37">
              <a:extLst>
                <a:ext uri="{FF2B5EF4-FFF2-40B4-BE49-F238E27FC236}">
                  <a16:creationId xmlns:a16="http://schemas.microsoft.com/office/drawing/2014/main" id="{46A92726-8DF2-4385-9974-602AE2041F61}"/>
                </a:ext>
              </a:extLst>
            </p:cNvPr>
            <p:cNvSpPr/>
            <p:nvPr/>
          </p:nvSpPr>
          <p:spPr bwMode="gray">
            <a:xfrm>
              <a:off x="2709500" y="1953560"/>
              <a:ext cx="921394" cy="503720"/>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Load</a:t>
              </a:r>
            </a:p>
          </p:txBody>
        </p:sp>
        <p:sp>
          <p:nvSpPr>
            <p:cNvPr id="39" name="Arrow: Right 38">
              <a:extLst>
                <a:ext uri="{FF2B5EF4-FFF2-40B4-BE49-F238E27FC236}">
                  <a16:creationId xmlns:a16="http://schemas.microsoft.com/office/drawing/2014/main" id="{44796938-A8E0-48CE-9E4B-539CBF337D25}"/>
                </a:ext>
              </a:extLst>
            </p:cNvPr>
            <p:cNvSpPr/>
            <p:nvPr/>
          </p:nvSpPr>
          <p:spPr bwMode="gray">
            <a:xfrm>
              <a:off x="5084119" y="1953560"/>
              <a:ext cx="921394" cy="503720"/>
            </a:xfrm>
            <a:prstGeom prst="rightArrow">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Analyze</a:t>
              </a:r>
            </a:p>
          </p:txBody>
        </p:sp>
        <p:sp>
          <p:nvSpPr>
            <p:cNvPr id="29" name="TextBox 28">
              <a:extLst>
                <a:ext uri="{FF2B5EF4-FFF2-40B4-BE49-F238E27FC236}">
                  <a16:creationId xmlns:a16="http://schemas.microsoft.com/office/drawing/2014/main" id="{68E946A8-1B31-40D1-82FD-52ADF3526CB5}"/>
                </a:ext>
              </a:extLst>
            </p:cNvPr>
            <p:cNvSpPr txBox="1"/>
            <p:nvPr/>
          </p:nvSpPr>
          <p:spPr bwMode="gray">
            <a:xfrm>
              <a:off x="2593914" y="4570164"/>
              <a:ext cx="914400" cy="241540"/>
            </a:xfrm>
            <a:prstGeom prst="rect">
              <a:avLst/>
            </a:prstGeom>
          </p:spPr>
          <p:txBody>
            <a:bodyPr wrap="none" lIns="0" rIns="0" rtlCol="0" anchor="b" anchorCtr="0">
              <a:normAutofit/>
            </a:bodyPr>
            <a:lstStyle/>
            <a:p>
              <a:pPr>
                <a:lnSpc>
                  <a:spcPts val="900"/>
                </a:lnSpc>
              </a:pPr>
              <a:r>
                <a:rPr lang="en-US" sz="800" b="1" dirty="0">
                  <a:solidFill>
                    <a:srgbClr val="2C5234"/>
                  </a:solidFill>
                </a:rPr>
                <a:t>Normalized Data</a:t>
              </a:r>
            </a:p>
          </p:txBody>
        </p:sp>
        <p:sp>
          <p:nvSpPr>
            <p:cNvPr id="41" name="TextBox 40">
              <a:extLst>
                <a:ext uri="{FF2B5EF4-FFF2-40B4-BE49-F238E27FC236}">
                  <a16:creationId xmlns:a16="http://schemas.microsoft.com/office/drawing/2014/main" id="{33BA1272-4EBD-445E-A0E8-FBDBA9CD4E0C}"/>
                </a:ext>
              </a:extLst>
            </p:cNvPr>
            <p:cNvSpPr txBox="1"/>
            <p:nvPr/>
          </p:nvSpPr>
          <p:spPr bwMode="gray">
            <a:xfrm>
              <a:off x="342409" y="3255367"/>
              <a:ext cx="914400" cy="241540"/>
            </a:xfrm>
            <a:prstGeom prst="rect">
              <a:avLst/>
            </a:prstGeom>
          </p:spPr>
          <p:txBody>
            <a:bodyPr wrap="none" lIns="0" rIns="0" rtlCol="0" anchor="b" anchorCtr="0">
              <a:normAutofit/>
            </a:bodyPr>
            <a:lstStyle/>
            <a:p>
              <a:pPr algn="ctr">
                <a:lnSpc>
                  <a:spcPts val="900"/>
                </a:lnSpc>
              </a:pPr>
              <a:r>
                <a:rPr lang="en-US" sz="800" b="1" dirty="0"/>
                <a:t>Raw Data</a:t>
              </a:r>
            </a:p>
          </p:txBody>
        </p:sp>
        <p:sp>
          <p:nvSpPr>
            <p:cNvPr id="42" name="TextBox 41">
              <a:extLst>
                <a:ext uri="{FF2B5EF4-FFF2-40B4-BE49-F238E27FC236}">
                  <a16:creationId xmlns:a16="http://schemas.microsoft.com/office/drawing/2014/main" id="{70718584-DD44-478F-B1D9-09CC40FA9388}"/>
                </a:ext>
              </a:extLst>
            </p:cNvPr>
            <p:cNvSpPr txBox="1"/>
            <p:nvPr/>
          </p:nvSpPr>
          <p:spPr bwMode="gray">
            <a:xfrm>
              <a:off x="3740683" y="4584322"/>
              <a:ext cx="914400" cy="241540"/>
            </a:xfrm>
            <a:prstGeom prst="rect">
              <a:avLst/>
            </a:prstGeom>
          </p:spPr>
          <p:txBody>
            <a:bodyPr wrap="none" lIns="0" rIns="0" rtlCol="0" anchor="b" anchorCtr="0">
              <a:normAutofit/>
            </a:bodyPr>
            <a:lstStyle/>
            <a:p>
              <a:pPr>
                <a:lnSpc>
                  <a:spcPts val="900"/>
                </a:lnSpc>
              </a:pPr>
              <a:r>
                <a:rPr lang="en-US" sz="800" b="1" dirty="0">
                  <a:solidFill>
                    <a:srgbClr val="2C5234"/>
                  </a:solidFill>
                </a:rPr>
                <a:t>Dimensional Data</a:t>
              </a:r>
            </a:p>
          </p:txBody>
        </p:sp>
        <p:sp>
          <p:nvSpPr>
            <p:cNvPr id="43" name="TextBox 42">
              <a:extLst>
                <a:ext uri="{FF2B5EF4-FFF2-40B4-BE49-F238E27FC236}">
                  <a16:creationId xmlns:a16="http://schemas.microsoft.com/office/drawing/2014/main" id="{19ED2281-AF31-4F76-A243-DC98876AA544}"/>
                </a:ext>
              </a:extLst>
            </p:cNvPr>
            <p:cNvSpPr txBox="1"/>
            <p:nvPr/>
          </p:nvSpPr>
          <p:spPr bwMode="gray">
            <a:xfrm>
              <a:off x="5041434" y="3464942"/>
              <a:ext cx="914400" cy="241540"/>
            </a:xfrm>
            <a:prstGeom prst="rect">
              <a:avLst/>
            </a:prstGeom>
          </p:spPr>
          <p:txBody>
            <a:bodyPr wrap="none" lIns="0" rIns="0" rtlCol="0" anchor="b" anchorCtr="0">
              <a:normAutofit/>
            </a:bodyPr>
            <a:lstStyle/>
            <a:p>
              <a:pPr>
                <a:lnSpc>
                  <a:spcPts val="900"/>
                </a:lnSpc>
              </a:pPr>
              <a:r>
                <a:rPr lang="en-US" sz="800" b="1" dirty="0">
                  <a:solidFill>
                    <a:srgbClr val="2C5234"/>
                  </a:solidFill>
                </a:rPr>
                <a:t>Analytics and BI</a:t>
              </a:r>
            </a:p>
          </p:txBody>
        </p:sp>
        <p:sp>
          <p:nvSpPr>
            <p:cNvPr id="44" name="Arrow: Right 43">
              <a:extLst>
                <a:ext uri="{FF2B5EF4-FFF2-40B4-BE49-F238E27FC236}">
                  <a16:creationId xmlns:a16="http://schemas.microsoft.com/office/drawing/2014/main" id="{F85D2E38-B69B-442C-A7DF-F2B35A23A83C}"/>
                </a:ext>
              </a:extLst>
            </p:cNvPr>
            <p:cNvSpPr/>
            <p:nvPr/>
          </p:nvSpPr>
          <p:spPr bwMode="gray">
            <a:xfrm rot="5400000">
              <a:off x="2937280" y="3175729"/>
              <a:ext cx="258449" cy="212988"/>
            </a:xfrm>
            <a:prstGeom prst="rightArrow">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700" b="1" dirty="0">
                  <a:solidFill>
                    <a:schemeClr val="bg1"/>
                  </a:solidFill>
                </a:rPr>
                <a:t>Load</a:t>
              </a:r>
            </a:p>
          </p:txBody>
        </p:sp>
      </p:grpSp>
    </p:spTree>
    <p:extLst>
      <p:ext uri="{BB962C8B-B14F-4D97-AF65-F5344CB8AC3E}">
        <p14:creationId xmlns:p14="http://schemas.microsoft.com/office/powerpoint/2010/main" val="2684111159"/>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89B0FF-FBBD-48D4-BB8F-B69B7C09E3C0}"/>
              </a:ext>
            </a:extLst>
          </p:cNvPr>
          <p:cNvSpPr/>
          <p:nvPr/>
        </p:nvSpPr>
        <p:spPr bwMode="gray">
          <a:xfrm>
            <a:off x="482600" y="2668842"/>
            <a:ext cx="1328846" cy="1632098"/>
          </a:xfrm>
          <a:prstGeom prst="rect">
            <a:avLst/>
          </a:prstGeom>
          <a:ln>
            <a:solidFill>
              <a:schemeClr val="accent1"/>
            </a:solidFill>
            <a:headEnd/>
            <a:tailEnd/>
          </a:ln>
        </p:spPr>
        <p:style>
          <a:lnRef idx="2">
            <a:schemeClr val="accent3"/>
          </a:lnRef>
          <a:fillRef idx="1">
            <a:schemeClr val="lt1"/>
          </a:fillRef>
          <a:effectRef idx="0">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900" b="1" dirty="0">
              <a:solidFill>
                <a:schemeClr val="bg1"/>
              </a:solidFill>
            </a:endParaRPr>
          </a:p>
        </p:txBody>
      </p:sp>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Architecture pattern: (Near) Real time analytics</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1749062054"/>
              </p:ext>
            </p:extLst>
          </p:nvPr>
        </p:nvGraphicFramePr>
        <p:xfrm>
          <a:off x="7915275" y="1601788"/>
          <a:ext cx="3806825" cy="4693920"/>
        </p:xfrm>
        <a:graphic>
          <a:graphicData uri="http://schemas.openxmlformats.org/drawingml/2006/table">
            <a:tbl>
              <a:tblPr bandRow="1">
                <a:effectLst/>
              </a:tblPr>
              <a:tblGrid>
                <a:gridCol w="3806825">
                  <a:extLst>
                    <a:ext uri="{9D8B030D-6E8A-4147-A177-3AD203B41FA5}">
                      <a16:colId xmlns:a16="http://schemas.microsoft.com/office/drawing/2014/main" val="2219018424"/>
                    </a:ext>
                  </a:extLst>
                </a:gridCol>
              </a:tblGrid>
              <a:tr h="0">
                <a:tc>
                  <a:txBody>
                    <a:bodyPr/>
                    <a:lstStyle/>
                    <a:p>
                      <a:r>
                        <a:rPr lang="en-US" sz="1000" b="1" dirty="0"/>
                        <a:t>Context</a:t>
                      </a:r>
                    </a:p>
                    <a:p>
                      <a:r>
                        <a:rPr lang="en-US" sz="1000" dirty="0"/>
                        <a:t>Real time analytics is an anti-pattern to Batch driven analytics. The real time is a relative to the speed at which data can be captured at the source system, transmitted to the data and analytic platform, processed and delivered to the end user or application for consumption. Establishing the goals for real time or near real time applications and considering the hardware and software constraints to meet the goals is an important architecture definition step. </a:t>
                      </a:r>
                      <a:endParaRPr lang="en-US" sz="1000" b="0" dirty="0"/>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r>
                        <a:rPr lang="en-US" sz="1000" b="1" dirty="0"/>
                        <a:t>Solution description</a:t>
                      </a:r>
                    </a:p>
                    <a:p>
                      <a:r>
                        <a:rPr lang="en-US" sz="1000" dirty="0"/>
                        <a:t>The data hops must be reduced in order to increase the speed of data analytic result delivery to the consumption layer. Source systems must provide data in near real time to the data platform to meet the real time objectives. The source system transmit the source data as a data streams/events using a lower payload and a messaging infrastructure. In many cases, a time-series database or an in-memory processing engine is used to process the temporal data streams and persist the data.</a:t>
                      </a:r>
                    </a:p>
                    <a:p>
                      <a:r>
                        <a:rPr lang="en-US" sz="1000" dirty="0"/>
                        <a:t>Vendor Specific architectures documented in the next section provide examples of tools and technologies to implement near real time analytic use cases. </a:t>
                      </a:r>
                      <a:endParaRPr lang="en-US" sz="1000" b="0" dirty="0"/>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r>
                        <a:rPr lang="en-US" sz="1000" b="1" dirty="0"/>
                        <a:t>Rationale</a:t>
                      </a:r>
                    </a:p>
                    <a:p>
                      <a:r>
                        <a:rPr lang="en-US" sz="1000" dirty="0"/>
                        <a:t>The need for real time systems is growing twice as fast as the traditional batch oriented systems. This is necessitated by requirements of lower latency for data processing and more immediate refreshes to dashboards required for business decisions an</a:t>
                      </a:r>
                      <a:endParaRPr lang="en-US" sz="1000" b="0" dirty="0"/>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sp>
        <p:nvSpPr>
          <p:cNvPr id="6" name="Rounded Rectangle 20">
            <a:extLst>
              <a:ext uri="{FF2B5EF4-FFF2-40B4-BE49-F238E27FC236}">
                <a16:creationId xmlns:a16="http://schemas.microsoft.com/office/drawing/2014/main" id="{E07FA08D-5B01-43F1-9011-5851A8332C51}"/>
              </a:ext>
            </a:extLst>
          </p:cNvPr>
          <p:cNvSpPr/>
          <p:nvPr/>
        </p:nvSpPr>
        <p:spPr>
          <a:xfrm>
            <a:off x="572861" y="3074745"/>
            <a:ext cx="1092151" cy="403709"/>
          </a:xfrm>
          <a:prstGeom prst="roundRect">
            <a:avLst/>
          </a:prstGeom>
          <a:solidFill>
            <a:schemeClr val="bg1">
              <a:lumMod val="6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900" dirty="0">
                <a:solidFill>
                  <a:schemeClr val="tx1"/>
                </a:solidFill>
              </a:rPr>
              <a:t>Messaging </a:t>
            </a:r>
          </a:p>
          <a:p>
            <a:pPr algn="ctr"/>
            <a:r>
              <a:rPr lang="en-US" sz="900" dirty="0">
                <a:solidFill>
                  <a:schemeClr val="tx1"/>
                </a:solidFill>
              </a:rPr>
              <a:t>Interfaces</a:t>
            </a:r>
          </a:p>
        </p:txBody>
      </p:sp>
      <p:sp>
        <p:nvSpPr>
          <p:cNvPr id="7" name="Rounded Rectangle 21">
            <a:extLst>
              <a:ext uri="{FF2B5EF4-FFF2-40B4-BE49-F238E27FC236}">
                <a16:creationId xmlns:a16="http://schemas.microsoft.com/office/drawing/2014/main" id="{49272FE4-2B6A-404D-A2F5-71D36ED6E5B9}"/>
              </a:ext>
            </a:extLst>
          </p:cNvPr>
          <p:cNvSpPr/>
          <p:nvPr/>
        </p:nvSpPr>
        <p:spPr>
          <a:xfrm>
            <a:off x="560534" y="3568020"/>
            <a:ext cx="1092151" cy="403709"/>
          </a:xfrm>
          <a:prstGeom prst="roundRect">
            <a:avLst/>
          </a:prstGeom>
          <a:solidFill>
            <a:schemeClr val="bg1">
              <a:lumMod val="6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900" dirty="0">
                <a:solidFill>
                  <a:schemeClr val="tx1"/>
                </a:solidFill>
              </a:rPr>
              <a:t>API Interfaces</a:t>
            </a:r>
          </a:p>
        </p:txBody>
      </p:sp>
      <p:sp>
        <p:nvSpPr>
          <p:cNvPr id="10" name="Rectangle 9">
            <a:extLst>
              <a:ext uri="{FF2B5EF4-FFF2-40B4-BE49-F238E27FC236}">
                <a16:creationId xmlns:a16="http://schemas.microsoft.com/office/drawing/2014/main" id="{4BE03C87-A822-4C24-B29F-C652E1681851}"/>
              </a:ext>
            </a:extLst>
          </p:cNvPr>
          <p:cNvSpPr/>
          <p:nvPr/>
        </p:nvSpPr>
        <p:spPr>
          <a:xfrm>
            <a:off x="2300544" y="2857500"/>
            <a:ext cx="2020186" cy="1330339"/>
          </a:xfrm>
          <a:prstGeom prst="rect">
            <a:avLst/>
          </a:prstGeom>
          <a:ln>
            <a:solidFill>
              <a:schemeClr val="accent1"/>
            </a:solidFill>
          </a:ln>
        </p:spPr>
        <p:style>
          <a:lnRef idx="2">
            <a:schemeClr val="accent3"/>
          </a:lnRef>
          <a:fillRef idx="1">
            <a:schemeClr val="lt1"/>
          </a:fillRef>
          <a:effectRef idx="0">
            <a:schemeClr val="accent3"/>
          </a:effectRef>
          <a:fontRef idx="minor">
            <a:schemeClr val="dk1"/>
          </a:fontRef>
        </p:style>
        <p:txBody>
          <a:bodyPr tIns="90000" bIns="90000" rtlCol="0" anchor="ctr" anchorCtr="0"/>
          <a:lstStyle/>
          <a:p>
            <a:pPr algn="ctr"/>
            <a:endParaRPr lang="en-US" sz="900" dirty="0">
              <a:solidFill>
                <a:schemeClr val="tx1"/>
              </a:solidFill>
            </a:endParaRPr>
          </a:p>
        </p:txBody>
      </p:sp>
      <p:sp>
        <p:nvSpPr>
          <p:cNvPr id="11" name="Rectangle 10">
            <a:extLst>
              <a:ext uri="{FF2B5EF4-FFF2-40B4-BE49-F238E27FC236}">
                <a16:creationId xmlns:a16="http://schemas.microsoft.com/office/drawing/2014/main" id="{B6F16437-0C42-4DCC-9E0A-4FC8788EC7BE}"/>
              </a:ext>
            </a:extLst>
          </p:cNvPr>
          <p:cNvSpPr/>
          <p:nvPr/>
        </p:nvSpPr>
        <p:spPr>
          <a:xfrm>
            <a:off x="2778187" y="2963920"/>
            <a:ext cx="1030014" cy="1123835"/>
          </a:xfrm>
          <a:prstGeom prst="rect">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endParaRPr lang="en-US" sz="900" dirty="0">
              <a:solidFill>
                <a:schemeClr val="tx1"/>
              </a:solidFill>
            </a:endParaRPr>
          </a:p>
        </p:txBody>
      </p:sp>
      <p:sp>
        <p:nvSpPr>
          <p:cNvPr id="14" name="Rectangle 13">
            <a:extLst>
              <a:ext uri="{FF2B5EF4-FFF2-40B4-BE49-F238E27FC236}">
                <a16:creationId xmlns:a16="http://schemas.microsoft.com/office/drawing/2014/main" id="{6DB850DB-179E-4D5F-9209-057E4E0A6814}"/>
              </a:ext>
            </a:extLst>
          </p:cNvPr>
          <p:cNvSpPr/>
          <p:nvPr/>
        </p:nvSpPr>
        <p:spPr>
          <a:xfrm rot="16200000">
            <a:off x="3459794" y="3374168"/>
            <a:ext cx="1123837" cy="303339"/>
          </a:xfrm>
          <a:prstGeom prst="rect">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900" dirty="0">
                <a:solidFill>
                  <a:schemeClr val="tx1"/>
                </a:solidFill>
              </a:rPr>
              <a:t>Kafka Consumer</a:t>
            </a:r>
          </a:p>
        </p:txBody>
      </p:sp>
      <p:sp>
        <p:nvSpPr>
          <p:cNvPr id="15" name="Rectangle 14">
            <a:extLst>
              <a:ext uri="{FF2B5EF4-FFF2-40B4-BE49-F238E27FC236}">
                <a16:creationId xmlns:a16="http://schemas.microsoft.com/office/drawing/2014/main" id="{6E820C19-140E-4450-BF9D-94D0CBDBBE55}"/>
              </a:ext>
            </a:extLst>
          </p:cNvPr>
          <p:cNvSpPr/>
          <p:nvPr/>
        </p:nvSpPr>
        <p:spPr>
          <a:xfrm rot="16200000">
            <a:off x="1994840" y="3375949"/>
            <a:ext cx="1127397" cy="303339"/>
          </a:xfrm>
          <a:prstGeom prst="rect">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900" dirty="0">
                <a:solidFill>
                  <a:schemeClr val="tx1"/>
                </a:solidFill>
              </a:rPr>
              <a:t>Kafka Producer</a:t>
            </a:r>
          </a:p>
        </p:txBody>
      </p:sp>
      <p:cxnSp>
        <p:nvCxnSpPr>
          <p:cNvPr id="16" name="Connector: Elbow 15">
            <a:extLst>
              <a:ext uri="{FF2B5EF4-FFF2-40B4-BE49-F238E27FC236}">
                <a16:creationId xmlns:a16="http://schemas.microsoft.com/office/drawing/2014/main" id="{E7426673-EBCE-4051-A3DE-8183C6D103AE}"/>
              </a:ext>
            </a:extLst>
          </p:cNvPr>
          <p:cNvCxnSpPr>
            <a:stCxn id="2" idx="3"/>
            <a:endCxn id="15" idx="0"/>
          </p:cNvCxnSpPr>
          <p:nvPr/>
        </p:nvCxnSpPr>
        <p:spPr>
          <a:xfrm>
            <a:off x="1811446" y="3484891"/>
            <a:ext cx="595423" cy="42727"/>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irect Access Storage 16">
            <a:extLst>
              <a:ext uri="{FF2B5EF4-FFF2-40B4-BE49-F238E27FC236}">
                <a16:creationId xmlns:a16="http://schemas.microsoft.com/office/drawing/2014/main" id="{42BE8B7B-402C-41C3-B678-32EBB0C45894}"/>
              </a:ext>
            </a:extLst>
          </p:cNvPr>
          <p:cNvSpPr/>
          <p:nvPr/>
        </p:nvSpPr>
        <p:spPr bwMode="gray">
          <a:xfrm>
            <a:off x="2951047" y="3199144"/>
            <a:ext cx="611061" cy="233916"/>
          </a:xfrm>
          <a:prstGeom prst="flowChartMagneticDrum">
            <a:avLst/>
          </a:prstGeom>
          <a:ln>
            <a:headEnd/>
            <a:tailEnd/>
          </a:ln>
        </p:spPr>
        <p:style>
          <a:lnRef idx="1">
            <a:schemeClr val="accent6"/>
          </a:lnRef>
          <a:fillRef idx="2">
            <a:schemeClr val="accent6"/>
          </a:fillRef>
          <a:effectRef idx="1">
            <a:schemeClr val="accent6"/>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700" b="1" dirty="0">
              <a:solidFill>
                <a:schemeClr val="bg1"/>
              </a:solidFill>
            </a:endParaRPr>
          </a:p>
        </p:txBody>
      </p:sp>
      <p:sp>
        <p:nvSpPr>
          <p:cNvPr id="18" name="TextBox 17">
            <a:extLst>
              <a:ext uri="{FF2B5EF4-FFF2-40B4-BE49-F238E27FC236}">
                <a16:creationId xmlns:a16="http://schemas.microsoft.com/office/drawing/2014/main" id="{4A31704D-1CEC-4546-BCDD-0FCE0BFE25BB}"/>
              </a:ext>
            </a:extLst>
          </p:cNvPr>
          <p:cNvSpPr txBox="1"/>
          <p:nvPr/>
        </p:nvSpPr>
        <p:spPr bwMode="gray">
          <a:xfrm>
            <a:off x="2951047" y="3183194"/>
            <a:ext cx="723014" cy="265815"/>
          </a:xfrm>
          <a:prstGeom prst="rect">
            <a:avLst/>
          </a:prstGeom>
        </p:spPr>
        <p:txBody>
          <a:bodyPr wrap="square" lIns="0" rIns="0" rtlCol="0" anchor="b" anchorCtr="0">
            <a:normAutofit/>
          </a:bodyPr>
          <a:lstStyle/>
          <a:p>
            <a:pPr>
              <a:lnSpc>
                <a:spcPts val="900"/>
              </a:lnSpc>
            </a:pPr>
            <a:r>
              <a:rPr lang="en-US" sz="900" dirty="0">
                <a:solidFill>
                  <a:schemeClr val="tx1"/>
                </a:solidFill>
              </a:rPr>
              <a:t>Partition 0</a:t>
            </a:r>
          </a:p>
        </p:txBody>
      </p:sp>
      <p:sp>
        <p:nvSpPr>
          <p:cNvPr id="19" name="Flowchart: Direct Access Storage 18">
            <a:extLst>
              <a:ext uri="{FF2B5EF4-FFF2-40B4-BE49-F238E27FC236}">
                <a16:creationId xmlns:a16="http://schemas.microsoft.com/office/drawing/2014/main" id="{86D55E52-DF31-4906-8C82-FBFE30669B74}"/>
              </a:ext>
            </a:extLst>
          </p:cNvPr>
          <p:cNvSpPr/>
          <p:nvPr/>
        </p:nvSpPr>
        <p:spPr bwMode="gray">
          <a:xfrm>
            <a:off x="2965863" y="3569731"/>
            <a:ext cx="611061" cy="233916"/>
          </a:xfrm>
          <a:prstGeom prst="flowChartMagneticDrum">
            <a:avLst/>
          </a:prstGeom>
          <a:ln>
            <a:headEnd/>
            <a:tailEnd/>
          </a:ln>
        </p:spPr>
        <p:style>
          <a:lnRef idx="1">
            <a:schemeClr val="accent6"/>
          </a:lnRef>
          <a:fillRef idx="2">
            <a:schemeClr val="accent6"/>
          </a:fillRef>
          <a:effectRef idx="1">
            <a:schemeClr val="accent6"/>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700" b="1" dirty="0">
              <a:solidFill>
                <a:schemeClr val="bg1"/>
              </a:solidFill>
            </a:endParaRPr>
          </a:p>
        </p:txBody>
      </p:sp>
      <p:sp>
        <p:nvSpPr>
          <p:cNvPr id="20" name="TextBox 19">
            <a:extLst>
              <a:ext uri="{FF2B5EF4-FFF2-40B4-BE49-F238E27FC236}">
                <a16:creationId xmlns:a16="http://schemas.microsoft.com/office/drawing/2014/main" id="{74DBC52A-47BC-4EAF-83E8-9B084E9A57E7}"/>
              </a:ext>
            </a:extLst>
          </p:cNvPr>
          <p:cNvSpPr txBox="1"/>
          <p:nvPr/>
        </p:nvSpPr>
        <p:spPr bwMode="gray">
          <a:xfrm>
            <a:off x="2965863" y="3553781"/>
            <a:ext cx="723014" cy="265815"/>
          </a:xfrm>
          <a:prstGeom prst="rect">
            <a:avLst/>
          </a:prstGeom>
        </p:spPr>
        <p:txBody>
          <a:bodyPr wrap="square" lIns="0" rIns="0" rtlCol="0" anchor="b" anchorCtr="0">
            <a:normAutofit/>
          </a:bodyPr>
          <a:lstStyle/>
          <a:p>
            <a:pPr>
              <a:lnSpc>
                <a:spcPts val="900"/>
              </a:lnSpc>
            </a:pPr>
            <a:r>
              <a:rPr lang="en-US" sz="900" dirty="0">
                <a:solidFill>
                  <a:schemeClr val="tx1"/>
                </a:solidFill>
              </a:rPr>
              <a:t>Partition 1</a:t>
            </a:r>
          </a:p>
        </p:txBody>
      </p:sp>
      <p:sp>
        <p:nvSpPr>
          <p:cNvPr id="21" name="TextBox 20">
            <a:extLst>
              <a:ext uri="{FF2B5EF4-FFF2-40B4-BE49-F238E27FC236}">
                <a16:creationId xmlns:a16="http://schemas.microsoft.com/office/drawing/2014/main" id="{41F946C4-30AD-4F6C-890D-8C8FC7A19F19}"/>
              </a:ext>
            </a:extLst>
          </p:cNvPr>
          <p:cNvSpPr txBox="1"/>
          <p:nvPr/>
        </p:nvSpPr>
        <p:spPr bwMode="gray">
          <a:xfrm>
            <a:off x="2951047" y="2924248"/>
            <a:ext cx="625877" cy="276447"/>
          </a:xfrm>
          <a:prstGeom prst="rect">
            <a:avLst/>
          </a:prstGeom>
        </p:spPr>
        <p:txBody>
          <a:bodyPr wrap="square" lIns="0" rIns="0" rtlCol="0" anchor="b" anchorCtr="0">
            <a:normAutofit/>
          </a:bodyPr>
          <a:lstStyle/>
          <a:p>
            <a:pPr algn="ctr">
              <a:lnSpc>
                <a:spcPts val="900"/>
              </a:lnSpc>
            </a:pPr>
            <a:r>
              <a:rPr lang="en-US" sz="900" dirty="0">
                <a:solidFill>
                  <a:schemeClr val="tx1"/>
                </a:solidFill>
              </a:rPr>
              <a:t>Kafka</a:t>
            </a:r>
          </a:p>
        </p:txBody>
      </p:sp>
      <p:sp>
        <p:nvSpPr>
          <p:cNvPr id="22" name="Rectangle: Rounded Corners 21">
            <a:extLst>
              <a:ext uri="{FF2B5EF4-FFF2-40B4-BE49-F238E27FC236}">
                <a16:creationId xmlns:a16="http://schemas.microsoft.com/office/drawing/2014/main" id="{CDE8D2C8-D6C6-4682-A4FB-A451D9F81FFF}"/>
              </a:ext>
            </a:extLst>
          </p:cNvPr>
          <p:cNvSpPr/>
          <p:nvPr/>
        </p:nvSpPr>
        <p:spPr bwMode="gray">
          <a:xfrm>
            <a:off x="4990581" y="2381764"/>
            <a:ext cx="2615870" cy="2126736"/>
          </a:xfrm>
          <a:prstGeom prst="roundRect">
            <a:avLst/>
          </a:prstGeom>
          <a:ln>
            <a:solidFill>
              <a:schemeClr val="accent1"/>
            </a:solidFill>
          </a:ln>
        </p:spPr>
        <p:style>
          <a:lnRef idx="2">
            <a:schemeClr val="accent3"/>
          </a:lnRef>
          <a:fillRef idx="1">
            <a:schemeClr val="lt1"/>
          </a:fillRef>
          <a:effectRef idx="0">
            <a:schemeClr val="accent3"/>
          </a:effectRef>
          <a:fontRef idx="minor">
            <a:schemeClr val="dk1"/>
          </a:fontRef>
        </p:style>
        <p:txBody>
          <a:bodyPr tIns="90000" bIns="90000" rtlCol="0" anchor="ctr" anchorCtr="0"/>
          <a:lstStyle/>
          <a:p>
            <a:pPr algn="ctr"/>
            <a:endParaRPr lang="en-US" sz="900" dirty="0"/>
          </a:p>
        </p:txBody>
      </p:sp>
      <p:sp>
        <p:nvSpPr>
          <p:cNvPr id="23" name="Rectangle 22">
            <a:extLst>
              <a:ext uri="{FF2B5EF4-FFF2-40B4-BE49-F238E27FC236}">
                <a16:creationId xmlns:a16="http://schemas.microsoft.com/office/drawing/2014/main" id="{AA6310D2-CC9C-4C5D-B9DA-8159FBCF30A2}"/>
              </a:ext>
            </a:extLst>
          </p:cNvPr>
          <p:cNvSpPr/>
          <p:nvPr/>
        </p:nvSpPr>
        <p:spPr bwMode="gray">
          <a:xfrm>
            <a:off x="5185706" y="3168078"/>
            <a:ext cx="689608" cy="322472"/>
          </a:xfrm>
          <a:prstGeom prst="rect">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900" dirty="0">
                <a:solidFill>
                  <a:schemeClr val="tx1"/>
                </a:solidFill>
              </a:rPr>
              <a:t>Hive</a:t>
            </a:r>
          </a:p>
        </p:txBody>
      </p:sp>
      <p:sp>
        <p:nvSpPr>
          <p:cNvPr id="24" name="Rectangle 23">
            <a:extLst>
              <a:ext uri="{FF2B5EF4-FFF2-40B4-BE49-F238E27FC236}">
                <a16:creationId xmlns:a16="http://schemas.microsoft.com/office/drawing/2014/main" id="{E4099A1E-9946-43EA-8DD0-3F063D7EB125}"/>
              </a:ext>
            </a:extLst>
          </p:cNvPr>
          <p:cNvSpPr/>
          <p:nvPr/>
        </p:nvSpPr>
        <p:spPr bwMode="gray">
          <a:xfrm>
            <a:off x="6051635" y="3157339"/>
            <a:ext cx="689608" cy="322472"/>
          </a:xfrm>
          <a:prstGeom prst="rect">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0000" rIns="91440" bIns="90000" numCol="1" spcCol="0" rtlCol="0" fromWordArt="0" anchor="ctr" anchorCtr="0" forceAA="0" compatLnSpc="1">
            <a:prstTxWarp prst="textNoShape">
              <a:avLst/>
            </a:prstTxWarp>
            <a:noAutofit/>
          </a:bodyPr>
          <a:lstStyle/>
          <a:p>
            <a:pPr algn="ctr"/>
            <a:r>
              <a:rPr lang="en-US" sz="900" dirty="0">
                <a:solidFill>
                  <a:schemeClr val="tx1"/>
                </a:solidFill>
              </a:rPr>
              <a:t>HBase</a:t>
            </a:r>
          </a:p>
        </p:txBody>
      </p:sp>
      <p:sp>
        <p:nvSpPr>
          <p:cNvPr id="25" name="Rectangle 24">
            <a:extLst>
              <a:ext uri="{FF2B5EF4-FFF2-40B4-BE49-F238E27FC236}">
                <a16:creationId xmlns:a16="http://schemas.microsoft.com/office/drawing/2014/main" id="{28D7C145-7370-4D4B-B0E5-AE0B60754A97}"/>
              </a:ext>
            </a:extLst>
          </p:cNvPr>
          <p:cNvSpPr/>
          <p:nvPr/>
        </p:nvSpPr>
        <p:spPr bwMode="gray">
          <a:xfrm>
            <a:off x="6298516" y="3685634"/>
            <a:ext cx="1097280" cy="322472"/>
          </a:xfrm>
          <a:prstGeom prst="rect">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0000" rIns="91440" bIns="90000" numCol="1" spcCol="0" rtlCol="0" fromWordArt="0" anchor="ctr" anchorCtr="0" forceAA="0" compatLnSpc="1">
            <a:prstTxWarp prst="textNoShape">
              <a:avLst/>
            </a:prstTxWarp>
            <a:noAutofit/>
          </a:bodyPr>
          <a:lstStyle/>
          <a:p>
            <a:pPr algn="ctr"/>
            <a:r>
              <a:rPr lang="en-US" sz="900" dirty="0">
                <a:solidFill>
                  <a:schemeClr val="tx1"/>
                </a:solidFill>
              </a:rPr>
              <a:t>Time Series</a:t>
            </a:r>
          </a:p>
        </p:txBody>
      </p:sp>
      <p:cxnSp>
        <p:nvCxnSpPr>
          <p:cNvPr id="28" name="Connector: Elbow 27">
            <a:extLst>
              <a:ext uri="{FF2B5EF4-FFF2-40B4-BE49-F238E27FC236}">
                <a16:creationId xmlns:a16="http://schemas.microsoft.com/office/drawing/2014/main" id="{CAAE0083-C50E-4E04-9CD8-D390F87E251E}"/>
              </a:ext>
            </a:extLst>
          </p:cNvPr>
          <p:cNvCxnSpPr>
            <a:cxnSpLocks/>
            <a:endCxn id="40" idx="0"/>
          </p:cNvCxnSpPr>
          <p:nvPr/>
        </p:nvCxnSpPr>
        <p:spPr>
          <a:xfrm flipV="1">
            <a:off x="4360128" y="2503594"/>
            <a:ext cx="1824772" cy="1064426"/>
          </a:xfrm>
          <a:prstGeom prst="bentConnector4">
            <a:avLst>
              <a:gd name="adj1" fmla="val 22677"/>
              <a:gd name="adj2" fmla="val 121476"/>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BBD1B556-2107-4736-8753-C2929EE5820B}"/>
              </a:ext>
            </a:extLst>
          </p:cNvPr>
          <p:cNvCxnSpPr>
            <a:cxnSpLocks/>
            <a:endCxn id="23" idx="0"/>
          </p:cNvCxnSpPr>
          <p:nvPr/>
        </p:nvCxnSpPr>
        <p:spPr>
          <a:xfrm rot="10800000" flipV="1">
            <a:off x="5530511" y="2961592"/>
            <a:ext cx="467643" cy="206485"/>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01CF56B4-0C45-4949-A8C5-3C3EAA43B9DB}"/>
              </a:ext>
            </a:extLst>
          </p:cNvPr>
          <p:cNvCxnSpPr>
            <a:cxnSpLocks/>
            <a:stCxn id="40" idx="2"/>
            <a:endCxn id="24" idx="0"/>
          </p:cNvCxnSpPr>
          <p:nvPr/>
        </p:nvCxnSpPr>
        <p:spPr>
          <a:xfrm rot="16200000" flipH="1">
            <a:off x="6100294" y="2861193"/>
            <a:ext cx="380751" cy="211539"/>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963463B-32A3-4770-A9A9-281794CE4998}"/>
              </a:ext>
            </a:extLst>
          </p:cNvPr>
          <p:cNvSpPr txBox="1"/>
          <p:nvPr/>
        </p:nvSpPr>
        <p:spPr bwMode="gray">
          <a:xfrm>
            <a:off x="5665432" y="4076700"/>
            <a:ext cx="1328846" cy="405108"/>
          </a:xfrm>
          <a:prstGeom prst="rect">
            <a:avLst/>
          </a:prstGeom>
        </p:spPr>
        <p:txBody>
          <a:bodyPr wrap="square" lIns="0" rIns="0" rtlCol="0" anchor="ctr" anchorCtr="0">
            <a:normAutofit/>
          </a:bodyPr>
          <a:lstStyle/>
          <a:p>
            <a:pPr algn="ctr">
              <a:lnSpc>
                <a:spcPts val="900"/>
              </a:lnSpc>
            </a:pPr>
            <a:r>
              <a:rPr lang="en-US" sz="900" b="1" dirty="0"/>
              <a:t>Data Lake</a:t>
            </a:r>
          </a:p>
        </p:txBody>
      </p:sp>
      <p:sp>
        <p:nvSpPr>
          <p:cNvPr id="40" name="Rectangle: Rounded Corners 39">
            <a:extLst>
              <a:ext uri="{FF2B5EF4-FFF2-40B4-BE49-F238E27FC236}">
                <a16:creationId xmlns:a16="http://schemas.microsoft.com/office/drawing/2014/main" id="{FE6B6F4E-2466-49DC-AB6A-80EC1B913DF8}"/>
              </a:ext>
            </a:extLst>
          </p:cNvPr>
          <p:cNvSpPr/>
          <p:nvPr/>
        </p:nvSpPr>
        <p:spPr bwMode="gray">
          <a:xfrm>
            <a:off x="5467137" y="2503594"/>
            <a:ext cx="1435525" cy="272994"/>
          </a:xfrm>
          <a:prstGeom prst="round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solidFill>
                  <a:schemeClr val="bg1"/>
                </a:solidFill>
              </a:rPr>
              <a:t>Spark streaming</a:t>
            </a:r>
          </a:p>
        </p:txBody>
      </p:sp>
      <p:cxnSp>
        <p:nvCxnSpPr>
          <p:cNvPr id="8" name="Connector: Elbow 7">
            <a:extLst>
              <a:ext uri="{FF2B5EF4-FFF2-40B4-BE49-F238E27FC236}">
                <a16:creationId xmlns:a16="http://schemas.microsoft.com/office/drawing/2014/main" id="{E3E0AAF0-3E4F-49E8-96B2-0DA070BCE7CB}"/>
              </a:ext>
            </a:extLst>
          </p:cNvPr>
          <p:cNvCxnSpPr/>
          <p:nvPr/>
        </p:nvCxnSpPr>
        <p:spPr>
          <a:xfrm>
            <a:off x="6051635" y="2961592"/>
            <a:ext cx="1002264" cy="724042"/>
          </a:xfrm>
          <a:prstGeom prst="bentConnector3">
            <a:avLst>
              <a:gd name="adj1" fmla="val 9992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D21376B-A5D9-405C-B43D-44DC8627ABF8}"/>
              </a:ext>
            </a:extLst>
          </p:cNvPr>
          <p:cNvSpPr/>
          <p:nvPr/>
        </p:nvSpPr>
        <p:spPr bwMode="gray">
          <a:xfrm>
            <a:off x="5116136" y="3692810"/>
            <a:ext cx="1097280" cy="322472"/>
          </a:xfrm>
          <a:prstGeom prst="rect">
            <a:avLst/>
          </a:prstGeom>
          <a:solidFill>
            <a:schemeClr val="tx2">
              <a:lumMod val="40000"/>
              <a:lumOff val="6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0000" rIns="91440" bIns="90000" numCol="1" spcCol="0" rtlCol="0" fromWordArt="0" anchor="ctr" anchorCtr="0" forceAA="0" compatLnSpc="1">
            <a:prstTxWarp prst="textNoShape">
              <a:avLst/>
            </a:prstTxWarp>
            <a:noAutofit/>
          </a:bodyPr>
          <a:lstStyle/>
          <a:p>
            <a:pPr algn="ctr"/>
            <a:r>
              <a:rPr lang="en-US" sz="900" dirty="0">
                <a:solidFill>
                  <a:schemeClr val="tx1"/>
                </a:solidFill>
              </a:rPr>
              <a:t>Redis</a:t>
            </a:r>
            <a:br>
              <a:rPr lang="en-US" sz="900" dirty="0">
                <a:solidFill>
                  <a:schemeClr val="tx1"/>
                </a:solidFill>
              </a:rPr>
            </a:br>
            <a:r>
              <a:rPr lang="en-US" sz="900" dirty="0">
                <a:solidFill>
                  <a:schemeClr val="tx1"/>
                </a:solidFill>
              </a:rPr>
              <a:t>MemSQL</a:t>
            </a:r>
          </a:p>
        </p:txBody>
      </p:sp>
    </p:spTree>
    <p:extLst>
      <p:ext uri="{BB962C8B-B14F-4D97-AF65-F5344CB8AC3E}">
        <p14:creationId xmlns:p14="http://schemas.microsoft.com/office/powerpoint/2010/main" val="3839580055"/>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Architecture pattern: Internet of Things (IoT)</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388668098"/>
              </p:ext>
            </p:extLst>
          </p:nvPr>
        </p:nvGraphicFramePr>
        <p:xfrm>
          <a:off x="7010400" y="1452880"/>
          <a:ext cx="4711700" cy="4846320"/>
        </p:xfrm>
        <a:graphic>
          <a:graphicData uri="http://schemas.openxmlformats.org/drawingml/2006/table">
            <a:tbl>
              <a:tblPr bandRow="1">
                <a:effectLst/>
              </a:tblPr>
              <a:tblGrid>
                <a:gridCol w="4711700">
                  <a:extLst>
                    <a:ext uri="{9D8B030D-6E8A-4147-A177-3AD203B41FA5}">
                      <a16:colId xmlns:a16="http://schemas.microsoft.com/office/drawing/2014/main" val="2219018424"/>
                    </a:ext>
                  </a:extLst>
                </a:gridCol>
              </a:tblGrid>
              <a:tr h="1022655">
                <a:tc>
                  <a:txBody>
                    <a:bodyPr/>
                    <a:lstStyle/>
                    <a:p>
                      <a:r>
                        <a:rPr lang="en-US" sz="1000" b="1" dirty="0">
                          <a:solidFill>
                            <a:schemeClr val="tx1"/>
                          </a:solidFill>
                        </a:rPr>
                        <a:t>Context</a:t>
                      </a:r>
                    </a:p>
                    <a:p>
                      <a:r>
                        <a:rPr lang="en-US" sz="1000" dirty="0">
                          <a:solidFill>
                            <a:schemeClr val="tx1"/>
                          </a:solidFill>
                        </a:rPr>
                        <a:t>IoT use cases require transmitting events and signals from devices and sensors with location and time context to either a peer or to a centralized data and analytics platform to analyze data and make decisions. IoT implementations use sensors/devices which capture events, transmits it over internet to a data hub which converts the signal using firmware to a time-series or event stream data. The high velocity, volume of data, sensor stability, internet based unreliable connectivity poses several challenges in analyzing the IoT stream data. The focus of this IoT pattern is Data and Analytics and it is assumed that devices, network are established by other standard patterns.</a:t>
                      </a:r>
                      <a:endParaRPr lang="en-US" sz="1000" b="0" dirty="0">
                        <a:solidFill>
                          <a:schemeClr val="tx1"/>
                        </a:solidFill>
                      </a:endParaRPr>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1347308">
                <a:tc>
                  <a:txBody>
                    <a:bodyPr/>
                    <a:lstStyle/>
                    <a:p>
                      <a:r>
                        <a:rPr lang="en-US" sz="1000" b="1" dirty="0">
                          <a:solidFill>
                            <a:schemeClr val="tx1"/>
                          </a:solidFill>
                        </a:rPr>
                        <a:t>Solution description</a:t>
                      </a:r>
                    </a:p>
                    <a:p>
                      <a:r>
                        <a:rPr lang="en-US" sz="1000" dirty="0">
                          <a:solidFill>
                            <a:schemeClr val="tx1"/>
                          </a:solidFill>
                        </a:rPr>
                        <a:t>The integration layer communicates with devices using vendor provided device drivers to manage the devices and ingest device signals. When devices provide location and time context along with the signal data, it results in a series of real time streams. Some use cases require in-memory processing of the real time data to make decisions and take actions which are communicated to the actuators or devices (e.g. if boiler temperature &gt; 32 F then release steam). </a:t>
                      </a:r>
                    </a:p>
                    <a:p>
                      <a:r>
                        <a:rPr lang="en-US" sz="1000" dirty="0">
                          <a:solidFill>
                            <a:schemeClr val="tx1"/>
                          </a:solidFill>
                        </a:rPr>
                        <a:t>The data is stored in data lake as a time-series or as a geo-spatial format. Rule engine and data science models are applied on the real time data. The actions can be fed to other real time applications or published to real time dashboards to take actions. The infrastructure and security, Data Governance concerns for IoT Pattern are similar to other data and analytics platform.</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593326">
                <a:tc>
                  <a:txBody>
                    <a:bodyPr/>
                    <a:lstStyle/>
                    <a:p>
                      <a:r>
                        <a:rPr lang="en-US" sz="1000" b="1" dirty="0">
                          <a:solidFill>
                            <a:schemeClr val="tx1"/>
                          </a:solidFill>
                        </a:rPr>
                        <a:t>Rationale</a:t>
                      </a:r>
                    </a:p>
                    <a:p>
                      <a:r>
                        <a:rPr lang="en-US" sz="1000" dirty="0">
                          <a:solidFill>
                            <a:schemeClr val="tx1"/>
                          </a:solidFill>
                        </a:rPr>
                        <a:t>IoT architecture requires vendor devices/actuators, device drivers and communication layer. IoT hardware and firmware standards are emerging and lack standards. The real time data management patterns and data lake patterns must be used to meet the IoT use case goals.</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grpSp>
        <p:nvGrpSpPr>
          <p:cNvPr id="37" name="Group 36">
            <a:extLst>
              <a:ext uri="{FF2B5EF4-FFF2-40B4-BE49-F238E27FC236}">
                <a16:creationId xmlns:a16="http://schemas.microsoft.com/office/drawing/2014/main" id="{CD559CDD-B4EA-49CF-BC80-8C40B14D6ED3}"/>
              </a:ext>
            </a:extLst>
          </p:cNvPr>
          <p:cNvGrpSpPr/>
          <p:nvPr/>
        </p:nvGrpSpPr>
        <p:grpSpPr>
          <a:xfrm>
            <a:off x="469901" y="2683901"/>
            <a:ext cx="6199866" cy="1875399"/>
            <a:chOff x="469901" y="2391801"/>
            <a:chExt cx="6199866" cy="1875399"/>
          </a:xfrm>
        </p:grpSpPr>
        <p:sp>
          <p:nvSpPr>
            <p:cNvPr id="5" name="Rectangle 4">
              <a:extLst>
                <a:ext uri="{FF2B5EF4-FFF2-40B4-BE49-F238E27FC236}">
                  <a16:creationId xmlns:a16="http://schemas.microsoft.com/office/drawing/2014/main" id="{4A8404E1-9709-4519-8DE3-9267AA4B43F7}"/>
                </a:ext>
              </a:extLst>
            </p:cNvPr>
            <p:cNvSpPr/>
            <p:nvPr/>
          </p:nvSpPr>
          <p:spPr>
            <a:xfrm>
              <a:off x="469901" y="2391801"/>
              <a:ext cx="806810" cy="1875399"/>
            </a:xfrm>
            <a:prstGeom prst="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6" name="Picture 5">
              <a:extLst>
                <a:ext uri="{FF2B5EF4-FFF2-40B4-BE49-F238E27FC236}">
                  <a16:creationId xmlns:a16="http://schemas.microsoft.com/office/drawing/2014/main" id="{A81501AA-D363-4828-A189-5A91B999AC1B}"/>
                </a:ext>
              </a:extLst>
            </p:cNvPr>
            <p:cNvPicPr>
              <a:picLocks noChangeAspect="1"/>
            </p:cNvPicPr>
            <p:nvPr/>
          </p:nvPicPr>
          <p:blipFill>
            <a:blip r:embed="rId2"/>
            <a:stretch>
              <a:fillRect/>
            </a:stretch>
          </p:blipFill>
          <p:spPr>
            <a:xfrm>
              <a:off x="698976" y="3214525"/>
              <a:ext cx="265382" cy="270690"/>
            </a:xfrm>
            <a:prstGeom prst="rect">
              <a:avLst/>
            </a:prstGeom>
          </p:spPr>
        </p:pic>
        <p:pic>
          <p:nvPicPr>
            <p:cNvPr id="10" name="Picture 9">
              <a:extLst>
                <a:ext uri="{FF2B5EF4-FFF2-40B4-BE49-F238E27FC236}">
                  <a16:creationId xmlns:a16="http://schemas.microsoft.com/office/drawing/2014/main" id="{76F3EEAA-44BA-411D-B201-210A605B6854}"/>
                </a:ext>
              </a:extLst>
            </p:cNvPr>
            <p:cNvPicPr>
              <a:picLocks noChangeAspect="1"/>
            </p:cNvPicPr>
            <p:nvPr/>
          </p:nvPicPr>
          <p:blipFill>
            <a:blip r:embed="rId3"/>
            <a:stretch>
              <a:fillRect/>
            </a:stretch>
          </p:blipFill>
          <p:spPr>
            <a:xfrm>
              <a:off x="1905273" y="2781617"/>
              <a:ext cx="376460" cy="346582"/>
            </a:xfrm>
            <a:prstGeom prst="rect">
              <a:avLst/>
            </a:prstGeom>
          </p:spPr>
        </p:pic>
        <p:grpSp>
          <p:nvGrpSpPr>
            <p:cNvPr id="11" name="Group 991">
              <a:extLst>
                <a:ext uri="{FF2B5EF4-FFF2-40B4-BE49-F238E27FC236}">
                  <a16:creationId xmlns:a16="http://schemas.microsoft.com/office/drawing/2014/main" id="{AA0BE42B-8666-4656-AE55-CCB61BA7855B}"/>
                </a:ext>
              </a:extLst>
            </p:cNvPr>
            <p:cNvGrpSpPr>
              <a:grpSpLocks noChangeAspect="1"/>
            </p:cNvGrpSpPr>
            <p:nvPr/>
          </p:nvGrpSpPr>
          <p:grpSpPr bwMode="auto">
            <a:xfrm>
              <a:off x="2667788" y="2626844"/>
              <a:ext cx="292506" cy="270243"/>
              <a:chOff x="5285" y="4317"/>
              <a:chExt cx="341" cy="340"/>
            </a:xfrm>
            <a:solidFill>
              <a:schemeClr val="accent5"/>
            </a:solidFill>
          </p:grpSpPr>
          <p:sp>
            <p:nvSpPr>
              <p:cNvPr id="12" name="Freeform 992">
                <a:extLst>
                  <a:ext uri="{FF2B5EF4-FFF2-40B4-BE49-F238E27FC236}">
                    <a16:creationId xmlns:a16="http://schemas.microsoft.com/office/drawing/2014/main" id="{D684A3D7-DAFF-4E32-B7D4-8EA8710F0092}"/>
                  </a:ext>
                </a:extLst>
              </p:cNvPr>
              <p:cNvSpPr>
                <a:spLocks noEditPoints="1"/>
              </p:cNvSpPr>
              <p:nvPr/>
            </p:nvSpPr>
            <p:spPr bwMode="auto">
              <a:xfrm>
                <a:off x="5285" y="4317"/>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00" dirty="0"/>
              </a:p>
            </p:txBody>
          </p:sp>
          <p:sp>
            <p:nvSpPr>
              <p:cNvPr id="13" name="Freeform 993">
                <a:extLst>
                  <a:ext uri="{FF2B5EF4-FFF2-40B4-BE49-F238E27FC236}">
                    <a16:creationId xmlns:a16="http://schemas.microsoft.com/office/drawing/2014/main" id="{83DFC44B-B602-4C84-914F-BD03256DAE9C}"/>
                  </a:ext>
                </a:extLst>
              </p:cNvPr>
              <p:cNvSpPr>
                <a:spLocks noEditPoints="1"/>
              </p:cNvSpPr>
              <p:nvPr/>
            </p:nvSpPr>
            <p:spPr bwMode="auto">
              <a:xfrm>
                <a:off x="5349" y="4381"/>
                <a:ext cx="213" cy="212"/>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160 w 320"/>
                  <a:gd name="T11" fmla="*/ 298 h 320"/>
                  <a:gd name="T12" fmla="*/ 21 w 320"/>
                  <a:gd name="T13" fmla="*/ 160 h 320"/>
                  <a:gd name="T14" fmla="*/ 160 w 320"/>
                  <a:gd name="T15" fmla="*/ 21 h 320"/>
                  <a:gd name="T16" fmla="*/ 298 w 320"/>
                  <a:gd name="T17" fmla="*/ 160 h 320"/>
                  <a:gd name="T18" fmla="*/ 160 w 320"/>
                  <a:gd name="T19" fmla="*/ 298 h 320"/>
                  <a:gd name="T20" fmla="*/ 210 w 320"/>
                  <a:gd name="T21" fmla="*/ 120 h 320"/>
                  <a:gd name="T22" fmla="*/ 210 w 320"/>
                  <a:gd name="T23" fmla="*/ 135 h 320"/>
                  <a:gd name="T24" fmla="*/ 167 w 320"/>
                  <a:gd name="T25" fmla="*/ 178 h 320"/>
                  <a:gd name="T26" fmla="*/ 160 w 320"/>
                  <a:gd name="T27" fmla="*/ 181 h 320"/>
                  <a:gd name="T28" fmla="*/ 152 w 320"/>
                  <a:gd name="T29" fmla="*/ 178 h 320"/>
                  <a:gd name="T30" fmla="*/ 77 w 320"/>
                  <a:gd name="T31" fmla="*/ 103 h 320"/>
                  <a:gd name="T32" fmla="*/ 77 w 320"/>
                  <a:gd name="T33" fmla="*/ 88 h 320"/>
                  <a:gd name="T34" fmla="*/ 93 w 320"/>
                  <a:gd name="T35" fmla="*/ 88 h 320"/>
                  <a:gd name="T36" fmla="*/ 160 w 320"/>
                  <a:gd name="T37" fmla="*/ 155 h 320"/>
                  <a:gd name="T38" fmla="*/ 195 w 320"/>
                  <a:gd name="T39" fmla="*/ 120 h 320"/>
                  <a:gd name="T40" fmla="*/ 210 w 320"/>
                  <a:gd name="T41" fmla="*/ 120 h 320"/>
                  <a:gd name="T42" fmla="*/ 149 w 320"/>
                  <a:gd name="T43" fmla="*/ 64 h 320"/>
                  <a:gd name="T44" fmla="*/ 149 w 320"/>
                  <a:gd name="T45" fmla="*/ 53 h 320"/>
                  <a:gd name="T46" fmla="*/ 160 w 320"/>
                  <a:gd name="T47" fmla="*/ 42 h 320"/>
                  <a:gd name="T48" fmla="*/ 170 w 320"/>
                  <a:gd name="T49" fmla="*/ 53 h 320"/>
                  <a:gd name="T50" fmla="*/ 170 w 320"/>
                  <a:gd name="T51" fmla="*/ 64 h 320"/>
                  <a:gd name="T52" fmla="*/ 160 w 320"/>
                  <a:gd name="T53" fmla="*/ 74 h 320"/>
                  <a:gd name="T54" fmla="*/ 149 w 320"/>
                  <a:gd name="T55" fmla="*/ 64 h 320"/>
                  <a:gd name="T56" fmla="*/ 170 w 320"/>
                  <a:gd name="T57" fmla="*/ 256 h 320"/>
                  <a:gd name="T58" fmla="*/ 170 w 320"/>
                  <a:gd name="T59" fmla="*/ 266 h 320"/>
                  <a:gd name="T60" fmla="*/ 160 w 320"/>
                  <a:gd name="T61" fmla="*/ 277 h 320"/>
                  <a:gd name="T62" fmla="*/ 149 w 320"/>
                  <a:gd name="T63" fmla="*/ 266 h 320"/>
                  <a:gd name="T64" fmla="*/ 149 w 320"/>
                  <a:gd name="T65" fmla="*/ 256 h 320"/>
                  <a:gd name="T66" fmla="*/ 160 w 320"/>
                  <a:gd name="T67" fmla="*/ 245 h 320"/>
                  <a:gd name="T68" fmla="*/ 170 w 320"/>
                  <a:gd name="T69" fmla="*/ 256 h 320"/>
                  <a:gd name="T70" fmla="*/ 277 w 320"/>
                  <a:gd name="T71" fmla="*/ 160 h 320"/>
                  <a:gd name="T72" fmla="*/ 266 w 320"/>
                  <a:gd name="T73" fmla="*/ 170 h 320"/>
                  <a:gd name="T74" fmla="*/ 256 w 320"/>
                  <a:gd name="T75" fmla="*/ 170 h 320"/>
                  <a:gd name="T76" fmla="*/ 245 w 320"/>
                  <a:gd name="T77" fmla="*/ 160 h 320"/>
                  <a:gd name="T78" fmla="*/ 256 w 320"/>
                  <a:gd name="T79" fmla="*/ 149 h 320"/>
                  <a:gd name="T80" fmla="*/ 266 w 320"/>
                  <a:gd name="T81" fmla="*/ 149 h 320"/>
                  <a:gd name="T82" fmla="*/ 277 w 320"/>
                  <a:gd name="T83" fmla="*/ 160 h 320"/>
                  <a:gd name="T84" fmla="*/ 74 w 320"/>
                  <a:gd name="T85" fmla="*/ 160 h 320"/>
                  <a:gd name="T86" fmla="*/ 64 w 320"/>
                  <a:gd name="T87" fmla="*/ 170 h 320"/>
                  <a:gd name="T88" fmla="*/ 53 w 320"/>
                  <a:gd name="T89" fmla="*/ 170 h 320"/>
                  <a:gd name="T90" fmla="*/ 42 w 320"/>
                  <a:gd name="T91" fmla="*/ 160 h 320"/>
                  <a:gd name="T92" fmla="*/ 53 w 320"/>
                  <a:gd name="T93" fmla="*/ 149 h 320"/>
                  <a:gd name="T94" fmla="*/ 64 w 320"/>
                  <a:gd name="T95" fmla="*/ 149 h 320"/>
                  <a:gd name="T96" fmla="*/ 74 w 320"/>
                  <a:gd name="T97" fmla="*/ 16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160" y="298"/>
                    </a:moveTo>
                    <a:cubicBezTo>
                      <a:pt x="83" y="298"/>
                      <a:pt x="21" y="236"/>
                      <a:pt x="21" y="160"/>
                    </a:cubicBezTo>
                    <a:cubicBezTo>
                      <a:pt x="21" y="83"/>
                      <a:pt x="83" y="21"/>
                      <a:pt x="160" y="21"/>
                    </a:cubicBezTo>
                    <a:cubicBezTo>
                      <a:pt x="236" y="21"/>
                      <a:pt x="298" y="83"/>
                      <a:pt x="298" y="160"/>
                    </a:cubicBezTo>
                    <a:cubicBezTo>
                      <a:pt x="298" y="236"/>
                      <a:pt x="236" y="298"/>
                      <a:pt x="160" y="298"/>
                    </a:cubicBezTo>
                    <a:close/>
                    <a:moveTo>
                      <a:pt x="210" y="120"/>
                    </a:moveTo>
                    <a:cubicBezTo>
                      <a:pt x="214" y="124"/>
                      <a:pt x="214" y="131"/>
                      <a:pt x="210" y="135"/>
                    </a:cubicBezTo>
                    <a:cubicBezTo>
                      <a:pt x="167" y="178"/>
                      <a:pt x="167" y="178"/>
                      <a:pt x="167" y="178"/>
                    </a:cubicBezTo>
                    <a:cubicBezTo>
                      <a:pt x="165" y="180"/>
                      <a:pt x="162" y="181"/>
                      <a:pt x="160" y="181"/>
                    </a:cubicBezTo>
                    <a:cubicBezTo>
                      <a:pt x="157" y="181"/>
                      <a:pt x="154" y="180"/>
                      <a:pt x="152" y="178"/>
                    </a:cubicBezTo>
                    <a:cubicBezTo>
                      <a:pt x="77" y="103"/>
                      <a:pt x="77" y="103"/>
                      <a:pt x="77" y="103"/>
                    </a:cubicBezTo>
                    <a:cubicBezTo>
                      <a:pt x="73" y="99"/>
                      <a:pt x="73" y="92"/>
                      <a:pt x="77" y="88"/>
                    </a:cubicBezTo>
                    <a:cubicBezTo>
                      <a:pt x="82" y="84"/>
                      <a:pt x="88" y="84"/>
                      <a:pt x="93" y="88"/>
                    </a:cubicBezTo>
                    <a:cubicBezTo>
                      <a:pt x="160" y="155"/>
                      <a:pt x="160" y="155"/>
                      <a:pt x="160" y="155"/>
                    </a:cubicBezTo>
                    <a:cubicBezTo>
                      <a:pt x="195" y="120"/>
                      <a:pt x="195" y="120"/>
                      <a:pt x="195" y="120"/>
                    </a:cubicBezTo>
                    <a:cubicBezTo>
                      <a:pt x="199" y="116"/>
                      <a:pt x="206" y="116"/>
                      <a:pt x="210" y="120"/>
                    </a:cubicBezTo>
                    <a:close/>
                    <a:moveTo>
                      <a:pt x="149" y="64"/>
                    </a:moveTo>
                    <a:cubicBezTo>
                      <a:pt x="149" y="53"/>
                      <a:pt x="149" y="53"/>
                      <a:pt x="149" y="53"/>
                    </a:cubicBezTo>
                    <a:cubicBezTo>
                      <a:pt x="149" y="47"/>
                      <a:pt x="154" y="42"/>
                      <a:pt x="160" y="42"/>
                    </a:cubicBezTo>
                    <a:cubicBezTo>
                      <a:pt x="166" y="42"/>
                      <a:pt x="170" y="47"/>
                      <a:pt x="170" y="53"/>
                    </a:cubicBezTo>
                    <a:cubicBezTo>
                      <a:pt x="170" y="64"/>
                      <a:pt x="170" y="64"/>
                      <a:pt x="170" y="64"/>
                    </a:cubicBezTo>
                    <a:cubicBezTo>
                      <a:pt x="170" y="70"/>
                      <a:pt x="166" y="74"/>
                      <a:pt x="160" y="74"/>
                    </a:cubicBezTo>
                    <a:cubicBezTo>
                      <a:pt x="154" y="74"/>
                      <a:pt x="149" y="70"/>
                      <a:pt x="149" y="64"/>
                    </a:cubicBezTo>
                    <a:close/>
                    <a:moveTo>
                      <a:pt x="170" y="256"/>
                    </a:moveTo>
                    <a:cubicBezTo>
                      <a:pt x="170" y="266"/>
                      <a:pt x="170" y="266"/>
                      <a:pt x="170" y="266"/>
                    </a:cubicBezTo>
                    <a:cubicBezTo>
                      <a:pt x="170" y="272"/>
                      <a:pt x="166" y="277"/>
                      <a:pt x="160" y="277"/>
                    </a:cubicBezTo>
                    <a:cubicBezTo>
                      <a:pt x="154" y="277"/>
                      <a:pt x="149" y="272"/>
                      <a:pt x="149" y="266"/>
                    </a:cubicBezTo>
                    <a:cubicBezTo>
                      <a:pt x="149" y="256"/>
                      <a:pt x="149" y="256"/>
                      <a:pt x="149" y="256"/>
                    </a:cubicBezTo>
                    <a:cubicBezTo>
                      <a:pt x="149" y="250"/>
                      <a:pt x="154" y="245"/>
                      <a:pt x="160" y="245"/>
                    </a:cubicBezTo>
                    <a:cubicBezTo>
                      <a:pt x="166" y="245"/>
                      <a:pt x="170" y="250"/>
                      <a:pt x="170" y="256"/>
                    </a:cubicBezTo>
                    <a:close/>
                    <a:moveTo>
                      <a:pt x="277" y="160"/>
                    </a:moveTo>
                    <a:cubicBezTo>
                      <a:pt x="277" y="166"/>
                      <a:pt x="272" y="170"/>
                      <a:pt x="266" y="170"/>
                    </a:cubicBezTo>
                    <a:cubicBezTo>
                      <a:pt x="256" y="170"/>
                      <a:pt x="256" y="170"/>
                      <a:pt x="256" y="170"/>
                    </a:cubicBezTo>
                    <a:cubicBezTo>
                      <a:pt x="250" y="170"/>
                      <a:pt x="245" y="166"/>
                      <a:pt x="245" y="160"/>
                    </a:cubicBezTo>
                    <a:cubicBezTo>
                      <a:pt x="245" y="154"/>
                      <a:pt x="250" y="149"/>
                      <a:pt x="256" y="149"/>
                    </a:cubicBezTo>
                    <a:cubicBezTo>
                      <a:pt x="266" y="149"/>
                      <a:pt x="266" y="149"/>
                      <a:pt x="266" y="149"/>
                    </a:cubicBezTo>
                    <a:cubicBezTo>
                      <a:pt x="272" y="149"/>
                      <a:pt x="277" y="154"/>
                      <a:pt x="277" y="160"/>
                    </a:cubicBezTo>
                    <a:close/>
                    <a:moveTo>
                      <a:pt x="74" y="160"/>
                    </a:moveTo>
                    <a:cubicBezTo>
                      <a:pt x="74" y="166"/>
                      <a:pt x="70" y="170"/>
                      <a:pt x="64" y="170"/>
                    </a:cubicBezTo>
                    <a:cubicBezTo>
                      <a:pt x="53" y="170"/>
                      <a:pt x="53" y="170"/>
                      <a:pt x="53" y="170"/>
                    </a:cubicBezTo>
                    <a:cubicBezTo>
                      <a:pt x="47" y="170"/>
                      <a:pt x="42" y="166"/>
                      <a:pt x="42" y="160"/>
                    </a:cubicBezTo>
                    <a:cubicBezTo>
                      <a:pt x="42" y="154"/>
                      <a:pt x="47" y="149"/>
                      <a:pt x="53" y="149"/>
                    </a:cubicBezTo>
                    <a:cubicBezTo>
                      <a:pt x="64" y="149"/>
                      <a:pt x="64" y="149"/>
                      <a:pt x="64" y="149"/>
                    </a:cubicBezTo>
                    <a:cubicBezTo>
                      <a:pt x="70" y="149"/>
                      <a:pt x="74" y="154"/>
                      <a:pt x="74" y="16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00" dirty="0"/>
              </a:p>
            </p:txBody>
          </p:sp>
        </p:grpSp>
        <p:sp>
          <p:nvSpPr>
            <p:cNvPr id="14" name="TextBox 13">
              <a:extLst>
                <a:ext uri="{FF2B5EF4-FFF2-40B4-BE49-F238E27FC236}">
                  <a16:creationId xmlns:a16="http://schemas.microsoft.com/office/drawing/2014/main" id="{67A5AB22-B5DF-4326-A780-3BA32301159D}"/>
                </a:ext>
              </a:extLst>
            </p:cNvPr>
            <p:cNvSpPr txBox="1"/>
            <p:nvPr/>
          </p:nvSpPr>
          <p:spPr>
            <a:xfrm>
              <a:off x="1831258" y="3128199"/>
              <a:ext cx="592872" cy="194776"/>
            </a:xfrm>
            <a:prstGeom prst="rect">
              <a:avLst/>
            </a:prstGeom>
            <a:noFill/>
          </p:spPr>
          <p:txBody>
            <a:bodyPr wrap="square" rtlCol="0">
              <a:spAutoFit/>
            </a:bodyPr>
            <a:lstStyle/>
            <a:p>
              <a:r>
                <a:rPr lang="en-US" sz="800" dirty="0"/>
                <a:t>IoT Hub</a:t>
              </a:r>
            </a:p>
          </p:txBody>
        </p:sp>
        <p:sp>
          <p:nvSpPr>
            <p:cNvPr id="15" name="TextBox 14">
              <a:extLst>
                <a:ext uri="{FF2B5EF4-FFF2-40B4-BE49-F238E27FC236}">
                  <a16:creationId xmlns:a16="http://schemas.microsoft.com/office/drawing/2014/main" id="{809BF910-7DEF-4982-B8F3-EF89B928C006}"/>
                </a:ext>
              </a:extLst>
            </p:cNvPr>
            <p:cNvSpPr txBox="1"/>
            <p:nvPr/>
          </p:nvSpPr>
          <p:spPr>
            <a:xfrm>
              <a:off x="2424130" y="2860785"/>
              <a:ext cx="962530" cy="306076"/>
            </a:xfrm>
            <a:prstGeom prst="rect">
              <a:avLst/>
            </a:prstGeom>
            <a:noFill/>
          </p:spPr>
          <p:txBody>
            <a:bodyPr wrap="square" rtlCol="0">
              <a:spAutoFit/>
            </a:bodyPr>
            <a:lstStyle/>
            <a:p>
              <a:pPr algn="ctr"/>
              <a:r>
                <a:rPr lang="en-US" sz="800" dirty="0"/>
                <a:t>Real time Time Series Insight</a:t>
              </a:r>
            </a:p>
          </p:txBody>
        </p:sp>
        <p:grpSp>
          <p:nvGrpSpPr>
            <p:cNvPr id="16" name="Group 277">
              <a:extLst>
                <a:ext uri="{FF2B5EF4-FFF2-40B4-BE49-F238E27FC236}">
                  <a16:creationId xmlns:a16="http://schemas.microsoft.com/office/drawing/2014/main" id="{2CB3FAE2-BD36-4978-A21B-16F7C73046E6}"/>
                </a:ext>
              </a:extLst>
            </p:cNvPr>
            <p:cNvGrpSpPr>
              <a:grpSpLocks noChangeAspect="1"/>
            </p:cNvGrpSpPr>
            <p:nvPr/>
          </p:nvGrpSpPr>
          <p:grpSpPr bwMode="auto">
            <a:xfrm>
              <a:off x="2685583" y="3240937"/>
              <a:ext cx="274711" cy="217031"/>
              <a:chOff x="2910" y="2160"/>
              <a:chExt cx="341" cy="340"/>
            </a:xfrm>
            <a:solidFill>
              <a:schemeClr val="accent3"/>
            </a:solidFill>
          </p:grpSpPr>
          <p:sp>
            <p:nvSpPr>
              <p:cNvPr id="17" name="Freeform 278">
                <a:extLst>
                  <a:ext uri="{FF2B5EF4-FFF2-40B4-BE49-F238E27FC236}">
                    <a16:creationId xmlns:a16="http://schemas.microsoft.com/office/drawing/2014/main" id="{B13C90A7-ECA1-4628-9EBC-BE5644269BBF}"/>
                  </a:ext>
                </a:extLst>
              </p:cNvPr>
              <p:cNvSpPr>
                <a:spLocks/>
              </p:cNvSpPr>
              <p:nvPr/>
            </p:nvSpPr>
            <p:spPr bwMode="auto">
              <a:xfrm>
                <a:off x="2981" y="2230"/>
                <a:ext cx="199" cy="199"/>
              </a:xfrm>
              <a:custGeom>
                <a:avLst/>
                <a:gdLst>
                  <a:gd name="T0" fmla="*/ 299 w 299"/>
                  <a:gd name="T1" fmla="*/ 150 h 299"/>
                  <a:gd name="T2" fmla="*/ 288 w 299"/>
                  <a:gd name="T3" fmla="*/ 160 h 299"/>
                  <a:gd name="T4" fmla="*/ 175 w 299"/>
                  <a:gd name="T5" fmla="*/ 160 h 299"/>
                  <a:gd name="T6" fmla="*/ 253 w 299"/>
                  <a:gd name="T7" fmla="*/ 238 h 299"/>
                  <a:gd name="T8" fmla="*/ 253 w 299"/>
                  <a:gd name="T9" fmla="*/ 253 h 299"/>
                  <a:gd name="T10" fmla="*/ 246 w 299"/>
                  <a:gd name="T11" fmla="*/ 256 h 299"/>
                  <a:gd name="T12" fmla="*/ 238 w 299"/>
                  <a:gd name="T13" fmla="*/ 253 h 299"/>
                  <a:gd name="T14" fmla="*/ 160 w 299"/>
                  <a:gd name="T15" fmla="*/ 175 h 299"/>
                  <a:gd name="T16" fmla="*/ 160 w 299"/>
                  <a:gd name="T17" fmla="*/ 288 h 299"/>
                  <a:gd name="T18" fmla="*/ 150 w 299"/>
                  <a:gd name="T19" fmla="*/ 299 h 299"/>
                  <a:gd name="T20" fmla="*/ 139 w 299"/>
                  <a:gd name="T21" fmla="*/ 288 h 299"/>
                  <a:gd name="T22" fmla="*/ 139 w 299"/>
                  <a:gd name="T23" fmla="*/ 175 h 299"/>
                  <a:gd name="T24" fmla="*/ 61 w 299"/>
                  <a:gd name="T25" fmla="*/ 253 h 299"/>
                  <a:gd name="T26" fmla="*/ 54 w 299"/>
                  <a:gd name="T27" fmla="*/ 256 h 299"/>
                  <a:gd name="T28" fmla="*/ 46 w 299"/>
                  <a:gd name="T29" fmla="*/ 253 h 299"/>
                  <a:gd name="T30" fmla="*/ 46 w 299"/>
                  <a:gd name="T31" fmla="*/ 238 h 299"/>
                  <a:gd name="T32" fmla="*/ 124 w 299"/>
                  <a:gd name="T33" fmla="*/ 160 h 299"/>
                  <a:gd name="T34" fmla="*/ 11 w 299"/>
                  <a:gd name="T35" fmla="*/ 160 h 299"/>
                  <a:gd name="T36" fmla="*/ 0 w 299"/>
                  <a:gd name="T37" fmla="*/ 150 h 299"/>
                  <a:gd name="T38" fmla="*/ 11 w 299"/>
                  <a:gd name="T39" fmla="*/ 139 h 299"/>
                  <a:gd name="T40" fmla="*/ 124 w 299"/>
                  <a:gd name="T41" fmla="*/ 139 h 299"/>
                  <a:gd name="T42" fmla="*/ 46 w 299"/>
                  <a:gd name="T43" fmla="*/ 61 h 299"/>
                  <a:gd name="T44" fmla="*/ 46 w 299"/>
                  <a:gd name="T45" fmla="*/ 46 h 299"/>
                  <a:gd name="T46" fmla="*/ 61 w 299"/>
                  <a:gd name="T47" fmla="*/ 46 h 299"/>
                  <a:gd name="T48" fmla="*/ 139 w 299"/>
                  <a:gd name="T49" fmla="*/ 124 h 299"/>
                  <a:gd name="T50" fmla="*/ 139 w 299"/>
                  <a:gd name="T51" fmla="*/ 11 h 299"/>
                  <a:gd name="T52" fmla="*/ 150 w 299"/>
                  <a:gd name="T53" fmla="*/ 0 h 299"/>
                  <a:gd name="T54" fmla="*/ 160 w 299"/>
                  <a:gd name="T55" fmla="*/ 11 h 299"/>
                  <a:gd name="T56" fmla="*/ 160 w 299"/>
                  <a:gd name="T57" fmla="*/ 124 h 299"/>
                  <a:gd name="T58" fmla="*/ 238 w 299"/>
                  <a:gd name="T59" fmla="*/ 46 h 299"/>
                  <a:gd name="T60" fmla="*/ 253 w 299"/>
                  <a:gd name="T61" fmla="*/ 46 h 299"/>
                  <a:gd name="T62" fmla="*/ 253 w 299"/>
                  <a:gd name="T63" fmla="*/ 61 h 299"/>
                  <a:gd name="T64" fmla="*/ 175 w 299"/>
                  <a:gd name="T65" fmla="*/ 139 h 299"/>
                  <a:gd name="T66" fmla="*/ 288 w 299"/>
                  <a:gd name="T67" fmla="*/ 139 h 299"/>
                  <a:gd name="T68" fmla="*/ 299 w 299"/>
                  <a:gd name="T69" fmla="*/ 150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99" h="299">
                    <a:moveTo>
                      <a:pt x="299" y="150"/>
                    </a:moveTo>
                    <a:cubicBezTo>
                      <a:pt x="299" y="156"/>
                      <a:pt x="294" y="160"/>
                      <a:pt x="288" y="160"/>
                    </a:cubicBezTo>
                    <a:cubicBezTo>
                      <a:pt x="175" y="160"/>
                      <a:pt x="175" y="160"/>
                      <a:pt x="175" y="160"/>
                    </a:cubicBezTo>
                    <a:cubicBezTo>
                      <a:pt x="253" y="238"/>
                      <a:pt x="253" y="238"/>
                      <a:pt x="253" y="238"/>
                    </a:cubicBezTo>
                    <a:cubicBezTo>
                      <a:pt x="257" y="242"/>
                      <a:pt x="257" y="249"/>
                      <a:pt x="253" y="253"/>
                    </a:cubicBezTo>
                    <a:cubicBezTo>
                      <a:pt x="251" y="255"/>
                      <a:pt x="248" y="256"/>
                      <a:pt x="246" y="256"/>
                    </a:cubicBezTo>
                    <a:cubicBezTo>
                      <a:pt x="243" y="256"/>
                      <a:pt x="240" y="255"/>
                      <a:pt x="238" y="253"/>
                    </a:cubicBezTo>
                    <a:cubicBezTo>
                      <a:pt x="160" y="175"/>
                      <a:pt x="160" y="175"/>
                      <a:pt x="160" y="175"/>
                    </a:cubicBezTo>
                    <a:cubicBezTo>
                      <a:pt x="160" y="288"/>
                      <a:pt x="160" y="288"/>
                      <a:pt x="160" y="288"/>
                    </a:cubicBezTo>
                    <a:cubicBezTo>
                      <a:pt x="160" y="294"/>
                      <a:pt x="156" y="299"/>
                      <a:pt x="150" y="299"/>
                    </a:cubicBezTo>
                    <a:cubicBezTo>
                      <a:pt x="144" y="299"/>
                      <a:pt x="139" y="294"/>
                      <a:pt x="139" y="288"/>
                    </a:cubicBezTo>
                    <a:cubicBezTo>
                      <a:pt x="139" y="175"/>
                      <a:pt x="139" y="175"/>
                      <a:pt x="139" y="175"/>
                    </a:cubicBezTo>
                    <a:cubicBezTo>
                      <a:pt x="61" y="253"/>
                      <a:pt x="61" y="253"/>
                      <a:pt x="61" y="253"/>
                    </a:cubicBezTo>
                    <a:cubicBezTo>
                      <a:pt x="59" y="255"/>
                      <a:pt x="56" y="256"/>
                      <a:pt x="54" y="256"/>
                    </a:cubicBezTo>
                    <a:cubicBezTo>
                      <a:pt x="51" y="256"/>
                      <a:pt x="48" y="255"/>
                      <a:pt x="46" y="253"/>
                    </a:cubicBezTo>
                    <a:cubicBezTo>
                      <a:pt x="42" y="249"/>
                      <a:pt x="42" y="242"/>
                      <a:pt x="46" y="238"/>
                    </a:cubicBezTo>
                    <a:cubicBezTo>
                      <a:pt x="124" y="160"/>
                      <a:pt x="124" y="160"/>
                      <a:pt x="124" y="160"/>
                    </a:cubicBezTo>
                    <a:cubicBezTo>
                      <a:pt x="11" y="160"/>
                      <a:pt x="11" y="160"/>
                      <a:pt x="11" y="160"/>
                    </a:cubicBezTo>
                    <a:cubicBezTo>
                      <a:pt x="5" y="160"/>
                      <a:pt x="0" y="156"/>
                      <a:pt x="0" y="150"/>
                    </a:cubicBezTo>
                    <a:cubicBezTo>
                      <a:pt x="0" y="144"/>
                      <a:pt x="5" y="139"/>
                      <a:pt x="11" y="139"/>
                    </a:cubicBezTo>
                    <a:cubicBezTo>
                      <a:pt x="124" y="139"/>
                      <a:pt x="124" y="139"/>
                      <a:pt x="124" y="139"/>
                    </a:cubicBezTo>
                    <a:cubicBezTo>
                      <a:pt x="46" y="61"/>
                      <a:pt x="46" y="61"/>
                      <a:pt x="46" y="61"/>
                    </a:cubicBezTo>
                    <a:cubicBezTo>
                      <a:pt x="42" y="57"/>
                      <a:pt x="42" y="50"/>
                      <a:pt x="46" y="46"/>
                    </a:cubicBezTo>
                    <a:cubicBezTo>
                      <a:pt x="50" y="42"/>
                      <a:pt x="57" y="42"/>
                      <a:pt x="61" y="46"/>
                    </a:cubicBezTo>
                    <a:cubicBezTo>
                      <a:pt x="139" y="124"/>
                      <a:pt x="139" y="124"/>
                      <a:pt x="139" y="124"/>
                    </a:cubicBezTo>
                    <a:cubicBezTo>
                      <a:pt x="139" y="11"/>
                      <a:pt x="139" y="11"/>
                      <a:pt x="139" y="11"/>
                    </a:cubicBezTo>
                    <a:cubicBezTo>
                      <a:pt x="139" y="5"/>
                      <a:pt x="144" y="0"/>
                      <a:pt x="150" y="0"/>
                    </a:cubicBezTo>
                    <a:cubicBezTo>
                      <a:pt x="156" y="0"/>
                      <a:pt x="160" y="5"/>
                      <a:pt x="160" y="11"/>
                    </a:cubicBezTo>
                    <a:cubicBezTo>
                      <a:pt x="160" y="124"/>
                      <a:pt x="160" y="124"/>
                      <a:pt x="160" y="124"/>
                    </a:cubicBezTo>
                    <a:cubicBezTo>
                      <a:pt x="238" y="46"/>
                      <a:pt x="238" y="46"/>
                      <a:pt x="238" y="46"/>
                    </a:cubicBezTo>
                    <a:cubicBezTo>
                      <a:pt x="242" y="42"/>
                      <a:pt x="249" y="42"/>
                      <a:pt x="253" y="46"/>
                    </a:cubicBezTo>
                    <a:cubicBezTo>
                      <a:pt x="257" y="50"/>
                      <a:pt x="257" y="57"/>
                      <a:pt x="253" y="61"/>
                    </a:cubicBezTo>
                    <a:cubicBezTo>
                      <a:pt x="175" y="139"/>
                      <a:pt x="175" y="139"/>
                      <a:pt x="175" y="139"/>
                    </a:cubicBezTo>
                    <a:cubicBezTo>
                      <a:pt x="288" y="139"/>
                      <a:pt x="288" y="139"/>
                      <a:pt x="288" y="139"/>
                    </a:cubicBezTo>
                    <a:cubicBezTo>
                      <a:pt x="294" y="139"/>
                      <a:pt x="299" y="144"/>
                      <a:pt x="299" y="15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00" dirty="0"/>
              </a:p>
            </p:txBody>
          </p:sp>
          <p:sp>
            <p:nvSpPr>
              <p:cNvPr id="18" name="Freeform 279">
                <a:extLst>
                  <a:ext uri="{FF2B5EF4-FFF2-40B4-BE49-F238E27FC236}">
                    <a16:creationId xmlns:a16="http://schemas.microsoft.com/office/drawing/2014/main" id="{B7FE07F3-F887-466E-80BF-8B59697320BE}"/>
                  </a:ext>
                </a:extLst>
              </p:cNvPr>
              <p:cNvSpPr>
                <a:spLocks noEditPoints="1"/>
              </p:cNvSpPr>
              <p:nvPr/>
            </p:nvSpPr>
            <p:spPr bwMode="auto">
              <a:xfrm>
                <a:off x="2910" y="2160"/>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800" dirty="0"/>
              </a:p>
            </p:txBody>
          </p:sp>
        </p:grpSp>
        <p:sp>
          <p:nvSpPr>
            <p:cNvPr id="19" name="TextBox 18">
              <a:extLst>
                <a:ext uri="{FF2B5EF4-FFF2-40B4-BE49-F238E27FC236}">
                  <a16:creationId xmlns:a16="http://schemas.microsoft.com/office/drawing/2014/main" id="{6EB870C0-AEE3-4764-BBE6-B3F4CB1C62D5}"/>
                </a:ext>
              </a:extLst>
            </p:cNvPr>
            <p:cNvSpPr txBox="1"/>
            <p:nvPr/>
          </p:nvSpPr>
          <p:spPr>
            <a:xfrm>
              <a:off x="2377894" y="3441386"/>
              <a:ext cx="1152706" cy="215444"/>
            </a:xfrm>
            <a:prstGeom prst="rect">
              <a:avLst/>
            </a:prstGeom>
            <a:noFill/>
          </p:spPr>
          <p:txBody>
            <a:bodyPr wrap="square" rtlCol="0">
              <a:spAutoFit/>
            </a:bodyPr>
            <a:lstStyle/>
            <a:p>
              <a:pPr algn="ctr"/>
              <a:r>
                <a:rPr lang="en-US" sz="800" dirty="0"/>
                <a:t>Stream Analytics</a:t>
              </a:r>
            </a:p>
          </p:txBody>
        </p:sp>
        <p:sp>
          <p:nvSpPr>
            <p:cNvPr id="21" name="Rectangle 20">
              <a:extLst>
                <a:ext uri="{FF2B5EF4-FFF2-40B4-BE49-F238E27FC236}">
                  <a16:creationId xmlns:a16="http://schemas.microsoft.com/office/drawing/2014/main" id="{78713457-CE1B-42C9-8108-55BE84B06797}"/>
                </a:ext>
              </a:extLst>
            </p:cNvPr>
            <p:cNvSpPr/>
            <p:nvPr/>
          </p:nvSpPr>
          <p:spPr>
            <a:xfrm>
              <a:off x="4127085" y="3111820"/>
              <a:ext cx="885133" cy="3687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Data Lake</a:t>
              </a:r>
            </a:p>
          </p:txBody>
        </p:sp>
        <p:sp>
          <p:nvSpPr>
            <p:cNvPr id="24" name="Rectangle 23">
              <a:extLst>
                <a:ext uri="{FF2B5EF4-FFF2-40B4-BE49-F238E27FC236}">
                  <a16:creationId xmlns:a16="http://schemas.microsoft.com/office/drawing/2014/main" id="{3E4F2967-383D-42A1-914B-DFC76BD3BD33}"/>
                </a:ext>
              </a:extLst>
            </p:cNvPr>
            <p:cNvSpPr/>
            <p:nvPr/>
          </p:nvSpPr>
          <p:spPr>
            <a:xfrm>
              <a:off x="4023833" y="2391801"/>
              <a:ext cx="1081677" cy="1875399"/>
            </a:xfrm>
            <a:prstGeom prst="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cxnSp>
          <p:nvCxnSpPr>
            <p:cNvPr id="26" name="Connector: Elbow 25">
              <a:extLst>
                <a:ext uri="{FF2B5EF4-FFF2-40B4-BE49-F238E27FC236}">
                  <a16:creationId xmlns:a16="http://schemas.microsoft.com/office/drawing/2014/main" id="{367FB41E-979E-441B-86ED-EB15FDD3FBD9}"/>
                </a:ext>
              </a:extLst>
            </p:cNvPr>
            <p:cNvCxnSpPr>
              <a:cxnSpLocks/>
            </p:cNvCxnSpPr>
            <p:nvPr/>
          </p:nvCxnSpPr>
          <p:spPr>
            <a:xfrm flipV="1">
              <a:off x="2127384" y="2713467"/>
              <a:ext cx="494473" cy="241441"/>
            </a:xfrm>
            <a:prstGeom prst="bentConnector3">
              <a:avLst>
                <a:gd name="adj1" fmla="val 4662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739603B0-104F-4739-9C9E-38AC0F40038A}"/>
                </a:ext>
              </a:extLst>
            </p:cNvPr>
            <p:cNvCxnSpPr>
              <a:cxnSpLocks/>
              <a:stCxn id="10" idx="3"/>
              <a:endCxn id="18" idx="6"/>
            </p:cNvCxnSpPr>
            <p:nvPr/>
          </p:nvCxnSpPr>
          <p:spPr>
            <a:xfrm>
              <a:off x="2281733" y="2954908"/>
              <a:ext cx="403849" cy="394545"/>
            </a:xfrm>
            <a:prstGeom prst="bentConnector3">
              <a:avLst>
                <a:gd name="adj1" fmla="val 18633"/>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91EEFE7A-D9BE-461F-A24A-8473C193FCC3}"/>
                </a:ext>
              </a:extLst>
            </p:cNvPr>
            <p:cNvSpPr/>
            <p:nvPr/>
          </p:nvSpPr>
          <p:spPr>
            <a:xfrm>
              <a:off x="4147154" y="2639995"/>
              <a:ext cx="885133" cy="208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Rule Engine</a:t>
              </a:r>
            </a:p>
          </p:txBody>
        </p:sp>
        <p:pic>
          <p:nvPicPr>
            <p:cNvPr id="44" name="Picture 43">
              <a:extLst>
                <a:ext uri="{FF2B5EF4-FFF2-40B4-BE49-F238E27FC236}">
                  <a16:creationId xmlns:a16="http://schemas.microsoft.com/office/drawing/2014/main" id="{A0C0ACE2-38E3-4450-ADF8-3D660E5B9493}"/>
                </a:ext>
              </a:extLst>
            </p:cNvPr>
            <p:cNvPicPr>
              <a:picLocks noChangeAspect="1"/>
            </p:cNvPicPr>
            <p:nvPr/>
          </p:nvPicPr>
          <p:blipFill>
            <a:blip r:embed="rId4"/>
            <a:stretch>
              <a:fillRect/>
            </a:stretch>
          </p:blipFill>
          <p:spPr>
            <a:xfrm>
              <a:off x="2550311" y="3617621"/>
              <a:ext cx="197919" cy="299292"/>
            </a:xfrm>
            <a:prstGeom prst="rect">
              <a:avLst/>
            </a:prstGeom>
          </p:spPr>
        </p:pic>
        <p:pic>
          <p:nvPicPr>
            <p:cNvPr id="45" name="Picture 44">
              <a:extLst>
                <a:ext uri="{FF2B5EF4-FFF2-40B4-BE49-F238E27FC236}">
                  <a16:creationId xmlns:a16="http://schemas.microsoft.com/office/drawing/2014/main" id="{AF4ED2B1-CD73-4A3A-B220-D2C2F445DE8E}"/>
                </a:ext>
              </a:extLst>
            </p:cNvPr>
            <p:cNvPicPr>
              <a:picLocks noChangeAspect="1"/>
            </p:cNvPicPr>
            <p:nvPr/>
          </p:nvPicPr>
          <p:blipFill>
            <a:blip r:embed="rId5"/>
            <a:stretch>
              <a:fillRect/>
            </a:stretch>
          </p:blipFill>
          <p:spPr>
            <a:xfrm>
              <a:off x="2827111" y="3852613"/>
              <a:ext cx="221208" cy="210329"/>
            </a:xfrm>
            <a:prstGeom prst="rect">
              <a:avLst/>
            </a:prstGeom>
          </p:spPr>
        </p:pic>
        <p:sp>
          <p:nvSpPr>
            <p:cNvPr id="46" name="Rectangle 45">
              <a:extLst>
                <a:ext uri="{FF2B5EF4-FFF2-40B4-BE49-F238E27FC236}">
                  <a16:creationId xmlns:a16="http://schemas.microsoft.com/office/drawing/2014/main" id="{11CA08F2-E096-4641-A9C3-44660CC0E2EC}"/>
                </a:ext>
              </a:extLst>
            </p:cNvPr>
            <p:cNvSpPr/>
            <p:nvPr/>
          </p:nvSpPr>
          <p:spPr>
            <a:xfrm>
              <a:off x="1878328" y="2410966"/>
              <a:ext cx="1631284" cy="1776213"/>
            </a:xfrm>
            <a:prstGeom prst="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cxnSp>
          <p:nvCxnSpPr>
            <p:cNvPr id="47" name="Connector: Elbow 46">
              <a:extLst>
                <a:ext uri="{FF2B5EF4-FFF2-40B4-BE49-F238E27FC236}">
                  <a16:creationId xmlns:a16="http://schemas.microsoft.com/office/drawing/2014/main" id="{8602B703-0599-47EE-98A0-23FB9150B7E2}"/>
                </a:ext>
              </a:extLst>
            </p:cNvPr>
            <p:cNvCxnSpPr>
              <a:stCxn id="14" idx="2"/>
              <a:endCxn id="44" idx="1"/>
            </p:cNvCxnSpPr>
            <p:nvPr/>
          </p:nvCxnSpPr>
          <p:spPr>
            <a:xfrm rot="16200000" flipH="1">
              <a:off x="2116856" y="3333812"/>
              <a:ext cx="444292" cy="422617"/>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9570FC47-74AA-40C1-AD0E-E13A577D0FF0}"/>
                </a:ext>
              </a:extLst>
            </p:cNvPr>
            <p:cNvCxnSpPr>
              <a:endCxn id="45" idx="1"/>
            </p:cNvCxnSpPr>
            <p:nvPr/>
          </p:nvCxnSpPr>
          <p:spPr>
            <a:xfrm>
              <a:off x="2127384" y="3722137"/>
              <a:ext cx="699727" cy="235641"/>
            </a:xfrm>
            <a:prstGeom prst="bentConnector3">
              <a:avLst>
                <a:gd name="adj1" fmla="val -12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588E7667-1155-4309-A9C1-30F5DF87E400}"/>
                </a:ext>
              </a:extLst>
            </p:cNvPr>
            <p:cNvPicPr>
              <a:picLocks noChangeAspect="1"/>
            </p:cNvPicPr>
            <p:nvPr/>
          </p:nvPicPr>
          <p:blipFill>
            <a:blip r:embed="rId6"/>
            <a:stretch>
              <a:fillRect/>
            </a:stretch>
          </p:blipFill>
          <p:spPr>
            <a:xfrm>
              <a:off x="5937280" y="3049500"/>
              <a:ext cx="311017" cy="316777"/>
            </a:xfrm>
            <a:prstGeom prst="rect">
              <a:avLst/>
            </a:prstGeom>
          </p:spPr>
        </p:pic>
        <p:pic>
          <p:nvPicPr>
            <p:cNvPr id="50" name="Picture 49">
              <a:extLst>
                <a:ext uri="{FF2B5EF4-FFF2-40B4-BE49-F238E27FC236}">
                  <a16:creationId xmlns:a16="http://schemas.microsoft.com/office/drawing/2014/main" id="{6993C64C-EB3A-4F41-8CB4-974309250D34}"/>
                </a:ext>
              </a:extLst>
            </p:cNvPr>
            <p:cNvPicPr>
              <a:picLocks noChangeAspect="1"/>
            </p:cNvPicPr>
            <p:nvPr/>
          </p:nvPicPr>
          <p:blipFill>
            <a:blip r:embed="rId7"/>
            <a:stretch>
              <a:fillRect/>
            </a:stretch>
          </p:blipFill>
          <p:spPr>
            <a:xfrm>
              <a:off x="5926564" y="3724690"/>
              <a:ext cx="358877" cy="257308"/>
            </a:xfrm>
            <a:prstGeom prst="rect">
              <a:avLst/>
            </a:prstGeom>
          </p:spPr>
        </p:pic>
        <p:sp>
          <p:nvSpPr>
            <p:cNvPr id="51" name="TextBox 50">
              <a:extLst>
                <a:ext uri="{FF2B5EF4-FFF2-40B4-BE49-F238E27FC236}">
                  <a16:creationId xmlns:a16="http://schemas.microsoft.com/office/drawing/2014/main" id="{DE4794D8-D2DD-4DA1-81D3-6AB7B6DF7A89}"/>
                </a:ext>
              </a:extLst>
            </p:cNvPr>
            <p:cNvSpPr txBox="1"/>
            <p:nvPr/>
          </p:nvSpPr>
          <p:spPr>
            <a:xfrm>
              <a:off x="5636834" y="3304914"/>
              <a:ext cx="962530" cy="194776"/>
            </a:xfrm>
            <a:prstGeom prst="rect">
              <a:avLst/>
            </a:prstGeom>
            <a:noFill/>
          </p:spPr>
          <p:txBody>
            <a:bodyPr wrap="square" rtlCol="0">
              <a:spAutoFit/>
            </a:bodyPr>
            <a:lstStyle/>
            <a:p>
              <a:pPr algn="ctr"/>
              <a:r>
                <a:rPr lang="en-US" sz="800" dirty="0"/>
                <a:t>Real Time Apps</a:t>
              </a:r>
            </a:p>
          </p:txBody>
        </p:sp>
        <p:sp>
          <p:nvSpPr>
            <p:cNvPr id="52" name="TextBox 51">
              <a:extLst>
                <a:ext uri="{FF2B5EF4-FFF2-40B4-BE49-F238E27FC236}">
                  <a16:creationId xmlns:a16="http://schemas.microsoft.com/office/drawing/2014/main" id="{2742E23A-BAFE-4851-9243-54CE38C3E864}"/>
                </a:ext>
              </a:extLst>
            </p:cNvPr>
            <p:cNvSpPr txBox="1"/>
            <p:nvPr/>
          </p:nvSpPr>
          <p:spPr>
            <a:xfrm>
              <a:off x="5636834" y="3957468"/>
              <a:ext cx="962530" cy="194776"/>
            </a:xfrm>
            <a:prstGeom prst="rect">
              <a:avLst/>
            </a:prstGeom>
            <a:noFill/>
          </p:spPr>
          <p:txBody>
            <a:bodyPr wrap="square" rtlCol="0">
              <a:spAutoFit/>
            </a:bodyPr>
            <a:lstStyle/>
            <a:p>
              <a:pPr algn="ctr"/>
              <a:r>
                <a:rPr lang="en-US" sz="800" dirty="0"/>
                <a:t>Dashboards</a:t>
              </a:r>
            </a:p>
          </p:txBody>
        </p:sp>
        <p:sp>
          <p:nvSpPr>
            <p:cNvPr id="54" name="Rectangle 53">
              <a:extLst>
                <a:ext uri="{FF2B5EF4-FFF2-40B4-BE49-F238E27FC236}">
                  <a16:creationId xmlns:a16="http://schemas.microsoft.com/office/drawing/2014/main" id="{2311F30A-37E4-4B10-8D41-0CBC8816FA53}"/>
                </a:ext>
              </a:extLst>
            </p:cNvPr>
            <p:cNvSpPr/>
            <p:nvPr/>
          </p:nvSpPr>
          <p:spPr>
            <a:xfrm>
              <a:off x="5588090" y="2939122"/>
              <a:ext cx="1081677" cy="1251877"/>
            </a:xfrm>
            <a:prstGeom prst="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56" name="TextBox 55">
              <a:extLst>
                <a:ext uri="{FF2B5EF4-FFF2-40B4-BE49-F238E27FC236}">
                  <a16:creationId xmlns:a16="http://schemas.microsoft.com/office/drawing/2014/main" id="{3B40FB6A-8420-4EBC-A27F-6FF400D089D1}"/>
                </a:ext>
              </a:extLst>
            </p:cNvPr>
            <p:cNvSpPr txBox="1"/>
            <p:nvPr/>
          </p:nvSpPr>
          <p:spPr>
            <a:xfrm>
              <a:off x="541461" y="3518242"/>
              <a:ext cx="588200" cy="306076"/>
            </a:xfrm>
            <a:prstGeom prst="rect">
              <a:avLst/>
            </a:prstGeom>
            <a:noFill/>
          </p:spPr>
          <p:txBody>
            <a:bodyPr wrap="square" rtlCol="0">
              <a:spAutoFit/>
            </a:bodyPr>
            <a:lstStyle/>
            <a:p>
              <a:pPr algn="ctr"/>
              <a:r>
                <a:rPr lang="en-US" sz="800" dirty="0"/>
                <a:t>IoT Edge Devices</a:t>
              </a:r>
            </a:p>
          </p:txBody>
        </p:sp>
        <p:sp>
          <p:nvSpPr>
            <p:cNvPr id="61" name="Rectangle 60">
              <a:extLst>
                <a:ext uri="{FF2B5EF4-FFF2-40B4-BE49-F238E27FC236}">
                  <a16:creationId xmlns:a16="http://schemas.microsoft.com/office/drawing/2014/main" id="{3653A134-A767-4952-BB9B-4572E501428B}"/>
                </a:ext>
              </a:extLst>
            </p:cNvPr>
            <p:cNvSpPr/>
            <p:nvPr/>
          </p:nvSpPr>
          <p:spPr>
            <a:xfrm>
              <a:off x="4127084" y="3766149"/>
              <a:ext cx="885133" cy="208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bg1"/>
                  </a:solidFill>
                </a:rPr>
                <a:t>Data Science</a:t>
              </a:r>
            </a:p>
          </p:txBody>
        </p:sp>
        <p:cxnSp>
          <p:nvCxnSpPr>
            <p:cNvPr id="36" name="Straight Arrow Connector 35">
              <a:extLst>
                <a:ext uri="{FF2B5EF4-FFF2-40B4-BE49-F238E27FC236}">
                  <a16:creationId xmlns:a16="http://schemas.microsoft.com/office/drawing/2014/main" id="{72348D82-A0B9-44A3-A7AD-AA771892975B}"/>
                </a:ext>
              </a:extLst>
            </p:cNvPr>
            <p:cNvCxnSpPr/>
            <p:nvPr/>
          </p:nvCxnSpPr>
          <p:spPr>
            <a:xfrm>
              <a:off x="1295400" y="3365500"/>
              <a:ext cx="548640" cy="0"/>
            </a:xfrm>
            <a:prstGeom prst="straightConnector1">
              <a:avLst/>
            </a:prstGeom>
            <a:ln w="31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27B67E3-D958-4121-BAB0-328A1B02EE22}"/>
                </a:ext>
              </a:extLst>
            </p:cNvPr>
            <p:cNvCxnSpPr/>
            <p:nvPr/>
          </p:nvCxnSpPr>
          <p:spPr>
            <a:xfrm>
              <a:off x="3517900" y="3365500"/>
              <a:ext cx="457200" cy="0"/>
            </a:xfrm>
            <a:prstGeom prst="straightConnector1">
              <a:avLst/>
            </a:prstGeom>
            <a:ln w="31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262BFA3-6FD2-47BA-8269-D134AC7F944D}"/>
                </a:ext>
              </a:extLst>
            </p:cNvPr>
            <p:cNvCxnSpPr/>
            <p:nvPr/>
          </p:nvCxnSpPr>
          <p:spPr>
            <a:xfrm>
              <a:off x="5130800" y="3365500"/>
              <a:ext cx="457200" cy="0"/>
            </a:xfrm>
            <a:prstGeom prst="straightConnector1">
              <a:avLst/>
            </a:prstGeom>
            <a:ln w="3175">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34592"/>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Architecture pattern: Edge computing</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554760098"/>
              </p:ext>
            </p:extLst>
          </p:nvPr>
        </p:nvGraphicFramePr>
        <p:xfrm>
          <a:off x="7601031" y="1680963"/>
          <a:ext cx="4121069" cy="4465320"/>
        </p:xfrm>
        <a:graphic>
          <a:graphicData uri="http://schemas.openxmlformats.org/drawingml/2006/table">
            <a:tbl>
              <a:tblPr bandRow="1">
                <a:effectLst/>
              </a:tblPr>
              <a:tblGrid>
                <a:gridCol w="4121069">
                  <a:extLst>
                    <a:ext uri="{9D8B030D-6E8A-4147-A177-3AD203B41FA5}">
                      <a16:colId xmlns:a16="http://schemas.microsoft.com/office/drawing/2014/main" val="2219018424"/>
                    </a:ext>
                  </a:extLst>
                </a:gridCol>
              </a:tblGrid>
              <a:tr h="0">
                <a:tc>
                  <a:txBody>
                    <a:bodyPr/>
                    <a:lstStyle/>
                    <a:p>
                      <a:pPr>
                        <a:spcAft>
                          <a:spcPts val="600"/>
                        </a:spcAft>
                      </a:pPr>
                      <a:r>
                        <a:rPr lang="en-US" sz="1000" b="1" dirty="0">
                          <a:solidFill>
                            <a:schemeClr val="tx1"/>
                          </a:solidFill>
                        </a:rPr>
                        <a:t>Context</a:t>
                      </a:r>
                    </a:p>
                    <a:p>
                      <a:pPr>
                        <a:spcAft>
                          <a:spcPts val="600"/>
                        </a:spcAft>
                      </a:pPr>
                      <a:r>
                        <a:rPr lang="en-US" sz="1000" dirty="0">
                          <a:solidFill>
                            <a:schemeClr val="tx1"/>
                          </a:solidFill>
                        </a:rPr>
                        <a:t>Increase of smart devices in industrial and consumer area is growing exponentially. The amount of data being generated by these smart devices is unprecedented. Transmitting this data over wide area networks, removing noise from signal and processing at high velocity requires network bandwidth and dedicated resources for storage and processing</a:t>
                      </a:r>
                      <a:endParaRPr lang="en-US" sz="1000" b="1" dirty="0">
                        <a:solidFill>
                          <a:schemeClr val="tx1"/>
                        </a:solidFill>
                      </a:endParaRPr>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a:spcAft>
                          <a:spcPts val="600"/>
                        </a:spcAft>
                      </a:pPr>
                      <a:r>
                        <a:rPr lang="en-US" sz="1000" b="1" dirty="0">
                          <a:solidFill>
                            <a:schemeClr val="tx1"/>
                          </a:solidFill>
                        </a:rPr>
                        <a:t>Solution description</a:t>
                      </a:r>
                    </a:p>
                    <a:p>
                      <a:pPr>
                        <a:spcAft>
                          <a:spcPts val="600"/>
                        </a:spcAft>
                      </a:pPr>
                      <a:r>
                        <a:rPr lang="en-US" sz="1000" dirty="0">
                          <a:solidFill>
                            <a:schemeClr val="tx1"/>
                          </a:solidFill>
                        </a:rPr>
                        <a:t>Edge computing improve the data processing by performing the data processing at the edge of the network, closer to the source of the data. Edge computing has several advantages:</a:t>
                      </a:r>
                    </a:p>
                    <a:p>
                      <a:pPr marL="171450" indent="-171450">
                        <a:spcAft>
                          <a:spcPts val="600"/>
                        </a:spcAft>
                        <a:buFont typeface="Arial" panose="020B0604020202020204" pitchFamily="34" charset="0"/>
                        <a:buChar char="•"/>
                      </a:pPr>
                      <a:r>
                        <a:rPr lang="en-US" sz="1000" dirty="0">
                          <a:solidFill>
                            <a:schemeClr val="tx1"/>
                          </a:solidFill>
                        </a:rPr>
                        <a:t>Improved Latency </a:t>
                      </a:r>
                    </a:p>
                    <a:p>
                      <a:pPr marL="171450" indent="-171450">
                        <a:spcAft>
                          <a:spcPts val="600"/>
                        </a:spcAft>
                        <a:buFont typeface="Arial" panose="020B0604020202020204" pitchFamily="34" charset="0"/>
                        <a:buChar char="•"/>
                      </a:pPr>
                      <a:r>
                        <a:rPr lang="en-US" sz="1000" dirty="0">
                          <a:solidFill>
                            <a:schemeClr val="tx1"/>
                          </a:solidFill>
                        </a:rPr>
                        <a:t>Bandwidth intensive contents much closer to the data source</a:t>
                      </a:r>
                    </a:p>
                    <a:p>
                      <a:pPr marL="171450" indent="-171450">
                        <a:spcAft>
                          <a:spcPts val="600"/>
                        </a:spcAft>
                        <a:buFont typeface="Arial" panose="020B0604020202020204" pitchFamily="34" charset="0"/>
                        <a:buChar char="•"/>
                      </a:pPr>
                      <a:r>
                        <a:rPr lang="en-US" sz="1000" dirty="0">
                          <a:solidFill>
                            <a:schemeClr val="tx1"/>
                          </a:solidFill>
                        </a:rPr>
                        <a:t>Unwanted data discarded</a:t>
                      </a:r>
                    </a:p>
                    <a:p>
                      <a:pPr marL="171450" indent="-171450">
                        <a:spcAft>
                          <a:spcPts val="600"/>
                        </a:spcAft>
                        <a:buFont typeface="Arial" panose="020B0604020202020204" pitchFamily="34" charset="0"/>
                        <a:buChar char="•"/>
                      </a:pPr>
                      <a:r>
                        <a:rPr lang="en-US" sz="1000" dirty="0">
                          <a:solidFill>
                            <a:schemeClr val="tx1"/>
                          </a:solidFill>
                        </a:rPr>
                        <a:t>Realtime alert</a:t>
                      </a:r>
                    </a:p>
                    <a:p>
                      <a:pPr marL="171450" indent="-171450">
                        <a:spcAft>
                          <a:spcPts val="600"/>
                        </a:spcAft>
                        <a:buFont typeface="Arial" panose="020B0604020202020204" pitchFamily="34" charset="0"/>
                        <a:buChar char="•"/>
                      </a:pPr>
                      <a:r>
                        <a:rPr lang="en-US" sz="1000" dirty="0">
                          <a:solidFill>
                            <a:schemeClr val="tx1"/>
                          </a:solidFill>
                        </a:rPr>
                        <a:t>Basic analytics at the edge</a:t>
                      </a:r>
                    </a:p>
                    <a:p>
                      <a:pPr marL="171450" indent="-171450">
                        <a:spcAft>
                          <a:spcPts val="600"/>
                        </a:spcAft>
                        <a:buFont typeface="Arial" panose="020B0604020202020204" pitchFamily="34" charset="0"/>
                        <a:buChar char="•"/>
                      </a:pPr>
                      <a:r>
                        <a:rPr lang="en-US" sz="1000" dirty="0">
                          <a:solidFill>
                            <a:schemeClr val="tx1"/>
                          </a:solidFill>
                        </a:rPr>
                        <a:t>Utilize decentralized processing power</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a:spcAft>
                          <a:spcPts val="600"/>
                        </a:spcAft>
                      </a:pPr>
                      <a:r>
                        <a:rPr lang="en-US" sz="1000" b="1" dirty="0">
                          <a:solidFill>
                            <a:schemeClr val="tx1"/>
                          </a:solidFill>
                        </a:rPr>
                        <a:t>Rationale</a:t>
                      </a:r>
                    </a:p>
                    <a:p>
                      <a:pPr>
                        <a:spcAft>
                          <a:spcPts val="600"/>
                        </a:spcAft>
                      </a:pPr>
                      <a:r>
                        <a:rPr lang="en-US" sz="1000" dirty="0">
                          <a:solidFill>
                            <a:schemeClr val="tx1"/>
                          </a:solidFill>
                        </a:rPr>
                        <a:t>Edge network computing is a required capability for several IOT use cases. For example, edge computing technologies are used in self-driving cars and medical devices that have low power requirements.</a:t>
                      </a:r>
                      <a:endParaRPr lang="en-US" sz="1000" b="1"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sp>
        <p:nvSpPr>
          <p:cNvPr id="6" name="Rectangle 5">
            <a:extLst>
              <a:ext uri="{FF2B5EF4-FFF2-40B4-BE49-F238E27FC236}">
                <a16:creationId xmlns:a16="http://schemas.microsoft.com/office/drawing/2014/main" id="{C8ED0E21-FB78-4719-8F8F-7DA76D084D70}"/>
              </a:ext>
            </a:extLst>
          </p:cNvPr>
          <p:cNvSpPr/>
          <p:nvPr/>
        </p:nvSpPr>
        <p:spPr bwMode="gray">
          <a:xfrm>
            <a:off x="469900" y="1128409"/>
            <a:ext cx="6912045" cy="5190384"/>
          </a:xfrm>
          <a:prstGeom prst="rect">
            <a:avLst/>
          </a:prstGeom>
          <a:solidFill>
            <a:schemeClr val="bg1"/>
          </a:solidFill>
          <a:ln w="19050" algn="ctr">
            <a:solidFill>
              <a:schemeClr val="tx1"/>
            </a:solid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 name="Rectangle 9">
            <a:extLst>
              <a:ext uri="{FF2B5EF4-FFF2-40B4-BE49-F238E27FC236}">
                <a16:creationId xmlns:a16="http://schemas.microsoft.com/office/drawing/2014/main" id="{CB9CC4B3-04C9-4763-9B5D-3051772683F2}"/>
              </a:ext>
            </a:extLst>
          </p:cNvPr>
          <p:cNvSpPr/>
          <p:nvPr/>
        </p:nvSpPr>
        <p:spPr bwMode="gray">
          <a:xfrm>
            <a:off x="687469" y="1835892"/>
            <a:ext cx="1214750" cy="3750615"/>
          </a:xfrm>
          <a:prstGeom prst="rect">
            <a:avLst/>
          </a:prstGeom>
          <a:solidFill>
            <a:schemeClr val="accent1"/>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r>
              <a:rPr lang="en-US" sz="1000" b="1" dirty="0">
                <a:solidFill>
                  <a:schemeClr val="bg1"/>
                </a:solidFill>
              </a:rPr>
              <a:t>Industrial &amp; Consumer Devices </a:t>
            </a:r>
          </a:p>
          <a:p>
            <a:pPr algn="ctr">
              <a:lnSpc>
                <a:spcPct val="106000"/>
              </a:lnSpc>
              <a:buFont typeface="Wingdings 2" pitchFamily="18" charset="2"/>
              <a:buNone/>
            </a:pPr>
            <a:r>
              <a:rPr lang="en-US" sz="1000" b="1" dirty="0">
                <a:solidFill>
                  <a:schemeClr val="bg1"/>
                </a:solidFill>
              </a:rPr>
              <a:t>(Data Source)</a:t>
            </a:r>
          </a:p>
        </p:txBody>
      </p:sp>
      <p:sp>
        <p:nvSpPr>
          <p:cNvPr id="13" name="Rectangle 12">
            <a:extLst>
              <a:ext uri="{FF2B5EF4-FFF2-40B4-BE49-F238E27FC236}">
                <a16:creationId xmlns:a16="http://schemas.microsoft.com/office/drawing/2014/main" id="{256ED17A-FAAB-4D60-87E3-9B37803F58BB}"/>
              </a:ext>
            </a:extLst>
          </p:cNvPr>
          <p:cNvSpPr/>
          <p:nvPr/>
        </p:nvSpPr>
        <p:spPr bwMode="gray">
          <a:xfrm>
            <a:off x="774237" y="2714421"/>
            <a:ext cx="1041214" cy="493910"/>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Controllers</a:t>
            </a:r>
          </a:p>
        </p:txBody>
      </p:sp>
      <p:sp>
        <p:nvSpPr>
          <p:cNvPr id="14" name="Rectangle 13">
            <a:extLst>
              <a:ext uri="{FF2B5EF4-FFF2-40B4-BE49-F238E27FC236}">
                <a16:creationId xmlns:a16="http://schemas.microsoft.com/office/drawing/2014/main" id="{AEDC483D-8CC3-4CE5-A145-DAF75FF3865C}"/>
              </a:ext>
            </a:extLst>
          </p:cNvPr>
          <p:cNvSpPr/>
          <p:nvPr/>
        </p:nvSpPr>
        <p:spPr bwMode="gray">
          <a:xfrm>
            <a:off x="2300108" y="1835892"/>
            <a:ext cx="3052803" cy="3750615"/>
          </a:xfrm>
          <a:prstGeom prst="rect">
            <a:avLst/>
          </a:prstGeom>
          <a:solidFill>
            <a:schemeClr val="accent1"/>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r>
              <a:rPr lang="en-US" sz="1000" b="1" dirty="0">
                <a:solidFill>
                  <a:schemeClr val="bg1"/>
                </a:solidFill>
              </a:rPr>
              <a:t>Edge Network</a:t>
            </a:r>
          </a:p>
          <a:p>
            <a:pPr algn="ctr">
              <a:lnSpc>
                <a:spcPct val="106000"/>
              </a:lnSpc>
              <a:buFont typeface="Wingdings 2" pitchFamily="18" charset="2"/>
              <a:buNone/>
            </a:pPr>
            <a:r>
              <a:rPr lang="en-US" sz="1000" b="1" dirty="0">
                <a:solidFill>
                  <a:schemeClr val="bg1"/>
                </a:solidFill>
              </a:rPr>
              <a:t>(LAN/WAN)</a:t>
            </a:r>
          </a:p>
        </p:txBody>
      </p:sp>
      <p:sp>
        <p:nvSpPr>
          <p:cNvPr id="15" name="Rectangle 14">
            <a:extLst>
              <a:ext uri="{FF2B5EF4-FFF2-40B4-BE49-F238E27FC236}">
                <a16:creationId xmlns:a16="http://schemas.microsoft.com/office/drawing/2014/main" id="{0FE3C627-5F0D-47E2-807B-BF99150C49FA}"/>
              </a:ext>
            </a:extLst>
          </p:cNvPr>
          <p:cNvSpPr/>
          <p:nvPr/>
        </p:nvSpPr>
        <p:spPr bwMode="gray">
          <a:xfrm>
            <a:off x="3096946" y="2444779"/>
            <a:ext cx="1368263" cy="455288"/>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Real Time/NRT </a:t>
            </a:r>
          </a:p>
        </p:txBody>
      </p:sp>
      <p:sp>
        <p:nvSpPr>
          <p:cNvPr id="16" name="Rectangle 15">
            <a:extLst>
              <a:ext uri="{FF2B5EF4-FFF2-40B4-BE49-F238E27FC236}">
                <a16:creationId xmlns:a16="http://schemas.microsoft.com/office/drawing/2014/main" id="{60BB958D-B854-4C90-8540-9CDCD4A4FD32}"/>
              </a:ext>
            </a:extLst>
          </p:cNvPr>
          <p:cNvSpPr/>
          <p:nvPr/>
        </p:nvSpPr>
        <p:spPr bwMode="gray">
          <a:xfrm>
            <a:off x="2482560" y="2444779"/>
            <a:ext cx="514309" cy="2894773"/>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Data Filter</a:t>
            </a:r>
          </a:p>
        </p:txBody>
      </p:sp>
      <p:sp>
        <p:nvSpPr>
          <p:cNvPr id="19" name="Rectangle 18">
            <a:extLst>
              <a:ext uri="{FF2B5EF4-FFF2-40B4-BE49-F238E27FC236}">
                <a16:creationId xmlns:a16="http://schemas.microsoft.com/office/drawing/2014/main" id="{93C785AA-0948-410C-9B5E-F4A1BD59EA63}"/>
              </a:ext>
            </a:extLst>
          </p:cNvPr>
          <p:cNvSpPr/>
          <p:nvPr/>
        </p:nvSpPr>
        <p:spPr bwMode="gray">
          <a:xfrm>
            <a:off x="4564153" y="2444778"/>
            <a:ext cx="637132" cy="2894773"/>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Conformed Data</a:t>
            </a:r>
          </a:p>
        </p:txBody>
      </p:sp>
      <p:sp>
        <p:nvSpPr>
          <p:cNvPr id="20" name="Rectangle 19">
            <a:extLst>
              <a:ext uri="{FF2B5EF4-FFF2-40B4-BE49-F238E27FC236}">
                <a16:creationId xmlns:a16="http://schemas.microsoft.com/office/drawing/2014/main" id="{24F04592-AC91-4849-B17A-E3055C103CEB}"/>
              </a:ext>
            </a:extLst>
          </p:cNvPr>
          <p:cNvSpPr/>
          <p:nvPr/>
        </p:nvSpPr>
        <p:spPr bwMode="gray">
          <a:xfrm>
            <a:off x="788629" y="4845641"/>
            <a:ext cx="1041214" cy="493910"/>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Sensors</a:t>
            </a:r>
          </a:p>
        </p:txBody>
      </p:sp>
      <p:sp>
        <p:nvSpPr>
          <p:cNvPr id="21" name="Rectangle 20">
            <a:extLst>
              <a:ext uri="{FF2B5EF4-FFF2-40B4-BE49-F238E27FC236}">
                <a16:creationId xmlns:a16="http://schemas.microsoft.com/office/drawing/2014/main" id="{77F7AC75-BB45-472D-8CBE-78337A00C883}"/>
              </a:ext>
            </a:extLst>
          </p:cNvPr>
          <p:cNvSpPr/>
          <p:nvPr/>
        </p:nvSpPr>
        <p:spPr bwMode="gray">
          <a:xfrm>
            <a:off x="3096946" y="2999513"/>
            <a:ext cx="1368263" cy="455288"/>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Mini/Micro Batch </a:t>
            </a:r>
          </a:p>
        </p:txBody>
      </p:sp>
      <p:sp>
        <p:nvSpPr>
          <p:cNvPr id="23" name="Flowchart: Magnetic Disk 22">
            <a:extLst>
              <a:ext uri="{FF2B5EF4-FFF2-40B4-BE49-F238E27FC236}">
                <a16:creationId xmlns:a16="http://schemas.microsoft.com/office/drawing/2014/main" id="{0284CD91-2457-421D-B7F9-7C7DEBA135C7}"/>
              </a:ext>
            </a:extLst>
          </p:cNvPr>
          <p:cNvSpPr/>
          <p:nvPr/>
        </p:nvSpPr>
        <p:spPr bwMode="gray">
          <a:xfrm>
            <a:off x="3095813" y="4582020"/>
            <a:ext cx="1369394" cy="794259"/>
          </a:xfrm>
          <a:prstGeom prst="flowChartMagneticDisk">
            <a:avLst/>
          </a:prstGeom>
          <a:solidFill>
            <a:schemeClr val="accent6"/>
          </a:solidFill>
          <a:ln w="19050" algn="ctr">
            <a:solidFill>
              <a:srgbClr val="65987B"/>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Data Storage</a:t>
            </a:r>
          </a:p>
        </p:txBody>
      </p:sp>
      <p:sp>
        <p:nvSpPr>
          <p:cNvPr id="25" name="Rectangle 24">
            <a:extLst>
              <a:ext uri="{FF2B5EF4-FFF2-40B4-BE49-F238E27FC236}">
                <a16:creationId xmlns:a16="http://schemas.microsoft.com/office/drawing/2014/main" id="{5E00041F-6AF3-4CF3-8825-751B3E924AE4}"/>
              </a:ext>
            </a:extLst>
          </p:cNvPr>
          <p:cNvSpPr/>
          <p:nvPr/>
        </p:nvSpPr>
        <p:spPr bwMode="gray">
          <a:xfrm>
            <a:off x="3096944" y="3552241"/>
            <a:ext cx="1368263" cy="455288"/>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Basic Analytics</a:t>
            </a:r>
          </a:p>
        </p:txBody>
      </p:sp>
      <p:sp>
        <p:nvSpPr>
          <p:cNvPr id="26" name="Rectangle 25">
            <a:extLst>
              <a:ext uri="{FF2B5EF4-FFF2-40B4-BE49-F238E27FC236}">
                <a16:creationId xmlns:a16="http://schemas.microsoft.com/office/drawing/2014/main" id="{968587E7-33DA-4054-BB7E-0B675F3E7D18}"/>
              </a:ext>
            </a:extLst>
          </p:cNvPr>
          <p:cNvSpPr/>
          <p:nvPr/>
        </p:nvSpPr>
        <p:spPr bwMode="gray">
          <a:xfrm>
            <a:off x="3090884" y="4076663"/>
            <a:ext cx="1379253" cy="455288"/>
          </a:xfrm>
          <a:prstGeom prst="rect">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Dashboard</a:t>
            </a:r>
          </a:p>
        </p:txBody>
      </p:sp>
      <p:sp>
        <p:nvSpPr>
          <p:cNvPr id="29" name="Rectangle 28">
            <a:extLst>
              <a:ext uri="{FF2B5EF4-FFF2-40B4-BE49-F238E27FC236}">
                <a16:creationId xmlns:a16="http://schemas.microsoft.com/office/drawing/2014/main" id="{02AA64C0-06D4-4F4E-8275-BBFFCDEA7268}"/>
              </a:ext>
            </a:extLst>
          </p:cNvPr>
          <p:cNvSpPr/>
          <p:nvPr/>
        </p:nvSpPr>
        <p:spPr bwMode="gray">
          <a:xfrm>
            <a:off x="5731907" y="1835891"/>
            <a:ext cx="1389728" cy="3750615"/>
          </a:xfrm>
          <a:prstGeom prst="rect">
            <a:avLst/>
          </a:prstGeom>
          <a:solidFill>
            <a:schemeClr val="accent1"/>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r>
              <a:rPr lang="en-US" sz="1000" b="1" dirty="0">
                <a:solidFill>
                  <a:schemeClr val="bg1"/>
                </a:solidFill>
              </a:rPr>
              <a:t>WAN/Internet</a:t>
            </a:r>
          </a:p>
        </p:txBody>
      </p:sp>
      <p:pic>
        <p:nvPicPr>
          <p:cNvPr id="28" name="Picture 27">
            <a:extLst>
              <a:ext uri="{FF2B5EF4-FFF2-40B4-BE49-F238E27FC236}">
                <a16:creationId xmlns:a16="http://schemas.microsoft.com/office/drawing/2014/main" id="{F71B809D-3A90-4E56-8758-9D9D46D5879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765277" y="2272428"/>
            <a:ext cx="1310642" cy="710461"/>
          </a:xfrm>
          <a:prstGeom prst="rect">
            <a:avLst/>
          </a:prstGeom>
        </p:spPr>
      </p:pic>
      <p:sp>
        <p:nvSpPr>
          <p:cNvPr id="30" name="Arrow: Right 29">
            <a:extLst>
              <a:ext uri="{FF2B5EF4-FFF2-40B4-BE49-F238E27FC236}">
                <a16:creationId xmlns:a16="http://schemas.microsoft.com/office/drawing/2014/main" id="{344FD9C4-1597-499D-BF3B-D20E3B2E81A2}"/>
              </a:ext>
            </a:extLst>
          </p:cNvPr>
          <p:cNvSpPr/>
          <p:nvPr/>
        </p:nvSpPr>
        <p:spPr bwMode="gray">
          <a:xfrm>
            <a:off x="1904392" y="4447575"/>
            <a:ext cx="413752" cy="357066"/>
          </a:xfrm>
          <a:prstGeom prst="rightArrow">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1" name="Arrow: Right 30">
            <a:extLst>
              <a:ext uri="{FF2B5EF4-FFF2-40B4-BE49-F238E27FC236}">
                <a16:creationId xmlns:a16="http://schemas.microsoft.com/office/drawing/2014/main" id="{02080655-AAA3-4294-A07E-8CC562CE9078}"/>
              </a:ext>
            </a:extLst>
          </p:cNvPr>
          <p:cNvSpPr/>
          <p:nvPr/>
        </p:nvSpPr>
        <p:spPr bwMode="gray">
          <a:xfrm>
            <a:off x="1901117" y="3052467"/>
            <a:ext cx="405665" cy="357066"/>
          </a:xfrm>
          <a:prstGeom prst="rightArrow">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2" name="Arrow: Right 31">
            <a:extLst>
              <a:ext uri="{FF2B5EF4-FFF2-40B4-BE49-F238E27FC236}">
                <a16:creationId xmlns:a16="http://schemas.microsoft.com/office/drawing/2014/main" id="{EF3F8ADF-EA04-4BEC-B2BE-ED8A3C62C8B4}"/>
              </a:ext>
            </a:extLst>
          </p:cNvPr>
          <p:cNvSpPr/>
          <p:nvPr/>
        </p:nvSpPr>
        <p:spPr bwMode="gray">
          <a:xfrm>
            <a:off x="5352938" y="2590962"/>
            <a:ext cx="405665" cy="357066"/>
          </a:xfrm>
          <a:prstGeom prst="rightArrow">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3" name="Arrow: Right 32">
            <a:extLst>
              <a:ext uri="{FF2B5EF4-FFF2-40B4-BE49-F238E27FC236}">
                <a16:creationId xmlns:a16="http://schemas.microsoft.com/office/drawing/2014/main" id="{090A519F-0912-47C2-8E31-1AA47B17AEA0}"/>
              </a:ext>
            </a:extLst>
          </p:cNvPr>
          <p:cNvSpPr/>
          <p:nvPr/>
        </p:nvSpPr>
        <p:spPr bwMode="gray">
          <a:xfrm>
            <a:off x="5354578" y="4447575"/>
            <a:ext cx="413752" cy="357066"/>
          </a:xfrm>
          <a:prstGeom prst="rightArrow">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37" name="Picture 36">
            <a:extLst>
              <a:ext uri="{FF2B5EF4-FFF2-40B4-BE49-F238E27FC236}">
                <a16:creationId xmlns:a16="http://schemas.microsoft.com/office/drawing/2014/main" id="{A0F9E5B3-91EC-4802-8CBC-8D78BD222D2D}"/>
              </a:ext>
            </a:extLst>
          </p:cNvPr>
          <p:cNvPicPr>
            <a:picLocks noChangeAspect="1"/>
          </p:cNvPicPr>
          <p:nvPr/>
        </p:nvPicPr>
        <p:blipFill>
          <a:blip r:embed="rId4"/>
          <a:stretch>
            <a:fillRect/>
          </a:stretch>
        </p:blipFill>
        <p:spPr>
          <a:xfrm>
            <a:off x="5862345" y="4373763"/>
            <a:ext cx="1188086" cy="416513"/>
          </a:xfrm>
          <a:prstGeom prst="rect">
            <a:avLst/>
          </a:prstGeom>
        </p:spPr>
      </p:pic>
      <p:sp>
        <p:nvSpPr>
          <p:cNvPr id="38" name="Flowchart: Magnetic Disk 37">
            <a:extLst>
              <a:ext uri="{FF2B5EF4-FFF2-40B4-BE49-F238E27FC236}">
                <a16:creationId xmlns:a16="http://schemas.microsoft.com/office/drawing/2014/main" id="{0E5C7870-45E2-4DF1-94BF-F66C15D4588D}"/>
              </a:ext>
            </a:extLst>
          </p:cNvPr>
          <p:cNvSpPr/>
          <p:nvPr/>
        </p:nvSpPr>
        <p:spPr bwMode="gray">
          <a:xfrm>
            <a:off x="5811305" y="3326471"/>
            <a:ext cx="1239126" cy="794259"/>
          </a:xfrm>
          <a:prstGeom prst="flowChartMagneticDisk">
            <a:avLst/>
          </a:prstGeom>
          <a:solidFill>
            <a:schemeClr val="accent6"/>
          </a:solidFill>
          <a:ln w="19050" algn="ctr">
            <a:solidFill>
              <a:srgbClr val="65987B"/>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Data Warehouse</a:t>
            </a:r>
          </a:p>
        </p:txBody>
      </p:sp>
      <p:sp>
        <p:nvSpPr>
          <p:cNvPr id="39" name="Rectangle: Rounded Corners 38">
            <a:extLst>
              <a:ext uri="{FF2B5EF4-FFF2-40B4-BE49-F238E27FC236}">
                <a16:creationId xmlns:a16="http://schemas.microsoft.com/office/drawing/2014/main" id="{D65937F3-55AF-41BD-9A4A-F0FFF94D9328}"/>
              </a:ext>
            </a:extLst>
          </p:cNvPr>
          <p:cNvSpPr/>
          <p:nvPr/>
        </p:nvSpPr>
        <p:spPr>
          <a:xfrm>
            <a:off x="539015" y="1568918"/>
            <a:ext cx="4973806" cy="4128620"/>
          </a:xfrm>
          <a:prstGeom prst="roundRect">
            <a:avLst/>
          </a:prstGeom>
          <a:noFill/>
          <a:ln w="25400">
            <a:solidFill>
              <a:srgbClr val="CC9B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2223033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08F0E02-305C-4647-8145-AC979F5F28C0}"/>
              </a:ext>
            </a:extLst>
          </p:cNvPr>
          <p:cNvSpPr/>
          <p:nvPr/>
        </p:nvSpPr>
        <p:spPr bwMode="gray">
          <a:xfrm>
            <a:off x="469901" y="1128409"/>
            <a:ext cx="6235700" cy="4908324"/>
          </a:xfrm>
          <a:prstGeom prst="rect">
            <a:avLst/>
          </a:prstGeom>
          <a:solidFill>
            <a:schemeClr val="bg1"/>
          </a:solidFill>
          <a:ln w="19050" algn="ctr">
            <a:solidFill>
              <a:schemeClr val="tx1"/>
            </a:solid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2" name="Content Placeholder 1">
            <a:extLst>
              <a:ext uri="{FF2B5EF4-FFF2-40B4-BE49-F238E27FC236}">
                <a16:creationId xmlns:a16="http://schemas.microsoft.com/office/drawing/2014/main" id="{E3F83EAB-C638-4EA8-8E91-E649DD5AC240}"/>
              </a:ext>
            </a:extLst>
          </p:cNvPr>
          <p:cNvPicPr>
            <a:picLocks noGrp="1" noChangeAspect="1"/>
          </p:cNvPicPr>
          <p:nvPr>
            <p:ph sz="quarter" idx="16"/>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200000"/>
                    </a14:imgEffect>
                  </a14:imgLayer>
                </a14:imgProps>
              </a:ext>
            </a:extLst>
          </a:blip>
          <a:stretch>
            <a:fillRect/>
          </a:stretch>
        </p:blipFill>
        <p:spPr>
          <a:xfrm>
            <a:off x="616126" y="1665288"/>
            <a:ext cx="6227197" cy="3570855"/>
          </a:xfrm>
          <a:prstGeom prst="rect">
            <a:avLst/>
          </a:prstGeom>
        </p:spPr>
      </p:pic>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Design pattern: Lambda</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3616166533"/>
              </p:ext>
            </p:extLst>
          </p:nvPr>
        </p:nvGraphicFramePr>
        <p:xfrm>
          <a:off x="6978316" y="1036320"/>
          <a:ext cx="4743784" cy="4693920"/>
        </p:xfrm>
        <a:graphic>
          <a:graphicData uri="http://schemas.openxmlformats.org/drawingml/2006/table">
            <a:tbl>
              <a:tblPr bandRow="1"/>
              <a:tblGrid>
                <a:gridCol w="4743784">
                  <a:extLst>
                    <a:ext uri="{9D8B030D-6E8A-4147-A177-3AD203B41FA5}">
                      <a16:colId xmlns:a16="http://schemas.microsoft.com/office/drawing/2014/main" val="2219018424"/>
                    </a:ext>
                  </a:extLst>
                </a:gridCol>
              </a:tblGrid>
              <a:tr h="0">
                <a:tc>
                  <a:txBody>
                    <a:bodyPr/>
                    <a:lstStyle/>
                    <a:p>
                      <a:pPr algn="l">
                        <a:spcAft>
                          <a:spcPts val="600"/>
                        </a:spcAft>
                      </a:pPr>
                      <a:r>
                        <a:rPr lang="en-US" sz="1000" b="1" dirty="0"/>
                        <a:t>Context</a:t>
                      </a:r>
                    </a:p>
                    <a:p>
                      <a:pPr algn="l">
                        <a:spcAft>
                          <a:spcPts val="600"/>
                        </a:spcAft>
                      </a:pPr>
                      <a:r>
                        <a:rPr lang="en-US" sz="1000" dirty="0"/>
                        <a:t>A historical view of an organization’s data needs to be provided that typically involves some long running aggregations and building dimensional data stores. In addition, organizations face the need to track data in near real time. This is especially true for IOT data, and streaming data sources. The Lambda architecture is a pattern that addresses both these needs with a batch layer and separate speed layer.</a:t>
                      </a:r>
                    </a:p>
                    <a:p>
                      <a:pPr algn="l">
                        <a:spcAft>
                          <a:spcPts val="600"/>
                        </a:spcAft>
                      </a:pPr>
                      <a:r>
                        <a:rPr lang="en-US" sz="1000" dirty="0"/>
                        <a:t>Note: Lambda must not be confused with AWS Lambda which refers to an AWS PaaS offering for serverless compute.</a:t>
                      </a:r>
                      <a:endParaRPr lang="en-US" sz="1000" b="1" dirty="0">
                        <a:solidFill>
                          <a:schemeClr val="tx1"/>
                        </a:solidFill>
                      </a:endParaRPr>
                    </a:p>
                  </a:txBody>
                  <a:tcPr>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b="1" dirty="0"/>
                        <a:t>Solution description</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b="0" dirty="0"/>
                        <a:t>T</a:t>
                      </a:r>
                      <a:r>
                        <a:rPr lang="en-US" sz="1000" dirty="0"/>
                        <a:t>he Lambda architecture defines creating core batch processes that run on an immutable, append-only data store, on a periodic basis. CAP issues with consistency, partition tolerance, availability are simplified in batch mode. In parallel, a real-time system provides the latest data for up-to-the minute analysis. Real time data becomes replaced with the next batch cycle. The speed layer can be discarded, and rebuilt from scratch with incoming data, isolating the complexity of the R/W system. The batch process can be re-run end-to-end to support code patches, code changes. Query tools combine data from both systems in real time.</a:t>
                      </a:r>
                      <a:endParaRPr lang="en-US" sz="1000" b="1" dirty="0">
                        <a:solidFill>
                          <a:schemeClr val="tx1"/>
                        </a:solidFill>
                      </a:endParaRPr>
                    </a:p>
                  </a:txBody>
                  <a:tcP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b="1" dirty="0"/>
                        <a:t>Rationale</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dirty="0"/>
                        <a:t>Seen as a way to simplify complex incremental processes layered on Enterprise data systems. Temporary failure of the speed layer does not impact batch reporting, and the batch layer can be rebuilt in the subsequent batch cycles, for a robust framework that supports both real time and historical data views.</a:t>
                      </a:r>
                      <a:endParaRPr lang="en-US" sz="1000" b="1" i="0" dirty="0">
                        <a:solidFill>
                          <a:schemeClr val="tx1"/>
                        </a:solidFill>
                      </a:endParaRPr>
                    </a:p>
                  </a:txBody>
                  <a:tcPr>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spTree>
    <p:extLst>
      <p:ext uri="{BB962C8B-B14F-4D97-AF65-F5344CB8AC3E}">
        <p14:creationId xmlns:p14="http://schemas.microsoft.com/office/powerpoint/2010/main" val="309948076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Design pattern: Zeta</a:t>
            </a:r>
          </a:p>
        </p:txBody>
      </p:sp>
      <p:pic>
        <p:nvPicPr>
          <p:cNvPr id="6" name="Content Placeholder 5">
            <a:extLst>
              <a:ext uri="{FF2B5EF4-FFF2-40B4-BE49-F238E27FC236}">
                <a16:creationId xmlns:a16="http://schemas.microsoft.com/office/drawing/2014/main" id="{BCCA4890-3CE3-4138-9F25-77563DFDED6C}"/>
              </a:ext>
            </a:extLst>
          </p:cNvPr>
          <p:cNvPicPr>
            <a:picLocks noGrp="1" noChangeAspect="1"/>
          </p:cNvPicPr>
          <p:nvPr>
            <p:ph sz="quarter" idx="4294967295"/>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58266" y="2050180"/>
            <a:ext cx="5233430" cy="3916246"/>
          </a:xfrm>
          <a:prstGeom prst="rect">
            <a:avLst/>
          </a:prstGeom>
        </p:spPr>
      </p:pic>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2708629687"/>
              </p:ext>
            </p:extLst>
          </p:nvPr>
        </p:nvGraphicFramePr>
        <p:xfrm>
          <a:off x="5813660" y="1700213"/>
          <a:ext cx="5898816" cy="4541520"/>
        </p:xfrm>
        <a:graphic>
          <a:graphicData uri="http://schemas.openxmlformats.org/drawingml/2006/table">
            <a:tbl>
              <a:tblPr bandRow="1">
                <a:effectLst/>
              </a:tblPr>
              <a:tblGrid>
                <a:gridCol w="5898816">
                  <a:extLst>
                    <a:ext uri="{9D8B030D-6E8A-4147-A177-3AD203B41FA5}">
                      <a16:colId xmlns:a16="http://schemas.microsoft.com/office/drawing/2014/main" val="2219018424"/>
                    </a:ext>
                  </a:extLst>
                </a:gridCol>
              </a:tblGrid>
              <a:tr h="0">
                <a:tc>
                  <a:txBody>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b="1" dirty="0"/>
                        <a:t>Context: </a:t>
                      </a:r>
                      <a:r>
                        <a:rPr lang="en-US" sz="1000" dirty="0"/>
                        <a:t>Zeta is a proposed holistic architecture for building an enterprise data system. With Zeta, the architecture helps define how Enterprise applications are built, as opposed to only providing a method of integration. In some ways it is an attempt to synthesize trends in modern cloud and hybrid architectures in a high-level architectural blueprint.</a:t>
                      </a:r>
                      <a:endParaRPr lang="en-US" sz="1000" b="1" dirty="0"/>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b="1" dirty="0"/>
                        <a:t>Solution description:</a:t>
                      </a:r>
                      <a:r>
                        <a:rPr lang="en-US" sz="1000" dirty="0"/>
                        <a:t> The Zeta Architecture in built on top of pluggable components and provides a converged platform that have the following components:</a:t>
                      </a:r>
                    </a:p>
                    <a:p>
                      <a:pPr marL="228600" indent="-228600">
                        <a:lnSpc>
                          <a:spcPct val="100000"/>
                        </a:lnSpc>
                        <a:spcBef>
                          <a:spcPts val="0"/>
                        </a:spcBef>
                        <a:spcAft>
                          <a:spcPts val="600"/>
                        </a:spcAft>
                        <a:buFont typeface="+mj-lt"/>
                        <a:buAutoNum type="arabicPeriod"/>
                      </a:pPr>
                      <a:r>
                        <a:rPr lang="en-US" sz="1000" b="1" dirty="0"/>
                        <a:t>Distributed File System:</a:t>
                      </a:r>
                      <a:r>
                        <a:rPr lang="en-US" sz="1000" dirty="0"/>
                        <a:t> HDFS, Cloud FS</a:t>
                      </a:r>
                    </a:p>
                    <a:p>
                      <a:pPr marL="228600" indent="-228600">
                        <a:lnSpc>
                          <a:spcPct val="100000"/>
                        </a:lnSpc>
                        <a:spcBef>
                          <a:spcPts val="0"/>
                        </a:spcBef>
                        <a:spcAft>
                          <a:spcPts val="600"/>
                        </a:spcAft>
                        <a:buFont typeface="+mj-lt"/>
                        <a:buAutoNum type="arabicPeriod"/>
                      </a:pPr>
                      <a:r>
                        <a:rPr lang="en-US" sz="1000" b="1" dirty="0"/>
                        <a:t>Real Time Data Storage:</a:t>
                      </a:r>
                      <a:r>
                        <a:rPr lang="en-US" sz="1000" dirty="0"/>
                        <a:t> Streaming data available in real time, with standard query languages</a:t>
                      </a:r>
                    </a:p>
                    <a:p>
                      <a:pPr marL="228600" indent="-228600">
                        <a:lnSpc>
                          <a:spcPct val="100000"/>
                        </a:lnSpc>
                        <a:spcBef>
                          <a:spcPts val="0"/>
                        </a:spcBef>
                        <a:spcAft>
                          <a:spcPts val="600"/>
                        </a:spcAft>
                        <a:buFont typeface="+mj-lt"/>
                        <a:buAutoNum type="arabicPeriod"/>
                      </a:pPr>
                      <a:r>
                        <a:rPr lang="en-US" sz="1000" b="1" dirty="0"/>
                        <a:t>Dynamic Global Resource Management:</a:t>
                      </a:r>
                      <a:r>
                        <a:rPr lang="en-US" sz="1000" dirty="0"/>
                        <a:t> Dynamic allocation of resources with common resource mgmt.</a:t>
                      </a:r>
                    </a:p>
                    <a:p>
                      <a:pPr marL="228600" indent="-228600">
                        <a:lnSpc>
                          <a:spcPct val="100000"/>
                        </a:lnSpc>
                        <a:spcBef>
                          <a:spcPts val="0"/>
                        </a:spcBef>
                        <a:spcAft>
                          <a:spcPts val="600"/>
                        </a:spcAft>
                        <a:buFont typeface="+mj-lt"/>
                        <a:buAutoNum type="arabicPeriod"/>
                      </a:pPr>
                      <a:r>
                        <a:rPr lang="en-US" sz="1000" b="1" dirty="0"/>
                        <a:t>Deployment/Container Management: </a:t>
                      </a:r>
                      <a:r>
                        <a:rPr lang="en-US" sz="1000" dirty="0"/>
                        <a:t>Standardized software deployment in modular frameworks</a:t>
                      </a:r>
                    </a:p>
                    <a:p>
                      <a:pPr marL="228600" indent="-228600">
                        <a:lnSpc>
                          <a:spcPct val="100000"/>
                        </a:lnSpc>
                        <a:spcBef>
                          <a:spcPts val="0"/>
                        </a:spcBef>
                        <a:spcAft>
                          <a:spcPts val="600"/>
                        </a:spcAft>
                        <a:buFont typeface="+mj-lt"/>
                        <a:buAutoNum type="arabicPeriod"/>
                      </a:pPr>
                      <a:r>
                        <a:rPr lang="en-US" sz="1000" b="1" dirty="0"/>
                        <a:t>Pluggable Compute Model/Engine:</a:t>
                      </a:r>
                      <a:r>
                        <a:rPr lang="en-US" sz="1000" dirty="0"/>
                        <a:t> Ability to deploy virtual compute engines on demand</a:t>
                      </a:r>
                    </a:p>
                    <a:p>
                      <a:pPr marL="228600" indent="-228600">
                        <a:lnSpc>
                          <a:spcPct val="100000"/>
                        </a:lnSpc>
                        <a:spcBef>
                          <a:spcPts val="0"/>
                        </a:spcBef>
                        <a:spcAft>
                          <a:spcPts val="600"/>
                        </a:spcAft>
                        <a:buFont typeface="+mj-lt"/>
                        <a:buAutoNum type="arabicPeriod"/>
                      </a:pPr>
                      <a:r>
                        <a:rPr lang="en-US" sz="1000" b="1" dirty="0"/>
                        <a:t>Solution Architecture: </a:t>
                      </a:r>
                      <a:r>
                        <a:rPr lang="en-US" sz="1000" dirty="0"/>
                        <a:t>Applications that solve a specific business problem, as integrated SaaS style services</a:t>
                      </a:r>
                    </a:p>
                    <a:p>
                      <a:pPr marL="228600" indent="-228600">
                        <a:lnSpc>
                          <a:spcPct val="100000"/>
                        </a:lnSpc>
                        <a:spcBef>
                          <a:spcPts val="0"/>
                        </a:spcBef>
                        <a:spcAft>
                          <a:spcPts val="600"/>
                        </a:spcAft>
                        <a:buFont typeface="+mj-lt"/>
                        <a:buAutoNum type="arabicPeriod"/>
                      </a:pPr>
                      <a:r>
                        <a:rPr lang="en-US" sz="1000" b="1" dirty="0"/>
                        <a:t>Enterprise Applications: </a:t>
                      </a:r>
                      <a:r>
                        <a:rPr lang="en-US" sz="1000" dirty="0"/>
                        <a:t>Built on these core components, the architecture supports the efficient development of EA systems.</a:t>
                      </a:r>
                    </a:p>
                    <a:p>
                      <a:pPr marL="0" indent="0">
                        <a:lnSpc>
                          <a:spcPct val="100000"/>
                        </a:lnSpc>
                        <a:spcBef>
                          <a:spcPts val="0"/>
                        </a:spcBef>
                        <a:spcAft>
                          <a:spcPts val="600"/>
                        </a:spcAft>
                        <a:buNone/>
                      </a:pPr>
                      <a:r>
                        <a:rPr lang="en-US" sz="1000" dirty="0"/>
                        <a:t>This is a MapR Offering for distributed computing on a converged platform</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a:lnSpc>
                          <a:spcPct val="100000"/>
                        </a:lnSpc>
                        <a:spcBef>
                          <a:spcPts val="0"/>
                        </a:spcBef>
                        <a:spcAft>
                          <a:spcPts val="600"/>
                        </a:spcAft>
                      </a:pPr>
                      <a:r>
                        <a:rPr lang="en-US" sz="1000" b="1" dirty="0"/>
                        <a:t>Rationale:</a:t>
                      </a:r>
                      <a:r>
                        <a:rPr lang="en-US" sz="1000" dirty="0"/>
                        <a:t> Zeta is a way to reduce the time, resources and costs involved in building an enterprise architecture. It inherently supports the architectural principles of reducing data movement with distributed data storage, code re-use through common application components, unified solution architectures, as well as simplified testing frameworks.</a:t>
                      </a:r>
                      <a:endParaRPr lang="en-US" sz="1000" b="1" dirty="0"/>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sp>
        <p:nvSpPr>
          <p:cNvPr id="2" name="Rectangle 1">
            <a:extLst>
              <a:ext uri="{FF2B5EF4-FFF2-40B4-BE49-F238E27FC236}">
                <a16:creationId xmlns:a16="http://schemas.microsoft.com/office/drawing/2014/main" id="{672F692A-C843-4AF8-B995-D4AD176EE77D}"/>
              </a:ext>
            </a:extLst>
          </p:cNvPr>
          <p:cNvSpPr/>
          <p:nvPr/>
        </p:nvSpPr>
        <p:spPr>
          <a:xfrm>
            <a:off x="1191034" y="6009999"/>
            <a:ext cx="4179651" cy="230832"/>
          </a:xfrm>
          <a:prstGeom prst="rect">
            <a:avLst/>
          </a:prstGeom>
        </p:spPr>
        <p:txBody>
          <a:bodyPr wrap="square">
            <a:spAutoFit/>
          </a:bodyPr>
          <a:lstStyle/>
          <a:p>
            <a:r>
              <a:rPr lang="en-US" sz="900" i="1" dirty="0"/>
              <a:t>https://mapr.com/solutions/zeta-enterprise-architecture/</a:t>
            </a:r>
          </a:p>
        </p:txBody>
      </p:sp>
      <p:sp>
        <p:nvSpPr>
          <p:cNvPr id="8" name="TextBox 7">
            <a:extLst>
              <a:ext uri="{FF2B5EF4-FFF2-40B4-BE49-F238E27FC236}">
                <a16:creationId xmlns:a16="http://schemas.microsoft.com/office/drawing/2014/main" id="{54E517F1-A09E-49A4-8C50-C72D19884BC0}"/>
              </a:ext>
            </a:extLst>
          </p:cNvPr>
          <p:cNvSpPr txBox="1"/>
          <p:nvPr/>
        </p:nvSpPr>
        <p:spPr bwMode="gray">
          <a:xfrm>
            <a:off x="2066028" y="1700213"/>
            <a:ext cx="2217907" cy="228198"/>
          </a:xfrm>
          <a:prstGeom prst="rect">
            <a:avLst/>
          </a:prstGeom>
        </p:spPr>
        <p:txBody>
          <a:bodyPr wrap="none" lIns="0" rIns="0" rtlCol="0" anchor="b" anchorCtr="0">
            <a:normAutofit/>
          </a:bodyPr>
          <a:lstStyle/>
          <a:p>
            <a:pPr>
              <a:lnSpc>
                <a:spcPts val="900"/>
              </a:lnSpc>
            </a:pPr>
            <a:r>
              <a:rPr lang="en-US" sz="1300" b="1" dirty="0">
                <a:solidFill>
                  <a:schemeClr val="tx1"/>
                </a:solidFill>
              </a:rPr>
              <a:t>MapR example of Zeta</a:t>
            </a:r>
          </a:p>
        </p:txBody>
      </p:sp>
    </p:spTree>
    <p:extLst>
      <p:ext uri="{BB962C8B-B14F-4D97-AF65-F5344CB8AC3E}">
        <p14:creationId xmlns:p14="http://schemas.microsoft.com/office/powerpoint/2010/main" val="2644360807"/>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Design pattern: Ingestion (File based data ingestion using NiFi)</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2799556700"/>
              </p:ext>
            </p:extLst>
          </p:nvPr>
        </p:nvGraphicFramePr>
        <p:xfrm>
          <a:off x="6600497" y="1376680"/>
          <a:ext cx="5121603" cy="4922520"/>
        </p:xfrm>
        <a:graphic>
          <a:graphicData uri="http://schemas.openxmlformats.org/drawingml/2006/table">
            <a:tbl>
              <a:tblPr bandRow="1">
                <a:effectLst/>
              </a:tblPr>
              <a:tblGrid>
                <a:gridCol w="5121603">
                  <a:extLst>
                    <a:ext uri="{9D8B030D-6E8A-4147-A177-3AD203B41FA5}">
                      <a16:colId xmlns:a16="http://schemas.microsoft.com/office/drawing/2014/main" val="2219018424"/>
                    </a:ext>
                  </a:extLst>
                </a:gridCol>
              </a:tblGrid>
              <a:tr h="0">
                <a:tc>
                  <a:txBody>
                    <a:bodyPr/>
                    <a:lstStyle/>
                    <a:p>
                      <a:pPr indent="0">
                        <a:lnSpc>
                          <a:spcPct val="100000"/>
                        </a:lnSpc>
                        <a:spcBef>
                          <a:spcPts val="0"/>
                        </a:spcBef>
                        <a:spcAft>
                          <a:spcPts val="600"/>
                        </a:spcAft>
                      </a:pPr>
                      <a:r>
                        <a:rPr lang="en-US" sz="1000" b="1" dirty="0">
                          <a:solidFill>
                            <a:schemeClr val="tx1"/>
                          </a:solidFill>
                        </a:rPr>
                        <a:t>Context</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dirty="0">
                          <a:solidFill>
                            <a:schemeClr val="tx1"/>
                          </a:solidFill>
                        </a:rPr>
                        <a:t>Batch data ingestion is most common data pattern to load data to the data and analytics platform at regular frequency from a variety of data sources and into various target repositories. Perform validations on the file and log the errors encountered in the data pipelines in to centralized Audit, Balance and Control Framework. </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dirty="0">
                          <a:solidFill>
                            <a:schemeClr val="tx1"/>
                          </a:solidFill>
                        </a:rPr>
                        <a:t>Apache NiFi is dataflow automation component to route, distribute and to do simple data transformations. It is based on the "NiagaraFiles" software previously developed by the NSA, which is also the source of a part of its present name—</a:t>
                      </a:r>
                      <a:r>
                        <a:rPr lang="en-US" sz="1000" b="1" dirty="0">
                          <a:solidFill>
                            <a:schemeClr val="tx1"/>
                          </a:solidFill>
                        </a:rPr>
                        <a:t>NiFi</a:t>
                      </a:r>
                      <a:r>
                        <a:rPr lang="en-US" sz="1000" dirty="0">
                          <a:solidFill>
                            <a:schemeClr val="tx1"/>
                          </a:solidFill>
                        </a:rPr>
                        <a:t>. NiFi is available as a component in Hortonworks Data Platform. </a:t>
                      </a:r>
                      <a:endParaRPr lang="en-US" sz="1000" b="0" dirty="0">
                        <a:solidFill>
                          <a:schemeClr val="tx1"/>
                        </a:solidFill>
                      </a:endParaRPr>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indent="0">
                        <a:lnSpc>
                          <a:spcPct val="100000"/>
                        </a:lnSpc>
                        <a:spcBef>
                          <a:spcPts val="0"/>
                        </a:spcBef>
                        <a:spcAft>
                          <a:spcPts val="600"/>
                        </a:spcAft>
                      </a:pPr>
                      <a:r>
                        <a:rPr lang="en-US" sz="1000" b="1" dirty="0">
                          <a:solidFill>
                            <a:schemeClr val="tx1"/>
                          </a:solidFill>
                        </a:rPr>
                        <a:t>Solution description</a:t>
                      </a:r>
                    </a:p>
                    <a:p>
                      <a:pPr indent="0">
                        <a:lnSpc>
                          <a:spcPct val="100000"/>
                        </a:lnSpc>
                        <a:spcBef>
                          <a:spcPts val="0"/>
                        </a:spcBef>
                        <a:spcAft>
                          <a:spcPts val="600"/>
                        </a:spcAft>
                      </a:pPr>
                      <a:r>
                        <a:rPr lang="en-US" sz="1000" kern="1200" dirty="0">
                          <a:solidFill>
                            <a:schemeClr val="tx1"/>
                          </a:solidFill>
                        </a:rPr>
                        <a:t>NiFi provides data transfer, transform, and routing features for a wide (and expandable) set of data source and data sink technologies. Its not an ESB. NiFi focuses on providing </a:t>
                      </a:r>
                      <a:r>
                        <a:rPr lang="en-US" sz="1000" kern="1200" dirty="0" err="1">
                          <a:solidFill>
                            <a:schemeClr val="tx1"/>
                          </a:solidFill>
                        </a:rPr>
                        <a:t>async</a:t>
                      </a:r>
                      <a:r>
                        <a:rPr lang="en-US" sz="1000" kern="1200" dirty="0">
                          <a:solidFill>
                            <a:schemeClr val="tx1"/>
                          </a:solidFill>
                        </a:rPr>
                        <a:t> dataflows, i.e. </a:t>
                      </a:r>
                      <a:r>
                        <a:rPr lang="en-US" sz="1000" kern="1200" dirty="0" err="1">
                          <a:solidFill>
                            <a:schemeClr val="tx1"/>
                          </a:solidFill>
                        </a:rPr>
                        <a:t>async</a:t>
                      </a:r>
                      <a:r>
                        <a:rPr lang="en-US" sz="1000" kern="1200" dirty="0">
                          <a:solidFill>
                            <a:schemeClr val="tx1"/>
                          </a:solidFill>
                        </a:rPr>
                        <a:t> endpoints. It isn’t really suitable for handling extremely large data-blocks (multiple Megabytes). It does have nice tools for visualizing the flow of data through the system, and inspecting system state (on a per-node basis)</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dirty="0">
                          <a:solidFill>
                            <a:schemeClr val="tx1"/>
                          </a:solidFill>
                        </a:rPr>
                        <a:t>Source systems drop the file to the staging data layer. NiFi reads the files from the staging layer at a specified frequency, performs validations on the file, parses the file in to records to perform record level validations. The records can be published to a messaging platform such as Kafka or NiFi can write the file to HDFS directories in the desired file format. </a:t>
                      </a:r>
                      <a:endParaRPr lang="en-US" sz="1000" b="1"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indent="0">
                        <a:lnSpc>
                          <a:spcPct val="100000"/>
                        </a:lnSpc>
                        <a:spcBef>
                          <a:spcPts val="0"/>
                        </a:spcBef>
                        <a:spcAft>
                          <a:spcPts val="600"/>
                        </a:spcAft>
                      </a:pPr>
                      <a:r>
                        <a:rPr lang="en-US" sz="1000" b="1" dirty="0">
                          <a:solidFill>
                            <a:schemeClr val="tx1"/>
                          </a:solidFill>
                        </a:rPr>
                        <a:t>Rationale</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dirty="0">
                          <a:solidFill>
                            <a:schemeClr val="tx1"/>
                          </a:solidFill>
                        </a:rPr>
                        <a:t>NiFi has a collection of reusable metadata driven processors to assemble data ingestion pipelines for structured files. NiFi is capable of ingesting data in both batches and real time. </a:t>
                      </a:r>
                      <a:r>
                        <a:rPr lang="en-US" sz="1000" dirty="0" err="1">
                          <a:solidFill>
                            <a:schemeClr val="tx1"/>
                          </a:solidFill>
                        </a:rPr>
                        <a:t>Nifi</a:t>
                      </a:r>
                      <a:r>
                        <a:rPr lang="en-US" sz="1000" dirty="0">
                          <a:solidFill>
                            <a:schemeClr val="tx1"/>
                          </a:solidFill>
                        </a:rPr>
                        <a:t> has data processors that connect with a wide array of technologies to ingest data thus reducing the pipeline creation time.</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pic>
        <p:nvPicPr>
          <p:cNvPr id="2" name="Picture 1">
            <a:extLst>
              <a:ext uri="{FF2B5EF4-FFF2-40B4-BE49-F238E27FC236}">
                <a16:creationId xmlns:a16="http://schemas.microsoft.com/office/drawing/2014/main" id="{CA9302C2-B59A-45C6-93D0-269111118417}"/>
              </a:ext>
            </a:extLst>
          </p:cNvPr>
          <p:cNvPicPr>
            <a:picLocks noChangeAspect="1"/>
          </p:cNvPicPr>
          <p:nvPr/>
        </p:nvPicPr>
        <p:blipFill>
          <a:blip r:embed="rId2"/>
          <a:stretch>
            <a:fillRect/>
          </a:stretch>
        </p:blipFill>
        <p:spPr>
          <a:xfrm>
            <a:off x="469900" y="2247900"/>
            <a:ext cx="5909879" cy="2707818"/>
          </a:xfrm>
          <a:prstGeom prst="rect">
            <a:avLst/>
          </a:prstGeom>
        </p:spPr>
      </p:pic>
    </p:spTree>
    <p:extLst>
      <p:ext uri="{BB962C8B-B14F-4D97-AF65-F5344CB8AC3E}">
        <p14:creationId xmlns:p14="http://schemas.microsoft.com/office/powerpoint/2010/main" val="2927766990"/>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Design pattern: Consumption patterns</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822884779"/>
              </p:ext>
            </p:extLst>
          </p:nvPr>
        </p:nvGraphicFramePr>
        <p:xfrm>
          <a:off x="7386536" y="1700213"/>
          <a:ext cx="4335564" cy="4541520"/>
        </p:xfrm>
        <a:graphic>
          <a:graphicData uri="http://schemas.openxmlformats.org/drawingml/2006/table">
            <a:tbl>
              <a:tblPr bandRow="1">
                <a:effectLst/>
              </a:tblPr>
              <a:tblGrid>
                <a:gridCol w="4335564">
                  <a:extLst>
                    <a:ext uri="{9D8B030D-6E8A-4147-A177-3AD203B41FA5}">
                      <a16:colId xmlns:a16="http://schemas.microsoft.com/office/drawing/2014/main" val="2219018424"/>
                    </a:ext>
                  </a:extLst>
                </a:gridCol>
              </a:tblGrid>
              <a:tr h="213786">
                <a:tc>
                  <a:txBody>
                    <a:bodyPr/>
                    <a:lstStyle/>
                    <a:p>
                      <a:pPr>
                        <a:spcAft>
                          <a:spcPts val="600"/>
                        </a:spcAft>
                      </a:pPr>
                      <a:r>
                        <a:rPr lang="en-US" sz="1000" b="1" dirty="0"/>
                        <a:t>Context</a:t>
                      </a:r>
                    </a:p>
                    <a:p>
                      <a:pPr>
                        <a:spcAft>
                          <a:spcPts val="600"/>
                        </a:spcAft>
                      </a:pPr>
                      <a:r>
                        <a:rPr lang="en-US" sz="1000" dirty="0"/>
                        <a:t>There are three consumption patterns to consume the data off the data and analytics platform. The requirements to view the analytical results and the speed of data processing are the drivers for the three capabilities.</a:t>
                      </a:r>
                      <a:endParaRPr lang="en-US" sz="1000" b="0" dirty="0"/>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651871">
                <a:tc>
                  <a:txBody>
                    <a:bodyPr/>
                    <a:lstStyle/>
                    <a:p>
                      <a:pPr>
                        <a:spcAft>
                          <a:spcPts val="600"/>
                        </a:spcAft>
                      </a:pPr>
                      <a:r>
                        <a:rPr lang="en-US" sz="1000" b="1" dirty="0"/>
                        <a:t>Solution description</a:t>
                      </a:r>
                    </a:p>
                    <a:p>
                      <a:pPr>
                        <a:spcAft>
                          <a:spcPts val="600"/>
                        </a:spcAft>
                      </a:pPr>
                      <a:r>
                        <a:rPr lang="en-US" sz="1000" dirty="0"/>
                        <a:t>Traditional BI is reporting and dashboard visualization capability build using business intelligence tools to support canned reports or ad-hoc reporting requirements. This requires the creation of a business sematic layer over a relational database.</a:t>
                      </a:r>
                    </a:p>
                    <a:p>
                      <a:pPr>
                        <a:spcAft>
                          <a:spcPts val="600"/>
                        </a:spcAft>
                      </a:pPr>
                      <a:r>
                        <a:rPr lang="en-US" sz="1000" dirty="0"/>
                        <a:t>Real Time analytics require near real time data ingestion capabilities to process the data in memory to produce insights and interactive data refresh.</a:t>
                      </a:r>
                    </a:p>
                    <a:p>
                      <a:pPr>
                        <a:spcAft>
                          <a:spcPts val="600"/>
                        </a:spcAft>
                      </a:pPr>
                      <a:r>
                        <a:rPr lang="en-US" sz="1000" dirty="0"/>
                        <a:t>Advanced analytics uses deep learning, search and other artificial intelligence techniques to obtain insights in the data and integrated within the business processes. </a:t>
                      </a:r>
                    </a:p>
                    <a:p>
                      <a:pPr>
                        <a:spcAft>
                          <a:spcPts val="600"/>
                        </a:spcAft>
                      </a:pPr>
                      <a:r>
                        <a:rPr lang="en-US" sz="1000" dirty="0"/>
                        <a:t>Each of these consumption patterns use other data management patterns to bring the data to the data lake. Typically a data science workbench is included in the platform architecture to build and train models using a variety of programming tools and machine learning libraries</a:t>
                      </a:r>
                      <a:endParaRPr lang="en-US" sz="1000" b="0" dirty="0"/>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178739">
                <a:tc>
                  <a:txBody>
                    <a:bodyPr/>
                    <a:lstStyle/>
                    <a:p>
                      <a:pPr>
                        <a:spcAft>
                          <a:spcPts val="600"/>
                        </a:spcAft>
                      </a:pPr>
                      <a:r>
                        <a:rPr lang="en-US" sz="1000" b="1" dirty="0"/>
                        <a:t>Rationale</a:t>
                      </a:r>
                    </a:p>
                    <a:p>
                      <a:pPr>
                        <a:spcAft>
                          <a:spcPts val="600"/>
                        </a:spcAft>
                      </a:pPr>
                      <a:r>
                        <a:rPr lang="en-US" sz="1000" dirty="0"/>
                        <a:t>A project may require one of more of the specified consumption patterns and the choice of consumption patterns have the bearing on the overall architecture patterns to be implemented. </a:t>
                      </a:r>
                      <a:endParaRPr lang="en-US" sz="1000" b="0" dirty="0"/>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grpSp>
        <p:nvGrpSpPr>
          <p:cNvPr id="44" name="Group 43">
            <a:extLst>
              <a:ext uri="{FF2B5EF4-FFF2-40B4-BE49-F238E27FC236}">
                <a16:creationId xmlns:a16="http://schemas.microsoft.com/office/drawing/2014/main" id="{B8784F97-2764-4855-BE8C-93D10A2F12FC}"/>
              </a:ext>
            </a:extLst>
          </p:cNvPr>
          <p:cNvGrpSpPr/>
          <p:nvPr/>
        </p:nvGrpSpPr>
        <p:grpSpPr>
          <a:xfrm>
            <a:off x="479677" y="2224943"/>
            <a:ext cx="6604295" cy="3124932"/>
            <a:chOff x="479677" y="2224943"/>
            <a:chExt cx="7510650" cy="2998725"/>
          </a:xfrm>
        </p:grpSpPr>
        <p:sp>
          <p:nvSpPr>
            <p:cNvPr id="8" name="Rounded Rectangle 33">
              <a:extLst>
                <a:ext uri="{FF2B5EF4-FFF2-40B4-BE49-F238E27FC236}">
                  <a16:creationId xmlns:a16="http://schemas.microsoft.com/office/drawing/2014/main" id="{23615EE1-B081-4897-87DE-2FFD746FEDCD}"/>
                </a:ext>
              </a:extLst>
            </p:cNvPr>
            <p:cNvSpPr/>
            <p:nvPr/>
          </p:nvSpPr>
          <p:spPr>
            <a:xfrm>
              <a:off x="3783262" y="2681082"/>
              <a:ext cx="2668858" cy="2542586"/>
            </a:xfrm>
            <a:prstGeom prst="roundRect">
              <a:avLst/>
            </a:prstGeom>
            <a:ln w="6350">
              <a:solidFill>
                <a:schemeClr val="tx1"/>
              </a:solidFill>
            </a:ln>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900" dirty="0">
                <a:latin typeface="+mj-lt"/>
              </a:endParaRPr>
            </a:p>
          </p:txBody>
        </p:sp>
        <p:sp>
          <p:nvSpPr>
            <p:cNvPr id="10" name="Rounded Rectangle 4">
              <a:extLst>
                <a:ext uri="{FF2B5EF4-FFF2-40B4-BE49-F238E27FC236}">
                  <a16:creationId xmlns:a16="http://schemas.microsoft.com/office/drawing/2014/main" id="{331524B4-73E5-41CA-B22A-96F936426A21}"/>
                </a:ext>
              </a:extLst>
            </p:cNvPr>
            <p:cNvSpPr/>
            <p:nvPr/>
          </p:nvSpPr>
          <p:spPr>
            <a:xfrm>
              <a:off x="479677" y="2613684"/>
              <a:ext cx="1582357" cy="1078141"/>
            </a:xfrm>
            <a:prstGeom prst="roundRect">
              <a:avLst/>
            </a:prstGeom>
            <a:ln w="6350">
              <a:solidFill>
                <a:schemeClr val="tx1"/>
              </a:solidFill>
            </a:ln>
            <a:effectLst/>
          </p:spPr>
          <p:style>
            <a:lnRef idx="2">
              <a:schemeClr val="accent4"/>
            </a:lnRef>
            <a:fillRef idx="1">
              <a:schemeClr val="lt1"/>
            </a:fillRef>
            <a:effectRef idx="0">
              <a:schemeClr val="accent4"/>
            </a:effectRef>
            <a:fontRef idx="minor">
              <a:schemeClr val="dk1"/>
            </a:fontRef>
          </p:style>
          <p:txBody>
            <a:bodyPr rtlCol="0" anchor="ctr"/>
            <a:lstStyle/>
            <a:p>
              <a:pPr algn="ctr"/>
              <a:r>
                <a:rPr lang="en-US" sz="900" dirty="0">
                  <a:latin typeface="+mj-lt"/>
                </a:rPr>
                <a:t>Internal</a:t>
              </a:r>
            </a:p>
            <a:p>
              <a:endParaRPr lang="en-US" sz="900" dirty="0">
                <a:latin typeface="+mj-lt"/>
              </a:endParaRPr>
            </a:p>
            <a:p>
              <a:endParaRPr lang="en-US" sz="900" dirty="0">
                <a:latin typeface="+mj-lt"/>
              </a:endParaRPr>
            </a:p>
            <a:p>
              <a:endParaRPr lang="en-US" sz="900" dirty="0">
                <a:latin typeface="+mj-lt"/>
              </a:endParaRPr>
            </a:p>
          </p:txBody>
        </p:sp>
        <p:sp>
          <p:nvSpPr>
            <p:cNvPr id="11" name="Rounded Rectangle 5">
              <a:extLst>
                <a:ext uri="{FF2B5EF4-FFF2-40B4-BE49-F238E27FC236}">
                  <a16:creationId xmlns:a16="http://schemas.microsoft.com/office/drawing/2014/main" id="{08F31677-6FF8-411E-9ED2-47E8BA41FB33}"/>
                </a:ext>
              </a:extLst>
            </p:cNvPr>
            <p:cNvSpPr/>
            <p:nvPr/>
          </p:nvSpPr>
          <p:spPr>
            <a:xfrm>
              <a:off x="479677" y="3956258"/>
              <a:ext cx="1582357" cy="1187394"/>
            </a:xfrm>
            <a:prstGeom prst="roundRect">
              <a:avLst/>
            </a:prstGeom>
            <a:ln w="6350">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900" dirty="0">
                  <a:latin typeface="+mj-lt"/>
                </a:rPr>
                <a:t>External</a:t>
              </a:r>
            </a:p>
            <a:p>
              <a:pPr algn="ctr"/>
              <a:endParaRPr lang="en-US" sz="900" dirty="0">
                <a:latin typeface="+mj-lt"/>
              </a:endParaRPr>
            </a:p>
            <a:p>
              <a:pPr algn="ctr"/>
              <a:endParaRPr lang="en-US" sz="900" dirty="0">
                <a:latin typeface="+mj-lt"/>
              </a:endParaRPr>
            </a:p>
            <a:p>
              <a:endParaRPr lang="en-US" sz="900" dirty="0">
                <a:latin typeface="+mj-lt"/>
              </a:endParaRPr>
            </a:p>
          </p:txBody>
        </p:sp>
        <p:sp>
          <p:nvSpPr>
            <p:cNvPr id="12" name="Rectangle 11">
              <a:extLst>
                <a:ext uri="{FF2B5EF4-FFF2-40B4-BE49-F238E27FC236}">
                  <a16:creationId xmlns:a16="http://schemas.microsoft.com/office/drawing/2014/main" id="{AA99F18C-98EF-4668-963F-5BB81078F388}"/>
                </a:ext>
              </a:extLst>
            </p:cNvPr>
            <p:cNvSpPr/>
            <p:nvPr/>
          </p:nvSpPr>
          <p:spPr>
            <a:xfrm>
              <a:off x="479677" y="2233337"/>
              <a:ext cx="1582357" cy="243809"/>
            </a:xfrm>
            <a:prstGeom prst="rect">
              <a:avLst/>
            </a:prstGeom>
            <a:solidFill>
              <a:schemeClr val="tx2"/>
            </a:solidFill>
            <a:ln w="63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dirty="0">
                  <a:latin typeface="+mj-lt"/>
                </a:rPr>
                <a:t>Data Sources</a:t>
              </a:r>
            </a:p>
          </p:txBody>
        </p:sp>
        <p:sp>
          <p:nvSpPr>
            <p:cNvPr id="13" name="Rectangle 12">
              <a:extLst>
                <a:ext uri="{FF2B5EF4-FFF2-40B4-BE49-F238E27FC236}">
                  <a16:creationId xmlns:a16="http://schemas.microsoft.com/office/drawing/2014/main" id="{ACFA0371-A7BA-4BC5-BAB8-17A7111AF220}"/>
                </a:ext>
              </a:extLst>
            </p:cNvPr>
            <p:cNvSpPr/>
            <p:nvPr/>
          </p:nvSpPr>
          <p:spPr>
            <a:xfrm>
              <a:off x="2193925" y="2247900"/>
              <a:ext cx="1582357" cy="243809"/>
            </a:xfrm>
            <a:prstGeom prst="rect">
              <a:avLst/>
            </a:prstGeom>
            <a:solidFill>
              <a:schemeClr val="tx2"/>
            </a:solidFill>
            <a:ln w="63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dirty="0">
                  <a:latin typeface="+mj-lt"/>
                </a:rPr>
                <a:t>Ingest</a:t>
              </a:r>
            </a:p>
          </p:txBody>
        </p:sp>
        <p:sp>
          <p:nvSpPr>
            <p:cNvPr id="14" name="Rounded Rectangle 8">
              <a:extLst>
                <a:ext uri="{FF2B5EF4-FFF2-40B4-BE49-F238E27FC236}">
                  <a16:creationId xmlns:a16="http://schemas.microsoft.com/office/drawing/2014/main" id="{7C64933A-089C-427D-8627-69BB64D52FCC}"/>
                </a:ext>
              </a:extLst>
            </p:cNvPr>
            <p:cNvSpPr/>
            <p:nvPr/>
          </p:nvSpPr>
          <p:spPr>
            <a:xfrm>
              <a:off x="2279722" y="2613684"/>
              <a:ext cx="1315741" cy="2542586"/>
            </a:xfrm>
            <a:prstGeom prst="roundRect">
              <a:avLst/>
            </a:prstGeom>
            <a:ln w="6350">
              <a:solidFill>
                <a:schemeClr val="tx1"/>
              </a:solidFill>
            </a:ln>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900" dirty="0">
                <a:latin typeface="+mj-lt"/>
              </a:endParaRPr>
            </a:p>
          </p:txBody>
        </p:sp>
        <p:sp>
          <p:nvSpPr>
            <p:cNvPr id="15" name="Rectangle 14">
              <a:extLst>
                <a:ext uri="{FF2B5EF4-FFF2-40B4-BE49-F238E27FC236}">
                  <a16:creationId xmlns:a16="http://schemas.microsoft.com/office/drawing/2014/main" id="{0BB38172-23E3-4ED2-8DC8-DDD0005824A4}"/>
                </a:ext>
              </a:extLst>
            </p:cNvPr>
            <p:cNvSpPr/>
            <p:nvPr/>
          </p:nvSpPr>
          <p:spPr>
            <a:xfrm>
              <a:off x="3908173" y="2233338"/>
              <a:ext cx="2543947" cy="242154"/>
            </a:xfrm>
            <a:prstGeom prst="rect">
              <a:avLst/>
            </a:prstGeom>
            <a:solidFill>
              <a:schemeClr val="tx2"/>
            </a:solidFill>
            <a:ln w="63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dirty="0">
                  <a:latin typeface="+mj-lt"/>
                </a:rPr>
                <a:t>Processing/Storage</a:t>
              </a:r>
            </a:p>
          </p:txBody>
        </p:sp>
        <p:sp>
          <p:nvSpPr>
            <p:cNvPr id="16" name="Rounded Rectangle 10">
              <a:extLst>
                <a:ext uri="{FF2B5EF4-FFF2-40B4-BE49-F238E27FC236}">
                  <a16:creationId xmlns:a16="http://schemas.microsoft.com/office/drawing/2014/main" id="{53519F9F-8026-42FE-B58B-5F76A8158BF3}"/>
                </a:ext>
              </a:extLst>
            </p:cNvPr>
            <p:cNvSpPr/>
            <p:nvPr/>
          </p:nvSpPr>
          <p:spPr>
            <a:xfrm>
              <a:off x="3903892" y="2801757"/>
              <a:ext cx="1173399" cy="219269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latin typeface="+mj-lt"/>
                </a:rPr>
                <a:t>Data Lake</a:t>
              </a: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p:txBody>
        </p:sp>
        <p:sp>
          <p:nvSpPr>
            <p:cNvPr id="17" name="Rounded Rectangle 11">
              <a:extLst>
                <a:ext uri="{FF2B5EF4-FFF2-40B4-BE49-F238E27FC236}">
                  <a16:creationId xmlns:a16="http://schemas.microsoft.com/office/drawing/2014/main" id="{C7156593-B0A9-47F9-A267-467E9671A0F2}"/>
                </a:ext>
              </a:extLst>
            </p:cNvPr>
            <p:cNvSpPr/>
            <p:nvPr/>
          </p:nvSpPr>
          <p:spPr>
            <a:xfrm>
              <a:off x="4009253" y="3305898"/>
              <a:ext cx="924523" cy="226398"/>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Raw</a:t>
              </a:r>
            </a:p>
          </p:txBody>
        </p:sp>
        <p:sp>
          <p:nvSpPr>
            <p:cNvPr id="18" name="Rounded Rectangle 12">
              <a:extLst>
                <a:ext uri="{FF2B5EF4-FFF2-40B4-BE49-F238E27FC236}">
                  <a16:creationId xmlns:a16="http://schemas.microsoft.com/office/drawing/2014/main" id="{FECBBB4B-8CDC-4FD6-A6F3-AF261E49303B}"/>
                </a:ext>
              </a:extLst>
            </p:cNvPr>
            <p:cNvSpPr/>
            <p:nvPr/>
          </p:nvSpPr>
          <p:spPr>
            <a:xfrm>
              <a:off x="4028327" y="3705093"/>
              <a:ext cx="924523" cy="22639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Transform</a:t>
              </a:r>
            </a:p>
          </p:txBody>
        </p:sp>
        <p:sp>
          <p:nvSpPr>
            <p:cNvPr id="19" name="Rounded Rectangle 13">
              <a:extLst>
                <a:ext uri="{FF2B5EF4-FFF2-40B4-BE49-F238E27FC236}">
                  <a16:creationId xmlns:a16="http://schemas.microsoft.com/office/drawing/2014/main" id="{2D4A978F-2708-4BE3-925D-4AED92F090E8}"/>
                </a:ext>
              </a:extLst>
            </p:cNvPr>
            <p:cNvSpPr/>
            <p:nvPr/>
          </p:nvSpPr>
          <p:spPr>
            <a:xfrm>
              <a:off x="4028327" y="4131318"/>
              <a:ext cx="924523" cy="226398"/>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Refined</a:t>
              </a:r>
            </a:p>
          </p:txBody>
        </p:sp>
        <p:sp>
          <p:nvSpPr>
            <p:cNvPr id="20" name="Rounded Rectangle 14">
              <a:extLst>
                <a:ext uri="{FF2B5EF4-FFF2-40B4-BE49-F238E27FC236}">
                  <a16:creationId xmlns:a16="http://schemas.microsoft.com/office/drawing/2014/main" id="{1B8EDB59-D97D-4822-B4D0-480D1F1B35A1}"/>
                </a:ext>
              </a:extLst>
            </p:cNvPr>
            <p:cNvSpPr/>
            <p:nvPr/>
          </p:nvSpPr>
          <p:spPr>
            <a:xfrm>
              <a:off x="5169840" y="2788597"/>
              <a:ext cx="1065158" cy="1034602"/>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latin typeface="+mj-lt"/>
              </a:endParaRPr>
            </a:p>
            <a:p>
              <a:endParaRPr lang="en-US" sz="900" dirty="0">
                <a:latin typeface="+mj-lt"/>
              </a:endParaRPr>
            </a:p>
            <a:p>
              <a:endParaRPr lang="en-US" sz="900" dirty="0">
                <a:latin typeface="+mj-lt"/>
              </a:endParaRPr>
            </a:p>
          </p:txBody>
        </p:sp>
        <p:sp>
          <p:nvSpPr>
            <p:cNvPr id="21" name="Rounded Rectangle 15">
              <a:extLst>
                <a:ext uri="{FF2B5EF4-FFF2-40B4-BE49-F238E27FC236}">
                  <a16:creationId xmlns:a16="http://schemas.microsoft.com/office/drawing/2014/main" id="{4EC52F4A-CFAA-49A8-A9E1-C386671F8D0B}"/>
                </a:ext>
              </a:extLst>
            </p:cNvPr>
            <p:cNvSpPr/>
            <p:nvPr/>
          </p:nvSpPr>
          <p:spPr>
            <a:xfrm>
              <a:off x="5170447" y="3952375"/>
              <a:ext cx="1064552" cy="1042080"/>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latin typeface="+mj-lt"/>
              </a:endParaRPr>
            </a:p>
            <a:p>
              <a:endParaRPr lang="en-US" sz="900" dirty="0">
                <a:latin typeface="+mj-lt"/>
              </a:endParaRPr>
            </a:p>
            <a:p>
              <a:endParaRPr lang="en-US" sz="900" dirty="0">
                <a:latin typeface="+mj-lt"/>
              </a:endParaRPr>
            </a:p>
          </p:txBody>
        </p:sp>
        <p:sp>
          <p:nvSpPr>
            <p:cNvPr id="22" name="Rounded Rectangle 16">
              <a:extLst>
                <a:ext uri="{FF2B5EF4-FFF2-40B4-BE49-F238E27FC236}">
                  <a16:creationId xmlns:a16="http://schemas.microsoft.com/office/drawing/2014/main" id="{15813764-05D2-4F80-9363-D10EC6AC98D8}"/>
                </a:ext>
              </a:extLst>
            </p:cNvPr>
            <p:cNvSpPr/>
            <p:nvPr/>
          </p:nvSpPr>
          <p:spPr>
            <a:xfrm>
              <a:off x="5220096" y="3017111"/>
              <a:ext cx="951709" cy="340776"/>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NoSQL Graph</a:t>
              </a:r>
            </a:p>
          </p:txBody>
        </p:sp>
        <p:sp>
          <p:nvSpPr>
            <p:cNvPr id="23" name="Rounded Rectangle 17">
              <a:extLst>
                <a:ext uri="{FF2B5EF4-FFF2-40B4-BE49-F238E27FC236}">
                  <a16:creationId xmlns:a16="http://schemas.microsoft.com/office/drawing/2014/main" id="{9BB3939C-AE25-4B9D-BC93-750CB43BC458}"/>
                </a:ext>
              </a:extLst>
            </p:cNvPr>
            <p:cNvSpPr/>
            <p:nvPr/>
          </p:nvSpPr>
          <p:spPr>
            <a:xfrm>
              <a:off x="5220096" y="3419097"/>
              <a:ext cx="951709" cy="340776"/>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Data Store</a:t>
              </a:r>
            </a:p>
          </p:txBody>
        </p:sp>
        <p:sp>
          <p:nvSpPr>
            <p:cNvPr id="25" name="Rounded Rectangle 19">
              <a:extLst>
                <a:ext uri="{FF2B5EF4-FFF2-40B4-BE49-F238E27FC236}">
                  <a16:creationId xmlns:a16="http://schemas.microsoft.com/office/drawing/2014/main" id="{12CE8AC2-387C-48F9-80F9-687F429BCA67}"/>
                </a:ext>
              </a:extLst>
            </p:cNvPr>
            <p:cNvSpPr/>
            <p:nvPr/>
          </p:nvSpPr>
          <p:spPr>
            <a:xfrm>
              <a:off x="5240645" y="4613691"/>
              <a:ext cx="931160" cy="315807"/>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Mining/</a:t>
              </a:r>
            </a:p>
            <a:p>
              <a:pPr algn="ctr"/>
              <a:r>
                <a:rPr lang="en-US" sz="900" dirty="0">
                  <a:latin typeface="+mj-lt"/>
                </a:rPr>
                <a:t>Predictive</a:t>
              </a:r>
            </a:p>
          </p:txBody>
        </p:sp>
        <p:sp>
          <p:nvSpPr>
            <p:cNvPr id="26" name="Rectangle 25">
              <a:extLst>
                <a:ext uri="{FF2B5EF4-FFF2-40B4-BE49-F238E27FC236}">
                  <a16:creationId xmlns:a16="http://schemas.microsoft.com/office/drawing/2014/main" id="{1DE71E26-B7F0-4D89-AF83-788ADF8BA5E2}"/>
                </a:ext>
              </a:extLst>
            </p:cNvPr>
            <p:cNvSpPr/>
            <p:nvPr/>
          </p:nvSpPr>
          <p:spPr>
            <a:xfrm>
              <a:off x="6544175" y="2224943"/>
              <a:ext cx="1446152" cy="242155"/>
            </a:xfrm>
            <a:prstGeom prst="rect">
              <a:avLst/>
            </a:prstGeom>
            <a:solidFill>
              <a:schemeClr val="tx2"/>
            </a:solidFill>
            <a:ln w="635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dirty="0">
                  <a:latin typeface="+mj-lt"/>
                </a:rPr>
                <a:t>Consumption</a:t>
              </a:r>
            </a:p>
          </p:txBody>
        </p:sp>
        <p:sp>
          <p:nvSpPr>
            <p:cNvPr id="27" name="Rectangle 26">
              <a:extLst>
                <a:ext uri="{FF2B5EF4-FFF2-40B4-BE49-F238E27FC236}">
                  <a16:creationId xmlns:a16="http://schemas.microsoft.com/office/drawing/2014/main" id="{DEE1DCDA-EAA2-4198-8940-1A721DCEFBBC}"/>
                </a:ext>
              </a:extLst>
            </p:cNvPr>
            <p:cNvSpPr/>
            <p:nvPr/>
          </p:nvSpPr>
          <p:spPr>
            <a:xfrm>
              <a:off x="2479648" y="3073485"/>
              <a:ext cx="906743" cy="580253"/>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Batch/ Micro Batch</a:t>
              </a:r>
            </a:p>
          </p:txBody>
        </p:sp>
        <p:sp>
          <p:nvSpPr>
            <p:cNvPr id="28" name="Rectangle 27">
              <a:extLst>
                <a:ext uri="{FF2B5EF4-FFF2-40B4-BE49-F238E27FC236}">
                  <a16:creationId xmlns:a16="http://schemas.microsoft.com/office/drawing/2014/main" id="{A0807EE7-A333-4E8D-AF0B-2797F3FCBD78}"/>
                </a:ext>
              </a:extLst>
            </p:cNvPr>
            <p:cNvSpPr/>
            <p:nvPr/>
          </p:nvSpPr>
          <p:spPr>
            <a:xfrm>
              <a:off x="2479648" y="4107836"/>
              <a:ext cx="906743" cy="580253"/>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Real-Time/ Stream/ Events</a:t>
              </a:r>
            </a:p>
          </p:txBody>
        </p:sp>
        <p:sp>
          <p:nvSpPr>
            <p:cNvPr id="29" name="Rectangle 28">
              <a:extLst>
                <a:ext uri="{FF2B5EF4-FFF2-40B4-BE49-F238E27FC236}">
                  <a16:creationId xmlns:a16="http://schemas.microsoft.com/office/drawing/2014/main" id="{C8366DF3-B4E1-4688-8196-946468AD671E}"/>
                </a:ext>
              </a:extLst>
            </p:cNvPr>
            <p:cNvSpPr/>
            <p:nvPr/>
          </p:nvSpPr>
          <p:spPr>
            <a:xfrm>
              <a:off x="596134" y="3051400"/>
              <a:ext cx="1325671" cy="483200"/>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ERP, MDM, POS, HR, Finance etc. </a:t>
              </a:r>
            </a:p>
          </p:txBody>
        </p:sp>
        <p:sp>
          <p:nvSpPr>
            <p:cNvPr id="30" name="Rectangle 29">
              <a:extLst>
                <a:ext uri="{FF2B5EF4-FFF2-40B4-BE49-F238E27FC236}">
                  <a16:creationId xmlns:a16="http://schemas.microsoft.com/office/drawing/2014/main" id="{6FCC988B-FAE7-4EE4-96AA-DEDCCF9D9EE9}"/>
                </a:ext>
              </a:extLst>
            </p:cNvPr>
            <p:cNvSpPr/>
            <p:nvPr/>
          </p:nvSpPr>
          <p:spPr>
            <a:xfrm>
              <a:off x="596134" y="4476994"/>
              <a:ext cx="1325671" cy="483200"/>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Social Media, Third Party etc.</a:t>
              </a:r>
            </a:p>
          </p:txBody>
        </p:sp>
        <p:sp>
          <p:nvSpPr>
            <p:cNvPr id="31" name="Rounded Rectangle 34">
              <a:extLst>
                <a:ext uri="{FF2B5EF4-FFF2-40B4-BE49-F238E27FC236}">
                  <a16:creationId xmlns:a16="http://schemas.microsoft.com/office/drawing/2014/main" id="{0FA02920-040E-479E-877C-1DDE9E98867F}"/>
                </a:ext>
              </a:extLst>
            </p:cNvPr>
            <p:cNvSpPr/>
            <p:nvPr/>
          </p:nvSpPr>
          <p:spPr>
            <a:xfrm>
              <a:off x="4028329" y="4571755"/>
              <a:ext cx="924523" cy="226398"/>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Extract</a:t>
              </a:r>
            </a:p>
          </p:txBody>
        </p:sp>
        <p:sp>
          <p:nvSpPr>
            <p:cNvPr id="32" name="Rounded Rectangle 35">
              <a:extLst>
                <a:ext uri="{FF2B5EF4-FFF2-40B4-BE49-F238E27FC236}">
                  <a16:creationId xmlns:a16="http://schemas.microsoft.com/office/drawing/2014/main" id="{01F1DBB1-07F9-4B40-B507-8769C1C79FF9}"/>
                </a:ext>
              </a:extLst>
            </p:cNvPr>
            <p:cNvSpPr/>
            <p:nvPr/>
          </p:nvSpPr>
          <p:spPr>
            <a:xfrm>
              <a:off x="6632939" y="2653625"/>
              <a:ext cx="1357387" cy="2542586"/>
            </a:xfrm>
            <a:prstGeom prst="roundRect">
              <a:avLst/>
            </a:prstGeom>
            <a:solidFill>
              <a:srgbClr val="D0D0CE"/>
            </a:solidFill>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900" dirty="0">
                <a:latin typeface="+mj-lt"/>
              </a:endParaRPr>
            </a:p>
          </p:txBody>
        </p:sp>
        <p:sp>
          <p:nvSpPr>
            <p:cNvPr id="33" name="Rectangle 32">
              <a:extLst>
                <a:ext uri="{FF2B5EF4-FFF2-40B4-BE49-F238E27FC236}">
                  <a16:creationId xmlns:a16="http://schemas.microsoft.com/office/drawing/2014/main" id="{46D68FB5-B87C-4CA9-A7B8-11BD82F7EDA1}"/>
                </a:ext>
              </a:extLst>
            </p:cNvPr>
            <p:cNvSpPr/>
            <p:nvPr/>
          </p:nvSpPr>
          <p:spPr>
            <a:xfrm>
              <a:off x="6741677" y="2972094"/>
              <a:ext cx="1156096" cy="45930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900" dirty="0">
                  <a:latin typeface="+mj-lt"/>
                </a:rPr>
                <a:t>Traditional BI</a:t>
              </a:r>
            </a:p>
          </p:txBody>
        </p:sp>
        <p:sp>
          <p:nvSpPr>
            <p:cNvPr id="34" name="Rectangle 33">
              <a:extLst>
                <a:ext uri="{FF2B5EF4-FFF2-40B4-BE49-F238E27FC236}">
                  <a16:creationId xmlns:a16="http://schemas.microsoft.com/office/drawing/2014/main" id="{3A7A34E5-8FE3-4BA3-ADB3-8484DD45618D}"/>
                </a:ext>
              </a:extLst>
            </p:cNvPr>
            <p:cNvSpPr/>
            <p:nvPr/>
          </p:nvSpPr>
          <p:spPr>
            <a:xfrm>
              <a:off x="6741676" y="3602561"/>
              <a:ext cx="1156097" cy="54524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900" dirty="0">
                  <a:latin typeface="+mj-lt"/>
                </a:rPr>
                <a:t>Real Time</a:t>
              </a:r>
            </a:p>
          </p:txBody>
        </p:sp>
        <p:sp>
          <p:nvSpPr>
            <p:cNvPr id="35" name="Rectangle 34">
              <a:extLst>
                <a:ext uri="{FF2B5EF4-FFF2-40B4-BE49-F238E27FC236}">
                  <a16:creationId xmlns:a16="http://schemas.microsoft.com/office/drawing/2014/main" id="{EAD07FF1-50F4-43CD-BAC1-89F05F4E5F53}"/>
                </a:ext>
              </a:extLst>
            </p:cNvPr>
            <p:cNvSpPr/>
            <p:nvPr/>
          </p:nvSpPr>
          <p:spPr>
            <a:xfrm>
              <a:off x="6749267" y="4306472"/>
              <a:ext cx="1148506" cy="46611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900" dirty="0">
                  <a:latin typeface="+mj-lt"/>
                </a:rPr>
                <a:t>Advanced Analytics</a:t>
              </a:r>
            </a:p>
          </p:txBody>
        </p:sp>
        <p:sp>
          <p:nvSpPr>
            <p:cNvPr id="36" name="Arrow: Right 46">
              <a:extLst>
                <a:ext uri="{FF2B5EF4-FFF2-40B4-BE49-F238E27FC236}">
                  <a16:creationId xmlns:a16="http://schemas.microsoft.com/office/drawing/2014/main" id="{C6A95871-DCFE-4848-AACC-71B9BF78232C}"/>
                </a:ext>
              </a:extLst>
            </p:cNvPr>
            <p:cNvSpPr/>
            <p:nvPr/>
          </p:nvSpPr>
          <p:spPr>
            <a:xfrm>
              <a:off x="2044895" y="3161773"/>
              <a:ext cx="234261" cy="155394"/>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7" name="Arrow: Right 46">
              <a:extLst>
                <a:ext uri="{FF2B5EF4-FFF2-40B4-BE49-F238E27FC236}">
                  <a16:creationId xmlns:a16="http://schemas.microsoft.com/office/drawing/2014/main" id="{68ACFCE3-8FDE-4F39-A4A1-D700A1B58849}"/>
                </a:ext>
              </a:extLst>
            </p:cNvPr>
            <p:cNvSpPr/>
            <p:nvPr/>
          </p:nvSpPr>
          <p:spPr>
            <a:xfrm>
              <a:off x="2044895" y="4435186"/>
              <a:ext cx="234261" cy="155394"/>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8" name="Arrow: Right 46">
              <a:extLst>
                <a:ext uri="{FF2B5EF4-FFF2-40B4-BE49-F238E27FC236}">
                  <a16:creationId xmlns:a16="http://schemas.microsoft.com/office/drawing/2014/main" id="{2009EDDC-F7BC-4E1E-BD2C-43AAD9E146B5}"/>
                </a:ext>
              </a:extLst>
            </p:cNvPr>
            <p:cNvSpPr/>
            <p:nvPr/>
          </p:nvSpPr>
          <p:spPr>
            <a:xfrm>
              <a:off x="3597734" y="3769524"/>
              <a:ext cx="234261" cy="155394"/>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9" name="Arrow: Right 46">
              <a:extLst>
                <a:ext uri="{FF2B5EF4-FFF2-40B4-BE49-F238E27FC236}">
                  <a16:creationId xmlns:a16="http://schemas.microsoft.com/office/drawing/2014/main" id="{23239789-3394-4613-B0C9-93368B926F52}"/>
                </a:ext>
              </a:extLst>
            </p:cNvPr>
            <p:cNvSpPr/>
            <p:nvPr/>
          </p:nvSpPr>
          <p:spPr>
            <a:xfrm>
              <a:off x="6445140" y="3769524"/>
              <a:ext cx="234261" cy="155394"/>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7" name="TextBox 6">
              <a:extLst>
                <a:ext uri="{FF2B5EF4-FFF2-40B4-BE49-F238E27FC236}">
                  <a16:creationId xmlns:a16="http://schemas.microsoft.com/office/drawing/2014/main" id="{14D4303F-C5A2-4294-82BD-86A02E481015}"/>
                </a:ext>
              </a:extLst>
            </p:cNvPr>
            <p:cNvSpPr txBox="1"/>
            <p:nvPr/>
          </p:nvSpPr>
          <p:spPr bwMode="gray">
            <a:xfrm>
              <a:off x="5324354" y="2895737"/>
              <a:ext cx="975075" cy="103115"/>
            </a:xfrm>
            <a:prstGeom prst="rect">
              <a:avLst/>
            </a:prstGeom>
          </p:spPr>
          <p:txBody>
            <a:bodyPr wrap="square" lIns="0" rIns="0" rtlCol="0" anchor="b" anchorCtr="0">
              <a:noAutofit/>
            </a:bodyPr>
            <a:lstStyle/>
            <a:p>
              <a:pPr>
                <a:lnSpc>
                  <a:spcPts val="900"/>
                </a:lnSpc>
              </a:pPr>
              <a:r>
                <a:rPr lang="en-US" sz="900" dirty="0">
                  <a:solidFill>
                    <a:schemeClr val="bg1"/>
                  </a:solidFill>
                  <a:latin typeface="+mj-lt"/>
                </a:rPr>
                <a:t>Datamart</a:t>
              </a:r>
            </a:p>
          </p:txBody>
        </p:sp>
        <p:sp>
          <p:nvSpPr>
            <p:cNvPr id="40" name="TextBox 39">
              <a:extLst>
                <a:ext uri="{FF2B5EF4-FFF2-40B4-BE49-F238E27FC236}">
                  <a16:creationId xmlns:a16="http://schemas.microsoft.com/office/drawing/2014/main" id="{090D70A8-22AE-4AFC-ADE3-53B60FE80E51}"/>
                </a:ext>
              </a:extLst>
            </p:cNvPr>
            <p:cNvSpPr txBox="1"/>
            <p:nvPr/>
          </p:nvSpPr>
          <p:spPr bwMode="gray">
            <a:xfrm>
              <a:off x="5417786" y="4066709"/>
              <a:ext cx="1306292" cy="176367"/>
            </a:xfrm>
            <a:prstGeom prst="rect">
              <a:avLst/>
            </a:prstGeom>
          </p:spPr>
          <p:txBody>
            <a:bodyPr wrap="square" lIns="0" rIns="0" rtlCol="0" anchor="b" anchorCtr="0">
              <a:noAutofit/>
            </a:bodyPr>
            <a:lstStyle/>
            <a:p>
              <a:pPr>
                <a:lnSpc>
                  <a:spcPts val="900"/>
                </a:lnSpc>
              </a:pPr>
              <a:r>
                <a:rPr lang="en-US" sz="900" dirty="0">
                  <a:solidFill>
                    <a:schemeClr val="bg1"/>
                  </a:solidFill>
                  <a:latin typeface="+mj-lt"/>
                </a:rPr>
                <a:t>Advanced </a:t>
              </a:r>
            </a:p>
            <a:p>
              <a:pPr>
                <a:lnSpc>
                  <a:spcPts val="900"/>
                </a:lnSpc>
              </a:pPr>
              <a:r>
                <a:rPr lang="en-US" sz="900" dirty="0">
                  <a:solidFill>
                    <a:schemeClr val="bg1"/>
                  </a:solidFill>
                  <a:latin typeface="+mj-lt"/>
                </a:rPr>
                <a:t>Analytics</a:t>
              </a:r>
            </a:p>
          </p:txBody>
        </p:sp>
        <p:sp>
          <p:nvSpPr>
            <p:cNvPr id="41" name="Rounded Rectangle 19">
              <a:extLst>
                <a:ext uri="{FF2B5EF4-FFF2-40B4-BE49-F238E27FC236}">
                  <a16:creationId xmlns:a16="http://schemas.microsoft.com/office/drawing/2014/main" id="{BCB11C37-2344-493A-8935-D84D7FC8761D}"/>
                </a:ext>
              </a:extLst>
            </p:cNvPr>
            <p:cNvSpPr/>
            <p:nvPr/>
          </p:nvSpPr>
          <p:spPr>
            <a:xfrm>
              <a:off x="5241827" y="4255948"/>
              <a:ext cx="931160" cy="315807"/>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Discovery/ Search</a:t>
              </a:r>
            </a:p>
          </p:txBody>
        </p:sp>
      </p:grpSp>
    </p:spTree>
    <p:extLst>
      <p:ext uri="{BB962C8B-B14F-4D97-AF65-F5344CB8AC3E}">
        <p14:creationId xmlns:p14="http://schemas.microsoft.com/office/powerpoint/2010/main" val="172251243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EAC7D8-2B10-4EA3-884C-EECC1C70F3F9}"/>
              </a:ext>
            </a:extLst>
          </p:cNvPr>
          <p:cNvSpPr>
            <a:spLocks noGrp="1"/>
          </p:cNvSpPr>
          <p:nvPr>
            <p:ph type="title"/>
          </p:nvPr>
        </p:nvSpPr>
        <p:spPr>
          <a:xfrm>
            <a:off x="469900" y="402586"/>
            <a:ext cx="11252200" cy="698501"/>
          </a:xfrm>
        </p:spPr>
        <p:txBody>
          <a:bodyPr/>
          <a:lstStyle/>
          <a:p>
            <a:r>
              <a:rPr lang="en-US" dirty="0"/>
              <a:t>Traditional BI consumption pattern </a:t>
            </a:r>
          </a:p>
        </p:txBody>
      </p:sp>
      <p:sp>
        <p:nvSpPr>
          <p:cNvPr id="66" name="Rectangle 65">
            <a:extLst>
              <a:ext uri="{FF2B5EF4-FFF2-40B4-BE49-F238E27FC236}">
                <a16:creationId xmlns:a16="http://schemas.microsoft.com/office/drawing/2014/main" id="{2A639F9E-6FD3-4CE0-91D4-C700B10AF961}"/>
              </a:ext>
            </a:extLst>
          </p:cNvPr>
          <p:cNvSpPr/>
          <p:nvPr/>
        </p:nvSpPr>
        <p:spPr>
          <a:xfrm>
            <a:off x="469900" y="4647654"/>
            <a:ext cx="11252200" cy="1651546"/>
          </a:xfrm>
          <a:prstGeom prst="rect">
            <a:avLst/>
          </a:prstGeom>
          <a:no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Open Sans"/>
              <a:ea typeface="+mn-ea"/>
              <a:cs typeface="+mn-cs"/>
            </a:endParaRPr>
          </a:p>
        </p:txBody>
      </p:sp>
      <p:grpSp>
        <p:nvGrpSpPr>
          <p:cNvPr id="67" name="Group 66">
            <a:extLst>
              <a:ext uri="{FF2B5EF4-FFF2-40B4-BE49-F238E27FC236}">
                <a16:creationId xmlns:a16="http://schemas.microsoft.com/office/drawing/2014/main" id="{049338D2-FC23-4CB7-A96A-11D7EDFED4FE}"/>
              </a:ext>
            </a:extLst>
          </p:cNvPr>
          <p:cNvGrpSpPr/>
          <p:nvPr/>
        </p:nvGrpSpPr>
        <p:grpSpPr>
          <a:xfrm>
            <a:off x="9253791" y="4685876"/>
            <a:ext cx="2381160" cy="812577"/>
            <a:chOff x="4892614" y="5726709"/>
            <a:chExt cx="1377236" cy="518094"/>
          </a:xfrm>
          <a:noFill/>
        </p:grpSpPr>
        <p:sp>
          <p:nvSpPr>
            <p:cNvPr id="68" name="Rectangle 67">
              <a:extLst>
                <a:ext uri="{FF2B5EF4-FFF2-40B4-BE49-F238E27FC236}">
                  <a16:creationId xmlns:a16="http://schemas.microsoft.com/office/drawing/2014/main" id="{DFEEB8BE-F9E6-4C30-90AC-8C2AB4D0C4D7}"/>
                </a:ext>
              </a:extLst>
            </p:cNvPr>
            <p:cNvSpPr/>
            <p:nvPr/>
          </p:nvSpPr>
          <p:spPr>
            <a:xfrm>
              <a:off x="4892614" y="5726709"/>
              <a:ext cx="1318378" cy="274320"/>
            </a:xfrm>
            <a:prstGeom prst="rect">
              <a:avLst/>
            </a:prstGeom>
            <a:grpFill/>
          </p:spPr>
          <p:txBody>
            <a:bodyPr wrap="square"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700" b="1" i="0" u="none" strike="noStrike" kern="0" normalizeH="0" baseline="0" noProof="0" dirty="0">
                  <a:uLnTx/>
                  <a:uFillTx/>
                  <a:latin typeface="+mj-lt"/>
                  <a:ea typeface="Nexa Black" charset="0"/>
                  <a:cs typeface="Nexa Black" charset="0"/>
                </a:rPr>
                <a:t>4. Extract or delivery API’s</a:t>
              </a:r>
              <a:br>
                <a:rPr kumimoji="0" lang="en-US" sz="700" b="1" i="0" u="none" strike="noStrike" kern="0" normalizeH="0" baseline="0" noProof="0" dirty="0">
                  <a:uLnTx/>
                  <a:uFillTx/>
                  <a:latin typeface="+mj-lt"/>
                  <a:ea typeface="Nexa Black" charset="0"/>
                  <a:cs typeface="Nexa Black" charset="0"/>
                </a:rPr>
              </a:br>
              <a:endParaRPr kumimoji="0" lang="en-US" sz="700" b="1" i="0" u="none" strike="noStrike" kern="0" normalizeH="0" baseline="0" noProof="0" dirty="0">
                <a:uLnTx/>
                <a:uFillTx/>
                <a:latin typeface="+mj-lt"/>
                <a:ea typeface="Nexa Black" charset="0"/>
                <a:cs typeface="Nexa Black" charset="0"/>
              </a:endParaRPr>
            </a:p>
          </p:txBody>
        </p:sp>
        <p:sp>
          <p:nvSpPr>
            <p:cNvPr id="69" name="TextBox 68">
              <a:extLst>
                <a:ext uri="{FF2B5EF4-FFF2-40B4-BE49-F238E27FC236}">
                  <a16:creationId xmlns:a16="http://schemas.microsoft.com/office/drawing/2014/main" id="{FA77971F-8B8E-4A6E-9727-F7D340981A64}"/>
                </a:ext>
              </a:extLst>
            </p:cNvPr>
            <p:cNvSpPr txBox="1"/>
            <p:nvPr/>
          </p:nvSpPr>
          <p:spPr>
            <a:xfrm>
              <a:off x="4938788" y="5842518"/>
              <a:ext cx="1331062" cy="402285"/>
            </a:xfrm>
            <a:prstGeom prst="rect">
              <a:avLst/>
            </a:prstGeom>
            <a:grp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kern="0" dirty="0">
                  <a:latin typeface="+mj-lt"/>
                </a:rPr>
                <a:t>Extracts can be generated from Data Lake layer and it or Data Store can also serve various client applications by APIs for delivering data securely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baseline="0" noProof="0" dirty="0">
                  <a:uLnTx/>
                  <a:uFillTx/>
                  <a:latin typeface="+mj-lt"/>
                  <a:ea typeface="+mn-ea"/>
                  <a:cs typeface="+mn-cs"/>
                </a:rPr>
                <a:t>Examples</a:t>
              </a:r>
              <a:r>
                <a:rPr kumimoji="0" lang="en-US" sz="700" i="0" u="none" strike="noStrike" kern="0" normalizeH="0" noProof="0" dirty="0">
                  <a:uLnTx/>
                  <a:uFillTx/>
                  <a:latin typeface="+mj-lt"/>
                  <a:ea typeface="+mn-ea"/>
                  <a:cs typeface="+mn-cs"/>
                </a:rPr>
                <a:t> of technologies: </a:t>
              </a:r>
              <a:endParaRPr kumimoji="0" lang="en-US" sz="700" i="0" u="none" strike="noStrike" kern="0" normalizeH="0" baseline="0" noProof="0" dirty="0">
                <a:uLnTx/>
                <a:uFillTx/>
                <a:latin typeface="+mj-lt"/>
                <a:ea typeface="+mn-ea"/>
                <a:cs typeface="+mn-cs"/>
              </a:endParaRPr>
            </a:p>
          </p:txBody>
        </p:sp>
      </p:grpSp>
      <p:grpSp>
        <p:nvGrpSpPr>
          <p:cNvPr id="70" name="Group 69">
            <a:extLst>
              <a:ext uri="{FF2B5EF4-FFF2-40B4-BE49-F238E27FC236}">
                <a16:creationId xmlns:a16="http://schemas.microsoft.com/office/drawing/2014/main" id="{63F814A4-3364-4605-883F-463934B507EB}"/>
              </a:ext>
            </a:extLst>
          </p:cNvPr>
          <p:cNvGrpSpPr/>
          <p:nvPr/>
        </p:nvGrpSpPr>
        <p:grpSpPr>
          <a:xfrm>
            <a:off x="6096000" y="4685873"/>
            <a:ext cx="2880778" cy="925200"/>
            <a:chOff x="3209173" y="5713648"/>
            <a:chExt cx="1738256" cy="610844"/>
          </a:xfrm>
          <a:noFill/>
        </p:grpSpPr>
        <p:sp>
          <p:nvSpPr>
            <p:cNvPr id="71" name="Rectangle 70">
              <a:extLst>
                <a:ext uri="{FF2B5EF4-FFF2-40B4-BE49-F238E27FC236}">
                  <a16:creationId xmlns:a16="http://schemas.microsoft.com/office/drawing/2014/main" id="{1163B8B3-C709-41B7-BB44-BD17E2AFA3FC}"/>
                </a:ext>
              </a:extLst>
            </p:cNvPr>
            <p:cNvSpPr/>
            <p:nvPr/>
          </p:nvSpPr>
          <p:spPr>
            <a:xfrm>
              <a:off x="3209173" y="5713648"/>
              <a:ext cx="1694495" cy="256426"/>
            </a:xfrm>
            <a:prstGeom prst="rect">
              <a:avLst/>
            </a:prstGeom>
            <a:grpFill/>
          </p:spPr>
          <p:txBody>
            <a:bodyPr wrap="square"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700" b="1" i="0" u="none" strike="noStrike" kern="0" normalizeH="0" baseline="0" noProof="0" dirty="0">
                  <a:uLnTx/>
                  <a:uFillTx/>
                  <a:latin typeface="+mj-lt"/>
                  <a:ea typeface="Nexa Black" charset="0"/>
                  <a:cs typeface="Nexa Black" charset="0"/>
                </a:rPr>
                <a:t>3. Direct access to data lake </a:t>
              </a:r>
            </a:p>
          </p:txBody>
        </p:sp>
        <p:sp>
          <p:nvSpPr>
            <p:cNvPr id="72" name="TextBox 71">
              <a:extLst>
                <a:ext uri="{FF2B5EF4-FFF2-40B4-BE49-F238E27FC236}">
                  <a16:creationId xmlns:a16="http://schemas.microsoft.com/office/drawing/2014/main" id="{8812660B-3B51-4A56-BFFC-F58DE65F3E4B}"/>
                </a:ext>
              </a:extLst>
            </p:cNvPr>
            <p:cNvSpPr txBox="1"/>
            <p:nvPr/>
          </p:nvSpPr>
          <p:spPr>
            <a:xfrm>
              <a:off x="3231957" y="5836804"/>
              <a:ext cx="1715472" cy="487688"/>
            </a:xfrm>
            <a:prstGeom prst="rect">
              <a:avLst/>
            </a:prstGeom>
            <a:grp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baseline="0" noProof="0" dirty="0">
                  <a:uLnTx/>
                  <a:uFillTx/>
                  <a:latin typeface="+mj-lt"/>
                  <a:ea typeface="+mn-ea"/>
                  <a:cs typeface="+mn-cs"/>
                </a:rPr>
                <a:t>Though not preferred but there</a:t>
              </a:r>
              <a:r>
                <a:rPr kumimoji="0" lang="en-US" sz="700" i="0" u="none" strike="noStrike" kern="0" normalizeH="0" noProof="0" dirty="0">
                  <a:uLnTx/>
                  <a:uFillTx/>
                  <a:latin typeface="+mj-lt"/>
                  <a:ea typeface="+mn-ea"/>
                  <a:cs typeface="+mn-cs"/>
                </a:rPr>
                <a:t> can be use cases to directly access data lake for interactive and adhoc queries as soon as data becomes available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kern="0" dirty="0">
                  <a:latin typeface="+mj-lt"/>
                </a:rPr>
                <a:t>Data access latency might be high and consumption workloads needs to be managed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baseline="0" noProof="0" dirty="0">
                  <a:uLnTx/>
                  <a:uFillTx/>
                  <a:latin typeface="+mj-lt"/>
                  <a:ea typeface="+mn-ea"/>
                  <a:cs typeface="+mn-cs"/>
                </a:rPr>
                <a:t>Examples</a:t>
              </a:r>
              <a:r>
                <a:rPr kumimoji="0" lang="en-US" sz="700" i="0" u="none" strike="noStrike" kern="0" normalizeH="0" noProof="0" dirty="0">
                  <a:uLnTx/>
                  <a:uFillTx/>
                  <a:latin typeface="+mj-lt"/>
                  <a:ea typeface="+mn-ea"/>
                  <a:cs typeface="+mn-cs"/>
                </a:rPr>
                <a:t> of technologies: </a:t>
              </a:r>
              <a:endParaRPr kumimoji="0" lang="en-US" sz="700" i="0" u="none" strike="noStrike" kern="0" normalizeH="0" baseline="0" noProof="0" dirty="0">
                <a:uLnTx/>
                <a:uFillTx/>
                <a:latin typeface="+mj-lt"/>
                <a:ea typeface="+mn-ea"/>
                <a:cs typeface="+mn-cs"/>
              </a:endParaRPr>
            </a:p>
          </p:txBody>
        </p:sp>
      </p:grpSp>
      <p:grpSp>
        <p:nvGrpSpPr>
          <p:cNvPr id="73" name="Group 72">
            <a:extLst>
              <a:ext uri="{FF2B5EF4-FFF2-40B4-BE49-F238E27FC236}">
                <a16:creationId xmlns:a16="http://schemas.microsoft.com/office/drawing/2014/main" id="{42872105-C9FD-44A2-9703-BA78FE408DEE}"/>
              </a:ext>
            </a:extLst>
          </p:cNvPr>
          <p:cNvGrpSpPr/>
          <p:nvPr/>
        </p:nvGrpSpPr>
        <p:grpSpPr>
          <a:xfrm>
            <a:off x="469900" y="4685845"/>
            <a:ext cx="2511871" cy="695540"/>
            <a:chOff x="231329" y="5728712"/>
            <a:chExt cx="1245703" cy="194673"/>
          </a:xfrm>
          <a:noFill/>
        </p:grpSpPr>
        <p:sp>
          <p:nvSpPr>
            <p:cNvPr id="74" name="Rectangle 73">
              <a:extLst>
                <a:ext uri="{FF2B5EF4-FFF2-40B4-BE49-F238E27FC236}">
                  <a16:creationId xmlns:a16="http://schemas.microsoft.com/office/drawing/2014/main" id="{E9F4BB42-69D0-4EC3-9A37-1DE871BE4709}"/>
                </a:ext>
              </a:extLst>
            </p:cNvPr>
            <p:cNvSpPr/>
            <p:nvPr/>
          </p:nvSpPr>
          <p:spPr>
            <a:xfrm>
              <a:off x="231329" y="5728712"/>
              <a:ext cx="1157524" cy="71089"/>
            </a:xfrm>
            <a:prstGeom prst="rect">
              <a:avLst/>
            </a:prstGeom>
            <a:grpFill/>
          </p:spPr>
          <p:txBody>
            <a:bodyPr wrap="square"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700" b="1" i="0" u="none" strike="noStrike" kern="0" normalizeH="0" baseline="0" noProof="0" dirty="0">
                  <a:uLnTx/>
                  <a:uFillTx/>
                  <a:latin typeface="+mj-lt"/>
                  <a:ea typeface="Nexa Black" charset="0"/>
                  <a:cs typeface="Nexa Black" charset="0"/>
                </a:rPr>
                <a:t>1. Data stores</a:t>
              </a:r>
              <a:r>
                <a:rPr kumimoji="0" lang="en-US" sz="700" b="1" i="0" u="none" strike="noStrike" kern="0" normalizeH="0" noProof="0" dirty="0">
                  <a:uLnTx/>
                  <a:uFillTx/>
                  <a:latin typeface="+mj-lt"/>
                  <a:ea typeface="Nexa Black" charset="0"/>
                  <a:cs typeface="Nexa Black" charset="0"/>
                </a:rPr>
                <a:t> </a:t>
              </a:r>
              <a:endParaRPr kumimoji="0" lang="en-US" sz="700" b="1" i="0" u="none" strike="noStrike" kern="0" normalizeH="0" baseline="0" noProof="0" dirty="0">
                <a:uLnTx/>
                <a:uFillTx/>
                <a:latin typeface="+mj-lt"/>
                <a:ea typeface="Nexa Black" charset="0"/>
                <a:cs typeface="Nexa Black" charset="0"/>
              </a:endParaRPr>
            </a:p>
          </p:txBody>
        </p:sp>
        <p:sp>
          <p:nvSpPr>
            <p:cNvPr id="75" name="TextBox 74">
              <a:extLst>
                <a:ext uri="{FF2B5EF4-FFF2-40B4-BE49-F238E27FC236}">
                  <a16:creationId xmlns:a16="http://schemas.microsoft.com/office/drawing/2014/main" id="{C63A6272-F25D-476E-B5B1-031A5F4FF7B1}"/>
                </a:ext>
              </a:extLst>
            </p:cNvPr>
            <p:cNvSpPr txBox="1"/>
            <p:nvPr/>
          </p:nvSpPr>
          <p:spPr>
            <a:xfrm>
              <a:off x="231330" y="5776942"/>
              <a:ext cx="1245702" cy="146443"/>
            </a:xfrm>
            <a:prstGeom prst="rect">
              <a:avLst/>
            </a:prstGeom>
            <a:grp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baseline="0" noProof="0" dirty="0">
                  <a:uLnTx/>
                  <a:uFillTx/>
                  <a:latin typeface="+mj-lt"/>
                  <a:ea typeface="+mn-ea"/>
                  <a:cs typeface="+mn-cs"/>
                </a:rPr>
                <a:t>Preferred method of catering</a:t>
              </a:r>
              <a:r>
                <a:rPr kumimoji="0" lang="en-US" sz="700" i="0" u="none" strike="noStrike" kern="0" normalizeH="0" noProof="0" dirty="0">
                  <a:uLnTx/>
                  <a:uFillTx/>
                  <a:latin typeface="+mj-lt"/>
                  <a:ea typeface="+mn-ea"/>
                  <a:cs typeface="+mn-cs"/>
                </a:rPr>
                <a:t> to traditional BI needs is a data store—specialized DWH, a relational, MPP or anything in between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kern="0" baseline="0" dirty="0">
                  <a:latin typeface="+mj-lt"/>
                </a:rPr>
                <a:t>Examples of technologies:</a:t>
              </a:r>
              <a:endParaRPr kumimoji="0" lang="en-US" sz="700" i="0" u="none" strike="noStrike" kern="0" normalizeH="0" baseline="0" noProof="0" dirty="0">
                <a:uLnTx/>
                <a:uFillTx/>
                <a:latin typeface="+mj-lt"/>
              </a:endParaRPr>
            </a:p>
          </p:txBody>
        </p:sp>
      </p:grpSp>
      <p:grpSp>
        <p:nvGrpSpPr>
          <p:cNvPr id="76" name="Group 75">
            <a:extLst>
              <a:ext uri="{FF2B5EF4-FFF2-40B4-BE49-F238E27FC236}">
                <a16:creationId xmlns:a16="http://schemas.microsoft.com/office/drawing/2014/main" id="{BB561AD1-F914-4394-A8FF-F6F1C57C6FF1}"/>
              </a:ext>
            </a:extLst>
          </p:cNvPr>
          <p:cNvGrpSpPr/>
          <p:nvPr/>
        </p:nvGrpSpPr>
        <p:grpSpPr>
          <a:xfrm>
            <a:off x="3084727" y="4685871"/>
            <a:ext cx="2591322" cy="1011668"/>
            <a:chOff x="1387412" y="5729189"/>
            <a:chExt cx="1987316" cy="630280"/>
          </a:xfrm>
          <a:noFill/>
        </p:grpSpPr>
        <p:sp>
          <p:nvSpPr>
            <p:cNvPr id="77" name="Rectangle 76">
              <a:extLst>
                <a:ext uri="{FF2B5EF4-FFF2-40B4-BE49-F238E27FC236}">
                  <a16:creationId xmlns:a16="http://schemas.microsoft.com/office/drawing/2014/main" id="{F74512FD-772E-4B18-A17A-5B443EC46512}"/>
                </a:ext>
              </a:extLst>
            </p:cNvPr>
            <p:cNvSpPr/>
            <p:nvPr/>
          </p:nvSpPr>
          <p:spPr>
            <a:xfrm>
              <a:off x="1387412" y="5729189"/>
              <a:ext cx="1842439" cy="539105"/>
            </a:xfrm>
            <a:prstGeom prst="rect">
              <a:avLst/>
            </a:prstGeom>
            <a:grpFill/>
          </p:spPr>
          <p:txBody>
            <a:bodyPr wrap="square"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700" b="1" i="0" u="none" strike="noStrike" kern="0" normalizeH="0" baseline="0" noProof="0" dirty="0">
                  <a:uLnTx/>
                  <a:uFillTx/>
                  <a:latin typeface="+mj-lt"/>
                  <a:ea typeface="Nexa Black" charset="0"/>
                  <a:cs typeface="Nexa Black" charset="0"/>
                </a:rPr>
                <a:t>2. Semantic layer</a:t>
              </a:r>
            </a:p>
          </p:txBody>
        </p:sp>
        <p:sp>
          <p:nvSpPr>
            <p:cNvPr id="78" name="TextBox 77">
              <a:extLst>
                <a:ext uri="{FF2B5EF4-FFF2-40B4-BE49-F238E27FC236}">
                  <a16:creationId xmlns:a16="http://schemas.microsoft.com/office/drawing/2014/main" id="{ED73355F-25C0-4CBA-A192-9D5D1E760BFA}"/>
                </a:ext>
              </a:extLst>
            </p:cNvPr>
            <p:cNvSpPr txBox="1"/>
            <p:nvPr/>
          </p:nvSpPr>
          <p:spPr>
            <a:xfrm>
              <a:off x="1389012" y="5832161"/>
              <a:ext cx="1985716" cy="527308"/>
            </a:xfrm>
            <a:prstGeom prst="rect">
              <a:avLst/>
            </a:prstGeom>
            <a:grp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baseline="0" noProof="0" dirty="0">
                  <a:uLnTx/>
                  <a:uFillTx/>
                  <a:latin typeface="+mj-lt"/>
                  <a:ea typeface="+mn-ea"/>
                  <a:cs typeface="+mn-cs"/>
                </a:rPr>
                <a:t>Some traditional BI use cases does require</a:t>
              </a:r>
              <a:r>
                <a:rPr kumimoji="0" lang="en-US" sz="700" i="0" u="none" strike="noStrike" kern="0" normalizeH="0" noProof="0" dirty="0">
                  <a:uLnTx/>
                  <a:uFillTx/>
                  <a:latin typeface="+mj-lt"/>
                  <a:ea typeface="+mn-ea"/>
                  <a:cs typeface="+mn-cs"/>
                </a:rPr>
                <a:t> pre agg views such as OLAP or in memory which enable lower latency on year over year reports or dissecting measures across various facts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kern="0" noProof="0" dirty="0">
                  <a:latin typeface="+mj-lt"/>
                </a:rPr>
                <a:t>Semantic layer can either connect to data store or directly sit on data lake platform</a:t>
              </a:r>
              <a:endParaRPr kumimoji="0" lang="en-US" sz="700" i="0" u="none" strike="noStrike" kern="0" normalizeH="0" noProof="0" dirty="0">
                <a:uLnTx/>
                <a:uFillTx/>
                <a:latin typeface="+mj-l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kern="0" baseline="0" dirty="0">
                  <a:latin typeface="+mj-lt"/>
                </a:rPr>
                <a:t>Examples of technologies:</a:t>
              </a:r>
              <a:endParaRPr kumimoji="0" lang="en-US" sz="700" i="0" u="none" strike="noStrike" kern="0" normalizeH="0" baseline="0" noProof="0" dirty="0">
                <a:uLnTx/>
                <a:uFillTx/>
                <a:latin typeface="+mj-lt"/>
                <a:ea typeface="+mn-ea"/>
                <a:cs typeface="+mn-cs"/>
              </a:endParaRPr>
            </a:p>
          </p:txBody>
        </p:sp>
      </p:grpSp>
      <p:pic>
        <p:nvPicPr>
          <p:cNvPr id="79" name="Picture 78">
            <a:extLst>
              <a:ext uri="{FF2B5EF4-FFF2-40B4-BE49-F238E27FC236}">
                <a16:creationId xmlns:a16="http://schemas.microsoft.com/office/drawing/2014/main" id="{8C3C545B-2C78-4027-B826-F86EAB10E2B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39311" y="5491494"/>
            <a:ext cx="362002" cy="348838"/>
          </a:xfrm>
          <a:prstGeom prst="rect">
            <a:avLst/>
          </a:prstGeom>
        </p:spPr>
      </p:pic>
      <p:pic>
        <p:nvPicPr>
          <p:cNvPr id="80" name="Picture 2" descr="postgresql_logo">
            <a:extLst>
              <a:ext uri="{FF2B5EF4-FFF2-40B4-BE49-F238E27FC236}">
                <a16:creationId xmlns:a16="http://schemas.microsoft.com/office/drawing/2014/main" id="{1457B9C7-7130-46CA-AC30-C68A85855E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9481" y="5513637"/>
            <a:ext cx="365717" cy="336459"/>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4" descr="1024px-MySQL">
            <a:extLst>
              <a:ext uri="{FF2B5EF4-FFF2-40B4-BE49-F238E27FC236}">
                <a16:creationId xmlns:a16="http://schemas.microsoft.com/office/drawing/2014/main" id="{3B641A3E-4C7F-43D1-89DA-3EBE08ECD7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83581" y="5871899"/>
            <a:ext cx="471800" cy="24419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6" descr="Image result for teradata">
            <a:extLst>
              <a:ext uri="{FF2B5EF4-FFF2-40B4-BE49-F238E27FC236}">
                <a16:creationId xmlns:a16="http://schemas.microsoft.com/office/drawing/2014/main" id="{2AF45AB9-48CC-414B-B050-A7F86DDF3B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06534" y="5879705"/>
            <a:ext cx="594361" cy="191310"/>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8" descr="logo-Oracle">
            <a:extLst>
              <a:ext uri="{FF2B5EF4-FFF2-40B4-BE49-F238E27FC236}">
                <a16:creationId xmlns:a16="http://schemas.microsoft.com/office/drawing/2014/main" id="{A6D1F286-CEC3-4D77-8B55-262989B54FA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56139" y="6109334"/>
            <a:ext cx="639331" cy="81253"/>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12" descr="Image result for vertica">
            <a:extLst>
              <a:ext uri="{FF2B5EF4-FFF2-40B4-BE49-F238E27FC236}">
                <a16:creationId xmlns:a16="http://schemas.microsoft.com/office/drawing/2014/main" id="{4140FEBE-B887-426D-81B8-E88DDA7702C8}"/>
              </a:ext>
            </a:extLst>
          </p:cNvPr>
          <p:cNvPicPr>
            <a:picLocks noChangeAspect="1" noChangeArrowheads="1"/>
          </p:cNvPicPr>
          <p:nvPr/>
        </p:nvPicPr>
        <p:blipFill>
          <a:blip r:embed="rId7"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1724186" y="6016304"/>
            <a:ext cx="473033" cy="93030"/>
          </a:xfrm>
          <a:prstGeom prst="rect">
            <a:avLst/>
          </a:prstGeom>
          <a:solidFill>
            <a:schemeClr val="bg1">
              <a:lumMod val="85000"/>
            </a:schemeClr>
          </a:solidFill>
        </p:spPr>
      </p:pic>
      <p:pic>
        <p:nvPicPr>
          <p:cNvPr id="85" name="Picture 14" descr="Aurora">
            <a:extLst>
              <a:ext uri="{FF2B5EF4-FFF2-40B4-BE49-F238E27FC236}">
                <a16:creationId xmlns:a16="http://schemas.microsoft.com/office/drawing/2014/main" id="{B42A98B3-E274-4A31-9F16-4EAD1411108D}"/>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9960" y="5895378"/>
            <a:ext cx="562057" cy="28102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16" descr="Image result for amazon redshift">
            <a:extLst>
              <a:ext uri="{FF2B5EF4-FFF2-40B4-BE49-F238E27FC236}">
                <a16:creationId xmlns:a16="http://schemas.microsoft.com/office/drawing/2014/main" id="{F3BA14D2-B3ED-4F4C-B757-8CC6EB501E6B}"/>
              </a:ext>
            </a:extLst>
          </p:cNvPr>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0212" y="5479705"/>
            <a:ext cx="355143" cy="400263"/>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2" descr="Related image">
            <a:extLst>
              <a:ext uri="{FF2B5EF4-FFF2-40B4-BE49-F238E27FC236}">
                <a16:creationId xmlns:a16="http://schemas.microsoft.com/office/drawing/2014/main" id="{2272C441-C10D-4A70-8AAA-3C3652CA386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868220" y="5515815"/>
            <a:ext cx="346664" cy="346664"/>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4" descr="Related image">
            <a:extLst>
              <a:ext uri="{FF2B5EF4-FFF2-40B4-BE49-F238E27FC236}">
                <a16:creationId xmlns:a16="http://schemas.microsoft.com/office/drawing/2014/main" id="{7DE94A5C-4175-4530-98CE-91ABAB57F59E}"/>
              </a:ext>
            </a:extLst>
          </p:cNvPr>
          <p:cNvPicPr>
            <a:picLocks noChangeAspect="1" noChangeArrowheads="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97906" y="5513638"/>
            <a:ext cx="326694" cy="326694"/>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30" descr="Image result for aws quicksight spice logo">
            <a:extLst>
              <a:ext uri="{FF2B5EF4-FFF2-40B4-BE49-F238E27FC236}">
                <a16:creationId xmlns:a16="http://schemas.microsoft.com/office/drawing/2014/main" id="{4896B256-C09C-40A9-AB34-574D38176C8C}"/>
              </a:ext>
            </a:extLst>
          </p:cNvPr>
          <p:cNvPicPr>
            <a:picLocks noChangeAspect="1" noChangeArrowheads="1"/>
          </p:cNvPicPr>
          <p:nvPr/>
        </p:nvPicPr>
        <p:blipFill>
          <a:blip r:embed="rId12" cstate="print">
            <a:clrChange>
              <a:clrFrom>
                <a:srgbClr val="CCCCCC"/>
              </a:clrFrom>
              <a:clrTo>
                <a:srgbClr val="CCCCCC">
                  <a:alpha val="0"/>
                </a:srgbClr>
              </a:clrTo>
            </a:clrChange>
            <a:extLst>
              <a:ext uri="{28A0092B-C50C-407E-A947-70E740481C1C}">
                <a14:useLocalDpi xmlns:a14="http://schemas.microsoft.com/office/drawing/2010/main" val="0"/>
              </a:ext>
            </a:extLst>
          </a:blip>
          <a:srcRect/>
          <a:stretch>
            <a:fillRect/>
          </a:stretch>
        </p:blipFill>
        <p:spPr bwMode="auto">
          <a:xfrm>
            <a:off x="3745336" y="5759154"/>
            <a:ext cx="938025" cy="27859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32" descr="Image result for apache kylin logo">
            <a:extLst>
              <a:ext uri="{FF2B5EF4-FFF2-40B4-BE49-F238E27FC236}">
                <a16:creationId xmlns:a16="http://schemas.microsoft.com/office/drawing/2014/main" id="{F43B6D69-DE3D-4053-9C66-C5871AD123C3}"/>
              </a:ext>
            </a:extLst>
          </p:cNvPr>
          <p:cNvPicPr>
            <a:picLocks noChangeAspect="1" noChangeArrowheads="1"/>
          </p:cNvPicPr>
          <p:nvPr/>
        </p:nvPicPr>
        <p:blipFill>
          <a:blip r:embed="rId13"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314168" y="5627636"/>
            <a:ext cx="350852" cy="313844"/>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36" descr="Image result for dremio logo">
            <a:extLst>
              <a:ext uri="{FF2B5EF4-FFF2-40B4-BE49-F238E27FC236}">
                <a16:creationId xmlns:a16="http://schemas.microsoft.com/office/drawing/2014/main" id="{908E6325-C12D-48AD-86C4-65801948CE71}"/>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511463" y="6009508"/>
            <a:ext cx="677031" cy="215296"/>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42" descr="Image result for kyvos">
            <a:extLst>
              <a:ext uri="{FF2B5EF4-FFF2-40B4-BE49-F238E27FC236}">
                <a16:creationId xmlns:a16="http://schemas.microsoft.com/office/drawing/2014/main" id="{D0329EB6-49AD-4665-859F-2527E0A35EE5}"/>
              </a:ext>
            </a:extLst>
          </p:cNvPr>
          <p:cNvPicPr>
            <a:picLocks noChangeAspect="1" noChangeArrowheads="1"/>
          </p:cNvPicPr>
          <p:nvPr/>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58946" y="5697538"/>
            <a:ext cx="709872" cy="374556"/>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44" descr="Image result for microsoft ssas">
            <a:extLst>
              <a:ext uri="{FF2B5EF4-FFF2-40B4-BE49-F238E27FC236}">
                <a16:creationId xmlns:a16="http://schemas.microsoft.com/office/drawing/2014/main" id="{CD4599E1-C1DE-471F-9709-87DE15A2ECD7}"/>
              </a:ext>
            </a:extLst>
          </p:cNvPr>
          <p:cNvPicPr>
            <a:picLocks noChangeAspect="1"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19245" y="5950108"/>
            <a:ext cx="786268" cy="269547"/>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48" descr="Apache Hive">
            <a:extLst>
              <a:ext uri="{FF2B5EF4-FFF2-40B4-BE49-F238E27FC236}">
                <a16:creationId xmlns:a16="http://schemas.microsoft.com/office/drawing/2014/main" id="{868B8868-D5E2-4BD0-8660-63FDEB60F9C5}"/>
              </a:ext>
            </a:extLst>
          </p:cNvPr>
          <p:cNvPicPr>
            <a:picLocks noChangeAspect="1" noChangeArrowheads="1"/>
          </p:cNvPicPr>
          <p:nvPr/>
        </p:nvPicPr>
        <p:blipFill>
          <a:blip r:embed="rId1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55382" y="5830613"/>
            <a:ext cx="440120" cy="369701"/>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50" descr="Image result for spark sql logo">
            <a:extLst>
              <a:ext uri="{FF2B5EF4-FFF2-40B4-BE49-F238E27FC236}">
                <a16:creationId xmlns:a16="http://schemas.microsoft.com/office/drawing/2014/main" id="{135FCE19-9820-4FE3-8068-DB6E9D4DFF68}"/>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15355" y="5616863"/>
            <a:ext cx="511095" cy="292891"/>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52" descr="Image result for apache drill">
            <a:extLst>
              <a:ext uri="{FF2B5EF4-FFF2-40B4-BE49-F238E27FC236}">
                <a16:creationId xmlns:a16="http://schemas.microsoft.com/office/drawing/2014/main" id="{F7BA03AB-C082-4030-9222-492884E39804}"/>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6944915" y="5857030"/>
            <a:ext cx="701776" cy="347698"/>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54" descr="Jethro - SQL on Hadoop for Business Intelligence">
            <a:extLst>
              <a:ext uri="{FF2B5EF4-FFF2-40B4-BE49-F238E27FC236}">
                <a16:creationId xmlns:a16="http://schemas.microsoft.com/office/drawing/2014/main" id="{B141FE63-33A5-4F02-A4B0-6424E8C4617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62637" y="5588329"/>
            <a:ext cx="631029" cy="383734"/>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99">
            <a:extLst>
              <a:ext uri="{FF2B5EF4-FFF2-40B4-BE49-F238E27FC236}">
                <a16:creationId xmlns:a16="http://schemas.microsoft.com/office/drawing/2014/main" id="{2625CE33-BF86-4A30-B191-68F7090358C4}"/>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220228" y="5779520"/>
            <a:ext cx="669006" cy="231922"/>
          </a:xfrm>
          <a:prstGeom prst="rect">
            <a:avLst/>
          </a:prstGeom>
        </p:spPr>
      </p:pic>
      <p:pic>
        <p:nvPicPr>
          <p:cNvPr id="101" name="Picture 64" descr="Image result for aws api gateway">
            <a:extLst>
              <a:ext uri="{FF2B5EF4-FFF2-40B4-BE49-F238E27FC236}">
                <a16:creationId xmlns:a16="http://schemas.microsoft.com/office/drawing/2014/main" id="{29873B9B-702A-4887-96B8-E765FA83870D}"/>
              </a:ext>
            </a:extLst>
          </p:cNvPr>
          <p:cNvPicPr>
            <a:picLocks noChangeAspect="1" noChangeArrowheads="1"/>
          </p:cNvPicPr>
          <p:nvPr/>
        </p:nvPicPr>
        <p:blipFill>
          <a:blip r:embed="rId2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59105" y="5562661"/>
            <a:ext cx="634088" cy="634088"/>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70" descr="Image result for apache nifi logo">
            <a:extLst>
              <a:ext uri="{FF2B5EF4-FFF2-40B4-BE49-F238E27FC236}">
                <a16:creationId xmlns:a16="http://schemas.microsoft.com/office/drawing/2014/main" id="{BD111B88-C6B8-4DB8-9352-C2A8664A8331}"/>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9715907" y="5697538"/>
            <a:ext cx="786267" cy="330232"/>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 descr="Image result for presto big data logo">
            <a:extLst>
              <a:ext uri="{FF2B5EF4-FFF2-40B4-BE49-F238E27FC236}">
                <a16:creationId xmlns:a16="http://schemas.microsoft.com/office/drawing/2014/main" id="{8BABBB87-EA23-4B2B-9FBF-CF21D080B41A}"/>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7768390" y="5480983"/>
            <a:ext cx="1022168" cy="631014"/>
          </a:xfrm>
          <a:prstGeom prst="rect">
            <a:avLst/>
          </a:prstGeom>
          <a:noFill/>
          <a:extLst>
            <a:ext uri="{909E8E84-426E-40DD-AFC4-6F175D3DCCD1}">
              <a14:hiddenFill xmlns:a14="http://schemas.microsoft.com/office/drawing/2010/main">
                <a:solidFill>
                  <a:srgbClr val="FFFFFF"/>
                </a:solidFill>
              </a14:hiddenFill>
            </a:ext>
          </a:extLst>
        </p:spPr>
      </p:pic>
      <p:sp>
        <p:nvSpPr>
          <p:cNvPr id="107" name="Rounded Rectangle 41">
            <a:extLst>
              <a:ext uri="{FF2B5EF4-FFF2-40B4-BE49-F238E27FC236}">
                <a16:creationId xmlns:a16="http://schemas.microsoft.com/office/drawing/2014/main" id="{B1AE3BB5-C7CC-45E2-9D9A-1DC8F78C33CF}"/>
              </a:ext>
            </a:extLst>
          </p:cNvPr>
          <p:cNvSpPr/>
          <p:nvPr/>
        </p:nvSpPr>
        <p:spPr>
          <a:xfrm>
            <a:off x="8340220" y="3418942"/>
            <a:ext cx="889046" cy="29414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900" dirty="0">
              <a:latin typeface="+mj-lt"/>
            </a:endParaRPr>
          </a:p>
        </p:txBody>
      </p:sp>
      <p:sp>
        <p:nvSpPr>
          <p:cNvPr id="8" name="Rounded Rectangle 25">
            <a:extLst>
              <a:ext uri="{FF2B5EF4-FFF2-40B4-BE49-F238E27FC236}">
                <a16:creationId xmlns:a16="http://schemas.microsoft.com/office/drawing/2014/main" id="{55F25910-C2CD-4D91-AA33-A494EE371131}"/>
              </a:ext>
            </a:extLst>
          </p:cNvPr>
          <p:cNvSpPr/>
          <p:nvPr/>
        </p:nvSpPr>
        <p:spPr>
          <a:xfrm>
            <a:off x="5060078" y="1375174"/>
            <a:ext cx="4404686" cy="29226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mj-lt"/>
            </a:endParaRPr>
          </a:p>
        </p:txBody>
      </p:sp>
      <p:sp>
        <p:nvSpPr>
          <p:cNvPr id="9" name="Rounded Rectangle 26">
            <a:extLst>
              <a:ext uri="{FF2B5EF4-FFF2-40B4-BE49-F238E27FC236}">
                <a16:creationId xmlns:a16="http://schemas.microsoft.com/office/drawing/2014/main" id="{341EBD96-6324-4987-B02D-613AAA43815D}"/>
              </a:ext>
            </a:extLst>
          </p:cNvPr>
          <p:cNvSpPr/>
          <p:nvPr/>
        </p:nvSpPr>
        <p:spPr>
          <a:xfrm>
            <a:off x="545412" y="1375175"/>
            <a:ext cx="1925586" cy="10041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dirty="0">
                <a:latin typeface="+mj-lt"/>
              </a:rPr>
              <a:t>Internal</a:t>
            </a:r>
          </a:p>
          <a:p>
            <a:endParaRPr lang="en-US" sz="900" dirty="0">
              <a:latin typeface="+mj-lt"/>
            </a:endParaRPr>
          </a:p>
          <a:p>
            <a:endParaRPr lang="en-US" sz="900" dirty="0">
              <a:latin typeface="+mj-lt"/>
            </a:endParaRPr>
          </a:p>
          <a:p>
            <a:endParaRPr lang="en-US" sz="900" dirty="0">
              <a:latin typeface="+mj-lt"/>
            </a:endParaRPr>
          </a:p>
        </p:txBody>
      </p:sp>
      <p:sp>
        <p:nvSpPr>
          <p:cNvPr id="10" name="Rounded Rectangle 27">
            <a:extLst>
              <a:ext uri="{FF2B5EF4-FFF2-40B4-BE49-F238E27FC236}">
                <a16:creationId xmlns:a16="http://schemas.microsoft.com/office/drawing/2014/main" id="{6DD58B09-FD41-4CE5-A961-09B9864B5ADE}"/>
              </a:ext>
            </a:extLst>
          </p:cNvPr>
          <p:cNvSpPr/>
          <p:nvPr/>
        </p:nvSpPr>
        <p:spPr>
          <a:xfrm>
            <a:off x="545412" y="2637404"/>
            <a:ext cx="1925586" cy="11059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dirty="0">
                <a:latin typeface="+mj-lt"/>
              </a:rPr>
              <a:t>External</a:t>
            </a:r>
          </a:p>
          <a:p>
            <a:pPr algn="ctr"/>
            <a:endParaRPr lang="en-US" sz="900" dirty="0">
              <a:latin typeface="+mj-lt"/>
            </a:endParaRPr>
          </a:p>
          <a:p>
            <a:pPr algn="ctr"/>
            <a:endParaRPr lang="en-US" sz="900" dirty="0">
              <a:latin typeface="+mj-lt"/>
            </a:endParaRPr>
          </a:p>
          <a:p>
            <a:endParaRPr lang="en-US" sz="900" dirty="0">
              <a:latin typeface="+mj-lt"/>
            </a:endParaRPr>
          </a:p>
        </p:txBody>
      </p:sp>
      <p:sp>
        <p:nvSpPr>
          <p:cNvPr id="11" name="Rectangle 10">
            <a:extLst>
              <a:ext uri="{FF2B5EF4-FFF2-40B4-BE49-F238E27FC236}">
                <a16:creationId xmlns:a16="http://schemas.microsoft.com/office/drawing/2014/main" id="{3FA9F759-2948-4FEB-B5CA-B71F50030BE3}"/>
              </a:ext>
            </a:extLst>
          </p:cNvPr>
          <p:cNvSpPr/>
          <p:nvPr/>
        </p:nvSpPr>
        <p:spPr>
          <a:xfrm>
            <a:off x="545412"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Sources</a:t>
            </a:r>
          </a:p>
        </p:txBody>
      </p:sp>
      <p:sp>
        <p:nvSpPr>
          <p:cNvPr id="12" name="Rectangle 11">
            <a:extLst>
              <a:ext uri="{FF2B5EF4-FFF2-40B4-BE49-F238E27FC236}">
                <a16:creationId xmlns:a16="http://schemas.microsoft.com/office/drawing/2014/main" id="{EF8E0E63-5549-4204-A4E6-EE4171B8DA35}"/>
              </a:ext>
            </a:extLst>
          </p:cNvPr>
          <p:cNvSpPr/>
          <p:nvPr/>
        </p:nvSpPr>
        <p:spPr>
          <a:xfrm>
            <a:off x="2802746"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Ingestion/Prep</a:t>
            </a:r>
          </a:p>
        </p:txBody>
      </p:sp>
      <p:sp>
        <p:nvSpPr>
          <p:cNvPr id="13" name="Rounded Rectangle 30">
            <a:extLst>
              <a:ext uri="{FF2B5EF4-FFF2-40B4-BE49-F238E27FC236}">
                <a16:creationId xmlns:a16="http://schemas.microsoft.com/office/drawing/2014/main" id="{BF10B16F-B00B-4159-A668-DE9FFD83D222}"/>
              </a:ext>
            </a:extLst>
          </p:cNvPr>
          <p:cNvSpPr/>
          <p:nvPr/>
        </p:nvSpPr>
        <p:spPr>
          <a:xfrm>
            <a:off x="2802746" y="1375175"/>
            <a:ext cx="1925586" cy="23681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mj-lt"/>
            </a:endParaRPr>
          </a:p>
        </p:txBody>
      </p:sp>
      <p:sp>
        <p:nvSpPr>
          <p:cNvPr id="14" name="Rectangle 13">
            <a:extLst>
              <a:ext uri="{FF2B5EF4-FFF2-40B4-BE49-F238E27FC236}">
                <a16:creationId xmlns:a16="http://schemas.microsoft.com/office/drawing/2014/main" id="{D576C081-EA53-457D-B13A-3FA207D65375}"/>
              </a:ext>
            </a:extLst>
          </p:cNvPr>
          <p:cNvSpPr/>
          <p:nvPr/>
        </p:nvSpPr>
        <p:spPr>
          <a:xfrm>
            <a:off x="5060079" y="1017589"/>
            <a:ext cx="4404688"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Processing/Storage</a:t>
            </a:r>
          </a:p>
        </p:txBody>
      </p:sp>
      <p:sp>
        <p:nvSpPr>
          <p:cNvPr id="15" name="Rounded Rectangle 32">
            <a:extLst>
              <a:ext uri="{FF2B5EF4-FFF2-40B4-BE49-F238E27FC236}">
                <a16:creationId xmlns:a16="http://schemas.microsoft.com/office/drawing/2014/main" id="{DA2ECFB9-0434-47AE-94AA-89A75273C5DB}"/>
              </a:ext>
            </a:extLst>
          </p:cNvPr>
          <p:cNvSpPr/>
          <p:nvPr/>
        </p:nvSpPr>
        <p:spPr>
          <a:xfrm>
            <a:off x="5224153" y="1487238"/>
            <a:ext cx="1909346" cy="27104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p:txBody>
      </p:sp>
      <p:sp>
        <p:nvSpPr>
          <p:cNvPr id="16" name="Rounded Rectangle 33">
            <a:extLst>
              <a:ext uri="{FF2B5EF4-FFF2-40B4-BE49-F238E27FC236}">
                <a16:creationId xmlns:a16="http://schemas.microsoft.com/office/drawing/2014/main" id="{4CA27238-2718-4506-861B-7AB1F8E885AE}"/>
              </a:ext>
            </a:extLst>
          </p:cNvPr>
          <p:cNvSpPr/>
          <p:nvPr/>
        </p:nvSpPr>
        <p:spPr>
          <a:xfrm>
            <a:off x="5609007" y="1863682"/>
            <a:ext cx="1125061" cy="373068"/>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Raw</a:t>
            </a:r>
          </a:p>
        </p:txBody>
      </p:sp>
      <p:sp>
        <p:nvSpPr>
          <p:cNvPr id="17" name="Rounded Rectangle 34">
            <a:extLst>
              <a:ext uri="{FF2B5EF4-FFF2-40B4-BE49-F238E27FC236}">
                <a16:creationId xmlns:a16="http://schemas.microsoft.com/office/drawing/2014/main" id="{E1711180-0886-4BFF-87E3-51DB92ABC514}"/>
              </a:ext>
            </a:extLst>
          </p:cNvPr>
          <p:cNvSpPr/>
          <p:nvPr/>
        </p:nvSpPr>
        <p:spPr>
          <a:xfrm>
            <a:off x="5609005" y="2471553"/>
            <a:ext cx="1125061" cy="373068"/>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Transform</a:t>
            </a:r>
          </a:p>
        </p:txBody>
      </p:sp>
      <p:sp>
        <p:nvSpPr>
          <p:cNvPr id="18" name="Rounded Rectangle 35">
            <a:extLst>
              <a:ext uri="{FF2B5EF4-FFF2-40B4-BE49-F238E27FC236}">
                <a16:creationId xmlns:a16="http://schemas.microsoft.com/office/drawing/2014/main" id="{E3083EEC-0F40-4637-83B9-938EDF30704E}"/>
              </a:ext>
            </a:extLst>
          </p:cNvPr>
          <p:cNvSpPr/>
          <p:nvPr/>
        </p:nvSpPr>
        <p:spPr>
          <a:xfrm>
            <a:off x="5609005" y="3079134"/>
            <a:ext cx="1125061" cy="373068"/>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Refined</a:t>
            </a:r>
          </a:p>
        </p:txBody>
      </p:sp>
      <p:sp>
        <p:nvSpPr>
          <p:cNvPr id="19" name="Rounded Rectangle 36">
            <a:extLst>
              <a:ext uri="{FF2B5EF4-FFF2-40B4-BE49-F238E27FC236}">
                <a16:creationId xmlns:a16="http://schemas.microsoft.com/office/drawing/2014/main" id="{C29F88EF-2E61-4708-A410-ECF848180959}"/>
              </a:ext>
            </a:extLst>
          </p:cNvPr>
          <p:cNvSpPr/>
          <p:nvPr/>
        </p:nvSpPr>
        <p:spPr>
          <a:xfrm>
            <a:off x="7225463" y="1552116"/>
            <a:ext cx="2120310" cy="15355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latin typeface="+mj-lt"/>
            </a:endParaRPr>
          </a:p>
          <a:p>
            <a:endParaRPr lang="en-US" sz="900" dirty="0">
              <a:latin typeface="+mj-lt"/>
            </a:endParaRPr>
          </a:p>
          <a:p>
            <a:endParaRPr lang="en-US" sz="900" dirty="0">
              <a:latin typeface="+mj-lt"/>
            </a:endParaRPr>
          </a:p>
        </p:txBody>
      </p:sp>
      <p:sp>
        <p:nvSpPr>
          <p:cNvPr id="20" name="Rounded Rectangle 37">
            <a:extLst>
              <a:ext uri="{FF2B5EF4-FFF2-40B4-BE49-F238E27FC236}">
                <a16:creationId xmlns:a16="http://schemas.microsoft.com/office/drawing/2014/main" id="{34B4678D-2B48-49D2-9A4F-9216207F658A}"/>
              </a:ext>
            </a:extLst>
          </p:cNvPr>
          <p:cNvSpPr/>
          <p:nvPr/>
        </p:nvSpPr>
        <p:spPr>
          <a:xfrm>
            <a:off x="7226223" y="3149094"/>
            <a:ext cx="2154703" cy="6156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dirty="0">
                <a:latin typeface="+mj-lt"/>
              </a:rPr>
              <a:t>AA</a:t>
            </a:r>
          </a:p>
          <a:p>
            <a:endParaRPr lang="en-US" sz="900" dirty="0">
              <a:latin typeface="+mj-lt"/>
            </a:endParaRPr>
          </a:p>
          <a:p>
            <a:endParaRPr lang="en-US" sz="900" dirty="0">
              <a:latin typeface="+mj-lt"/>
            </a:endParaRPr>
          </a:p>
        </p:txBody>
      </p:sp>
      <p:sp>
        <p:nvSpPr>
          <p:cNvPr id="21" name="Rounded Rectangle 39">
            <a:extLst>
              <a:ext uri="{FF2B5EF4-FFF2-40B4-BE49-F238E27FC236}">
                <a16:creationId xmlns:a16="http://schemas.microsoft.com/office/drawing/2014/main" id="{69B07267-6D9D-4E23-BF7E-E6036FEF8B83}"/>
              </a:ext>
            </a:extLst>
          </p:cNvPr>
          <p:cNvSpPr/>
          <p:nvPr/>
        </p:nvSpPr>
        <p:spPr>
          <a:xfrm>
            <a:off x="7292012" y="2091073"/>
            <a:ext cx="968361" cy="457284"/>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Data Store</a:t>
            </a:r>
          </a:p>
        </p:txBody>
      </p:sp>
      <p:sp>
        <p:nvSpPr>
          <p:cNvPr id="24" name="Rectangle 23">
            <a:extLst>
              <a:ext uri="{FF2B5EF4-FFF2-40B4-BE49-F238E27FC236}">
                <a16:creationId xmlns:a16="http://schemas.microsoft.com/office/drawing/2014/main" id="{7A9F21BE-DB69-4ECE-AABF-E6F32519389C}"/>
              </a:ext>
            </a:extLst>
          </p:cNvPr>
          <p:cNvSpPr/>
          <p:nvPr/>
        </p:nvSpPr>
        <p:spPr>
          <a:xfrm>
            <a:off x="9796514"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Consumption</a:t>
            </a:r>
          </a:p>
        </p:txBody>
      </p:sp>
      <p:sp>
        <p:nvSpPr>
          <p:cNvPr id="25" name="Rectangle 24">
            <a:extLst>
              <a:ext uri="{FF2B5EF4-FFF2-40B4-BE49-F238E27FC236}">
                <a16:creationId xmlns:a16="http://schemas.microsoft.com/office/drawing/2014/main" id="{FEB55399-FAB9-4FA1-825C-7A75ECEBA0AE}"/>
              </a:ext>
            </a:extLst>
          </p:cNvPr>
          <p:cNvSpPr/>
          <p:nvPr/>
        </p:nvSpPr>
        <p:spPr>
          <a:xfrm>
            <a:off x="3213827" y="1809396"/>
            <a:ext cx="1103425" cy="540450"/>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Batch/Micro Batch</a:t>
            </a:r>
          </a:p>
        </p:txBody>
      </p:sp>
      <p:sp>
        <p:nvSpPr>
          <p:cNvPr id="26" name="Rectangle 25">
            <a:extLst>
              <a:ext uri="{FF2B5EF4-FFF2-40B4-BE49-F238E27FC236}">
                <a16:creationId xmlns:a16="http://schemas.microsoft.com/office/drawing/2014/main" id="{6FFFE68E-AE71-4AA3-A6A5-143F8D3B05C7}"/>
              </a:ext>
            </a:extLst>
          </p:cNvPr>
          <p:cNvSpPr/>
          <p:nvPr/>
        </p:nvSpPr>
        <p:spPr>
          <a:xfrm>
            <a:off x="3213827" y="2781848"/>
            <a:ext cx="1103425" cy="540450"/>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Real-Time/ Stream/Events</a:t>
            </a:r>
          </a:p>
        </p:txBody>
      </p:sp>
      <p:sp>
        <p:nvSpPr>
          <p:cNvPr id="27" name="Rectangle 26">
            <a:extLst>
              <a:ext uri="{FF2B5EF4-FFF2-40B4-BE49-F238E27FC236}">
                <a16:creationId xmlns:a16="http://schemas.microsoft.com/office/drawing/2014/main" id="{68925A69-8CBD-460F-84B0-887D772E2E48}"/>
              </a:ext>
            </a:extLst>
          </p:cNvPr>
          <p:cNvSpPr/>
          <p:nvPr/>
        </p:nvSpPr>
        <p:spPr>
          <a:xfrm>
            <a:off x="691453" y="1786696"/>
            <a:ext cx="1613223" cy="450054"/>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ERP, MDM, POS, HR, Finance etc. </a:t>
            </a:r>
          </a:p>
        </p:txBody>
      </p:sp>
      <p:sp>
        <p:nvSpPr>
          <p:cNvPr id="28" name="Rectangle 27">
            <a:extLst>
              <a:ext uri="{FF2B5EF4-FFF2-40B4-BE49-F238E27FC236}">
                <a16:creationId xmlns:a16="http://schemas.microsoft.com/office/drawing/2014/main" id="{0E9CD532-02AA-45CA-A070-D5C002D2750D}"/>
              </a:ext>
            </a:extLst>
          </p:cNvPr>
          <p:cNvSpPr/>
          <p:nvPr/>
        </p:nvSpPr>
        <p:spPr>
          <a:xfrm>
            <a:off x="691453" y="3126977"/>
            <a:ext cx="1613223" cy="450054"/>
          </a:xfrm>
          <a:prstGeom prst="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Social Media, </a:t>
            </a:r>
            <a:br>
              <a:rPr lang="en-US" sz="900" dirty="0">
                <a:latin typeface="+mj-lt"/>
              </a:rPr>
            </a:br>
            <a:r>
              <a:rPr lang="en-US" sz="900" dirty="0">
                <a:latin typeface="+mj-lt"/>
              </a:rPr>
              <a:t>Third Party etc.</a:t>
            </a:r>
          </a:p>
        </p:txBody>
      </p:sp>
      <p:sp>
        <p:nvSpPr>
          <p:cNvPr id="29" name="Rounded Rectangle 47">
            <a:extLst>
              <a:ext uri="{FF2B5EF4-FFF2-40B4-BE49-F238E27FC236}">
                <a16:creationId xmlns:a16="http://schemas.microsoft.com/office/drawing/2014/main" id="{8F7D7E5A-FE68-4177-9EAE-2C47717CE63D}"/>
              </a:ext>
            </a:extLst>
          </p:cNvPr>
          <p:cNvSpPr/>
          <p:nvPr/>
        </p:nvSpPr>
        <p:spPr>
          <a:xfrm>
            <a:off x="5609005" y="3681297"/>
            <a:ext cx="1125061" cy="210868"/>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Extract</a:t>
            </a:r>
          </a:p>
        </p:txBody>
      </p:sp>
      <p:sp>
        <p:nvSpPr>
          <p:cNvPr id="30" name="Rounded Rectangle 48">
            <a:extLst>
              <a:ext uri="{FF2B5EF4-FFF2-40B4-BE49-F238E27FC236}">
                <a16:creationId xmlns:a16="http://schemas.microsoft.com/office/drawing/2014/main" id="{E092773F-302F-4B29-ABF2-592E925E4401}"/>
              </a:ext>
            </a:extLst>
          </p:cNvPr>
          <p:cNvSpPr/>
          <p:nvPr/>
        </p:nvSpPr>
        <p:spPr>
          <a:xfrm>
            <a:off x="9796510" y="1375175"/>
            <a:ext cx="1925586" cy="2922675"/>
          </a:xfrm>
          <a:prstGeom prst="roundRect">
            <a:avLst/>
          </a:prstGeom>
          <a:solidFill>
            <a:schemeClr val="accent3">
              <a:lumMod val="20000"/>
              <a:lumOff val="80000"/>
            </a:schemeClr>
          </a:solidFill>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900" dirty="0">
              <a:latin typeface="+mj-lt"/>
            </a:endParaRPr>
          </a:p>
        </p:txBody>
      </p:sp>
      <p:sp>
        <p:nvSpPr>
          <p:cNvPr id="31" name="Rectangle 30">
            <a:extLst>
              <a:ext uri="{FF2B5EF4-FFF2-40B4-BE49-F238E27FC236}">
                <a16:creationId xmlns:a16="http://schemas.microsoft.com/office/drawing/2014/main" id="{5188C184-404F-4AA5-A7F0-A41F525AC756}"/>
              </a:ext>
            </a:extLst>
          </p:cNvPr>
          <p:cNvSpPr/>
          <p:nvPr/>
        </p:nvSpPr>
        <p:spPr>
          <a:xfrm>
            <a:off x="10048935" y="1594150"/>
            <a:ext cx="1460416" cy="2166757"/>
          </a:xfrm>
          <a:prstGeom prst="rect">
            <a:avLst/>
          </a:prstGeom>
          <a:solidFill>
            <a:schemeClr val="accent3">
              <a:lumMod val="20000"/>
              <a:lumOff val="80000"/>
            </a:schemeClr>
          </a:solidFill>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p:txBody>
      </p:sp>
      <p:sp>
        <p:nvSpPr>
          <p:cNvPr id="32" name="Rectangle 31">
            <a:extLst>
              <a:ext uri="{FF2B5EF4-FFF2-40B4-BE49-F238E27FC236}">
                <a16:creationId xmlns:a16="http://schemas.microsoft.com/office/drawing/2014/main" id="{553D702C-2A99-444A-BA0E-E93CDF2964D1}"/>
              </a:ext>
            </a:extLst>
          </p:cNvPr>
          <p:cNvSpPr/>
          <p:nvPr/>
        </p:nvSpPr>
        <p:spPr>
          <a:xfrm>
            <a:off x="10029095" y="3830345"/>
            <a:ext cx="1460416" cy="180772"/>
          </a:xfrm>
          <a:prstGeom prst="rect">
            <a:avLst/>
          </a:prstGeom>
          <a:solidFill>
            <a:schemeClr val="accent3">
              <a:lumMod val="20000"/>
              <a:lumOff val="80000"/>
            </a:schemeClr>
          </a:solidFill>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900" dirty="0" err="1">
                <a:latin typeface="+mj-lt"/>
              </a:rPr>
              <a:t>Trnstl</a:t>
            </a:r>
            <a:r>
              <a:rPr lang="en-US" sz="900" dirty="0">
                <a:latin typeface="+mj-lt"/>
              </a:rPr>
              <a:t>/RT</a:t>
            </a:r>
          </a:p>
        </p:txBody>
      </p:sp>
      <p:sp>
        <p:nvSpPr>
          <p:cNvPr id="33" name="Rectangle 32">
            <a:extLst>
              <a:ext uri="{FF2B5EF4-FFF2-40B4-BE49-F238E27FC236}">
                <a16:creationId xmlns:a16="http://schemas.microsoft.com/office/drawing/2014/main" id="{8EF5DF41-D226-4A94-8B55-F785B05E5FAA}"/>
              </a:ext>
            </a:extLst>
          </p:cNvPr>
          <p:cNvSpPr/>
          <p:nvPr/>
        </p:nvSpPr>
        <p:spPr>
          <a:xfrm>
            <a:off x="10029095" y="4081760"/>
            <a:ext cx="1460416" cy="173994"/>
          </a:xfrm>
          <a:prstGeom prst="rect">
            <a:avLst/>
          </a:prstGeom>
          <a:solidFill>
            <a:schemeClr val="accent3">
              <a:lumMod val="20000"/>
              <a:lumOff val="80000"/>
            </a:schemeClr>
          </a:solidFill>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900" dirty="0">
                <a:latin typeface="+mj-lt"/>
              </a:rPr>
              <a:t>Analytical</a:t>
            </a:r>
          </a:p>
        </p:txBody>
      </p:sp>
      <p:sp>
        <p:nvSpPr>
          <p:cNvPr id="34" name="Arrow: Right 46">
            <a:extLst>
              <a:ext uri="{FF2B5EF4-FFF2-40B4-BE49-F238E27FC236}">
                <a16:creationId xmlns:a16="http://schemas.microsoft.com/office/drawing/2014/main" id="{A48A6524-B29A-4043-9903-7E3A5D1B86D4}"/>
              </a:ext>
            </a:extLst>
          </p:cNvPr>
          <p:cNvSpPr/>
          <p:nvPr/>
        </p:nvSpPr>
        <p:spPr>
          <a:xfrm>
            <a:off x="2508263" y="1890464"/>
            <a:ext cx="285074" cy="144734"/>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5" name="Arrow: Right 46">
            <a:extLst>
              <a:ext uri="{FF2B5EF4-FFF2-40B4-BE49-F238E27FC236}">
                <a16:creationId xmlns:a16="http://schemas.microsoft.com/office/drawing/2014/main" id="{3CED72B1-9F8B-4BD2-B8F8-555B5004C9BB}"/>
              </a:ext>
            </a:extLst>
          </p:cNvPr>
          <p:cNvSpPr/>
          <p:nvPr/>
        </p:nvSpPr>
        <p:spPr>
          <a:xfrm>
            <a:off x="2508263" y="3087671"/>
            <a:ext cx="285074" cy="144734"/>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6" name="Arrow: Right 46">
            <a:extLst>
              <a:ext uri="{FF2B5EF4-FFF2-40B4-BE49-F238E27FC236}">
                <a16:creationId xmlns:a16="http://schemas.microsoft.com/office/drawing/2014/main" id="{78E5DBC8-183F-4CAD-B08D-AB15269522E6}"/>
              </a:ext>
            </a:extLst>
          </p:cNvPr>
          <p:cNvSpPr/>
          <p:nvPr/>
        </p:nvSpPr>
        <p:spPr>
          <a:xfrm>
            <a:off x="4751667" y="2446945"/>
            <a:ext cx="285074" cy="144734"/>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7" name="Rounded Rectangle 56">
            <a:extLst>
              <a:ext uri="{FF2B5EF4-FFF2-40B4-BE49-F238E27FC236}">
                <a16:creationId xmlns:a16="http://schemas.microsoft.com/office/drawing/2014/main" id="{E982810B-6600-448B-8A25-FE4AF3C6813E}"/>
              </a:ext>
            </a:extLst>
          </p:cNvPr>
          <p:cNvSpPr/>
          <p:nvPr/>
        </p:nvSpPr>
        <p:spPr>
          <a:xfrm>
            <a:off x="2888387" y="4385467"/>
            <a:ext cx="8748066" cy="18653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bg1"/>
                </a:solidFill>
                <a:latin typeface="+mj-lt"/>
              </a:rPr>
              <a:t>Governance, Health Check, Metadata &amp; Security</a:t>
            </a:r>
          </a:p>
        </p:txBody>
      </p:sp>
      <p:cxnSp>
        <p:nvCxnSpPr>
          <p:cNvPr id="38" name="Straight Arrow Connector 37">
            <a:extLst>
              <a:ext uri="{FF2B5EF4-FFF2-40B4-BE49-F238E27FC236}">
                <a16:creationId xmlns:a16="http://schemas.microsoft.com/office/drawing/2014/main" id="{29C7DD3E-9802-4F1C-AFB9-96D449ABF44E}"/>
              </a:ext>
            </a:extLst>
          </p:cNvPr>
          <p:cNvCxnSpPr>
            <a:stCxn id="16" idx="2"/>
            <a:endCxn id="17" idx="0"/>
          </p:cNvCxnSpPr>
          <p:nvPr/>
        </p:nvCxnSpPr>
        <p:spPr>
          <a:xfrm flipH="1">
            <a:off x="6171537" y="2236750"/>
            <a:ext cx="1" cy="2348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E9B68FF-10D3-4880-B481-AC81975E4C1E}"/>
              </a:ext>
            </a:extLst>
          </p:cNvPr>
          <p:cNvCxnSpPr>
            <a:stCxn id="17" idx="2"/>
            <a:endCxn id="18" idx="0"/>
          </p:cNvCxnSpPr>
          <p:nvPr/>
        </p:nvCxnSpPr>
        <p:spPr>
          <a:xfrm>
            <a:off x="6171537" y="2844621"/>
            <a:ext cx="0" cy="2345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6BCDDFD-74FE-47D5-A57A-353AD4A93C84}"/>
              </a:ext>
            </a:extLst>
          </p:cNvPr>
          <p:cNvCxnSpPr>
            <a:stCxn id="18" idx="2"/>
            <a:endCxn id="29" idx="0"/>
          </p:cNvCxnSpPr>
          <p:nvPr/>
        </p:nvCxnSpPr>
        <p:spPr>
          <a:xfrm>
            <a:off x="6171537" y="3452203"/>
            <a:ext cx="0" cy="229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63">
            <a:extLst>
              <a:ext uri="{FF2B5EF4-FFF2-40B4-BE49-F238E27FC236}">
                <a16:creationId xmlns:a16="http://schemas.microsoft.com/office/drawing/2014/main" id="{2A0CB4BE-F81A-4334-A679-D1F0B7824300}"/>
              </a:ext>
            </a:extLst>
          </p:cNvPr>
          <p:cNvCxnSpPr>
            <a:stCxn id="18" idx="3"/>
            <a:endCxn id="21" idx="1"/>
          </p:cNvCxnSpPr>
          <p:nvPr/>
        </p:nvCxnSpPr>
        <p:spPr>
          <a:xfrm flipV="1">
            <a:off x="6734067" y="2319716"/>
            <a:ext cx="557945" cy="945953"/>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65">
            <a:extLst>
              <a:ext uri="{FF2B5EF4-FFF2-40B4-BE49-F238E27FC236}">
                <a16:creationId xmlns:a16="http://schemas.microsoft.com/office/drawing/2014/main" id="{994D1B6F-6A0D-4A8E-867D-EC3CF76B41FE}"/>
              </a:ext>
            </a:extLst>
          </p:cNvPr>
          <p:cNvCxnSpPr>
            <a:stCxn id="21" idx="0"/>
          </p:cNvCxnSpPr>
          <p:nvPr/>
        </p:nvCxnSpPr>
        <p:spPr>
          <a:xfrm rot="5400000" flipH="1" flipV="1">
            <a:off x="8849151" y="891290"/>
            <a:ext cx="126825" cy="2272743"/>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Freeform 221">
            <a:extLst>
              <a:ext uri="{FF2B5EF4-FFF2-40B4-BE49-F238E27FC236}">
                <a16:creationId xmlns:a16="http://schemas.microsoft.com/office/drawing/2014/main" id="{A50835A7-342A-41EF-B286-1454E4C374E9}"/>
              </a:ext>
            </a:extLst>
          </p:cNvPr>
          <p:cNvSpPr>
            <a:spLocks/>
          </p:cNvSpPr>
          <p:nvPr/>
        </p:nvSpPr>
        <p:spPr bwMode="auto">
          <a:xfrm>
            <a:off x="10614856" y="1889438"/>
            <a:ext cx="334453" cy="23880"/>
          </a:xfrm>
          <a:custGeom>
            <a:avLst/>
            <a:gdLst>
              <a:gd name="T0" fmla="*/ 330 w 335"/>
              <a:gd name="T1" fmla="*/ 0 h 33"/>
              <a:gd name="T2" fmla="*/ 5 w 335"/>
              <a:gd name="T3" fmla="*/ 0 h 33"/>
              <a:gd name="T4" fmla="*/ 5 w 335"/>
              <a:gd name="T5" fmla="*/ 0 h 33"/>
              <a:gd name="T6" fmla="*/ 2 w 335"/>
              <a:gd name="T7" fmla="*/ 0 h 33"/>
              <a:gd name="T8" fmla="*/ 1 w 335"/>
              <a:gd name="T9" fmla="*/ 2 h 33"/>
              <a:gd name="T10" fmla="*/ 0 w 335"/>
              <a:gd name="T11" fmla="*/ 3 h 33"/>
              <a:gd name="T12" fmla="*/ 0 w 335"/>
              <a:gd name="T13" fmla="*/ 6 h 33"/>
              <a:gd name="T14" fmla="*/ 0 w 335"/>
              <a:gd name="T15" fmla="*/ 11 h 33"/>
              <a:gd name="T16" fmla="*/ 0 w 335"/>
              <a:gd name="T17" fmla="*/ 11 h 33"/>
              <a:gd name="T18" fmla="*/ 0 w 335"/>
              <a:gd name="T19" fmla="*/ 15 h 33"/>
              <a:gd name="T20" fmla="*/ 1 w 335"/>
              <a:gd name="T21" fmla="*/ 19 h 33"/>
              <a:gd name="T22" fmla="*/ 4 w 335"/>
              <a:gd name="T23" fmla="*/ 23 h 33"/>
              <a:gd name="T24" fmla="*/ 6 w 335"/>
              <a:gd name="T25" fmla="*/ 26 h 33"/>
              <a:gd name="T26" fmla="*/ 9 w 335"/>
              <a:gd name="T27" fmla="*/ 29 h 33"/>
              <a:gd name="T28" fmla="*/ 13 w 335"/>
              <a:gd name="T29" fmla="*/ 31 h 33"/>
              <a:gd name="T30" fmla="*/ 17 w 335"/>
              <a:gd name="T31" fmla="*/ 33 h 33"/>
              <a:gd name="T32" fmla="*/ 21 w 335"/>
              <a:gd name="T33" fmla="*/ 33 h 33"/>
              <a:gd name="T34" fmla="*/ 314 w 335"/>
              <a:gd name="T35" fmla="*/ 33 h 33"/>
              <a:gd name="T36" fmla="*/ 314 w 335"/>
              <a:gd name="T37" fmla="*/ 33 h 33"/>
              <a:gd name="T38" fmla="*/ 318 w 335"/>
              <a:gd name="T39" fmla="*/ 33 h 33"/>
              <a:gd name="T40" fmla="*/ 322 w 335"/>
              <a:gd name="T41" fmla="*/ 31 h 33"/>
              <a:gd name="T42" fmla="*/ 326 w 335"/>
              <a:gd name="T43" fmla="*/ 29 h 33"/>
              <a:gd name="T44" fmla="*/ 329 w 335"/>
              <a:gd name="T45" fmla="*/ 26 h 33"/>
              <a:gd name="T46" fmla="*/ 331 w 335"/>
              <a:gd name="T47" fmla="*/ 23 h 33"/>
              <a:gd name="T48" fmla="*/ 334 w 335"/>
              <a:gd name="T49" fmla="*/ 19 h 33"/>
              <a:gd name="T50" fmla="*/ 335 w 335"/>
              <a:gd name="T51" fmla="*/ 15 h 33"/>
              <a:gd name="T52" fmla="*/ 335 w 335"/>
              <a:gd name="T53" fmla="*/ 11 h 33"/>
              <a:gd name="T54" fmla="*/ 335 w 335"/>
              <a:gd name="T55" fmla="*/ 6 h 33"/>
              <a:gd name="T56" fmla="*/ 335 w 335"/>
              <a:gd name="T57" fmla="*/ 6 h 33"/>
              <a:gd name="T58" fmla="*/ 335 w 335"/>
              <a:gd name="T59" fmla="*/ 3 h 33"/>
              <a:gd name="T60" fmla="*/ 334 w 335"/>
              <a:gd name="T61" fmla="*/ 2 h 33"/>
              <a:gd name="T62" fmla="*/ 331 w 335"/>
              <a:gd name="T63" fmla="*/ 0 h 33"/>
              <a:gd name="T64" fmla="*/ 330 w 335"/>
              <a:gd name="T65" fmla="*/ 0 h 33"/>
              <a:gd name="T66" fmla="*/ 330 w 335"/>
              <a:gd name="T67"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5" h="33">
                <a:moveTo>
                  <a:pt x="330" y="0"/>
                </a:moveTo>
                <a:lnTo>
                  <a:pt x="5" y="0"/>
                </a:lnTo>
                <a:lnTo>
                  <a:pt x="5" y="0"/>
                </a:lnTo>
                <a:lnTo>
                  <a:pt x="2" y="0"/>
                </a:lnTo>
                <a:lnTo>
                  <a:pt x="1" y="2"/>
                </a:lnTo>
                <a:lnTo>
                  <a:pt x="0" y="3"/>
                </a:lnTo>
                <a:lnTo>
                  <a:pt x="0" y="6"/>
                </a:lnTo>
                <a:lnTo>
                  <a:pt x="0" y="11"/>
                </a:lnTo>
                <a:lnTo>
                  <a:pt x="0" y="11"/>
                </a:lnTo>
                <a:lnTo>
                  <a:pt x="0" y="15"/>
                </a:lnTo>
                <a:lnTo>
                  <a:pt x="1" y="19"/>
                </a:lnTo>
                <a:lnTo>
                  <a:pt x="4" y="23"/>
                </a:lnTo>
                <a:lnTo>
                  <a:pt x="6" y="26"/>
                </a:lnTo>
                <a:lnTo>
                  <a:pt x="9" y="29"/>
                </a:lnTo>
                <a:lnTo>
                  <a:pt x="13" y="31"/>
                </a:lnTo>
                <a:lnTo>
                  <a:pt x="17" y="33"/>
                </a:lnTo>
                <a:lnTo>
                  <a:pt x="21" y="33"/>
                </a:lnTo>
                <a:lnTo>
                  <a:pt x="314" y="33"/>
                </a:lnTo>
                <a:lnTo>
                  <a:pt x="314" y="33"/>
                </a:lnTo>
                <a:lnTo>
                  <a:pt x="318" y="33"/>
                </a:lnTo>
                <a:lnTo>
                  <a:pt x="322" y="31"/>
                </a:lnTo>
                <a:lnTo>
                  <a:pt x="326" y="29"/>
                </a:lnTo>
                <a:lnTo>
                  <a:pt x="329" y="26"/>
                </a:lnTo>
                <a:lnTo>
                  <a:pt x="331" y="23"/>
                </a:lnTo>
                <a:lnTo>
                  <a:pt x="334" y="19"/>
                </a:lnTo>
                <a:lnTo>
                  <a:pt x="335" y="15"/>
                </a:lnTo>
                <a:lnTo>
                  <a:pt x="335" y="11"/>
                </a:lnTo>
                <a:lnTo>
                  <a:pt x="335" y="6"/>
                </a:lnTo>
                <a:lnTo>
                  <a:pt x="335" y="6"/>
                </a:lnTo>
                <a:lnTo>
                  <a:pt x="335" y="3"/>
                </a:lnTo>
                <a:lnTo>
                  <a:pt x="334" y="2"/>
                </a:lnTo>
                <a:lnTo>
                  <a:pt x="331" y="0"/>
                </a:lnTo>
                <a:lnTo>
                  <a:pt x="330" y="0"/>
                </a:lnTo>
                <a:lnTo>
                  <a:pt x="3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44" name="Freeform 222">
            <a:extLst>
              <a:ext uri="{FF2B5EF4-FFF2-40B4-BE49-F238E27FC236}">
                <a16:creationId xmlns:a16="http://schemas.microsoft.com/office/drawing/2014/main" id="{D6EDB2A5-2374-4F6B-A8A7-CC29276E8721}"/>
              </a:ext>
            </a:extLst>
          </p:cNvPr>
          <p:cNvSpPr>
            <a:spLocks/>
          </p:cNvSpPr>
          <p:nvPr/>
        </p:nvSpPr>
        <p:spPr bwMode="auto">
          <a:xfrm>
            <a:off x="10640736" y="1740188"/>
            <a:ext cx="280703" cy="134325"/>
          </a:xfrm>
          <a:custGeom>
            <a:avLst/>
            <a:gdLst>
              <a:gd name="T0" fmla="*/ 22 w 283"/>
              <a:gd name="T1" fmla="*/ 33 h 179"/>
              <a:gd name="T2" fmla="*/ 22 w 283"/>
              <a:gd name="T3" fmla="*/ 33 h 179"/>
              <a:gd name="T4" fmla="*/ 23 w 283"/>
              <a:gd name="T5" fmla="*/ 29 h 179"/>
              <a:gd name="T6" fmla="*/ 26 w 283"/>
              <a:gd name="T7" fmla="*/ 25 h 179"/>
              <a:gd name="T8" fmla="*/ 29 w 283"/>
              <a:gd name="T9" fmla="*/ 23 h 179"/>
              <a:gd name="T10" fmla="*/ 33 w 283"/>
              <a:gd name="T11" fmla="*/ 22 h 179"/>
              <a:gd name="T12" fmla="*/ 250 w 283"/>
              <a:gd name="T13" fmla="*/ 22 h 179"/>
              <a:gd name="T14" fmla="*/ 250 w 283"/>
              <a:gd name="T15" fmla="*/ 22 h 179"/>
              <a:gd name="T16" fmla="*/ 254 w 283"/>
              <a:gd name="T17" fmla="*/ 23 h 179"/>
              <a:gd name="T18" fmla="*/ 257 w 283"/>
              <a:gd name="T19" fmla="*/ 25 h 179"/>
              <a:gd name="T20" fmla="*/ 260 w 283"/>
              <a:gd name="T21" fmla="*/ 29 h 179"/>
              <a:gd name="T22" fmla="*/ 261 w 283"/>
              <a:gd name="T23" fmla="*/ 33 h 179"/>
              <a:gd name="T24" fmla="*/ 261 w 283"/>
              <a:gd name="T25" fmla="*/ 179 h 179"/>
              <a:gd name="T26" fmla="*/ 283 w 283"/>
              <a:gd name="T27" fmla="*/ 179 h 179"/>
              <a:gd name="T28" fmla="*/ 283 w 283"/>
              <a:gd name="T29" fmla="*/ 33 h 179"/>
              <a:gd name="T30" fmla="*/ 283 w 283"/>
              <a:gd name="T31" fmla="*/ 33 h 179"/>
              <a:gd name="T32" fmla="*/ 281 w 283"/>
              <a:gd name="T33" fmla="*/ 26 h 179"/>
              <a:gd name="T34" fmla="*/ 280 w 283"/>
              <a:gd name="T35" fmla="*/ 21 h 179"/>
              <a:gd name="T36" fmla="*/ 277 w 283"/>
              <a:gd name="T37" fmla="*/ 14 h 179"/>
              <a:gd name="T38" fmla="*/ 273 w 283"/>
              <a:gd name="T39" fmla="*/ 10 h 179"/>
              <a:gd name="T40" fmla="*/ 268 w 283"/>
              <a:gd name="T41" fmla="*/ 6 h 179"/>
              <a:gd name="T42" fmla="*/ 262 w 283"/>
              <a:gd name="T43" fmla="*/ 3 h 179"/>
              <a:gd name="T44" fmla="*/ 256 w 283"/>
              <a:gd name="T45" fmla="*/ 0 h 179"/>
              <a:gd name="T46" fmla="*/ 250 w 283"/>
              <a:gd name="T47" fmla="*/ 0 h 179"/>
              <a:gd name="T48" fmla="*/ 33 w 283"/>
              <a:gd name="T49" fmla="*/ 0 h 179"/>
              <a:gd name="T50" fmla="*/ 33 w 283"/>
              <a:gd name="T51" fmla="*/ 0 h 179"/>
              <a:gd name="T52" fmla="*/ 26 w 283"/>
              <a:gd name="T53" fmla="*/ 0 h 179"/>
              <a:gd name="T54" fmla="*/ 21 w 283"/>
              <a:gd name="T55" fmla="*/ 3 h 179"/>
              <a:gd name="T56" fmla="*/ 15 w 283"/>
              <a:gd name="T57" fmla="*/ 6 h 179"/>
              <a:gd name="T58" fmla="*/ 10 w 283"/>
              <a:gd name="T59" fmla="*/ 10 h 179"/>
              <a:gd name="T60" fmla="*/ 6 w 283"/>
              <a:gd name="T61" fmla="*/ 14 h 179"/>
              <a:gd name="T62" fmla="*/ 3 w 283"/>
              <a:gd name="T63" fmla="*/ 21 h 179"/>
              <a:gd name="T64" fmla="*/ 2 w 283"/>
              <a:gd name="T65" fmla="*/ 26 h 179"/>
              <a:gd name="T66" fmla="*/ 0 w 283"/>
              <a:gd name="T67" fmla="*/ 33 h 179"/>
              <a:gd name="T68" fmla="*/ 0 w 283"/>
              <a:gd name="T69" fmla="*/ 179 h 179"/>
              <a:gd name="T70" fmla="*/ 22 w 283"/>
              <a:gd name="T71" fmla="*/ 179 h 179"/>
              <a:gd name="T72" fmla="*/ 22 w 283"/>
              <a:gd name="T73" fmla="*/ 3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3" h="179">
                <a:moveTo>
                  <a:pt x="22" y="33"/>
                </a:moveTo>
                <a:lnTo>
                  <a:pt x="22" y="33"/>
                </a:lnTo>
                <a:lnTo>
                  <a:pt x="23" y="29"/>
                </a:lnTo>
                <a:lnTo>
                  <a:pt x="26" y="25"/>
                </a:lnTo>
                <a:lnTo>
                  <a:pt x="29" y="23"/>
                </a:lnTo>
                <a:lnTo>
                  <a:pt x="33" y="22"/>
                </a:lnTo>
                <a:lnTo>
                  <a:pt x="250" y="22"/>
                </a:lnTo>
                <a:lnTo>
                  <a:pt x="250" y="22"/>
                </a:lnTo>
                <a:lnTo>
                  <a:pt x="254" y="23"/>
                </a:lnTo>
                <a:lnTo>
                  <a:pt x="257" y="25"/>
                </a:lnTo>
                <a:lnTo>
                  <a:pt x="260" y="29"/>
                </a:lnTo>
                <a:lnTo>
                  <a:pt x="261" y="33"/>
                </a:lnTo>
                <a:lnTo>
                  <a:pt x="261" y="179"/>
                </a:lnTo>
                <a:lnTo>
                  <a:pt x="283" y="179"/>
                </a:lnTo>
                <a:lnTo>
                  <a:pt x="283" y="33"/>
                </a:lnTo>
                <a:lnTo>
                  <a:pt x="283" y="33"/>
                </a:lnTo>
                <a:lnTo>
                  <a:pt x="281" y="26"/>
                </a:lnTo>
                <a:lnTo>
                  <a:pt x="280" y="21"/>
                </a:lnTo>
                <a:lnTo>
                  <a:pt x="277" y="14"/>
                </a:lnTo>
                <a:lnTo>
                  <a:pt x="273" y="10"/>
                </a:lnTo>
                <a:lnTo>
                  <a:pt x="268" y="6"/>
                </a:lnTo>
                <a:lnTo>
                  <a:pt x="262" y="3"/>
                </a:lnTo>
                <a:lnTo>
                  <a:pt x="256" y="0"/>
                </a:lnTo>
                <a:lnTo>
                  <a:pt x="250" y="0"/>
                </a:lnTo>
                <a:lnTo>
                  <a:pt x="33" y="0"/>
                </a:lnTo>
                <a:lnTo>
                  <a:pt x="33" y="0"/>
                </a:lnTo>
                <a:lnTo>
                  <a:pt x="26" y="0"/>
                </a:lnTo>
                <a:lnTo>
                  <a:pt x="21" y="3"/>
                </a:lnTo>
                <a:lnTo>
                  <a:pt x="15" y="6"/>
                </a:lnTo>
                <a:lnTo>
                  <a:pt x="10" y="10"/>
                </a:lnTo>
                <a:lnTo>
                  <a:pt x="6" y="14"/>
                </a:lnTo>
                <a:lnTo>
                  <a:pt x="3" y="21"/>
                </a:lnTo>
                <a:lnTo>
                  <a:pt x="2" y="26"/>
                </a:lnTo>
                <a:lnTo>
                  <a:pt x="0" y="33"/>
                </a:lnTo>
                <a:lnTo>
                  <a:pt x="0" y="179"/>
                </a:lnTo>
                <a:lnTo>
                  <a:pt x="22" y="179"/>
                </a:lnTo>
                <a:lnTo>
                  <a:pt x="22"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45" name="Freeform 223">
            <a:extLst>
              <a:ext uri="{FF2B5EF4-FFF2-40B4-BE49-F238E27FC236}">
                <a16:creationId xmlns:a16="http://schemas.microsoft.com/office/drawing/2014/main" id="{B4D66BC2-561F-4DE3-BFFF-CA0BD8C442FD}"/>
              </a:ext>
            </a:extLst>
          </p:cNvPr>
          <p:cNvSpPr>
            <a:spLocks/>
          </p:cNvSpPr>
          <p:nvPr/>
        </p:nvSpPr>
        <p:spPr bwMode="auto">
          <a:xfrm>
            <a:off x="10696478" y="1813174"/>
            <a:ext cx="157273" cy="61193"/>
          </a:xfrm>
          <a:custGeom>
            <a:avLst/>
            <a:gdLst>
              <a:gd name="T0" fmla="*/ 149 w 157"/>
              <a:gd name="T1" fmla="*/ 60 h 81"/>
              <a:gd name="T2" fmla="*/ 149 w 157"/>
              <a:gd name="T3" fmla="*/ 60 h 81"/>
              <a:gd name="T4" fmla="*/ 153 w 157"/>
              <a:gd name="T5" fmla="*/ 59 h 81"/>
              <a:gd name="T6" fmla="*/ 156 w 157"/>
              <a:gd name="T7" fmla="*/ 57 h 81"/>
              <a:gd name="T8" fmla="*/ 157 w 157"/>
              <a:gd name="T9" fmla="*/ 55 h 81"/>
              <a:gd name="T10" fmla="*/ 157 w 157"/>
              <a:gd name="T11" fmla="*/ 52 h 81"/>
              <a:gd name="T12" fmla="*/ 157 w 157"/>
              <a:gd name="T13" fmla="*/ 8 h 81"/>
              <a:gd name="T14" fmla="*/ 157 w 157"/>
              <a:gd name="T15" fmla="*/ 8 h 81"/>
              <a:gd name="T16" fmla="*/ 157 w 157"/>
              <a:gd name="T17" fmla="*/ 5 h 81"/>
              <a:gd name="T18" fmla="*/ 157 w 157"/>
              <a:gd name="T19" fmla="*/ 5 h 81"/>
              <a:gd name="T20" fmla="*/ 156 w 157"/>
              <a:gd name="T21" fmla="*/ 2 h 81"/>
              <a:gd name="T22" fmla="*/ 153 w 157"/>
              <a:gd name="T23" fmla="*/ 1 h 81"/>
              <a:gd name="T24" fmla="*/ 153 w 157"/>
              <a:gd name="T25" fmla="*/ 1 h 81"/>
              <a:gd name="T26" fmla="*/ 149 w 157"/>
              <a:gd name="T27" fmla="*/ 0 h 81"/>
              <a:gd name="T28" fmla="*/ 106 w 157"/>
              <a:gd name="T29" fmla="*/ 0 h 81"/>
              <a:gd name="T30" fmla="*/ 106 w 157"/>
              <a:gd name="T31" fmla="*/ 0 h 81"/>
              <a:gd name="T32" fmla="*/ 103 w 157"/>
              <a:gd name="T33" fmla="*/ 1 h 81"/>
              <a:gd name="T34" fmla="*/ 101 w 157"/>
              <a:gd name="T35" fmla="*/ 2 h 81"/>
              <a:gd name="T36" fmla="*/ 98 w 157"/>
              <a:gd name="T37" fmla="*/ 5 h 81"/>
              <a:gd name="T38" fmla="*/ 98 w 157"/>
              <a:gd name="T39" fmla="*/ 8 h 81"/>
              <a:gd name="T40" fmla="*/ 98 w 157"/>
              <a:gd name="T41" fmla="*/ 8 h 81"/>
              <a:gd name="T42" fmla="*/ 98 w 157"/>
              <a:gd name="T43" fmla="*/ 12 h 81"/>
              <a:gd name="T44" fmla="*/ 101 w 157"/>
              <a:gd name="T45" fmla="*/ 14 h 81"/>
              <a:gd name="T46" fmla="*/ 103 w 157"/>
              <a:gd name="T47" fmla="*/ 16 h 81"/>
              <a:gd name="T48" fmla="*/ 106 w 157"/>
              <a:gd name="T49" fmla="*/ 16 h 81"/>
              <a:gd name="T50" fmla="*/ 130 w 157"/>
              <a:gd name="T51" fmla="*/ 16 h 81"/>
              <a:gd name="T52" fmla="*/ 85 w 157"/>
              <a:gd name="T53" fmla="*/ 61 h 81"/>
              <a:gd name="T54" fmla="*/ 47 w 157"/>
              <a:gd name="T55" fmla="*/ 24 h 81"/>
              <a:gd name="T56" fmla="*/ 47 w 157"/>
              <a:gd name="T57" fmla="*/ 24 h 81"/>
              <a:gd name="T58" fmla="*/ 44 w 157"/>
              <a:gd name="T59" fmla="*/ 22 h 81"/>
              <a:gd name="T60" fmla="*/ 42 w 157"/>
              <a:gd name="T61" fmla="*/ 21 h 81"/>
              <a:gd name="T62" fmla="*/ 38 w 157"/>
              <a:gd name="T63" fmla="*/ 22 h 81"/>
              <a:gd name="T64" fmla="*/ 35 w 157"/>
              <a:gd name="T65" fmla="*/ 24 h 81"/>
              <a:gd name="T66" fmla="*/ 3 w 157"/>
              <a:gd name="T67" fmla="*/ 56 h 81"/>
              <a:gd name="T68" fmla="*/ 3 w 157"/>
              <a:gd name="T69" fmla="*/ 56 h 81"/>
              <a:gd name="T70" fmla="*/ 1 w 157"/>
              <a:gd name="T71" fmla="*/ 59 h 81"/>
              <a:gd name="T72" fmla="*/ 0 w 157"/>
              <a:gd name="T73" fmla="*/ 63 h 81"/>
              <a:gd name="T74" fmla="*/ 0 w 157"/>
              <a:gd name="T75" fmla="*/ 63 h 81"/>
              <a:gd name="T76" fmla="*/ 1 w 157"/>
              <a:gd name="T77" fmla="*/ 65 h 81"/>
              <a:gd name="T78" fmla="*/ 3 w 157"/>
              <a:gd name="T79" fmla="*/ 68 h 81"/>
              <a:gd name="T80" fmla="*/ 3 w 157"/>
              <a:gd name="T81" fmla="*/ 68 h 81"/>
              <a:gd name="T82" fmla="*/ 5 w 157"/>
              <a:gd name="T83" fmla="*/ 69 h 81"/>
              <a:gd name="T84" fmla="*/ 8 w 157"/>
              <a:gd name="T85" fmla="*/ 71 h 81"/>
              <a:gd name="T86" fmla="*/ 12 w 157"/>
              <a:gd name="T87" fmla="*/ 69 h 81"/>
              <a:gd name="T88" fmla="*/ 15 w 157"/>
              <a:gd name="T89" fmla="*/ 68 h 81"/>
              <a:gd name="T90" fmla="*/ 42 w 157"/>
              <a:gd name="T91" fmla="*/ 41 h 81"/>
              <a:gd name="T92" fmla="*/ 79 w 157"/>
              <a:gd name="T93" fmla="*/ 79 h 81"/>
              <a:gd name="T94" fmla="*/ 79 w 157"/>
              <a:gd name="T95" fmla="*/ 79 h 81"/>
              <a:gd name="T96" fmla="*/ 82 w 157"/>
              <a:gd name="T97" fmla="*/ 80 h 81"/>
              <a:gd name="T98" fmla="*/ 85 w 157"/>
              <a:gd name="T99" fmla="*/ 81 h 81"/>
              <a:gd name="T100" fmla="*/ 85 w 157"/>
              <a:gd name="T101" fmla="*/ 81 h 81"/>
              <a:gd name="T102" fmla="*/ 87 w 157"/>
              <a:gd name="T103" fmla="*/ 80 h 81"/>
              <a:gd name="T104" fmla="*/ 90 w 157"/>
              <a:gd name="T105" fmla="*/ 79 h 81"/>
              <a:gd name="T106" fmla="*/ 141 w 157"/>
              <a:gd name="T107" fmla="*/ 28 h 81"/>
              <a:gd name="T108" fmla="*/ 141 w 157"/>
              <a:gd name="T109" fmla="*/ 52 h 81"/>
              <a:gd name="T110" fmla="*/ 141 w 157"/>
              <a:gd name="T111" fmla="*/ 52 h 81"/>
              <a:gd name="T112" fmla="*/ 142 w 157"/>
              <a:gd name="T113" fmla="*/ 55 h 81"/>
              <a:gd name="T114" fmla="*/ 144 w 157"/>
              <a:gd name="T115" fmla="*/ 57 h 81"/>
              <a:gd name="T116" fmla="*/ 146 w 157"/>
              <a:gd name="T117" fmla="*/ 59 h 81"/>
              <a:gd name="T118" fmla="*/ 149 w 157"/>
              <a:gd name="T119" fmla="*/ 60 h 81"/>
              <a:gd name="T120" fmla="*/ 149 w 157"/>
              <a:gd name="T121" fmla="*/ 6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81">
                <a:moveTo>
                  <a:pt x="149" y="60"/>
                </a:moveTo>
                <a:lnTo>
                  <a:pt x="149" y="60"/>
                </a:lnTo>
                <a:lnTo>
                  <a:pt x="153" y="59"/>
                </a:lnTo>
                <a:lnTo>
                  <a:pt x="156" y="57"/>
                </a:lnTo>
                <a:lnTo>
                  <a:pt x="157" y="55"/>
                </a:lnTo>
                <a:lnTo>
                  <a:pt x="157" y="52"/>
                </a:lnTo>
                <a:lnTo>
                  <a:pt x="157" y="8"/>
                </a:lnTo>
                <a:lnTo>
                  <a:pt x="157" y="8"/>
                </a:lnTo>
                <a:lnTo>
                  <a:pt x="157" y="5"/>
                </a:lnTo>
                <a:lnTo>
                  <a:pt x="157" y="5"/>
                </a:lnTo>
                <a:lnTo>
                  <a:pt x="156" y="2"/>
                </a:lnTo>
                <a:lnTo>
                  <a:pt x="153" y="1"/>
                </a:lnTo>
                <a:lnTo>
                  <a:pt x="153" y="1"/>
                </a:lnTo>
                <a:lnTo>
                  <a:pt x="149" y="0"/>
                </a:lnTo>
                <a:lnTo>
                  <a:pt x="106" y="0"/>
                </a:lnTo>
                <a:lnTo>
                  <a:pt x="106" y="0"/>
                </a:lnTo>
                <a:lnTo>
                  <a:pt x="103" y="1"/>
                </a:lnTo>
                <a:lnTo>
                  <a:pt x="101" y="2"/>
                </a:lnTo>
                <a:lnTo>
                  <a:pt x="98" y="5"/>
                </a:lnTo>
                <a:lnTo>
                  <a:pt x="98" y="8"/>
                </a:lnTo>
                <a:lnTo>
                  <a:pt x="98" y="8"/>
                </a:lnTo>
                <a:lnTo>
                  <a:pt x="98" y="12"/>
                </a:lnTo>
                <a:lnTo>
                  <a:pt x="101" y="14"/>
                </a:lnTo>
                <a:lnTo>
                  <a:pt x="103" y="16"/>
                </a:lnTo>
                <a:lnTo>
                  <a:pt x="106" y="16"/>
                </a:lnTo>
                <a:lnTo>
                  <a:pt x="130" y="16"/>
                </a:lnTo>
                <a:lnTo>
                  <a:pt x="85" y="61"/>
                </a:lnTo>
                <a:lnTo>
                  <a:pt x="47" y="24"/>
                </a:lnTo>
                <a:lnTo>
                  <a:pt x="47" y="24"/>
                </a:lnTo>
                <a:lnTo>
                  <a:pt x="44" y="22"/>
                </a:lnTo>
                <a:lnTo>
                  <a:pt x="42" y="21"/>
                </a:lnTo>
                <a:lnTo>
                  <a:pt x="38" y="22"/>
                </a:lnTo>
                <a:lnTo>
                  <a:pt x="35" y="24"/>
                </a:lnTo>
                <a:lnTo>
                  <a:pt x="3" y="56"/>
                </a:lnTo>
                <a:lnTo>
                  <a:pt x="3" y="56"/>
                </a:lnTo>
                <a:lnTo>
                  <a:pt x="1" y="59"/>
                </a:lnTo>
                <a:lnTo>
                  <a:pt x="0" y="63"/>
                </a:lnTo>
                <a:lnTo>
                  <a:pt x="0" y="63"/>
                </a:lnTo>
                <a:lnTo>
                  <a:pt x="1" y="65"/>
                </a:lnTo>
                <a:lnTo>
                  <a:pt x="3" y="68"/>
                </a:lnTo>
                <a:lnTo>
                  <a:pt x="3" y="68"/>
                </a:lnTo>
                <a:lnTo>
                  <a:pt x="5" y="69"/>
                </a:lnTo>
                <a:lnTo>
                  <a:pt x="8" y="71"/>
                </a:lnTo>
                <a:lnTo>
                  <a:pt x="12" y="69"/>
                </a:lnTo>
                <a:lnTo>
                  <a:pt x="15" y="68"/>
                </a:lnTo>
                <a:lnTo>
                  <a:pt x="42" y="41"/>
                </a:lnTo>
                <a:lnTo>
                  <a:pt x="79" y="79"/>
                </a:lnTo>
                <a:lnTo>
                  <a:pt x="79" y="79"/>
                </a:lnTo>
                <a:lnTo>
                  <a:pt x="82" y="80"/>
                </a:lnTo>
                <a:lnTo>
                  <a:pt x="85" y="81"/>
                </a:lnTo>
                <a:lnTo>
                  <a:pt x="85" y="81"/>
                </a:lnTo>
                <a:lnTo>
                  <a:pt x="87" y="80"/>
                </a:lnTo>
                <a:lnTo>
                  <a:pt x="90" y="79"/>
                </a:lnTo>
                <a:lnTo>
                  <a:pt x="141" y="28"/>
                </a:lnTo>
                <a:lnTo>
                  <a:pt x="141" y="52"/>
                </a:lnTo>
                <a:lnTo>
                  <a:pt x="141" y="52"/>
                </a:lnTo>
                <a:lnTo>
                  <a:pt x="142" y="55"/>
                </a:lnTo>
                <a:lnTo>
                  <a:pt x="144" y="57"/>
                </a:lnTo>
                <a:lnTo>
                  <a:pt x="146" y="59"/>
                </a:lnTo>
                <a:lnTo>
                  <a:pt x="149" y="60"/>
                </a:lnTo>
                <a:lnTo>
                  <a:pt x="149"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46" name="Rectangle 45">
            <a:extLst>
              <a:ext uri="{FF2B5EF4-FFF2-40B4-BE49-F238E27FC236}">
                <a16:creationId xmlns:a16="http://schemas.microsoft.com/office/drawing/2014/main" id="{311A9C63-9E6C-459E-8E7F-8C1C25F95398}"/>
              </a:ext>
            </a:extLst>
          </p:cNvPr>
          <p:cNvSpPr/>
          <p:nvPr/>
        </p:nvSpPr>
        <p:spPr>
          <a:xfrm>
            <a:off x="10061448" y="2016477"/>
            <a:ext cx="1424429" cy="276999"/>
          </a:xfrm>
          <a:prstGeom prst="rect">
            <a:avLst/>
          </a:prstGeom>
          <a:noFill/>
          <a:ln w="19050" cap="flat" cmpd="sng" algn="ctr">
            <a:noFill/>
            <a:prstDash val="solid"/>
          </a:ln>
          <a:effectLst/>
        </p:spPr>
        <p:txBody>
          <a:bodyPr wrap="none" lIns="45720" tIns="0" rIns="45720" bIns="0" rtlCol="0" anchor="ctr">
            <a:spAutoFit/>
          </a:bodyPr>
          <a:lstStyle>
            <a:defPPr>
              <a:defRPr lang="en-US"/>
            </a:defPPr>
            <a:lvl1pPr algn="ctr" rtl="0" fontAlgn="base">
              <a:spcBef>
                <a:spcPct val="20000"/>
              </a:spcBef>
              <a:spcAft>
                <a:spcPct val="0"/>
              </a:spcAft>
              <a:defRPr sz="1100" b="1" kern="1200">
                <a:solidFill>
                  <a:schemeClr val="lt1"/>
                </a:solidFill>
                <a:latin typeface="+mn-lt"/>
                <a:ea typeface="+mn-ea"/>
                <a:cs typeface="+mn-cs"/>
              </a:defRPr>
            </a:lvl1pPr>
            <a:lvl2pPr marL="457200" algn="ctr" rtl="0" fontAlgn="base">
              <a:spcBef>
                <a:spcPct val="20000"/>
              </a:spcBef>
              <a:spcAft>
                <a:spcPct val="0"/>
              </a:spcAft>
              <a:defRPr sz="1100" b="1" kern="1200">
                <a:solidFill>
                  <a:schemeClr val="lt1"/>
                </a:solidFill>
                <a:latin typeface="+mn-lt"/>
                <a:ea typeface="+mn-ea"/>
                <a:cs typeface="+mn-cs"/>
              </a:defRPr>
            </a:lvl2pPr>
            <a:lvl3pPr marL="914400" algn="ctr" rtl="0" fontAlgn="base">
              <a:spcBef>
                <a:spcPct val="20000"/>
              </a:spcBef>
              <a:spcAft>
                <a:spcPct val="0"/>
              </a:spcAft>
              <a:defRPr sz="1100" b="1" kern="1200">
                <a:solidFill>
                  <a:schemeClr val="lt1"/>
                </a:solidFill>
                <a:latin typeface="+mn-lt"/>
                <a:ea typeface="+mn-ea"/>
                <a:cs typeface="+mn-cs"/>
              </a:defRPr>
            </a:lvl3pPr>
            <a:lvl4pPr marL="1371600" algn="ctr" rtl="0" fontAlgn="base">
              <a:spcBef>
                <a:spcPct val="20000"/>
              </a:spcBef>
              <a:spcAft>
                <a:spcPct val="0"/>
              </a:spcAft>
              <a:defRPr sz="1100" b="1" kern="1200">
                <a:solidFill>
                  <a:schemeClr val="lt1"/>
                </a:solidFill>
                <a:latin typeface="+mn-lt"/>
                <a:ea typeface="+mn-ea"/>
                <a:cs typeface="+mn-cs"/>
              </a:defRPr>
            </a:lvl4pPr>
            <a:lvl5pPr marL="1828800" algn="ctr" rtl="0" fontAlgn="base">
              <a:spcBef>
                <a:spcPct val="20000"/>
              </a:spcBef>
              <a:spcAft>
                <a:spcPct val="0"/>
              </a:spcAft>
              <a:defRPr sz="1100" b="1" kern="1200">
                <a:solidFill>
                  <a:schemeClr val="lt1"/>
                </a:solidFill>
                <a:latin typeface="+mn-lt"/>
                <a:ea typeface="+mn-ea"/>
                <a:cs typeface="+mn-cs"/>
              </a:defRPr>
            </a:lvl5pPr>
            <a:lvl6pPr marL="2286000" algn="l" defTabSz="914400" rtl="0" eaLnBrk="1" latinLnBrk="0" hangingPunct="1">
              <a:defRPr sz="1100" b="1" kern="1200">
                <a:solidFill>
                  <a:schemeClr val="lt1"/>
                </a:solidFill>
                <a:latin typeface="+mn-lt"/>
                <a:ea typeface="+mn-ea"/>
                <a:cs typeface="+mn-cs"/>
              </a:defRPr>
            </a:lvl6pPr>
            <a:lvl7pPr marL="2743200" algn="l" defTabSz="914400" rtl="0" eaLnBrk="1" latinLnBrk="0" hangingPunct="1">
              <a:defRPr sz="1100" b="1" kern="1200">
                <a:solidFill>
                  <a:schemeClr val="lt1"/>
                </a:solidFill>
                <a:latin typeface="+mn-lt"/>
                <a:ea typeface="+mn-ea"/>
                <a:cs typeface="+mn-cs"/>
              </a:defRPr>
            </a:lvl7pPr>
            <a:lvl8pPr marL="3200400" algn="l" defTabSz="914400" rtl="0" eaLnBrk="1" latinLnBrk="0" hangingPunct="1">
              <a:defRPr sz="1100" b="1" kern="1200">
                <a:solidFill>
                  <a:schemeClr val="lt1"/>
                </a:solidFill>
                <a:latin typeface="+mn-lt"/>
                <a:ea typeface="+mn-ea"/>
                <a:cs typeface="+mn-cs"/>
              </a:defRPr>
            </a:lvl8pPr>
            <a:lvl9pPr marL="3657600" algn="l" defTabSz="914400" rtl="0" eaLnBrk="1" latinLnBrk="0" hangingPunct="1">
              <a:defRPr sz="1100" b="1"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j-lt"/>
                <a:ea typeface="Arial" charset="0"/>
                <a:cs typeface="Arial" charset="0"/>
              </a:rPr>
              <a:t>Reporting, Dashboards</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j-lt"/>
                <a:ea typeface="Arial" charset="0"/>
                <a:cs typeface="Arial" charset="0"/>
              </a:rPr>
              <a:t> &amp; Visualization</a:t>
            </a:r>
          </a:p>
        </p:txBody>
      </p:sp>
      <p:sp>
        <p:nvSpPr>
          <p:cNvPr id="47" name="Rectangle 46">
            <a:extLst>
              <a:ext uri="{FF2B5EF4-FFF2-40B4-BE49-F238E27FC236}">
                <a16:creationId xmlns:a16="http://schemas.microsoft.com/office/drawing/2014/main" id="{5300715B-03CB-4427-A580-C91431471606}"/>
              </a:ext>
            </a:extLst>
          </p:cNvPr>
          <p:cNvSpPr/>
          <p:nvPr/>
        </p:nvSpPr>
        <p:spPr>
          <a:xfrm>
            <a:off x="10048935" y="2726668"/>
            <a:ext cx="1564813" cy="138499"/>
          </a:xfrm>
          <a:prstGeom prst="rect">
            <a:avLst/>
          </a:prstGeom>
          <a:noFill/>
          <a:ln w="19050" cap="flat" cmpd="sng" algn="ctr">
            <a:noFill/>
            <a:prstDash val="solid"/>
          </a:ln>
          <a:effectLst/>
        </p:spPr>
        <p:txBody>
          <a:bodyPr wrap="square" lIns="45720" tIns="0" rIns="45720" bIns="0" rtlCol="0" anchor="ctr">
            <a:spAutoFit/>
          </a:bodyPr>
          <a:lstStyle>
            <a:defPPr>
              <a:defRPr lang="en-US"/>
            </a:defPPr>
            <a:lvl1pPr algn="ctr" rtl="0" fontAlgn="base">
              <a:spcBef>
                <a:spcPct val="20000"/>
              </a:spcBef>
              <a:spcAft>
                <a:spcPct val="0"/>
              </a:spcAft>
              <a:defRPr sz="1100" b="1" kern="1200">
                <a:solidFill>
                  <a:schemeClr val="lt1"/>
                </a:solidFill>
                <a:latin typeface="+mn-lt"/>
                <a:ea typeface="+mn-ea"/>
                <a:cs typeface="+mn-cs"/>
              </a:defRPr>
            </a:lvl1pPr>
            <a:lvl2pPr marL="457200" algn="ctr" rtl="0" fontAlgn="base">
              <a:spcBef>
                <a:spcPct val="20000"/>
              </a:spcBef>
              <a:spcAft>
                <a:spcPct val="0"/>
              </a:spcAft>
              <a:defRPr sz="1100" b="1" kern="1200">
                <a:solidFill>
                  <a:schemeClr val="lt1"/>
                </a:solidFill>
                <a:latin typeface="+mn-lt"/>
                <a:ea typeface="+mn-ea"/>
                <a:cs typeface="+mn-cs"/>
              </a:defRPr>
            </a:lvl2pPr>
            <a:lvl3pPr marL="914400" algn="ctr" rtl="0" fontAlgn="base">
              <a:spcBef>
                <a:spcPct val="20000"/>
              </a:spcBef>
              <a:spcAft>
                <a:spcPct val="0"/>
              </a:spcAft>
              <a:defRPr sz="1100" b="1" kern="1200">
                <a:solidFill>
                  <a:schemeClr val="lt1"/>
                </a:solidFill>
                <a:latin typeface="+mn-lt"/>
                <a:ea typeface="+mn-ea"/>
                <a:cs typeface="+mn-cs"/>
              </a:defRPr>
            </a:lvl3pPr>
            <a:lvl4pPr marL="1371600" algn="ctr" rtl="0" fontAlgn="base">
              <a:spcBef>
                <a:spcPct val="20000"/>
              </a:spcBef>
              <a:spcAft>
                <a:spcPct val="0"/>
              </a:spcAft>
              <a:defRPr sz="1100" b="1" kern="1200">
                <a:solidFill>
                  <a:schemeClr val="lt1"/>
                </a:solidFill>
                <a:latin typeface="+mn-lt"/>
                <a:ea typeface="+mn-ea"/>
                <a:cs typeface="+mn-cs"/>
              </a:defRPr>
            </a:lvl4pPr>
            <a:lvl5pPr marL="1828800" algn="ctr" rtl="0" fontAlgn="base">
              <a:spcBef>
                <a:spcPct val="20000"/>
              </a:spcBef>
              <a:spcAft>
                <a:spcPct val="0"/>
              </a:spcAft>
              <a:defRPr sz="1100" b="1" kern="1200">
                <a:solidFill>
                  <a:schemeClr val="lt1"/>
                </a:solidFill>
                <a:latin typeface="+mn-lt"/>
                <a:ea typeface="+mn-ea"/>
                <a:cs typeface="+mn-cs"/>
              </a:defRPr>
            </a:lvl5pPr>
            <a:lvl6pPr marL="2286000" algn="l" defTabSz="914400" rtl="0" eaLnBrk="1" latinLnBrk="0" hangingPunct="1">
              <a:defRPr sz="1100" b="1" kern="1200">
                <a:solidFill>
                  <a:schemeClr val="lt1"/>
                </a:solidFill>
                <a:latin typeface="+mn-lt"/>
                <a:ea typeface="+mn-ea"/>
                <a:cs typeface="+mn-cs"/>
              </a:defRPr>
            </a:lvl6pPr>
            <a:lvl7pPr marL="2743200" algn="l" defTabSz="914400" rtl="0" eaLnBrk="1" latinLnBrk="0" hangingPunct="1">
              <a:defRPr sz="1100" b="1" kern="1200">
                <a:solidFill>
                  <a:schemeClr val="lt1"/>
                </a:solidFill>
                <a:latin typeface="+mn-lt"/>
                <a:ea typeface="+mn-ea"/>
                <a:cs typeface="+mn-cs"/>
              </a:defRPr>
            </a:lvl7pPr>
            <a:lvl8pPr marL="3200400" algn="l" defTabSz="914400" rtl="0" eaLnBrk="1" latinLnBrk="0" hangingPunct="1">
              <a:defRPr sz="1100" b="1" kern="1200">
                <a:solidFill>
                  <a:schemeClr val="lt1"/>
                </a:solidFill>
                <a:latin typeface="+mn-lt"/>
                <a:ea typeface="+mn-ea"/>
                <a:cs typeface="+mn-cs"/>
              </a:defRPr>
            </a:lvl8pPr>
            <a:lvl9pPr marL="3657600" algn="l" defTabSz="914400" rtl="0" eaLnBrk="1" latinLnBrk="0" hangingPunct="1">
              <a:defRPr sz="1100" b="1"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j-lt"/>
                <a:ea typeface="Arial" charset="0"/>
                <a:cs typeface="Arial" charset="0"/>
              </a:rPr>
              <a:t>Extracts &amp; Delivery APIs</a:t>
            </a:r>
          </a:p>
        </p:txBody>
      </p:sp>
      <p:pic>
        <p:nvPicPr>
          <p:cNvPr id="48" name="Picture 47">
            <a:extLst>
              <a:ext uri="{FF2B5EF4-FFF2-40B4-BE49-F238E27FC236}">
                <a16:creationId xmlns:a16="http://schemas.microsoft.com/office/drawing/2014/main" id="{77E72220-52F9-4D9D-872F-BB58DE99E9C7}"/>
              </a:ext>
            </a:extLst>
          </p:cNvPr>
          <p:cNvPicPr>
            <a:picLocks noChangeAspect="1"/>
          </p:cNvPicPr>
          <p:nvPr/>
        </p:nvPicPr>
        <p:blipFill>
          <a:blip r:embed="rId25" cstate="print">
            <a:duotone>
              <a:prstClr val="black"/>
              <a:schemeClr val="bg1">
                <a:lumMod val="50000"/>
                <a:tint val="45000"/>
                <a:satMod val="400000"/>
              </a:schemeClr>
            </a:duotone>
            <a:extLst>
              <a:ext uri="{28A0092B-C50C-407E-A947-70E740481C1C}">
                <a14:useLocalDpi xmlns:a14="http://schemas.microsoft.com/office/drawing/2010/main" val="0"/>
              </a:ext>
            </a:extLst>
          </a:blip>
          <a:stretch>
            <a:fillRect/>
          </a:stretch>
        </p:blipFill>
        <p:spPr>
          <a:xfrm>
            <a:off x="10638010" y="2410336"/>
            <a:ext cx="316763" cy="237477"/>
          </a:xfrm>
          <a:prstGeom prst="rect">
            <a:avLst/>
          </a:prstGeom>
        </p:spPr>
      </p:pic>
      <p:cxnSp>
        <p:nvCxnSpPr>
          <p:cNvPr id="49" name="Elbow Connector 73">
            <a:extLst>
              <a:ext uri="{FF2B5EF4-FFF2-40B4-BE49-F238E27FC236}">
                <a16:creationId xmlns:a16="http://schemas.microsoft.com/office/drawing/2014/main" id="{6C83C7C6-45E1-4AEE-AC07-C010315D3919}"/>
              </a:ext>
            </a:extLst>
          </p:cNvPr>
          <p:cNvCxnSpPr>
            <a:stCxn id="29" idx="3"/>
          </p:cNvCxnSpPr>
          <p:nvPr/>
        </p:nvCxnSpPr>
        <p:spPr>
          <a:xfrm flipV="1">
            <a:off x="6734067" y="3328438"/>
            <a:ext cx="3405045" cy="458293"/>
          </a:xfrm>
          <a:prstGeom prst="bentConnector3">
            <a:avLst>
              <a:gd name="adj1" fmla="val 84409"/>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89">
            <a:extLst>
              <a:ext uri="{FF2B5EF4-FFF2-40B4-BE49-F238E27FC236}">
                <a16:creationId xmlns:a16="http://schemas.microsoft.com/office/drawing/2014/main" id="{26B6AEBF-8007-4552-ADAB-120AD0D86633}"/>
              </a:ext>
            </a:extLst>
          </p:cNvPr>
          <p:cNvCxnSpPr>
            <a:stCxn id="18" idx="1"/>
          </p:cNvCxnSpPr>
          <p:nvPr/>
        </p:nvCxnSpPr>
        <p:spPr>
          <a:xfrm rot="10800000" flipH="1">
            <a:off x="5609005" y="2927055"/>
            <a:ext cx="4439930" cy="338614"/>
          </a:xfrm>
          <a:prstGeom prst="bentConnector3">
            <a:avLst>
              <a:gd name="adj1" fmla="val -6457"/>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ounded Rectangle 101">
            <a:extLst>
              <a:ext uri="{FF2B5EF4-FFF2-40B4-BE49-F238E27FC236}">
                <a16:creationId xmlns:a16="http://schemas.microsoft.com/office/drawing/2014/main" id="{F0B57C14-774C-4A17-AEB7-7AE3625C3093}"/>
              </a:ext>
            </a:extLst>
          </p:cNvPr>
          <p:cNvSpPr/>
          <p:nvPr/>
        </p:nvSpPr>
        <p:spPr>
          <a:xfrm>
            <a:off x="8417073" y="2092841"/>
            <a:ext cx="879230" cy="457284"/>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Semantic</a:t>
            </a:r>
          </a:p>
        </p:txBody>
      </p:sp>
      <p:cxnSp>
        <p:nvCxnSpPr>
          <p:cNvPr id="52" name="Straight Arrow Connector 51">
            <a:extLst>
              <a:ext uri="{FF2B5EF4-FFF2-40B4-BE49-F238E27FC236}">
                <a16:creationId xmlns:a16="http://schemas.microsoft.com/office/drawing/2014/main" id="{64559559-00BA-40EF-893E-4CCABD857935}"/>
              </a:ext>
            </a:extLst>
          </p:cNvPr>
          <p:cNvCxnSpPr>
            <a:endCxn id="51" idx="1"/>
          </p:cNvCxnSpPr>
          <p:nvPr/>
        </p:nvCxnSpPr>
        <p:spPr>
          <a:xfrm>
            <a:off x="8390181" y="2308006"/>
            <a:ext cx="26892" cy="134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CE11C18-E994-4E1E-A8B5-133C4D8655AB}"/>
              </a:ext>
            </a:extLst>
          </p:cNvPr>
          <p:cNvCxnSpPr>
            <a:stCxn id="21" idx="3"/>
            <a:endCxn id="51" idx="1"/>
          </p:cNvCxnSpPr>
          <p:nvPr/>
        </p:nvCxnSpPr>
        <p:spPr>
          <a:xfrm>
            <a:off x="8260373" y="2319716"/>
            <a:ext cx="156700" cy="17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9E88C29-365E-473D-9798-A82C780E3927}"/>
              </a:ext>
            </a:extLst>
          </p:cNvPr>
          <p:cNvCxnSpPr>
            <a:stCxn id="51" idx="3"/>
          </p:cNvCxnSpPr>
          <p:nvPr/>
        </p:nvCxnSpPr>
        <p:spPr>
          <a:xfrm flipV="1">
            <a:off x="9296303" y="2308007"/>
            <a:ext cx="768206" cy="134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FC7CFA58-2831-4BA2-9EE4-DA817A209301}"/>
              </a:ext>
            </a:extLst>
          </p:cNvPr>
          <p:cNvGrpSpPr>
            <a:grpSpLocks noChangeAspect="1"/>
          </p:cNvGrpSpPr>
          <p:nvPr/>
        </p:nvGrpSpPr>
        <p:grpSpPr>
          <a:xfrm>
            <a:off x="10650178" y="2976080"/>
            <a:ext cx="283759" cy="211648"/>
            <a:chOff x="4179888" y="2610485"/>
            <a:chExt cx="311151" cy="309563"/>
          </a:xfrm>
        </p:grpSpPr>
        <p:sp>
          <p:nvSpPr>
            <p:cNvPr id="56" name="Freeform 142">
              <a:extLst>
                <a:ext uri="{FF2B5EF4-FFF2-40B4-BE49-F238E27FC236}">
                  <a16:creationId xmlns:a16="http://schemas.microsoft.com/office/drawing/2014/main" id="{954E38B9-75D1-4370-B554-A13962DC5BF2}"/>
                </a:ext>
              </a:extLst>
            </p:cNvPr>
            <p:cNvSpPr>
              <a:spLocks/>
            </p:cNvSpPr>
            <p:nvPr/>
          </p:nvSpPr>
          <p:spPr bwMode="auto">
            <a:xfrm>
              <a:off x="4179888" y="2661285"/>
              <a:ext cx="90488" cy="88900"/>
            </a:xfrm>
            <a:custGeom>
              <a:avLst/>
              <a:gdLst>
                <a:gd name="T0" fmla="*/ 45 w 114"/>
                <a:gd name="T1" fmla="*/ 87 h 113"/>
                <a:gd name="T2" fmla="*/ 45 w 114"/>
                <a:gd name="T3" fmla="*/ 87 h 113"/>
                <a:gd name="T4" fmla="*/ 53 w 114"/>
                <a:gd name="T5" fmla="*/ 87 h 113"/>
                <a:gd name="T6" fmla="*/ 59 w 114"/>
                <a:gd name="T7" fmla="*/ 85 h 113"/>
                <a:gd name="T8" fmla="*/ 66 w 114"/>
                <a:gd name="T9" fmla="*/ 82 h 113"/>
                <a:gd name="T10" fmla="*/ 71 w 114"/>
                <a:gd name="T11" fmla="*/ 79 h 113"/>
                <a:gd name="T12" fmla="*/ 104 w 114"/>
                <a:gd name="T13" fmla="*/ 111 h 113"/>
                <a:gd name="T14" fmla="*/ 104 w 114"/>
                <a:gd name="T15" fmla="*/ 111 h 113"/>
                <a:gd name="T16" fmla="*/ 105 w 114"/>
                <a:gd name="T17" fmla="*/ 113 h 113"/>
                <a:gd name="T18" fmla="*/ 108 w 114"/>
                <a:gd name="T19" fmla="*/ 113 h 113"/>
                <a:gd name="T20" fmla="*/ 108 w 114"/>
                <a:gd name="T21" fmla="*/ 113 h 113"/>
                <a:gd name="T22" fmla="*/ 110 w 114"/>
                <a:gd name="T23" fmla="*/ 113 h 113"/>
                <a:gd name="T24" fmla="*/ 112 w 114"/>
                <a:gd name="T25" fmla="*/ 111 h 113"/>
                <a:gd name="T26" fmla="*/ 112 w 114"/>
                <a:gd name="T27" fmla="*/ 111 h 113"/>
                <a:gd name="T28" fmla="*/ 113 w 114"/>
                <a:gd name="T29" fmla="*/ 109 h 113"/>
                <a:gd name="T30" fmla="*/ 114 w 114"/>
                <a:gd name="T31" fmla="*/ 106 h 113"/>
                <a:gd name="T32" fmla="*/ 113 w 114"/>
                <a:gd name="T33" fmla="*/ 103 h 113"/>
                <a:gd name="T34" fmla="*/ 112 w 114"/>
                <a:gd name="T35" fmla="*/ 102 h 113"/>
                <a:gd name="T36" fmla="*/ 79 w 114"/>
                <a:gd name="T37" fmla="*/ 70 h 113"/>
                <a:gd name="T38" fmla="*/ 79 w 114"/>
                <a:gd name="T39" fmla="*/ 70 h 113"/>
                <a:gd name="T40" fmla="*/ 84 w 114"/>
                <a:gd name="T41" fmla="*/ 64 h 113"/>
                <a:gd name="T42" fmla="*/ 86 w 114"/>
                <a:gd name="T43" fmla="*/ 58 h 113"/>
                <a:gd name="T44" fmla="*/ 89 w 114"/>
                <a:gd name="T45" fmla="*/ 51 h 113"/>
                <a:gd name="T46" fmla="*/ 89 w 114"/>
                <a:gd name="T47" fmla="*/ 43 h 113"/>
                <a:gd name="T48" fmla="*/ 89 w 114"/>
                <a:gd name="T49" fmla="*/ 43 h 113"/>
                <a:gd name="T50" fmla="*/ 88 w 114"/>
                <a:gd name="T51" fmla="*/ 35 h 113"/>
                <a:gd name="T52" fmla="*/ 85 w 114"/>
                <a:gd name="T53" fmla="*/ 27 h 113"/>
                <a:gd name="T54" fmla="*/ 81 w 114"/>
                <a:gd name="T55" fmla="*/ 19 h 113"/>
                <a:gd name="T56" fmla="*/ 75 w 114"/>
                <a:gd name="T57" fmla="*/ 12 h 113"/>
                <a:gd name="T58" fmla="*/ 70 w 114"/>
                <a:gd name="T59" fmla="*/ 7 h 113"/>
                <a:gd name="T60" fmla="*/ 62 w 114"/>
                <a:gd name="T61" fmla="*/ 3 h 113"/>
                <a:gd name="T62" fmla="*/ 54 w 114"/>
                <a:gd name="T63" fmla="*/ 0 h 113"/>
                <a:gd name="T64" fmla="*/ 45 w 114"/>
                <a:gd name="T65" fmla="*/ 0 h 113"/>
                <a:gd name="T66" fmla="*/ 45 w 114"/>
                <a:gd name="T67" fmla="*/ 0 h 113"/>
                <a:gd name="T68" fmla="*/ 36 w 114"/>
                <a:gd name="T69" fmla="*/ 0 h 113"/>
                <a:gd name="T70" fmla="*/ 27 w 114"/>
                <a:gd name="T71" fmla="*/ 3 h 113"/>
                <a:gd name="T72" fmla="*/ 20 w 114"/>
                <a:gd name="T73" fmla="*/ 7 h 113"/>
                <a:gd name="T74" fmla="*/ 14 w 114"/>
                <a:gd name="T75" fmla="*/ 12 h 113"/>
                <a:gd name="T76" fmla="*/ 8 w 114"/>
                <a:gd name="T77" fmla="*/ 19 h 113"/>
                <a:gd name="T78" fmla="*/ 4 w 114"/>
                <a:gd name="T79" fmla="*/ 27 h 113"/>
                <a:gd name="T80" fmla="*/ 2 w 114"/>
                <a:gd name="T81" fmla="*/ 35 h 113"/>
                <a:gd name="T82" fmla="*/ 0 w 114"/>
                <a:gd name="T83" fmla="*/ 43 h 113"/>
                <a:gd name="T84" fmla="*/ 0 w 114"/>
                <a:gd name="T85" fmla="*/ 43 h 113"/>
                <a:gd name="T86" fmla="*/ 2 w 114"/>
                <a:gd name="T87" fmla="*/ 52 h 113"/>
                <a:gd name="T88" fmla="*/ 4 w 114"/>
                <a:gd name="T89" fmla="*/ 60 h 113"/>
                <a:gd name="T90" fmla="*/ 8 w 114"/>
                <a:gd name="T91" fmla="*/ 68 h 113"/>
                <a:gd name="T92" fmla="*/ 14 w 114"/>
                <a:gd name="T93" fmla="*/ 75 h 113"/>
                <a:gd name="T94" fmla="*/ 20 w 114"/>
                <a:gd name="T95" fmla="*/ 80 h 113"/>
                <a:gd name="T96" fmla="*/ 27 w 114"/>
                <a:gd name="T97" fmla="*/ 85 h 113"/>
                <a:gd name="T98" fmla="*/ 36 w 114"/>
                <a:gd name="T99" fmla="*/ 86 h 113"/>
                <a:gd name="T100" fmla="*/ 45 w 114"/>
                <a:gd name="T101" fmla="*/ 87 h 113"/>
                <a:gd name="T102" fmla="*/ 45 w 114"/>
                <a:gd name="T103" fmla="*/ 87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4" h="113">
                  <a:moveTo>
                    <a:pt x="45" y="87"/>
                  </a:moveTo>
                  <a:lnTo>
                    <a:pt x="45" y="87"/>
                  </a:lnTo>
                  <a:lnTo>
                    <a:pt x="53" y="87"/>
                  </a:lnTo>
                  <a:lnTo>
                    <a:pt x="59" y="85"/>
                  </a:lnTo>
                  <a:lnTo>
                    <a:pt x="66" y="82"/>
                  </a:lnTo>
                  <a:lnTo>
                    <a:pt x="71" y="79"/>
                  </a:lnTo>
                  <a:lnTo>
                    <a:pt x="104" y="111"/>
                  </a:lnTo>
                  <a:lnTo>
                    <a:pt x="104" y="111"/>
                  </a:lnTo>
                  <a:lnTo>
                    <a:pt x="105" y="113"/>
                  </a:lnTo>
                  <a:lnTo>
                    <a:pt x="108" y="113"/>
                  </a:lnTo>
                  <a:lnTo>
                    <a:pt x="108" y="113"/>
                  </a:lnTo>
                  <a:lnTo>
                    <a:pt x="110" y="113"/>
                  </a:lnTo>
                  <a:lnTo>
                    <a:pt x="112" y="111"/>
                  </a:lnTo>
                  <a:lnTo>
                    <a:pt x="112" y="111"/>
                  </a:lnTo>
                  <a:lnTo>
                    <a:pt x="113" y="109"/>
                  </a:lnTo>
                  <a:lnTo>
                    <a:pt x="114" y="106"/>
                  </a:lnTo>
                  <a:lnTo>
                    <a:pt x="113" y="103"/>
                  </a:lnTo>
                  <a:lnTo>
                    <a:pt x="112" y="102"/>
                  </a:lnTo>
                  <a:lnTo>
                    <a:pt x="79" y="70"/>
                  </a:lnTo>
                  <a:lnTo>
                    <a:pt x="79" y="70"/>
                  </a:lnTo>
                  <a:lnTo>
                    <a:pt x="84" y="64"/>
                  </a:lnTo>
                  <a:lnTo>
                    <a:pt x="86" y="58"/>
                  </a:lnTo>
                  <a:lnTo>
                    <a:pt x="89" y="51"/>
                  </a:lnTo>
                  <a:lnTo>
                    <a:pt x="89" y="43"/>
                  </a:lnTo>
                  <a:lnTo>
                    <a:pt x="89" y="43"/>
                  </a:lnTo>
                  <a:lnTo>
                    <a:pt x="88" y="35"/>
                  </a:lnTo>
                  <a:lnTo>
                    <a:pt x="85" y="27"/>
                  </a:lnTo>
                  <a:lnTo>
                    <a:pt x="81" y="19"/>
                  </a:lnTo>
                  <a:lnTo>
                    <a:pt x="75" y="12"/>
                  </a:lnTo>
                  <a:lnTo>
                    <a:pt x="70" y="7"/>
                  </a:lnTo>
                  <a:lnTo>
                    <a:pt x="62" y="3"/>
                  </a:lnTo>
                  <a:lnTo>
                    <a:pt x="54" y="0"/>
                  </a:lnTo>
                  <a:lnTo>
                    <a:pt x="45" y="0"/>
                  </a:lnTo>
                  <a:lnTo>
                    <a:pt x="45" y="0"/>
                  </a:lnTo>
                  <a:lnTo>
                    <a:pt x="36" y="0"/>
                  </a:lnTo>
                  <a:lnTo>
                    <a:pt x="27" y="3"/>
                  </a:lnTo>
                  <a:lnTo>
                    <a:pt x="20" y="7"/>
                  </a:lnTo>
                  <a:lnTo>
                    <a:pt x="14" y="12"/>
                  </a:lnTo>
                  <a:lnTo>
                    <a:pt x="8" y="19"/>
                  </a:lnTo>
                  <a:lnTo>
                    <a:pt x="4" y="27"/>
                  </a:lnTo>
                  <a:lnTo>
                    <a:pt x="2" y="35"/>
                  </a:lnTo>
                  <a:lnTo>
                    <a:pt x="0" y="43"/>
                  </a:lnTo>
                  <a:lnTo>
                    <a:pt x="0" y="43"/>
                  </a:lnTo>
                  <a:lnTo>
                    <a:pt x="2" y="52"/>
                  </a:lnTo>
                  <a:lnTo>
                    <a:pt x="4" y="60"/>
                  </a:lnTo>
                  <a:lnTo>
                    <a:pt x="8" y="68"/>
                  </a:lnTo>
                  <a:lnTo>
                    <a:pt x="14" y="75"/>
                  </a:lnTo>
                  <a:lnTo>
                    <a:pt x="20" y="80"/>
                  </a:lnTo>
                  <a:lnTo>
                    <a:pt x="27" y="85"/>
                  </a:lnTo>
                  <a:lnTo>
                    <a:pt x="36" y="86"/>
                  </a:lnTo>
                  <a:lnTo>
                    <a:pt x="45" y="87"/>
                  </a:lnTo>
                  <a:lnTo>
                    <a:pt x="45"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57" name="Freeform 143">
              <a:extLst>
                <a:ext uri="{FF2B5EF4-FFF2-40B4-BE49-F238E27FC236}">
                  <a16:creationId xmlns:a16="http://schemas.microsoft.com/office/drawing/2014/main" id="{44FACEA3-170A-44D4-ABF2-7E23BC38A9FF}"/>
                </a:ext>
              </a:extLst>
            </p:cNvPr>
            <p:cNvSpPr>
              <a:spLocks/>
            </p:cNvSpPr>
            <p:nvPr/>
          </p:nvSpPr>
          <p:spPr bwMode="auto">
            <a:xfrm>
              <a:off x="4300538" y="2610485"/>
              <a:ext cx="69850" cy="111125"/>
            </a:xfrm>
            <a:custGeom>
              <a:avLst/>
              <a:gdLst>
                <a:gd name="T0" fmla="*/ 44 w 89"/>
                <a:gd name="T1" fmla="*/ 138 h 138"/>
                <a:gd name="T2" fmla="*/ 44 w 89"/>
                <a:gd name="T3" fmla="*/ 138 h 138"/>
                <a:gd name="T4" fmla="*/ 47 w 89"/>
                <a:gd name="T5" fmla="*/ 137 h 138"/>
                <a:gd name="T6" fmla="*/ 48 w 89"/>
                <a:gd name="T7" fmla="*/ 135 h 138"/>
                <a:gd name="T8" fmla="*/ 50 w 89"/>
                <a:gd name="T9" fmla="*/ 134 h 138"/>
                <a:gd name="T10" fmla="*/ 50 w 89"/>
                <a:gd name="T11" fmla="*/ 131 h 138"/>
                <a:gd name="T12" fmla="*/ 50 w 89"/>
                <a:gd name="T13" fmla="*/ 87 h 138"/>
                <a:gd name="T14" fmla="*/ 50 w 89"/>
                <a:gd name="T15" fmla="*/ 87 h 138"/>
                <a:gd name="T16" fmla="*/ 58 w 89"/>
                <a:gd name="T17" fmla="*/ 86 h 138"/>
                <a:gd name="T18" fmla="*/ 66 w 89"/>
                <a:gd name="T19" fmla="*/ 82 h 138"/>
                <a:gd name="T20" fmla="*/ 71 w 89"/>
                <a:gd name="T21" fmla="*/ 78 h 138"/>
                <a:gd name="T22" fmla="*/ 77 w 89"/>
                <a:gd name="T23" fmla="*/ 72 h 138"/>
                <a:gd name="T24" fmla="*/ 82 w 89"/>
                <a:gd name="T25" fmla="*/ 66 h 138"/>
                <a:gd name="T26" fmla="*/ 85 w 89"/>
                <a:gd name="T27" fmla="*/ 59 h 138"/>
                <a:gd name="T28" fmla="*/ 87 w 89"/>
                <a:gd name="T29" fmla="*/ 51 h 138"/>
                <a:gd name="T30" fmla="*/ 89 w 89"/>
                <a:gd name="T31" fmla="*/ 43 h 138"/>
                <a:gd name="T32" fmla="*/ 89 w 89"/>
                <a:gd name="T33" fmla="*/ 43 h 138"/>
                <a:gd name="T34" fmla="*/ 87 w 89"/>
                <a:gd name="T35" fmla="*/ 35 h 138"/>
                <a:gd name="T36" fmla="*/ 85 w 89"/>
                <a:gd name="T37" fmla="*/ 27 h 138"/>
                <a:gd name="T38" fmla="*/ 81 w 89"/>
                <a:gd name="T39" fmla="*/ 18 h 138"/>
                <a:gd name="T40" fmla="*/ 75 w 89"/>
                <a:gd name="T41" fmla="*/ 12 h 138"/>
                <a:gd name="T42" fmla="*/ 69 w 89"/>
                <a:gd name="T43" fmla="*/ 6 h 138"/>
                <a:gd name="T44" fmla="*/ 62 w 89"/>
                <a:gd name="T45" fmla="*/ 2 h 138"/>
                <a:gd name="T46" fmla="*/ 52 w 89"/>
                <a:gd name="T47" fmla="*/ 0 h 138"/>
                <a:gd name="T48" fmla="*/ 44 w 89"/>
                <a:gd name="T49" fmla="*/ 0 h 138"/>
                <a:gd name="T50" fmla="*/ 44 w 89"/>
                <a:gd name="T51" fmla="*/ 0 h 138"/>
                <a:gd name="T52" fmla="*/ 35 w 89"/>
                <a:gd name="T53" fmla="*/ 0 h 138"/>
                <a:gd name="T54" fmla="*/ 27 w 89"/>
                <a:gd name="T55" fmla="*/ 2 h 138"/>
                <a:gd name="T56" fmla="*/ 19 w 89"/>
                <a:gd name="T57" fmla="*/ 6 h 138"/>
                <a:gd name="T58" fmla="*/ 14 w 89"/>
                <a:gd name="T59" fmla="*/ 12 h 138"/>
                <a:gd name="T60" fmla="*/ 8 w 89"/>
                <a:gd name="T61" fmla="*/ 18 h 138"/>
                <a:gd name="T62" fmla="*/ 4 w 89"/>
                <a:gd name="T63" fmla="*/ 27 h 138"/>
                <a:gd name="T64" fmla="*/ 1 w 89"/>
                <a:gd name="T65" fmla="*/ 35 h 138"/>
                <a:gd name="T66" fmla="*/ 0 w 89"/>
                <a:gd name="T67" fmla="*/ 43 h 138"/>
                <a:gd name="T68" fmla="*/ 0 w 89"/>
                <a:gd name="T69" fmla="*/ 43 h 138"/>
                <a:gd name="T70" fmla="*/ 0 w 89"/>
                <a:gd name="T71" fmla="*/ 51 h 138"/>
                <a:gd name="T72" fmla="*/ 3 w 89"/>
                <a:gd name="T73" fmla="*/ 59 h 138"/>
                <a:gd name="T74" fmla="*/ 7 w 89"/>
                <a:gd name="T75" fmla="*/ 66 h 138"/>
                <a:gd name="T76" fmla="*/ 11 w 89"/>
                <a:gd name="T77" fmla="*/ 72 h 138"/>
                <a:gd name="T78" fmla="*/ 16 w 89"/>
                <a:gd name="T79" fmla="*/ 78 h 138"/>
                <a:gd name="T80" fmla="*/ 23 w 89"/>
                <a:gd name="T81" fmla="*/ 82 h 138"/>
                <a:gd name="T82" fmla="*/ 30 w 89"/>
                <a:gd name="T83" fmla="*/ 86 h 138"/>
                <a:gd name="T84" fmla="*/ 38 w 89"/>
                <a:gd name="T85" fmla="*/ 87 h 138"/>
                <a:gd name="T86" fmla="*/ 38 w 89"/>
                <a:gd name="T87" fmla="*/ 131 h 138"/>
                <a:gd name="T88" fmla="*/ 38 w 89"/>
                <a:gd name="T89" fmla="*/ 131 h 138"/>
                <a:gd name="T90" fmla="*/ 38 w 89"/>
                <a:gd name="T91" fmla="*/ 134 h 138"/>
                <a:gd name="T92" fmla="*/ 39 w 89"/>
                <a:gd name="T93" fmla="*/ 135 h 138"/>
                <a:gd name="T94" fmla="*/ 42 w 89"/>
                <a:gd name="T95" fmla="*/ 137 h 138"/>
                <a:gd name="T96" fmla="*/ 44 w 89"/>
                <a:gd name="T97" fmla="*/ 138 h 138"/>
                <a:gd name="T98" fmla="*/ 44 w 89"/>
                <a:gd name="T99"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9" h="138">
                  <a:moveTo>
                    <a:pt x="44" y="138"/>
                  </a:moveTo>
                  <a:lnTo>
                    <a:pt x="44" y="138"/>
                  </a:lnTo>
                  <a:lnTo>
                    <a:pt x="47" y="137"/>
                  </a:lnTo>
                  <a:lnTo>
                    <a:pt x="48" y="135"/>
                  </a:lnTo>
                  <a:lnTo>
                    <a:pt x="50" y="134"/>
                  </a:lnTo>
                  <a:lnTo>
                    <a:pt x="50" y="131"/>
                  </a:lnTo>
                  <a:lnTo>
                    <a:pt x="50" y="87"/>
                  </a:lnTo>
                  <a:lnTo>
                    <a:pt x="50" y="87"/>
                  </a:lnTo>
                  <a:lnTo>
                    <a:pt x="58" y="86"/>
                  </a:lnTo>
                  <a:lnTo>
                    <a:pt x="66" y="82"/>
                  </a:lnTo>
                  <a:lnTo>
                    <a:pt x="71" y="78"/>
                  </a:lnTo>
                  <a:lnTo>
                    <a:pt x="77" y="72"/>
                  </a:lnTo>
                  <a:lnTo>
                    <a:pt x="82" y="66"/>
                  </a:lnTo>
                  <a:lnTo>
                    <a:pt x="85" y="59"/>
                  </a:lnTo>
                  <a:lnTo>
                    <a:pt x="87" y="51"/>
                  </a:lnTo>
                  <a:lnTo>
                    <a:pt x="89" y="43"/>
                  </a:lnTo>
                  <a:lnTo>
                    <a:pt x="89" y="43"/>
                  </a:lnTo>
                  <a:lnTo>
                    <a:pt x="87" y="35"/>
                  </a:lnTo>
                  <a:lnTo>
                    <a:pt x="85" y="27"/>
                  </a:lnTo>
                  <a:lnTo>
                    <a:pt x="81" y="18"/>
                  </a:lnTo>
                  <a:lnTo>
                    <a:pt x="75" y="12"/>
                  </a:lnTo>
                  <a:lnTo>
                    <a:pt x="69" y="6"/>
                  </a:lnTo>
                  <a:lnTo>
                    <a:pt x="62" y="2"/>
                  </a:lnTo>
                  <a:lnTo>
                    <a:pt x="52" y="0"/>
                  </a:lnTo>
                  <a:lnTo>
                    <a:pt x="44" y="0"/>
                  </a:lnTo>
                  <a:lnTo>
                    <a:pt x="44" y="0"/>
                  </a:lnTo>
                  <a:lnTo>
                    <a:pt x="35" y="0"/>
                  </a:lnTo>
                  <a:lnTo>
                    <a:pt x="27" y="2"/>
                  </a:lnTo>
                  <a:lnTo>
                    <a:pt x="19" y="6"/>
                  </a:lnTo>
                  <a:lnTo>
                    <a:pt x="14" y="12"/>
                  </a:lnTo>
                  <a:lnTo>
                    <a:pt x="8" y="18"/>
                  </a:lnTo>
                  <a:lnTo>
                    <a:pt x="4" y="27"/>
                  </a:lnTo>
                  <a:lnTo>
                    <a:pt x="1" y="35"/>
                  </a:lnTo>
                  <a:lnTo>
                    <a:pt x="0" y="43"/>
                  </a:lnTo>
                  <a:lnTo>
                    <a:pt x="0" y="43"/>
                  </a:lnTo>
                  <a:lnTo>
                    <a:pt x="0" y="51"/>
                  </a:lnTo>
                  <a:lnTo>
                    <a:pt x="3" y="59"/>
                  </a:lnTo>
                  <a:lnTo>
                    <a:pt x="7" y="66"/>
                  </a:lnTo>
                  <a:lnTo>
                    <a:pt x="11" y="72"/>
                  </a:lnTo>
                  <a:lnTo>
                    <a:pt x="16" y="78"/>
                  </a:lnTo>
                  <a:lnTo>
                    <a:pt x="23" y="82"/>
                  </a:lnTo>
                  <a:lnTo>
                    <a:pt x="30" y="86"/>
                  </a:lnTo>
                  <a:lnTo>
                    <a:pt x="38" y="87"/>
                  </a:lnTo>
                  <a:lnTo>
                    <a:pt x="38" y="131"/>
                  </a:lnTo>
                  <a:lnTo>
                    <a:pt x="38" y="131"/>
                  </a:lnTo>
                  <a:lnTo>
                    <a:pt x="38" y="134"/>
                  </a:lnTo>
                  <a:lnTo>
                    <a:pt x="39" y="135"/>
                  </a:lnTo>
                  <a:lnTo>
                    <a:pt x="42" y="137"/>
                  </a:lnTo>
                  <a:lnTo>
                    <a:pt x="44" y="138"/>
                  </a:lnTo>
                  <a:lnTo>
                    <a:pt x="44"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58" name="Freeform 144">
              <a:extLst>
                <a:ext uri="{FF2B5EF4-FFF2-40B4-BE49-F238E27FC236}">
                  <a16:creationId xmlns:a16="http://schemas.microsoft.com/office/drawing/2014/main" id="{CC55FC13-A466-4091-982B-7F4055BE3A22}"/>
                </a:ext>
              </a:extLst>
            </p:cNvPr>
            <p:cNvSpPr>
              <a:spLocks/>
            </p:cNvSpPr>
            <p:nvPr/>
          </p:nvSpPr>
          <p:spPr bwMode="auto">
            <a:xfrm>
              <a:off x="4400551" y="2661285"/>
              <a:ext cx="90488" cy="88900"/>
            </a:xfrm>
            <a:custGeom>
              <a:avLst/>
              <a:gdLst>
                <a:gd name="T0" fmla="*/ 69 w 113"/>
                <a:gd name="T1" fmla="*/ 0 h 113"/>
                <a:gd name="T2" fmla="*/ 69 w 113"/>
                <a:gd name="T3" fmla="*/ 0 h 113"/>
                <a:gd name="T4" fmla="*/ 61 w 113"/>
                <a:gd name="T5" fmla="*/ 0 h 113"/>
                <a:gd name="T6" fmla="*/ 53 w 113"/>
                <a:gd name="T7" fmla="*/ 3 h 113"/>
                <a:gd name="T8" fmla="*/ 45 w 113"/>
                <a:gd name="T9" fmla="*/ 7 h 113"/>
                <a:gd name="T10" fmla="*/ 38 w 113"/>
                <a:gd name="T11" fmla="*/ 12 h 113"/>
                <a:gd name="T12" fmla="*/ 33 w 113"/>
                <a:gd name="T13" fmla="*/ 19 h 113"/>
                <a:gd name="T14" fmla="*/ 29 w 113"/>
                <a:gd name="T15" fmla="*/ 27 h 113"/>
                <a:gd name="T16" fmla="*/ 26 w 113"/>
                <a:gd name="T17" fmla="*/ 35 h 113"/>
                <a:gd name="T18" fmla="*/ 25 w 113"/>
                <a:gd name="T19" fmla="*/ 43 h 113"/>
                <a:gd name="T20" fmla="*/ 25 w 113"/>
                <a:gd name="T21" fmla="*/ 43 h 113"/>
                <a:gd name="T22" fmla="*/ 26 w 113"/>
                <a:gd name="T23" fmla="*/ 51 h 113"/>
                <a:gd name="T24" fmla="*/ 27 w 113"/>
                <a:gd name="T25" fmla="*/ 58 h 113"/>
                <a:gd name="T26" fmla="*/ 30 w 113"/>
                <a:gd name="T27" fmla="*/ 64 h 113"/>
                <a:gd name="T28" fmla="*/ 34 w 113"/>
                <a:gd name="T29" fmla="*/ 70 h 113"/>
                <a:gd name="T30" fmla="*/ 2 w 113"/>
                <a:gd name="T31" fmla="*/ 102 h 113"/>
                <a:gd name="T32" fmla="*/ 2 w 113"/>
                <a:gd name="T33" fmla="*/ 102 h 113"/>
                <a:gd name="T34" fmla="*/ 0 w 113"/>
                <a:gd name="T35" fmla="*/ 103 h 113"/>
                <a:gd name="T36" fmla="*/ 0 w 113"/>
                <a:gd name="T37" fmla="*/ 106 h 113"/>
                <a:gd name="T38" fmla="*/ 0 w 113"/>
                <a:gd name="T39" fmla="*/ 109 h 113"/>
                <a:gd name="T40" fmla="*/ 2 w 113"/>
                <a:gd name="T41" fmla="*/ 111 h 113"/>
                <a:gd name="T42" fmla="*/ 2 w 113"/>
                <a:gd name="T43" fmla="*/ 111 h 113"/>
                <a:gd name="T44" fmla="*/ 4 w 113"/>
                <a:gd name="T45" fmla="*/ 113 h 113"/>
                <a:gd name="T46" fmla="*/ 6 w 113"/>
                <a:gd name="T47" fmla="*/ 113 h 113"/>
                <a:gd name="T48" fmla="*/ 6 w 113"/>
                <a:gd name="T49" fmla="*/ 113 h 113"/>
                <a:gd name="T50" fmla="*/ 8 w 113"/>
                <a:gd name="T51" fmla="*/ 113 h 113"/>
                <a:gd name="T52" fmla="*/ 11 w 113"/>
                <a:gd name="T53" fmla="*/ 111 h 113"/>
                <a:gd name="T54" fmla="*/ 43 w 113"/>
                <a:gd name="T55" fmla="*/ 79 h 113"/>
                <a:gd name="T56" fmla="*/ 43 w 113"/>
                <a:gd name="T57" fmla="*/ 79 h 113"/>
                <a:gd name="T58" fmla="*/ 49 w 113"/>
                <a:gd name="T59" fmla="*/ 82 h 113"/>
                <a:gd name="T60" fmla="*/ 56 w 113"/>
                <a:gd name="T61" fmla="*/ 85 h 113"/>
                <a:gd name="T62" fmla="*/ 62 w 113"/>
                <a:gd name="T63" fmla="*/ 87 h 113"/>
                <a:gd name="T64" fmla="*/ 69 w 113"/>
                <a:gd name="T65" fmla="*/ 87 h 113"/>
                <a:gd name="T66" fmla="*/ 69 w 113"/>
                <a:gd name="T67" fmla="*/ 87 h 113"/>
                <a:gd name="T68" fmla="*/ 78 w 113"/>
                <a:gd name="T69" fmla="*/ 86 h 113"/>
                <a:gd name="T70" fmla="*/ 86 w 113"/>
                <a:gd name="T71" fmla="*/ 85 h 113"/>
                <a:gd name="T72" fmla="*/ 94 w 113"/>
                <a:gd name="T73" fmla="*/ 80 h 113"/>
                <a:gd name="T74" fmla="*/ 100 w 113"/>
                <a:gd name="T75" fmla="*/ 75 h 113"/>
                <a:gd name="T76" fmla="*/ 107 w 113"/>
                <a:gd name="T77" fmla="*/ 68 h 113"/>
                <a:gd name="T78" fmla="*/ 111 w 113"/>
                <a:gd name="T79" fmla="*/ 60 h 113"/>
                <a:gd name="T80" fmla="*/ 112 w 113"/>
                <a:gd name="T81" fmla="*/ 52 h 113"/>
                <a:gd name="T82" fmla="*/ 113 w 113"/>
                <a:gd name="T83" fmla="*/ 43 h 113"/>
                <a:gd name="T84" fmla="*/ 113 w 113"/>
                <a:gd name="T85" fmla="*/ 43 h 113"/>
                <a:gd name="T86" fmla="*/ 112 w 113"/>
                <a:gd name="T87" fmla="*/ 35 h 113"/>
                <a:gd name="T88" fmla="*/ 111 w 113"/>
                <a:gd name="T89" fmla="*/ 27 h 113"/>
                <a:gd name="T90" fmla="*/ 107 w 113"/>
                <a:gd name="T91" fmla="*/ 19 h 113"/>
                <a:gd name="T92" fmla="*/ 100 w 113"/>
                <a:gd name="T93" fmla="*/ 12 h 113"/>
                <a:gd name="T94" fmla="*/ 94 w 113"/>
                <a:gd name="T95" fmla="*/ 7 h 113"/>
                <a:gd name="T96" fmla="*/ 86 w 113"/>
                <a:gd name="T97" fmla="*/ 3 h 113"/>
                <a:gd name="T98" fmla="*/ 78 w 113"/>
                <a:gd name="T99" fmla="*/ 0 h 113"/>
                <a:gd name="T100" fmla="*/ 69 w 113"/>
                <a:gd name="T101" fmla="*/ 0 h 113"/>
                <a:gd name="T102" fmla="*/ 69 w 113"/>
                <a:gd name="T103"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3" h="113">
                  <a:moveTo>
                    <a:pt x="69" y="0"/>
                  </a:moveTo>
                  <a:lnTo>
                    <a:pt x="69" y="0"/>
                  </a:lnTo>
                  <a:lnTo>
                    <a:pt x="61" y="0"/>
                  </a:lnTo>
                  <a:lnTo>
                    <a:pt x="53" y="3"/>
                  </a:lnTo>
                  <a:lnTo>
                    <a:pt x="45" y="7"/>
                  </a:lnTo>
                  <a:lnTo>
                    <a:pt x="38" y="12"/>
                  </a:lnTo>
                  <a:lnTo>
                    <a:pt x="33" y="19"/>
                  </a:lnTo>
                  <a:lnTo>
                    <a:pt x="29" y="27"/>
                  </a:lnTo>
                  <a:lnTo>
                    <a:pt x="26" y="35"/>
                  </a:lnTo>
                  <a:lnTo>
                    <a:pt x="25" y="43"/>
                  </a:lnTo>
                  <a:lnTo>
                    <a:pt x="25" y="43"/>
                  </a:lnTo>
                  <a:lnTo>
                    <a:pt x="26" y="51"/>
                  </a:lnTo>
                  <a:lnTo>
                    <a:pt x="27" y="58"/>
                  </a:lnTo>
                  <a:lnTo>
                    <a:pt x="30" y="64"/>
                  </a:lnTo>
                  <a:lnTo>
                    <a:pt x="34" y="70"/>
                  </a:lnTo>
                  <a:lnTo>
                    <a:pt x="2" y="102"/>
                  </a:lnTo>
                  <a:lnTo>
                    <a:pt x="2" y="102"/>
                  </a:lnTo>
                  <a:lnTo>
                    <a:pt x="0" y="103"/>
                  </a:lnTo>
                  <a:lnTo>
                    <a:pt x="0" y="106"/>
                  </a:lnTo>
                  <a:lnTo>
                    <a:pt x="0" y="109"/>
                  </a:lnTo>
                  <a:lnTo>
                    <a:pt x="2" y="111"/>
                  </a:lnTo>
                  <a:lnTo>
                    <a:pt x="2" y="111"/>
                  </a:lnTo>
                  <a:lnTo>
                    <a:pt x="4" y="113"/>
                  </a:lnTo>
                  <a:lnTo>
                    <a:pt x="6" y="113"/>
                  </a:lnTo>
                  <a:lnTo>
                    <a:pt x="6" y="113"/>
                  </a:lnTo>
                  <a:lnTo>
                    <a:pt x="8" y="113"/>
                  </a:lnTo>
                  <a:lnTo>
                    <a:pt x="11" y="111"/>
                  </a:lnTo>
                  <a:lnTo>
                    <a:pt x="43" y="79"/>
                  </a:lnTo>
                  <a:lnTo>
                    <a:pt x="43" y="79"/>
                  </a:lnTo>
                  <a:lnTo>
                    <a:pt x="49" y="82"/>
                  </a:lnTo>
                  <a:lnTo>
                    <a:pt x="56" y="85"/>
                  </a:lnTo>
                  <a:lnTo>
                    <a:pt x="62" y="87"/>
                  </a:lnTo>
                  <a:lnTo>
                    <a:pt x="69" y="87"/>
                  </a:lnTo>
                  <a:lnTo>
                    <a:pt x="69" y="87"/>
                  </a:lnTo>
                  <a:lnTo>
                    <a:pt x="78" y="86"/>
                  </a:lnTo>
                  <a:lnTo>
                    <a:pt x="86" y="85"/>
                  </a:lnTo>
                  <a:lnTo>
                    <a:pt x="94" y="80"/>
                  </a:lnTo>
                  <a:lnTo>
                    <a:pt x="100" y="75"/>
                  </a:lnTo>
                  <a:lnTo>
                    <a:pt x="107" y="68"/>
                  </a:lnTo>
                  <a:lnTo>
                    <a:pt x="111" y="60"/>
                  </a:lnTo>
                  <a:lnTo>
                    <a:pt x="112" y="52"/>
                  </a:lnTo>
                  <a:lnTo>
                    <a:pt x="113" y="43"/>
                  </a:lnTo>
                  <a:lnTo>
                    <a:pt x="113" y="43"/>
                  </a:lnTo>
                  <a:lnTo>
                    <a:pt x="112" y="35"/>
                  </a:lnTo>
                  <a:lnTo>
                    <a:pt x="111" y="27"/>
                  </a:lnTo>
                  <a:lnTo>
                    <a:pt x="107" y="19"/>
                  </a:lnTo>
                  <a:lnTo>
                    <a:pt x="100" y="12"/>
                  </a:lnTo>
                  <a:lnTo>
                    <a:pt x="94" y="7"/>
                  </a:lnTo>
                  <a:lnTo>
                    <a:pt x="86" y="3"/>
                  </a:lnTo>
                  <a:lnTo>
                    <a:pt x="78" y="0"/>
                  </a:lnTo>
                  <a:lnTo>
                    <a:pt x="69" y="0"/>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59" name="Freeform 145">
              <a:extLst>
                <a:ext uri="{FF2B5EF4-FFF2-40B4-BE49-F238E27FC236}">
                  <a16:creationId xmlns:a16="http://schemas.microsoft.com/office/drawing/2014/main" id="{3EC7A9F3-6909-4907-B297-9414E9580A0C}"/>
                </a:ext>
              </a:extLst>
            </p:cNvPr>
            <p:cNvSpPr>
              <a:spLocks/>
            </p:cNvSpPr>
            <p:nvPr/>
          </p:nvSpPr>
          <p:spPr bwMode="auto">
            <a:xfrm>
              <a:off x="4279901" y="2750185"/>
              <a:ext cx="109538" cy="120650"/>
            </a:xfrm>
            <a:custGeom>
              <a:avLst/>
              <a:gdLst>
                <a:gd name="T0" fmla="*/ 69 w 138"/>
                <a:gd name="T1" fmla="*/ 0 h 150"/>
                <a:gd name="T2" fmla="*/ 69 w 138"/>
                <a:gd name="T3" fmla="*/ 0 h 150"/>
                <a:gd name="T4" fmla="*/ 55 w 138"/>
                <a:gd name="T5" fmla="*/ 1 h 150"/>
                <a:gd name="T6" fmla="*/ 43 w 138"/>
                <a:gd name="T7" fmla="*/ 5 h 150"/>
                <a:gd name="T8" fmla="*/ 30 w 138"/>
                <a:gd name="T9" fmla="*/ 12 h 150"/>
                <a:gd name="T10" fmla="*/ 20 w 138"/>
                <a:gd name="T11" fmla="*/ 20 h 150"/>
                <a:gd name="T12" fmla="*/ 12 w 138"/>
                <a:gd name="T13" fmla="*/ 31 h 150"/>
                <a:gd name="T14" fmla="*/ 5 w 138"/>
                <a:gd name="T15" fmla="*/ 41 h 150"/>
                <a:gd name="T16" fmla="*/ 1 w 138"/>
                <a:gd name="T17" fmla="*/ 55 h 150"/>
                <a:gd name="T18" fmla="*/ 0 w 138"/>
                <a:gd name="T19" fmla="*/ 68 h 150"/>
                <a:gd name="T20" fmla="*/ 0 w 138"/>
                <a:gd name="T21" fmla="*/ 82 h 150"/>
                <a:gd name="T22" fmla="*/ 0 w 138"/>
                <a:gd name="T23" fmla="*/ 82 h 150"/>
                <a:gd name="T24" fmla="*/ 1 w 138"/>
                <a:gd name="T25" fmla="*/ 95 h 150"/>
                <a:gd name="T26" fmla="*/ 5 w 138"/>
                <a:gd name="T27" fmla="*/ 109 h 150"/>
                <a:gd name="T28" fmla="*/ 12 w 138"/>
                <a:gd name="T29" fmla="*/ 121 h 150"/>
                <a:gd name="T30" fmla="*/ 20 w 138"/>
                <a:gd name="T31" fmla="*/ 130 h 150"/>
                <a:gd name="T32" fmla="*/ 30 w 138"/>
                <a:gd name="T33" fmla="*/ 140 h 150"/>
                <a:gd name="T34" fmla="*/ 43 w 138"/>
                <a:gd name="T35" fmla="*/ 145 h 150"/>
                <a:gd name="T36" fmla="*/ 55 w 138"/>
                <a:gd name="T37" fmla="*/ 149 h 150"/>
                <a:gd name="T38" fmla="*/ 69 w 138"/>
                <a:gd name="T39" fmla="*/ 150 h 150"/>
                <a:gd name="T40" fmla="*/ 69 w 138"/>
                <a:gd name="T41" fmla="*/ 150 h 150"/>
                <a:gd name="T42" fmla="*/ 83 w 138"/>
                <a:gd name="T43" fmla="*/ 149 h 150"/>
                <a:gd name="T44" fmla="*/ 96 w 138"/>
                <a:gd name="T45" fmla="*/ 145 h 150"/>
                <a:gd name="T46" fmla="*/ 108 w 138"/>
                <a:gd name="T47" fmla="*/ 140 h 150"/>
                <a:gd name="T48" fmla="*/ 118 w 138"/>
                <a:gd name="T49" fmla="*/ 130 h 150"/>
                <a:gd name="T50" fmla="*/ 127 w 138"/>
                <a:gd name="T51" fmla="*/ 121 h 150"/>
                <a:gd name="T52" fmla="*/ 133 w 138"/>
                <a:gd name="T53" fmla="*/ 109 h 150"/>
                <a:gd name="T54" fmla="*/ 137 w 138"/>
                <a:gd name="T55" fmla="*/ 95 h 150"/>
                <a:gd name="T56" fmla="*/ 138 w 138"/>
                <a:gd name="T57" fmla="*/ 82 h 150"/>
                <a:gd name="T58" fmla="*/ 138 w 138"/>
                <a:gd name="T59" fmla="*/ 68 h 150"/>
                <a:gd name="T60" fmla="*/ 138 w 138"/>
                <a:gd name="T61" fmla="*/ 68 h 150"/>
                <a:gd name="T62" fmla="*/ 137 w 138"/>
                <a:gd name="T63" fmla="*/ 55 h 150"/>
                <a:gd name="T64" fmla="*/ 133 w 138"/>
                <a:gd name="T65" fmla="*/ 41 h 150"/>
                <a:gd name="T66" fmla="*/ 127 w 138"/>
                <a:gd name="T67" fmla="*/ 31 h 150"/>
                <a:gd name="T68" fmla="*/ 118 w 138"/>
                <a:gd name="T69" fmla="*/ 20 h 150"/>
                <a:gd name="T70" fmla="*/ 108 w 138"/>
                <a:gd name="T71" fmla="*/ 12 h 150"/>
                <a:gd name="T72" fmla="*/ 96 w 138"/>
                <a:gd name="T73" fmla="*/ 5 h 150"/>
                <a:gd name="T74" fmla="*/ 83 w 138"/>
                <a:gd name="T75" fmla="*/ 1 h 150"/>
                <a:gd name="T76" fmla="*/ 69 w 138"/>
                <a:gd name="T77" fmla="*/ 0 h 150"/>
                <a:gd name="T78" fmla="*/ 69 w 138"/>
                <a:gd name="T79"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8" h="150">
                  <a:moveTo>
                    <a:pt x="69" y="0"/>
                  </a:moveTo>
                  <a:lnTo>
                    <a:pt x="69" y="0"/>
                  </a:lnTo>
                  <a:lnTo>
                    <a:pt x="55" y="1"/>
                  </a:lnTo>
                  <a:lnTo>
                    <a:pt x="43" y="5"/>
                  </a:lnTo>
                  <a:lnTo>
                    <a:pt x="30" y="12"/>
                  </a:lnTo>
                  <a:lnTo>
                    <a:pt x="20" y="20"/>
                  </a:lnTo>
                  <a:lnTo>
                    <a:pt x="12" y="31"/>
                  </a:lnTo>
                  <a:lnTo>
                    <a:pt x="5" y="41"/>
                  </a:lnTo>
                  <a:lnTo>
                    <a:pt x="1" y="55"/>
                  </a:lnTo>
                  <a:lnTo>
                    <a:pt x="0" y="68"/>
                  </a:lnTo>
                  <a:lnTo>
                    <a:pt x="0" y="82"/>
                  </a:lnTo>
                  <a:lnTo>
                    <a:pt x="0" y="82"/>
                  </a:lnTo>
                  <a:lnTo>
                    <a:pt x="1" y="95"/>
                  </a:lnTo>
                  <a:lnTo>
                    <a:pt x="5" y="109"/>
                  </a:lnTo>
                  <a:lnTo>
                    <a:pt x="12" y="121"/>
                  </a:lnTo>
                  <a:lnTo>
                    <a:pt x="20" y="130"/>
                  </a:lnTo>
                  <a:lnTo>
                    <a:pt x="30" y="140"/>
                  </a:lnTo>
                  <a:lnTo>
                    <a:pt x="43" y="145"/>
                  </a:lnTo>
                  <a:lnTo>
                    <a:pt x="55" y="149"/>
                  </a:lnTo>
                  <a:lnTo>
                    <a:pt x="69" y="150"/>
                  </a:lnTo>
                  <a:lnTo>
                    <a:pt x="69" y="150"/>
                  </a:lnTo>
                  <a:lnTo>
                    <a:pt x="83" y="149"/>
                  </a:lnTo>
                  <a:lnTo>
                    <a:pt x="96" y="145"/>
                  </a:lnTo>
                  <a:lnTo>
                    <a:pt x="108" y="140"/>
                  </a:lnTo>
                  <a:lnTo>
                    <a:pt x="118" y="130"/>
                  </a:lnTo>
                  <a:lnTo>
                    <a:pt x="127" y="121"/>
                  </a:lnTo>
                  <a:lnTo>
                    <a:pt x="133" y="109"/>
                  </a:lnTo>
                  <a:lnTo>
                    <a:pt x="137" y="95"/>
                  </a:lnTo>
                  <a:lnTo>
                    <a:pt x="138" y="82"/>
                  </a:lnTo>
                  <a:lnTo>
                    <a:pt x="138" y="68"/>
                  </a:lnTo>
                  <a:lnTo>
                    <a:pt x="138" y="68"/>
                  </a:lnTo>
                  <a:lnTo>
                    <a:pt x="137" y="55"/>
                  </a:lnTo>
                  <a:lnTo>
                    <a:pt x="133" y="41"/>
                  </a:lnTo>
                  <a:lnTo>
                    <a:pt x="127" y="31"/>
                  </a:lnTo>
                  <a:lnTo>
                    <a:pt x="118" y="20"/>
                  </a:lnTo>
                  <a:lnTo>
                    <a:pt x="108" y="12"/>
                  </a:lnTo>
                  <a:lnTo>
                    <a:pt x="96" y="5"/>
                  </a:lnTo>
                  <a:lnTo>
                    <a:pt x="83" y="1"/>
                  </a:lnTo>
                  <a:lnTo>
                    <a:pt x="69" y="0"/>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60" name="Freeform 146">
              <a:extLst>
                <a:ext uri="{FF2B5EF4-FFF2-40B4-BE49-F238E27FC236}">
                  <a16:creationId xmlns:a16="http://schemas.microsoft.com/office/drawing/2014/main" id="{6B82D2CD-A9B2-463D-9299-4B6ECF1FC05A}"/>
                </a:ext>
              </a:extLst>
            </p:cNvPr>
            <p:cNvSpPr>
              <a:spLocks/>
            </p:cNvSpPr>
            <p:nvPr/>
          </p:nvSpPr>
          <p:spPr bwMode="auto">
            <a:xfrm>
              <a:off x="4240213" y="2858135"/>
              <a:ext cx="190500" cy="61913"/>
            </a:xfrm>
            <a:custGeom>
              <a:avLst/>
              <a:gdLst>
                <a:gd name="T0" fmla="*/ 119 w 239"/>
                <a:gd name="T1" fmla="*/ 28 h 77"/>
                <a:gd name="T2" fmla="*/ 119 w 239"/>
                <a:gd name="T3" fmla="*/ 28 h 77"/>
                <a:gd name="T4" fmla="*/ 110 w 239"/>
                <a:gd name="T5" fmla="*/ 26 h 77"/>
                <a:gd name="T6" fmla="*/ 101 w 239"/>
                <a:gd name="T7" fmla="*/ 25 h 77"/>
                <a:gd name="T8" fmla="*/ 93 w 239"/>
                <a:gd name="T9" fmla="*/ 24 h 77"/>
                <a:gd name="T10" fmla="*/ 84 w 239"/>
                <a:gd name="T11" fmla="*/ 20 h 77"/>
                <a:gd name="T12" fmla="*/ 76 w 239"/>
                <a:gd name="T13" fmla="*/ 16 h 77"/>
                <a:gd name="T14" fmla="*/ 70 w 239"/>
                <a:gd name="T15" fmla="*/ 10 h 77"/>
                <a:gd name="T16" fmla="*/ 63 w 239"/>
                <a:gd name="T17" fmla="*/ 5 h 77"/>
                <a:gd name="T18" fmla="*/ 58 w 239"/>
                <a:gd name="T19" fmla="*/ 0 h 77"/>
                <a:gd name="T20" fmla="*/ 2 w 239"/>
                <a:gd name="T21" fmla="*/ 28 h 77"/>
                <a:gd name="T22" fmla="*/ 2 w 239"/>
                <a:gd name="T23" fmla="*/ 28 h 77"/>
                <a:gd name="T24" fmla="*/ 0 w 239"/>
                <a:gd name="T25" fmla="*/ 30 h 77"/>
                <a:gd name="T26" fmla="*/ 0 w 239"/>
                <a:gd name="T27" fmla="*/ 34 h 77"/>
                <a:gd name="T28" fmla="*/ 0 w 239"/>
                <a:gd name="T29" fmla="*/ 72 h 77"/>
                <a:gd name="T30" fmla="*/ 0 w 239"/>
                <a:gd name="T31" fmla="*/ 72 h 77"/>
                <a:gd name="T32" fmla="*/ 0 w 239"/>
                <a:gd name="T33" fmla="*/ 73 h 77"/>
                <a:gd name="T34" fmla="*/ 1 w 239"/>
                <a:gd name="T35" fmla="*/ 76 h 77"/>
                <a:gd name="T36" fmla="*/ 4 w 239"/>
                <a:gd name="T37" fmla="*/ 77 h 77"/>
                <a:gd name="T38" fmla="*/ 5 w 239"/>
                <a:gd name="T39" fmla="*/ 77 h 77"/>
                <a:gd name="T40" fmla="*/ 232 w 239"/>
                <a:gd name="T41" fmla="*/ 77 h 77"/>
                <a:gd name="T42" fmla="*/ 232 w 239"/>
                <a:gd name="T43" fmla="*/ 77 h 77"/>
                <a:gd name="T44" fmla="*/ 235 w 239"/>
                <a:gd name="T45" fmla="*/ 77 h 77"/>
                <a:gd name="T46" fmla="*/ 236 w 239"/>
                <a:gd name="T47" fmla="*/ 76 h 77"/>
                <a:gd name="T48" fmla="*/ 238 w 239"/>
                <a:gd name="T49" fmla="*/ 73 h 77"/>
                <a:gd name="T50" fmla="*/ 239 w 239"/>
                <a:gd name="T51" fmla="*/ 72 h 77"/>
                <a:gd name="T52" fmla="*/ 239 w 239"/>
                <a:gd name="T53" fmla="*/ 34 h 77"/>
                <a:gd name="T54" fmla="*/ 239 w 239"/>
                <a:gd name="T55" fmla="*/ 34 h 77"/>
                <a:gd name="T56" fmla="*/ 238 w 239"/>
                <a:gd name="T57" fmla="*/ 30 h 77"/>
                <a:gd name="T58" fmla="*/ 235 w 239"/>
                <a:gd name="T59" fmla="*/ 28 h 77"/>
                <a:gd name="T60" fmla="*/ 181 w 239"/>
                <a:gd name="T61" fmla="*/ 0 h 77"/>
                <a:gd name="T62" fmla="*/ 181 w 239"/>
                <a:gd name="T63" fmla="*/ 0 h 77"/>
                <a:gd name="T64" fmla="*/ 175 w 239"/>
                <a:gd name="T65" fmla="*/ 5 h 77"/>
                <a:gd name="T66" fmla="*/ 168 w 239"/>
                <a:gd name="T67" fmla="*/ 10 h 77"/>
                <a:gd name="T68" fmla="*/ 161 w 239"/>
                <a:gd name="T69" fmla="*/ 16 h 77"/>
                <a:gd name="T70" fmla="*/ 153 w 239"/>
                <a:gd name="T71" fmla="*/ 20 h 77"/>
                <a:gd name="T72" fmla="*/ 145 w 239"/>
                <a:gd name="T73" fmla="*/ 24 h 77"/>
                <a:gd name="T74" fmla="*/ 137 w 239"/>
                <a:gd name="T75" fmla="*/ 25 h 77"/>
                <a:gd name="T76" fmla="*/ 129 w 239"/>
                <a:gd name="T77" fmla="*/ 26 h 77"/>
                <a:gd name="T78" fmla="*/ 119 w 239"/>
                <a:gd name="T79" fmla="*/ 28 h 77"/>
                <a:gd name="T80" fmla="*/ 119 w 239"/>
                <a:gd name="T81" fmla="*/ 2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9" h="77">
                  <a:moveTo>
                    <a:pt x="119" y="28"/>
                  </a:moveTo>
                  <a:lnTo>
                    <a:pt x="119" y="28"/>
                  </a:lnTo>
                  <a:lnTo>
                    <a:pt x="110" y="26"/>
                  </a:lnTo>
                  <a:lnTo>
                    <a:pt x="101" y="25"/>
                  </a:lnTo>
                  <a:lnTo>
                    <a:pt x="93" y="24"/>
                  </a:lnTo>
                  <a:lnTo>
                    <a:pt x="84" y="20"/>
                  </a:lnTo>
                  <a:lnTo>
                    <a:pt x="76" y="16"/>
                  </a:lnTo>
                  <a:lnTo>
                    <a:pt x="70" y="10"/>
                  </a:lnTo>
                  <a:lnTo>
                    <a:pt x="63" y="5"/>
                  </a:lnTo>
                  <a:lnTo>
                    <a:pt x="58" y="0"/>
                  </a:lnTo>
                  <a:lnTo>
                    <a:pt x="2" y="28"/>
                  </a:lnTo>
                  <a:lnTo>
                    <a:pt x="2" y="28"/>
                  </a:lnTo>
                  <a:lnTo>
                    <a:pt x="0" y="30"/>
                  </a:lnTo>
                  <a:lnTo>
                    <a:pt x="0" y="34"/>
                  </a:lnTo>
                  <a:lnTo>
                    <a:pt x="0" y="72"/>
                  </a:lnTo>
                  <a:lnTo>
                    <a:pt x="0" y="72"/>
                  </a:lnTo>
                  <a:lnTo>
                    <a:pt x="0" y="73"/>
                  </a:lnTo>
                  <a:lnTo>
                    <a:pt x="1" y="76"/>
                  </a:lnTo>
                  <a:lnTo>
                    <a:pt x="4" y="77"/>
                  </a:lnTo>
                  <a:lnTo>
                    <a:pt x="5" y="77"/>
                  </a:lnTo>
                  <a:lnTo>
                    <a:pt x="232" y="77"/>
                  </a:lnTo>
                  <a:lnTo>
                    <a:pt x="232" y="77"/>
                  </a:lnTo>
                  <a:lnTo>
                    <a:pt x="235" y="77"/>
                  </a:lnTo>
                  <a:lnTo>
                    <a:pt x="236" y="76"/>
                  </a:lnTo>
                  <a:lnTo>
                    <a:pt x="238" y="73"/>
                  </a:lnTo>
                  <a:lnTo>
                    <a:pt x="239" y="72"/>
                  </a:lnTo>
                  <a:lnTo>
                    <a:pt x="239" y="34"/>
                  </a:lnTo>
                  <a:lnTo>
                    <a:pt x="239" y="34"/>
                  </a:lnTo>
                  <a:lnTo>
                    <a:pt x="238" y="30"/>
                  </a:lnTo>
                  <a:lnTo>
                    <a:pt x="235" y="28"/>
                  </a:lnTo>
                  <a:lnTo>
                    <a:pt x="181" y="0"/>
                  </a:lnTo>
                  <a:lnTo>
                    <a:pt x="181" y="0"/>
                  </a:lnTo>
                  <a:lnTo>
                    <a:pt x="175" y="5"/>
                  </a:lnTo>
                  <a:lnTo>
                    <a:pt x="168" y="10"/>
                  </a:lnTo>
                  <a:lnTo>
                    <a:pt x="161" y="16"/>
                  </a:lnTo>
                  <a:lnTo>
                    <a:pt x="153" y="20"/>
                  </a:lnTo>
                  <a:lnTo>
                    <a:pt x="145" y="24"/>
                  </a:lnTo>
                  <a:lnTo>
                    <a:pt x="137" y="25"/>
                  </a:lnTo>
                  <a:lnTo>
                    <a:pt x="129" y="26"/>
                  </a:lnTo>
                  <a:lnTo>
                    <a:pt x="119" y="28"/>
                  </a:lnTo>
                  <a:lnTo>
                    <a:pt x="119"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grpSp>
      <p:sp>
        <p:nvSpPr>
          <p:cNvPr id="61" name="Rectangle 60">
            <a:extLst>
              <a:ext uri="{FF2B5EF4-FFF2-40B4-BE49-F238E27FC236}">
                <a16:creationId xmlns:a16="http://schemas.microsoft.com/office/drawing/2014/main" id="{E204AC4D-9BDB-4697-A14B-1C24025D7800}"/>
              </a:ext>
            </a:extLst>
          </p:cNvPr>
          <p:cNvSpPr/>
          <p:nvPr/>
        </p:nvSpPr>
        <p:spPr>
          <a:xfrm>
            <a:off x="10257825" y="3283097"/>
            <a:ext cx="1031409" cy="415498"/>
          </a:xfrm>
          <a:prstGeom prst="rect">
            <a:avLst/>
          </a:prstGeom>
          <a:noFill/>
          <a:ln w="19050" cap="flat" cmpd="sng" algn="ctr">
            <a:noFill/>
            <a:prstDash val="solid"/>
          </a:ln>
          <a:effectLst/>
        </p:spPr>
        <p:txBody>
          <a:bodyPr wrap="square" lIns="45720" tIns="0" rIns="45720" bIns="0" rtlCol="0" anchor="ctr">
            <a:spAutoFit/>
          </a:bodyPr>
          <a:lstStyle>
            <a:defPPr>
              <a:defRPr lang="en-US"/>
            </a:defPPr>
            <a:lvl1pPr algn="ctr" rtl="0" fontAlgn="base">
              <a:spcBef>
                <a:spcPct val="20000"/>
              </a:spcBef>
              <a:spcAft>
                <a:spcPct val="0"/>
              </a:spcAft>
              <a:defRPr sz="1100" b="1" kern="1200">
                <a:solidFill>
                  <a:schemeClr val="lt1"/>
                </a:solidFill>
                <a:latin typeface="+mn-lt"/>
                <a:ea typeface="+mn-ea"/>
                <a:cs typeface="+mn-cs"/>
              </a:defRPr>
            </a:lvl1pPr>
            <a:lvl2pPr marL="457200" algn="ctr" rtl="0" fontAlgn="base">
              <a:spcBef>
                <a:spcPct val="20000"/>
              </a:spcBef>
              <a:spcAft>
                <a:spcPct val="0"/>
              </a:spcAft>
              <a:defRPr sz="1100" b="1" kern="1200">
                <a:solidFill>
                  <a:schemeClr val="lt1"/>
                </a:solidFill>
                <a:latin typeface="+mn-lt"/>
                <a:ea typeface="+mn-ea"/>
                <a:cs typeface="+mn-cs"/>
              </a:defRPr>
            </a:lvl2pPr>
            <a:lvl3pPr marL="914400" algn="ctr" rtl="0" fontAlgn="base">
              <a:spcBef>
                <a:spcPct val="20000"/>
              </a:spcBef>
              <a:spcAft>
                <a:spcPct val="0"/>
              </a:spcAft>
              <a:defRPr sz="1100" b="1" kern="1200">
                <a:solidFill>
                  <a:schemeClr val="lt1"/>
                </a:solidFill>
                <a:latin typeface="+mn-lt"/>
                <a:ea typeface="+mn-ea"/>
                <a:cs typeface="+mn-cs"/>
              </a:defRPr>
            </a:lvl3pPr>
            <a:lvl4pPr marL="1371600" algn="ctr" rtl="0" fontAlgn="base">
              <a:spcBef>
                <a:spcPct val="20000"/>
              </a:spcBef>
              <a:spcAft>
                <a:spcPct val="0"/>
              </a:spcAft>
              <a:defRPr sz="1100" b="1" kern="1200">
                <a:solidFill>
                  <a:schemeClr val="lt1"/>
                </a:solidFill>
                <a:latin typeface="+mn-lt"/>
                <a:ea typeface="+mn-ea"/>
                <a:cs typeface="+mn-cs"/>
              </a:defRPr>
            </a:lvl4pPr>
            <a:lvl5pPr marL="1828800" algn="ctr" rtl="0" fontAlgn="base">
              <a:spcBef>
                <a:spcPct val="20000"/>
              </a:spcBef>
              <a:spcAft>
                <a:spcPct val="0"/>
              </a:spcAft>
              <a:defRPr sz="1100" b="1" kern="1200">
                <a:solidFill>
                  <a:schemeClr val="lt1"/>
                </a:solidFill>
                <a:latin typeface="+mn-lt"/>
                <a:ea typeface="+mn-ea"/>
                <a:cs typeface="+mn-cs"/>
              </a:defRPr>
            </a:lvl5pPr>
            <a:lvl6pPr marL="2286000" algn="l" defTabSz="914400" rtl="0" eaLnBrk="1" latinLnBrk="0" hangingPunct="1">
              <a:defRPr sz="1100" b="1" kern="1200">
                <a:solidFill>
                  <a:schemeClr val="lt1"/>
                </a:solidFill>
                <a:latin typeface="+mn-lt"/>
                <a:ea typeface="+mn-ea"/>
                <a:cs typeface="+mn-cs"/>
              </a:defRPr>
            </a:lvl6pPr>
            <a:lvl7pPr marL="2743200" algn="l" defTabSz="914400" rtl="0" eaLnBrk="1" latinLnBrk="0" hangingPunct="1">
              <a:defRPr sz="1100" b="1" kern="1200">
                <a:solidFill>
                  <a:schemeClr val="lt1"/>
                </a:solidFill>
                <a:latin typeface="+mn-lt"/>
                <a:ea typeface="+mn-ea"/>
                <a:cs typeface="+mn-cs"/>
              </a:defRPr>
            </a:lvl7pPr>
            <a:lvl8pPr marL="3200400" algn="l" defTabSz="914400" rtl="0" eaLnBrk="1" latinLnBrk="0" hangingPunct="1">
              <a:defRPr sz="1100" b="1" kern="1200">
                <a:solidFill>
                  <a:schemeClr val="lt1"/>
                </a:solidFill>
                <a:latin typeface="+mn-lt"/>
                <a:ea typeface="+mn-ea"/>
                <a:cs typeface="+mn-cs"/>
              </a:defRPr>
            </a:lvl8pPr>
            <a:lvl9pPr marL="3657600" algn="l" defTabSz="914400" rtl="0" eaLnBrk="1" latinLnBrk="0" hangingPunct="1">
              <a:defRPr sz="1100" b="1"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j-lt"/>
                <a:ea typeface="Arial" charset="0"/>
                <a:cs typeface="Arial" charset="0"/>
              </a:rPr>
              <a:t>Ad Hoc,</a:t>
            </a:r>
            <a:r>
              <a:rPr kumimoji="0" lang="en-US" sz="900" b="0" i="0" u="none" strike="noStrike" kern="1200" cap="none" spc="0" normalizeH="0" noProof="0" dirty="0">
                <a:ln>
                  <a:noFill/>
                </a:ln>
                <a:solidFill>
                  <a:srgbClr val="000000"/>
                </a:solidFill>
                <a:effectLst/>
                <a:uLnTx/>
                <a:uFillTx/>
                <a:latin typeface="+mj-lt"/>
                <a:ea typeface="Arial" charset="0"/>
                <a:cs typeface="Arial" charset="0"/>
              </a:rPr>
              <a:t> </a:t>
            </a:r>
            <a:r>
              <a:rPr kumimoji="0" lang="en-US" sz="900" b="0" i="0" u="none" strike="noStrike" kern="1200" cap="none" spc="0" normalizeH="0" baseline="0" noProof="0" dirty="0">
                <a:ln>
                  <a:noFill/>
                </a:ln>
                <a:solidFill>
                  <a:srgbClr val="000000"/>
                </a:solidFill>
                <a:effectLst/>
                <a:uLnTx/>
                <a:uFillTx/>
                <a:latin typeface="+mj-lt"/>
                <a:ea typeface="Arial" charset="0"/>
                <a:cs typeface="Arial" charset="0"/>
              </a:rPr>
              <a:t>Self Serve &amp; Interactive </a:t>
            </a:r>
          </a:p>
        </p:txBody>
      </p:sp>
      <p:sp>
        <p:nvSpPr>
          <p:cNvPr id="62" name="Oval 61">
            <a:extLst>
              <a:ext uri="{FF2B5EF4-FFF2-40B4-BE49-F238E27FC236}">
                <a16:creationId xmlns:a16="http://schemas.microsoft.com/office/drawing/2014/main" id="{99BAABF4-D00B-436C-A1B4-A53D06A026B2}"/>
              </a:ext>
            </a:extLst>
          </p:cNvPr>
          <p:cNvSpPr/>
          <p:nvPr/>
        </p:nvSpPr>
        <p:spPr>
          <a:xfrm>
            <a:off x="9724765" y="1805076"/>
            <a:ext cx="182880" cy="182880"/>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mj-lt"/>
                <a:ea typeface="+mn-ea"/>
                <a:cs typeface="+mn-cs"/>
              </a:rPr>
              <a:t>1</a:t>
            </a:r>
          </a:p>
        </p:txBody>
      </p:sp>
      <p:sp>
        <p:nvSpPr>
          <p:cNvPr id="63" name="Oval 62">
            <a:extLst>
              <a:ext uri="{FF2B5EF4-FFF2-40B4-BE49-F238E27FC236}">
                <a16:creationId xmlns:a16="http://schemas.microsoft.com/office/drawing/2014/main" id="{93299873-3CFD-4C78-AE13-092DBFEF4656}"/>
              </a:ext>
            </a:extLst>
          </p:cNvPr>
          <p:cNvSpPr/>
          <p:nvPr/>
        </p:nvSpPr>
        <p:spPr>
          <a:xfrm>
            <a:off x="9722088" y="2151012"/>
            <a:ext cx="182880" cy="182880"/>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0" dirty="0">
                <a:solidFill>
                  <a:srgbClr val="FFFFFF"/>
                </a:solidFill>
                <a:latin typeface="+mj-lt"/>
              </a:rPr>
              <a:t>2</a:t>
            </a:r>
            <a:endParaRPr kumimoji="0" lang="en-US" sz="900" b="1" i="0" u="none" strike="noStrike" kern="0" cap="none" spc="0" normalizeH="0" baseline="0" noProof="0" dirty="0">
              <a:ln>
                <a:noFill/>
              </a:ln>
              <a:solidFill>
                <a:srgbClr val="FFFFFF"/>
              </a:solidFill>
              <a:effectLst/>
              <a:uLnTx/>
              <a:uFillTx/>
              <a:latin typeface="+mj-lt"/>
              <a:ea typeface="+mn-ea"/>
              <a:cs typeface="+mn-cs"/>
            </a:endParaRPr>
          </a:p>
        </p:txBody>
      </p:sp>
      <p:sp>
        <p:nvSpPr>
          <p:cNvPr id="64" name="Oval 63">
            <a:extLst>
              <a:ext uri="{FF2B5EF4-FFF2-40B4-BE49-F238E27FC236}">
                <a16:creationId xmlns:a16="http://schemas.microsoft.com/office/drawing/2014/main" id="{EA4238C5-11DD-4C8C-94F7-08C6E2B0B0C6}"/>
              </a:ext>
            </a:extLst>
          </p:cNvPr>
          <p:cNvSpPr/>
          <p:nvPr/>
        </p:nvSpPr>
        <p:spPr>
          <a:xfrm>
            <a:off x="9722088" y="2744064"/>
            <a:ext cx="182880" cy="182880"/>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mj-lt"/>
                <a:ea typeface="+mn-ea"/>
                <a:cs typeface="+mn-cs"/>
              </a:rPr>
              <a:t>3</a:t>
            </a:r>
          </a:p>
        </p:txBody>
      </p:sp>
      <p:sp>
        <p:nvSpPr>
          <p:cNvPr id="65" name="Oval 64">
            <a:extLst>
              <a:ext uri="{FF2B5EF4-FFF2-40B4-BE49-F238E27FC236}">
                <a16:creationId xmlns:a16="http://schemas.microsoft.com/office/drawing/2014/main" id="{7B2FF929-1D20-4688-A391-C1C642379259}"/>
              </a:ext>
            </a:extLst>
          </p:cNvPr>
          <p:cNvSpPr/>
          <p:nvPr/>
        </p:nvSpPr>
        <p:spPr>
          <a:xfrm>
            <a:off x="9745446" y="3150356"/>
            <a:ext cx="182880" cy="182880"/>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mj-lt"/>
                <a:ea typeface="+mn-ea"/>
                <a:cs typeface="+mn-cs"/>
              </a:rPr>
              <a:t>4</a:t>
            </a:r>
          </a:p>
        </p:txBody>
      </p:sp>
      <p:cxnSp>
        <p:nvCxnSpPr>
          <p:cNvPr id="86" name="Elbow Connector 2056">
            <a:extLst>
              <a:ext uri="{FF2B5EF4-FFF2-40B4-BE49-F238E27FC236}">
                <a16:creationId xmlns:a16="http://schemas.microsoft.com/office/drawing/2014/main" id="{88417708-C053-431F-A24C-56E584807523}"/>
              </a:ext>
            </a:extLst>
          </p:cNvPr>
          <p:cNvCxnSpPr>
            <a:endCxn id="51" idx="2"/>
          </p:cNvCxnSpPr>
          <p:nvPr/>
        </p:nvCxnSpPr>
        <p:spPr>
          <a:xfrm flipV="1">
            <a:off x="6734067" y="2550125"/>
            <a:ext cx="2122621" cy="574640"/>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Rounded Rectangle 38">
            <a:extLst>
              <a:ext uri="{FF2B5EF4-FFF2-40B4-BE49-F238E27FC236}">
                <a16:creationId xmlns:a16="http://schemas.microsoft.com/office/drawing/2014/main" id="{51FE3BD5-15E1-4DFE-B898-6DECE48B5DD8}"/>
              </a:ext>
            </a:extLst>
          </p:cNvPr>
          <p:cNvSpPr/>
          <p:nvPr/>
        </p:nvSpPr>
        <p:spPr>
          <a:xfrm>
            <a:off x="7367733" y="2663255"/>
            <a:ext cx="1832901" cy="178096"/>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latin typeface="+mj-lt"/>
              </a:rPr>
              <a:t>NoSQL/Graph</a:t>
            </a:r>
          </a:p>
        </p:txBody>
      </p:sp>
      <p:sp>
        <p:nvSpPr>
          <p:cNvPr id="104" name="Rounded Rectangle 40">
            <a:extLst>
              <a:ext uri="{FF2B5EF4-FFF2-40B4-BE49-F238E27FC236}">
                <a16:creationId xmlns:a16="http://schemas.microsoft.com/office/drawing/2014/main" id="{7E55B65C-71EB-40D8-9B2A-584A454C6EF2}"/>
              </a:ext>
            </a:extLst>
          </p:cNvPr>
          <p:cNvSpPr/>
          <p:nvPr/>
        </p:nvSpPr>
        <p:spPr>
          <a:xfrm>
            <a:off x="7367735" y="3424841"/>
            <a:ext cx="889046" cy="26391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800" dirty="0">
              <a:latin typeface="+mj-lt"/>
            </a:endParaRPr>
          </a:p>
        </p:txBody>
      </p:sp>
      <p:sp>
        <p:nvSpPr>
          <p:cNvPr id="105" name="TextBox 104">
            <a:extLst>
              <a:ext uri="{FF2B5EF4-FFF2-40B4-BE49-F238E27FC236}">
                <a16:creationId xmlns:a16="http://schemas.microsoft.com/office/drawing/2014/main" id="{B9A0C632-2E3E-4F48-9A84-3509DB4105E7}"/>
              </a:ext>
            </a:extLst>
          </p:cNvPr>
          <p:cNvSpPr txBox="1"/>
          <p:nvPr/>
        </p:nvSpPr>
        <p:spPr bwMode="gray">
          <a:xfrm>
            <a:off x="7501754" y="3419881"/>
            <a:ext cx="692618" cy="298548"/>
          </a:xfrm>
          <a:prstGeom prst="rect">
            <a:avLst/>
          </a:prstGeom>
          <a:noFill/>
        </p:spPr>
        <p:txBody>
          <a:bodyPr wrap="square" lIns="0" rIns="0" rtlCol="0" anchor="b" anchorCtr="0">
            <a:noAutofit/>
          </a:bodyPr>
          <a:lstStyle/>
          <a:p>
            <a:pPr>
              <a:lnSpc>
                <a:spcPts val="900"/>
              </a:lnSpc>
            </a:pPr>
            <a:r>
              <a:rPr lang="en-US" sz="800" dirty="0">
                <a:solidFill>
                  <a:schemeClr val="bg1"/>
                </a:solidFill>
                <a:latin typeface="+mj-lt"/>
              </a:rPr>
              <a:t>Discovery/ Search</a:t>
            </a:r>
          </a:p>
        </p:txBody>
      </p:sp>
      <p:sp>
        <p:nvSpPr>
          <p:cNvPr id="106" name="TextBox 105">
            <a:extLst>
              <a:ext uri="{FF2B5EF4-FFF2-40B4-BE49-F238E27FC236}">
                <a16:creationId xmlns:a16="http://schemas.microsoft.com/office/drawing/2014/main" id="{7751401B-1097-4EF0-B848-828C26BB2562}"/>
              </a:ext>
            </a:extLst>
          </p:cNvPr>
          <p:cNvSpPr txBox="1"/>
          <p:nvPr/>
        </p:nvSpPr>
        <p:spPr bwMode="gray">
          <a:xfrm>
            <a:off x="8340220" y="3401204"/>
            <a:ext cx="979213" cy="319943"/>
          </a:xfrm>
          <a:prstGeom prst="rect">
            <a:avLst/>
          </a:prstGeom>
        </p:spPr>
        <p:txBody>
          <a:bodyPr wrap="square" lIns="0" rIns="0" rtlCol="0" anchor="b" anchorCtr="0">
            <a:normAutofit/>
          </a:bodyPr>
          <a:lstStyle/>
          <a:p>
            <a:pPr algn="ctr"/>
            <a:endParaRPr lang="en-US" sz="900" dirty="0">
              <a:solidFill>
                <a:schemeClr val="bg1"/>
              </a:solidFill>
              <a:latin typeface="+mj-lt"/>
            </a:endParaRPr>
          </a:p>
        </p:txBody>
      </p:sp>
      <p:sp>
        <p:nvSpPr>
          <p:cNvPr id="108" name="Rectangle: Rounded Corners 107">
            <a:extLst>
              <a:ext uri="{FF2B5EF4-FFF2-40B4-BE49-F238E27FC236}">
                <a16:creationId xmlns:a16="http://schemas.microsoft.com/office/drawing/2014/main" id="{E5BAE1C7-4699-427F-B979-BE635C5185F3}"/>
              </a:ext>
            </a:extLst>
          </p:cNvPr>
          <p:cNvSpPr/>
          <p:nvPr/>
        </p:nvSpPr>
        <p:spPr bwMode="gray">
          <a:xfrm>
            <a:off x="8304041" y="3422810"/>
            <a:ext cx="1076886" cy="256746"/>
          </a:xfrm>
          <a:prstGeom prst="roundRect">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solidFill>
                  <a:schemeClr val="lt1"/>
                </a:solidFill>
                <a:latin typeface="+mj-lt"/>
              </a:rPr>
              <a:t>Mining/</a:t>
            </a:r>
          </a:p>
          <a:p>
            <a:pPr algn="ctr"/>
            <a:r>
              <a:rPr lang="en-US" sz="800" dirty="0">
                <a:solidFill>
                  <a:schemeClr val="lt1"/>
                </a:solidFill>
                <a:latin typeface="+mj-lt"/>
              </a:rPr>
              <a:t>Predictive</a:t>
            </a:r>
          </a:p>
        </p:txBody>
      </p:sp>
      <p:sp>
        <p:nvSpPr>
          <p:cNvPr id="109" name="TextBox 108">
            <a:extLst>
              <a:ext uri="{FF2B5EF4-FFF2-40B4-BE49-F238E27FC236}">
                <a16:creationId xmlns:a16="http://schemas.microsoft.com/office/drawing/2014/main" id="{FFC2ED4F-3BCC-4EA6-8097-991B346191A9}"/>
              </a:ext>
            </a:extLst>
          </p:cNvPr>
          <p:cNvSpPr txBox="1"/>
          <p:nvPr/>
        </p:nvSpPr>
        <p:spPr bwMode="gray">
          <a:xfrm>
            <a:off x="5708593" y="1633239"/>
            <a:ext cx="1185125" cy="156336"/>
          </a:xfrm>
          <a:prstGeom prst="rect">
            <a:avLst/>
          </a:prstGeom>
        </p:spPr>
        <p:txBody>
          <a:bodyPr wrap="square" lIns="0" rIns="0" rtlCol="0" anchor="b" anchorCtr="0">
            <a:noAutofit/>
          </a:bodyPr>
          <a:lstStyle/>
          <a:p>
            <a:pPr>
              <a:lnSpc>
                <a:spcPts val="900"/>
              </a:lnSpc>
            </a:pPr>
            <a:r>
              <a:rPr lang="en-US" sz="900" dirty="0">
                <a:solidFill>
                  <a:schemeClr val="bg1"/>
                </a:solidFill>
                <a:latin typeface="+mj-lt"/>
              </a:rPr>
              <a:t>Data Lake</a:t>
            </a:r>
            <a:endParaRPr lang="en-US" sz="900" b="1" dirty="0">
              <a:solidFill>
                <a:schemeClr val="bg1"/>
              </a:solidFill>
              <a:latin typeface="+mj-lt"/>
            </a:endParaRPr>
          </a:p>
        </p:txBody>
      </p:sp>
      <p:sp>
        <p:nvSpPr>
          <p:cNvPr id="110" name="TextBox 109">
            <a:extLst>
              <a:ext uri="{FF2B5EF4-FFF2-40B4-BE49-F238E27FC236}">
                <a16:creationId xmlns:a16="http://schemas.microsoft.com/office/drawing/2014/main" id="{579464F8-F540-4259-AF11-36D763458762}"/>
              </a:ext>
            </a:extLst>
          </p:cNvPr>
          <p:cNvSpPr txBox="1"/>
          <p:nvPr/>
        </p:nvSpPr>
        <p:spPr bwMode="gray">
          <a:xfrm>
            <a:off x="7465433" y="1536437"/>
            <a:ext cx="1582695" cy="278650"/>
          </a:xfrm>
          <a:prstGeom prst="rect">
            <a:avLst/>
          </a:prstGeom>
        </p:spPr>
        <p:txBody>
          <a:bodyPr wrap="square" lIns="0" rIns="0" rtlCol="0" anchor="b" anchorCtr="0">
            <a:normAutofit/>
          </a:bodyPr>
          <a:lstStyle/>
          <a:p>
            <a:r>
              <a:rPr lang="en-US" sz="900" dirty="0">
                <a:solidFill>
                  <a:schemeClr val="bg1"/>
                </a:solidFill>
                <a:latin typeface="+mj-lt"/>
              </a:rPr>
              <a:t>Data Store &amp; Marts</a:t>
            </a:r>
          </a:p>
        </p:txBody>
      </p:sp>
    </p:spTree>
    <p:extLst>
      <p:ext uri="{BB962C8B-B14F-4D97-AF65-F5344CB8AC3E}">
        <p14:creationId xmlns:p14="http://schemas.microsoft.com/office/powerpoint/2010/main" val="305075259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C93AD0-9726-428B-86EA-1D71026E2A45}"/>
              </a:ext>
            </a:extLst>
          </p:cNvPr>
          <p:cNvSpPr>
            <a:spLocks noGrp="1"/>
          </p:cNvSpPr>
          <p:nvPr>
            <p:ph type="title"/>
          </p:nvPr>
        </p:nvSpPr>
        <p:spPr/>
        <p:txBody>
          <a:bodyPr/>
          <a:lstStyle/>
          <a:p>
            <a:r>
              <a:rPr lang="en-US" dirty="0"/>
              <a:t>Real time analytics consumption pattern</a:t>
            </a:r>
          </a:p>
        </p:txBody>
      </p:sp>
      <p:sp>
        <p:nvSpPr>
          <p:cNvPr id="45" name="Rectangle 44">
            <a:extLst>
              <a:ext uri="{FF2B5EF4-FFF2-40B4-BE49-F238E27FC236}">
                <a16:creationId xmlns:a16="http://schemas.microsoft.com/office/drawing/2014/main" id="{D05F1F16-E7BA-4803-8E75-DC9E370F144C}"/>
              </a:ext>
            </a:extLst>
          </p:cNvPr>
          <p:cNvSpPr/>
          <p:nvPr/>
        </p:nvSpPr>
        <p:spPr>
          <a:xfrm>
            <a:off x="469900" y="4652877"/>
            <a:ext cx="11252200" cy="1627829"/>
          </a:xfrm>
          <a:prstGeom prst="rect">
            <a:avLst/>
          </a:prstGeom>
          <a:noFill/>
          <a:ln w="1270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Open Sans"/>
              <a:ea typeface="+mn-ea"/>
              <a:cs typeface="+mn-cs"/>
            </a:endParaRPr>
          </a:p>
        </p:txBody>
      </p:sp>
      <p:grpSp>
        <p:nvGrpSpPr>
          <p:cNvPr id="46" name="Group 45">
            <a:extLst>
              <a:ext uri="{FF2B5EF4-FFF2-40B4-BE49-F238E27FC236}">
                <a16:creationId xmlns:a16="http://schemas.microsoft.com/office/drawing/2014/main" id="{737B2BC4-9EF5-4F29-997F-65290BCB6389}"/>
              </a:ext>
            </a:extLst>
          </p:cNvPr>
          <p:cNvGrpSpPr/>
          <p:nvPr/>
        </p:nvGrpSpPr>
        <p:grpSpPr>
          <a:xfrm>
            <a:off x="8547869" y="4727228"/>
            <a:ext cx="2960959" cy="805480"/>
            <a:chOff x="3209173" y="5713648"/>
            <a:chExt cx="1786637" cy="531802"/>
          </a:xfrm>
          <a:noFill/>
        </p:grpSpPr>
        <p:sp>
          <p:nvSpPr>
            <p:cNvPr id="47" name="Rectangle 46">
              <a:extLst>
                <a:ext uri="{FF2B5EF4-FFF2-40B4-BE49-F238E27FC236}">
                  <a16:creationId xmlns:a16="http://schemas.microsoft.com/office/drawing/2014/main" id="{C6183F33-EE29-4089-AABB-63D1C4F357F5}"/>
                </a:ext>
              </a:extLst>
            </p:cNvPr>
            <p:cNvSpPr/>
            <p:nvPr/>
          </p:nvSpPr>
          <p:spPr>
            <a:xfrm>
              <a:off x="3209173" y="5713648"/>
              <a:ext cx="1694495" cy="256426"/>
            </a:xfrm>
            <a:prstGeom prst="rect">
              <a:avLst/>
            </a:prstGeom>
            <a:grpFill/>
          </p:spPr>
          <p:txBody>
            <a:bodyPr wrap="square"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700" b="1" i="0" u="none" strike="noStrike" kern="0" normalizeH="0" baseline="0" noProof="0" dirty="0">
                  <a:uLnTx/>
                  <a:uFillTx/>
                  <a:latin typeface="+mj-lt"/>
                  <a:ea typeface="Nexa Black" charset="0"/>
                  <a:cs typeface="Nexa Black" charset="0"/>
                </a:rPr>
                <a:t>3. Operational</a:t>
              </a:r>
              <a:r>
                <a:rPr kumimoji="0" lang="en-US" sz="700" b="1" i="0" u="none" strike="noStrike" kern="0" normalizeH="0" noProof="0" dirty="0">
                  <a:uLnTx/>
                  <a:uFillTx/>
                  <a:latin typeface="+mj-lt"/>
                  <a:ea typeface="Nexa Black" charset="0"/>
                  <a:cs typeface="Nexa Black" charset="0"/>
                </a:rPr>
                <a:t> analytics</a:t>
              </a:r>
              <a:r>
                <a:rPr kumimoji="0" lang="en-US" sz="700" b="1" i="0" u="none" strike="noStrike" kern="0" normalizeH="0" baseline="0" noProof="0" dirty="0">
                  <a:uLnTx/>
                  <a:uFillTx/>
                  <a:latin typeface="+mj-lt"/>
                  <a:ea typeface="Nexa Black" charset="0"/>
                  <a:cs typeface="Nexa Black" charset="0"/>
                </a:rPr>
                <a:t> </a:t>
              </a:r>
            </a:p>
          </p:txBody>
        </p:sp>
        <p:sp>
          <p:nvSpPr>
            <p:cNvPr id="48" name="TextBox 47">
              <a:extLst>
                <a:ext uri="{FF2B5EF4-FFF2-40B4-BE49-F238E27FC236}">
                  <a16:creationId xmlns:a16="http://schemas.microsoft.com/office/drawing/2014/main" id="{8AC00BF6-D4BB-432A-901E-BCD10B9F88C9}"/>
                </a:ext>
              </a:extLst>
            </p:cNvPr>
            <p:cNvSpPr txBox="1"/>
            <p:nvPr/>
          </p:nvSpPr>
          <p:spPr>
            <a:xfrm>
              <a:off x="3231957" y="5828883"/>
              <a:ext cx="1763853" cy="416567"/>
            </a:xfrm>
            <a:prstGeom prst="rect">
              <a:avLst/>
            </a:prstGeom>
            <a:grp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baseline="0" noProof="0" dirty="0">
                  <a:uLnTx/>
                  <a:uFillTx/>
                  <a:latin typeface="+mj-lt"/>
                  <a:ea typeface="+mn-ea"/>
                  <a:cs typeface="+mn-cs"/>
                </a:rPr>
                <a:t>Operational</a:t>
              </a:r>
              <a:r>
                <a:rPr kumimoji="0" lang="en-US" sz="700" i="0" u="none" strike="noStrike" kern="0" normalizeH="0" noProof="0" dirty="0">
                  <a:uLnTx/>
                  <a:uFillTx/>
                  <a:latin typeface="+mj-lt"/>
                  <a:ea typeface="+mn-ea"/>
                  <a:cs typeface="+mn-cs"/>
                </a:rPr>
                <a:t> analytics can be applied to both business processes and IT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kern="0" dirty="0">
                  <a:latin typeface="+mj-lt"/>
                </a:rPr>
                <a:t>Infrastructure or cloud monitoring and business process monitoring some of the examples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noProof="0" dirty="0">
                  <a:uLnTx/>
                  <a:uFillTx/>
                  <a:latin typeface="+mj-lt"/>
                  <a:ea typeface="+mn-ea"/>
                  <a:cs typeface="+mn-cs"/>
                </a:rPr>
                <a:t>Examples of Technologies: </a:t>
              </a:r>
              <a:endParaRPr kumimoji="0" lang="en-US" sz="700" i="0" u="none" strike="noStrike" kern="0" normalizeH="0" baseline="0" noProof="0" dirty="0">
                <a:uLnTx/>
                <a:uFillTx/>
                <a:latin typeface="+mj-lt"/>
                <a:ea typeface="+mn-ea"/>
                <a:cs typeface="+mn-cs"/>
              </a:endParaRPr>
            </a:p>
          </p:txBody>
        </p:sp>
      </p:grpSp>
      <p:grpSp>
        <p:nvGrpSpPr>
          <p:cNvPr id="49" name="Group 48">
            <a:extLst>
              <a:ext uri="{FF2B5EF4-FFF2-40B4-BE49-F238E27FC236}">
                <a16:creationId xmlns:a16="http://schemas.microsoft.com/office/drawing/2014/main" id="{77B54CE6-4BD5-45CC-9E31-85BB946E2E29}"/>
              </a:ext>
            </a:extLst>
          </p:cNvPr>
          <p:cNvGrpSpPr/>
          <p:nvPr/>
        </p:nvGrpSpPr>
        <p:grpSpPr>
          <a:xfrm>
            <a:off x="678755" y="4738671"/>
            <a:ext cx="2743200" cy="733793"/>
            <a:chOff x="231329" y="5728712"/>
            <a:chExt cx="1360425" cy="205379"/>
          </a:xfrm>
          <a:noFill/>
        </p:grpSpPr>
        <p:sp>
          <p:nvSpPr>
            <p:cNvPr id="50" name="Rectangle 49">
              <a:extLst>
                <a:ext uri="{FF2B5EF4-FFF2-40B4-BE49-F238E27FC236}">
                  <a16:creationId xmlns:a16="http://schemas.microsoft.com/office/drawing/2014/main" id="{F29CCA49-AC08-4FE4-9574-781240F451FD}"/>
                </a:ext>
              </a:extLst>
            </p:cNvPr>
            <p:cNvSpPr/>
            <p:nvPr/>
          </p:nvSpPr>
          <p:spPr>
            <a:xfrm>
              <a:off x="231329" y="5728712"/>
              <a:ext cx="1245388" cy="150842"/>
            </a:xfrm>
            <a:prstGeom prst="rect">
              <a:avLst/>
            </a:prstGeom>
            <a:grpFill/>
          </p:spPr>
          <p:txBody>
            <a:bodyPr wrap="square" anchor="t">
              <a:noAutofit/>
            </a:bodyPr>
            <a:lstStyle/>
            <a:p>
              <a:pPr>
                <a:spcBef>
                  <a:spcPct val="0"/>
                </a:spcBef>
                <a:defRPr/>
              </a:pPr>
              <a:r>
                <a:rPr kumimoji="0" lang="en-US" sz="700" b="1" i="0" u="none" strike="noStrike" kern="0" normalizeH="0" baseline="0" noProof="0" dirty="0">
                  <a:uLnTx/>
                  <a:uFillTx/>
                  <a:latin typeface="+mj-lt"/>
                  <a:ea typeface="Nexa Black" charset="0"/>
                  <a:cs typeface="Nexa Black" charset="0"/>
                </a:rPr>
                <a:t>1.</a:t>
              </a:r>
              <a:r>
                <a:rPr lang="en-US" sz="700" b="1" kern="0" dirty="0">
                  <a:latin typeface="+mj-lt"/>
                  <a:ea typeface="Nexa Black" charset="0"/>
                  <a:cs typeface="Nexa Black" charset="0"/>
                </a:rPr>
                <a:t> Real time streaming</a:t>
              </a:r>
              <a:endParaRPr kumimoji="0" lang="en-US" sz="700" b="1" i="0" u="none" strike="noStrike" kern="0" normalizeH="0" baseline="0" noProof="0" dirty="0">
                <a:uLnTx/>
                <a:uFillTx/>
                <a:latin typeface="+mj-lt"/>
                <a:ea typeface="Nexa Black" charset="0"/>
                <a:cs typeface="Nexa Black" charset="0"/>
              </a:endParaRPr>
            </a:p>
          </p:txBody>
        </p:sp>
        <p:sp>
          <p:nvSpPr>
            <p:cNvPr id="51" name="TextBox 50">
              <a:extLst>
                <a:ext uri="{FF2B5EF4-FFF2-40B4-BE49-F238E27FC236}">
                  <a16:creationId xmlns:a16="http://schemas.microsoft.com/office/drawing/2014/main" id="{5A8E11AE-6C40-4166-9A89-F935CD1CB9E6}"/>
                </a:ext>
              </a:extLst>
            </p:cNvPr>
            <p:cNvSpPr txBox="1"/>
            <p:nvPr/>
          </p:nvSpPr>
          <p:spPr>
            <a:xfrm>
              <a:off x="231329" y="5787649"/>
              <a:ext cx="1360425" cy="146442"/>
            </a:xfrm>
            <a:prstGeom prst="rect">
              <a:avLst/>
            </a:prstGeom>
            <a:grpFill/>
          </p:spPr>
          <p:txBody>
            <a:bodyPr wrap="square" rtlCol="0">
              <a:spAutoFit/>
            </a:bodyPr>
            <a:lstStyle/>
            <a:p>
              <a:pPr marL="171450" lvl="0" indent="-171450">
                <a:buFont typeface="Arial" panose="020B0604020202020204" pitchFamily="34" charset="0"/>
                <a:buChar char="•"/>
                <a:defRPr/>
              </a:pPr>
              <a:r>
                <a:rPr lang="en-US" sz="700" kern="0" dirty="0">
                  <a:latin typeface="+mj-lt"/>
                </a:rPr>
                <a:t>To meet real time latency reqs, data should be ingested real time and enabled for real time analytics as soon as it is stored or while in motion</a:t>
              </a:r>
            </a:p>
            <a:p>
              <a:pPr marL="171450" lvl="0" indent="-171450">
                <a:buFont typeface="Arial" panose="020B0604020202020204" pitchFamily="34" charset="0"/>
                <a:buChar char="•"/>
                <a:defRPr/>
              </a:pPr>
              <a:r>
                <a:rPr lang="en-US" sz="700" kern="0" dirty="0">
                  <a:latin typeface="+mj-lt"/>
                </a:rPr>
                <a:t>Examples of technologies:</a:t>
              </a:r>
              <a:endParaRPr kumimoji="0" lang="en-US" sz="700" i="0" u="none" strike="noStrike" kern="0" normalizeH="0" baseline="0" noProof="0" dirty="0">
                <a:uLnTx/>
                <a:uFillTx/>
                <a:latin typeface="+mj-lt"/>
                <a:ea typeface="+mn-ea"/>
                <a:cs typeface="+mn-cs"/>
              </a:endParaRPr>
            </a:p>
          </p:txBody>
        </p:sp>
      </p:grpSp>
      <p:grpSp>
        <p:nvGrpSpPr>
          <p:cNvPr id="52" name="Group 51">
            <a:extLst>
              <a:ext uri="{FF2B5EF4-FFF2-40B4-BE49-F238E27FC236}">
                <a16:creationId xmlns:a16="http://schemas.microsoft.com/office/drawing/2014/main" id="{EB7D25C1-6A5C-445F-95BC-6B26341B169C}"/>
              </a:ext>
            </a:extLst>
          </p:cNvPr>
          <p:cNvGrpSpPr/>
          <p:nvPr/>
        </p:nvGrpSpPr>
        <p:grpSpPr>
          <a:xfrm>
            <a:off x="4382098" y="4690158"/>
            <a:ext cx="2854274" cy="865324"/>
            <a:chOff x="1387412" y="5729189"/>
            <a:chExt cx="2188977" cy="539105"/>
          </a:xfrm>
          <a:noFill/>
        </p:grpSpPr>
        <p:sp>
          <p:nvSpPr>
            <p:cNvPr id="53" name="Rectangle 52">
              <a:extLst>
                <a:ext uri="{FF2B5EF4-FFF2-40B4-BE49-F238E27FC236}">
                  <a16:creationId xmlns:a16="http://schemas.microsoft.com/office/drawing/2014/main" id="{B2AD7939-776E-4CF7-8ED2-5462312917A9}"/>
                </a:ext>
              </a:extLst>
            </p:cNvPr>
            <p:cNvSpPr/>
            <p:nvPr/>
          </p:nvSpPr>
          <p:spPr>
            <a:xfrm>
              <a:off x="1387412" y="5729189"/>
              <a:ext cx="1842439" cy="539105"/>
            </a:xfrm>
            <a:prstGeom prst="rect">
              <a:avLst/>
            </a:prstGeom>
            <a:grpFill/>
          </p:spPr>
          <p:txBody>
            <a:bodyPr wrap="square"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700" b="1" i="0" u="none" strike="noStrike" kern="0" normalizeH="0" baseline="0" noProof="0" dirty="0">
                  <a:uLnTx/>
                  <a:uFillTx/>
                  <a:latin typeface="+mj-lt"/>
                  <a:ea typeface="Nexa Black" charset="0"/>
                  <a:cs typeface="Nexa Black" charset="0"/>
                </a:rPr>
                <a:t>2. Real time</a:t>
              </a:r>
              <a:r>
                <a:rPr kumimoji="0" lang="en-US" sz="700" b="1" i="0" u="none" strike="noStrike" kern="0" normalizeH="0" noProof="0" dirty="0">
                  <a:uLnTx/>
                  <a:uFillTx/>
                  <a:latin typeface="+mj-lt"/>
                  <a:ea typeface="Nexa Black" charset="0"/>
                  <a:cs typeface="Nexa Black" charset="0"/>
                </a:rPr>
                <a:t> analytics</a:t>
              </a:r>
              <a:endParaRPr kumimoji="0" lang="en-US" sz="700" b="1" i="0" u="none" strike="noStrike" kern="0" normalizeH="0" baseline="0" noProof="0" dirty="0">
                <a:uLnTx/>
                <a:uFillTx/>
                <a:latin typeface="+mj-lt"/>
                <a:ea typeface="Nexa Black" charset="0"/>
                <a:cs typeface="Nexa Black" charset="0"/>
              </a:endParaRPr>
            </a:p>
          </p:txBody>
        </p:sp>
        <p:sp>
          <p:nvSpPr>
            <p:cNvPr id="54" name="TextBox 53">
              <a:extLst>
                <a:ext uri="{FF2B5EF4-FFF2-40B4-BE49-F238E27FC236}">
                  <a16:creationId xmlns:a16="http://schemas.microsoft.com/office/drawing/2014/main" id="{32F7B0FE-E689-4E09-9152-AFD2748AD3F3}"/>
                </a:ext>
              </a:extLst>
            </p:cNvPr>
            <p:cNvSpPr txBox="1"/>
            <p:nvPr/>
          </p:nvSpPr>
          <p:spPr>
            <a:xfrm>
              <a:off x="1389012" y="5840498"/>
              <a:ext cx="2187377" cy="393083"/>
            </a:xfrm>
            <a:prstGeom prst="rect">
              <a:avLst/>
            </a:prstGeom>
            <a:grp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baseline="0" noProof="0" dirty="0">
                  <a:uLnTx/>
                  <a:uFillTx/>
                  <a:latin typeface="+mj-lt"/>
                  <a:ea typeface="+mn-ea"/>
                  <a:cs typeface="+mn-cs"/>
                </a:rPr>
                <a:t>Real time streaming enables</a:t>
              </a:r>
              <a:r>
                <a:rPr kumimoji="0" lang="en-US" sz="700" i="0" u="none" strike="noStrike" kern="0" normalizeH="0" noProof="0" dirty="0">
                  <a:uLnTx/>
                  <a:uFillTx/>
                  <a:latin typeface="+mj-lt"/>
                  <a:ea typeface="+mn-ea"/>
                  <a:cs typeface="+mn-cs"/>
                </a:rPr>
                <a:t> actionable insights on data while it is in motion and when it is landed. This can lead to triggering events or alerts so that appropriate action is taken on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00" i="0" u="none" strike="noStrike" kern="0" normalizeH="0" baseline="0" noProof="0" dirty="0">
                  <a:uLnTx/>
                  <a:uFillTx/>
                  <a:latin typeface="+mj-lt"/>
                  <a:ea typeface="+mn-ea"/>
                  <a:cs typeface="+mn-cs"/>
                </a:rPr>
                <a:t>Examples</a:t>
              </a:r>
              <a:r>
                <a:rPr kumimoji="0" lang="en-US" sz="700" i="0" u="none" strike="noStrike" kern="0" normalizeH="0" noProof="0" dirty="0">
                  <a:uLnTx/>
                  <a:uFillTx/>
                  <a:latin typeface="+mj-lt"/>
                  <a:ea typeface="+mn-ea"/>
                  <a:cs typeface="+mn-cs"/>
                </a:rPr>
                <a:t> of Technologies: </a:t>
              </a:r>
              <a:endParaRPr kumimoji="0" lang="en-US" sz="700" i="0" u="none" strike="noStrike" kern="0" normalizeH="0" baseline="0" noProof="0" dirty="0">
                <a:uLnTx/>
                <a:uFillTx/>
                <a:latin typeface="+mj-lt"/>
                <a:ea typeface="+mn-ea"/>
                <a:cs typeface="+mn-cs"/>
              </a:endParaRPr>
            </a:p>
          </p:txBody>
        </p:sp>
      </p:grpSp>
      <p:pic>
        <p:nvPicPr>
          <p:cNvPr id="68" name="Picture 67">
            <a:extLst>
              <a:ext uri="{FF2B5EF4-FFF2-40B4-BE49-F238E27FC236}">
                <a16:creationId xmlns:a16="http://schemas.microsoft.com/office/drawing/2014/main" id="{BAE269E4-B598-401A-AEEB-AE582F3EFD30}"/>
              </a:ext>
            </a:extLst>
          </p:cNvPr>
          <p:cNvPicPr>
            <a:picLocks noChangeAspect="1"/>
          </p:cNvPicPr>
          <p:nvPr/>
        </p:nvPicPr>
        <p:blipFill>
          <a:blip r:embed="rId2">
            <a:clrChange>
              <a:clrFrom>
                <a:srgbClr val="C6C6C6"/>
              </a:clrFrom>
              <a:clrTo>
                <a:srgbClr val="C6C6C6">
                  <a:alpha val="0"/>
                </a:srgbClr>
              </a:clrTo>
            </a:clrChange>
          </a:blip>
          <a:stretch>
            <a:fillRect/>
          </a:stretch>
        </p:blipFill>
        <p:spPr>
          <a:xfrm>
            <a:off x="1513539" y="5611203"/>
            <a:ext cx="554926" cy="699438"/>
          </a:xfrm>
          <a:prstGeom prst="rect">
            <a:avLst/>
          </a:prstGeom>
        </p:spPr>
      </p:pic>
      <p:pic>
        <p:nvPicPr>
          <p:cNvPr id="69" name="Picture 6" descr="Striim Logo">
            <a:extLst>
              <a:ext uri="{FF2B5EF4-FFF2-40B4-BE49-F238E27FC236}">
                <a16:creationId xmlns:a16="http://schemas.microsoft.com/office/drawing/2014/main" id="{553BBC50-E885-44A4-8695-1FEB3D38FD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3925" y="5623323"/>
            <a:ext cx="866328" cy="331702"/>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8" descr="SQLstream | Streaming SQL Analytics for Kafka &amp; Kinesis">
            <a:extLst>
              <a:ext uri="{FF2B5EF4-FFF2-40B4-BE49-F238E27FC236}">
                <a16:creationId xmlns:a16="http://schemas.microsoft.com/office/drawing/2014/main" id="{BE0505D3-867E-4D05-A9FA-253A1743FD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1263" y="6066368"/>
            <a:ext cx="785009" cy="125267"/>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D206D9A0-744D-4A71-9EAE-CF5E973441C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495422" y="5584605"/>
            <a:ext cx="760619" cy="649555"/>
          </a:xfrm>
          <a:prstGeom prst="rect">
            <a:avLst/>
          </a:prstGeom>
        </p:spPr>
      </p:pic>
      <p:pic>
        <p:nvPicPr>
          <p:cNvPr id="72" name="Picture 71">
            <a:extLst>
              <a:ext uri="{FF2B5EF4-FFF2-40B4-BE49-F238E27FC236}">
                <a16:creationId xmlns:a16="http://schemas.microsoft.com/office/drawing/2014/main" id="{11BAAF63-30F9-43EE-93CD-DA8370EB6A21}"/>
              </a:ext>
            </a:extLst>
          </p:cNvPr>
          <p:cNvPicPr>
            <a:picLocks noChangeAspect="1"/>
          </p:cNvPicPr>
          <p:nvPr/>
        </p:nvPicPr>
        <p:blipFill>
          <a:blip r:embed="rId2">
            <a:clrChange>
              <a:clrFrom>
                <a:srgbClr val="C6C6C6"/>
              </a:clrFrom>
              <a:clrTo>
                <a:srgbClr val="C6C6C6">
                  <a:alpha val="0"/>
                </a:srgbClr>
              </a:clrTo>
            </a:clrChange>
          </a:blip>
          <a:stretch>
            <a:fillRect/>
          </a:stretch>
        </p:blipFill>
        <p:spPr>
          <a:xfrm>
            <a:off x="5256041" y="5562691"/>
            <a:ext cx="554926" cy="699438"/>
          </a:xfrm>
          <a:prstGeom prst="rect">
            <a:avLst/>
          </a:prstGeom>
        </p:spPr>
      </p:pic>
      <p:pic>
        <p:nvPicPr>
          <p:cNvPr id="73" name="Picture 6" descr="Striim Logo">
            <a:extLst>
              <a:ext uri="{FF2B5EF4-FFF2-40B4-BE49-F238E27FC236}">
                <a16:creationId xmlns:a16="http://schemas.microsoft.com/office/drawing/2014/main" id="{725CA84D-D518-47BC-8C29-E0B16D3A15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8400" y="5574811"/>
            <a:ext cx="866328" cy="331702"/>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8" descr="SQLstream | Streaming SQL Analytics for Kafka &amp; Kinesis">
            <a:extLst>
              <a:ext uri="{FF2B5EF4-FFF2-40B4-BE49-F238E27FC236}">
                <a16:creationId xmlns:a16="http://schemas.microsoft.com/office/drawing/2014/main" id="{3258E6FE-6BD0-4BE9-9453-4F613DAA85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5738" y="6017856"/>
            <a:ext cx="785009" cy="125267"/>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14" descr="Image result for amazon kinesis logo">
            <a:extLst>
              <a:ext uri="{FF2B5EF4-FFF2-40B4-BE49-F238E27FC236}">
                <a16:creationId xmlns:a16="http://schemas.microsoft.com/office/drawing/2014/main" id="{133DDE49-5640-4A67-BD30-9F6251EC520D}"/>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0710" y="5610459"/>
            <a:ext cx="698056" cy="658764"/>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18" descr="Image result for splunk logo">
            <a:extLst>
              <a:ext uri="{FF2B5EF4-FFF2-40B4-BE49-F238E27FC236}">
                <a16:creationId xmlns:a16="http://schemas.microsoft.com/office/drawing/2014/main" id="{99B64040-8D33-465C-AE2F-2968CC9C75F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847037" y="5781620"/>
            <a:ext cx="866328" cy="262071"/>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2" descr="Image result for datameer logo">
            <a:extLst>
              <a:ext uri="{FF2B5EF4-FFF2-40B4-BE49-F238E27FC236}">
                <a16:creationId xmlns:a16="http://schemas.microsoft.com/office/drawing/2014/main" id="{BAB9F869-E15C-4C2C-9F8D-2F58B39833CA}"/>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29906" y="5781620"/>
            <a:ext cx="1382879" cy="301046"/>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25">
            <a:extLst>
              <a:ext uri="{FF2B5EF4-FFF2-40B4-BE49-F238E27FC236}">
                <a16:creationId xmlns:a16="http://schemas.microsoft.com/office/drawing/2014/main" id="{430B803B-0D84-4CC0-9628-D6BF587C02CF}"/>
              </a:ext>
            </a:extLst>
          </p:cNvPr>
          <p:cNvSpPr/>
          <p:nvPr/>
        </p:nvSpPr>
        <p:spPr>
          <a:xfrm>
            <a:off x="5015069" y="1357808"/>
            <a:ext cx="4434446" cy="278075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latin typeface="+mj-lt"/>
            </a:endParaRPr>
          </a:p>
        </p:txBody>
      </p:sp>
      <p:sp>
        <p:nvSpPr>
          <p:cNvPr id="5" name="Rounded Rectangle 26">
            <a:extLst>
              <a:ext uri="{FF2B5EF4-FFF2-40B4-BE49-F238E27FC236}">
                <a16:creationId xmlns:a16="http://schemas.microsoft.com/office/drawing/2014/main" id="{3D99F321-3BD5-4A79-901F-DCA18D6F0A0C}"/>
              </a:ext>
            </a:extLst>
          </p:cNvPr>
          <p:cNvSpPr/>
          <p:nvPr/>
        </p:nvSpPr>
        <p:spPr>
          <a:xfrm>
            <a:off x="469900" y="1357809"/>
            <a:ext cx="1938596" cy="95542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latin typeface="+mj-lt"/>
              </a:rPr>
              <a:t>Internal</a:t>
            </a:r>
          </a:p>
          <a:p>
            <a:endParaRPr lang="en-US" sz="800" b="1" dirty="0">
              <a:latin typeface="+mj-lt"/>
            </a:endParaRPr>
          </a:p>
          <a:p>
            <a:endParaRPr lang="en-US" sz="800" b="1" dirty="0">
              <a:latin typeface="+mj-lt"/>
            </a:endParaRPr>
          </a:p>
          <a:p>
            <a:endParaRPr lang="en-US" sz="800" b="1" dirty="0">
              <a:latin typeface="+mj-lt"/>
            </a:endParaRPr>
          </a:p>
        </p:txBody>
      </p:sp>
      <p:sp>
        <p:nvSpPr>
          <p:cNvPr id="6" name="Rounded Rectangle 27">
            <a:extLst>
              <a:ext uri="{FF2B5EF4-FFF2-40B4-BE49-F238E27FC236}">
                <a16:creationId xmlns:a16="http://schemas.microsoft.com/office/drawing/2014/main" id="{E4CA50FF-EF00-40FB-BC0D-3EE7DE5FE0EF}"/>
              </a:ext>
            </a:extLst>
          </p:cNvPr>
          <p:cNvSpPr/>
          <p:nvPr/>
        </p:nvSpPr>
        <p:spPr>
          <a:xfrm>
            <a:off x="469900" y="2558745"/>
            <a:ext cx="1938596" cy="105223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1" dirty="0">
                <a:latin typeface="+mj-lt"/>
              </a:rPr>
              <a:t>External</a:t>
            </a:r>
          </a:p>
          <a:p>
            <a:pPr algn="ctr"/>
            <a:endParaRPr lang="en-US" sz="800" b="1" dirty="0">
              <a:latin typeface="+mj-lt"/>
            </a:endParaRPr>
          </a:p>
          <a:p>
            <a:pPr algn="ctr"/>
            <a:endParaRPr lang="en-US" sz="800" b="1" dirty="0">
              <a:latin typeface="+mj-lt"/>
            </a:endParaRPr>
          </a:p>
          <a:p>
            <a:endParaRPr lang="en-US" sz="800" b="1" dirty="0">
              <a:latin typeface="+mj-lt"/>
            </a:endParaRPr>
          </a:p>
        </p:txBody>
      </p:sp>
      <p:sp>
        <p:nvSpPr>
          <p:cNvPr id="9" name="Rounded Rectangle 30">
            <a:extLst>
              <a:ext uri="{FF2B5EF4-FFF2-40B4-BE49-F238E27FC236}">
                <a16:creationId xmlns:a16="http://schemas.microsoft.com/office/drawing/2014/main" id="{D26FC7EF-E2AB-495A-B2E7-3FCB4902EBB6}"/>
              </a:ext>
            </a:extLst>
          </p:cNvPr>
          <p:cNvSpPr/>
          <p:nvPr/>
        </p:nvSpPr>
        <p:spPr>
          <a:xfrm>
            <a:off x="2742486" y="1357809"/>
            <a:ext cx="1938596" cy="225317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latin typeface="+mj-lt"/>
            </a:endParaRPr>
          </a:p>
        </p:txBody>
      </p:sp>
      <p:sp>
        <p:nvSpPr>
          <p:cNvPr id="11" name="Rounded Rectangle 32">
            <a:extLst>
              <a:ext uri="{FF2B5EF4-FFF2-40B4-BE49-F238E27FC236}">
                <a16:creationId xmlns:a16="http://schemas.microsoft.com/office/drawing/2014/main" id="{FDAE52F7-E83C-43F5-B9A7-05A84F4C23F7}"/>
              </a:ext>
            </a:extLst>
          </p:cNvPr>
          <p:cNvSpPr/>
          <p:nvPr/>
        </p:nvSpPr>
        <p:spPr>
          <a:xfrm>
            <a:off x="5180253" y="1464431"/>
            <a:ext cx="1922246" cy="25787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p:txBody>
      </p:sp>
      <p:sp>
        <p:nvSpPr>
          <p:cNvPr id="12" name="Rounded Rectangle 33">
            <a:extLst>
              <a:ext uri="{FF2B5EF4-FFF2-40B4-BE49-F238E27FC236}">
                <a16:creationId xmlns:a16="http://schemas.microsoft.com/office/drawing/2014/main" id="{7BAAF867-BBE8-4ACF-A1E0-EEE5D423D5AC}"/>
              </a:ext>
            </a:extLst>
          </p:cNvPr>
          <p:cNvSpPr/>
          <p:nvPr/>
        </p:nvSpPr>
        <p:spPr>
          <a:xfrm>
            <a:off x="5567706" y="1822594"/>
            <a:ext cx="1132662" cy="35495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Raw</a:t>
            </a:r>
          </a:p>
        </p:txBody>
      </p:sp>
      <p:sp>
        <p:nvSpPr>
          <p:cNvPr id="13" name="Rounded Rectangle 34">
            <a:extLst>
              <a:ext uri="{FF2B5EF4-FFF2-40B4-BE49-F238E27FC236}">
                <a16:creationId xmlns:a16="http://schemas.microsoft.com/office/drawing/2014/main" id="{821736B3-5752-409F-97F1-9F0E48F9BFDC}"/>
              </a:ext>
            </a:extLst>
          </p:cNvPr>
          <p:cNvSpPr/>
          <p:nvPr/>
        </p:nvSpPr>
        <p:spPr>
          <a:xfrm>
            <a:off x="5567705" y="2400948"/>
            <a:ext cx="1132662" cy="35495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Transform</a:t>
            </a:r>
          </a:p>
        </p:txBody>
      </p:sp>
      <p:sp>
        <p:nvSpPr>
          <p:cNvPr id="14" name="Rounded Rectangle 35">
            <a:extLst>
              <a:ext uri="{FF2B5EF4-FFF2-40B4-BE49-F238E27FC236}">
                <a16:creationId xmlns:a16="http://schemas.microsoft.com/office/drawing/2014/main" id="{FF0EB8BA-A449-478D-A2ED-BBC52E8D9FCA}"/>
              </a:ext>
            </a:extLst>
          </p:cNvPr>
          <p:cNvSpPr/>
          <p:nvPr/>
        </p:nvSpPr>
        <p:spPr>
          <a:xfrm>
            <a:off x="5567705" y="2979025"/>
            <a:ext cx="1132662" cy="35495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Refined</a:t>
            </a:r>
          </a:p>
        </p:txBody>
      </p:sp>
      <p:sp>
        <p:nvSpPr>
          <p:cNvPr id="15" name="Rounded Rectangle 36">
            <a:extLst>
              <a:ext uri="{FF2B5EF4-FFF2-40B4-BE49-F238E27FC236}">
                <a16:creationId xmlns:a16="http://schemas.microsoft.com/office/drawing/2014/main" id="{1DED5B9F-E705-417C-8232-AB3E3799F2BF}"/>
              </a:ext>
            </a:extLst>
          </p:cNvPr>
          <p:cNvSpPr/>
          <p:nvPr/>
        </p:nvSpPr>
        <p:spPr>
          <a:xfrm>
            <a:off x="7195084" y="1526158"/>
            <a:ext cx="2134636" cy="14609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800" dirty="0">
              <a:latin typeface="+mj-lt"/>
            </a:endParaRPr>
          </a:p>
          <a:p>
            <a:endParaRPr lang="en-US" sz="800" dirty="0">
              <a:latin typeface="+mj-lt"/>
            </a:endParaRPr>
          </a:p>
          <a:p>
            <a:endParaRPr lang="en-US" sz="800" dirty="0">
              <a:latin typeface="+mj-lt"/>
            </a:endParaRPr>
          </a:p>
          <a:p>
            <a:endParaRPr lang="en-US" sz="800" dirty="0">
              <a:latin typeface="+mj-lt"/>
            </a:endParaRPr>
          </a:p>
        </p:txBody>
      </p:sp>
      <p:sp>
        <p:nvSpPr>
          <p:cNvPr id="16" name="Rounded Rectangle 37">
            <a:extLst>
              <a:ext uri="{FF2B5EF4-FFF2-40B4-BE49-F238E27FC236}">
                <a16:creationId xmlns:a16="http://schemas.microsoft.com/office/drawing/2014/main" id="{5524587E-3F1C-4DD9-9A84-B174E3712621}"/>
              </a:ext>
            </a:extLst>
          </p:cNvPr>
          <p:cNvSpPr/>
          <p:nvPr/>
        </p:nvSpPr>
        <p:spPr>
          <a:xfrm>
            <a:off x="7195849" y="3045588"/>
            <a:ext cx="2169261" cy="5857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dirty="0">
                <a:latin typeface="+mj-lt"/>
              </a:rPr>
              <a:t>AA</a:t>
            </a:r>
          </a:p>
          <a:p>
            <a:endParaRPr lang="en-US" sz="800" dirty="0">
              <a:latin typeface="+mj-lt"/>
            </a:endParaRPr>
          </a:p>
          <a:p>
            <a:endParaRPr lang="en-US" sz="800" dirty="0">
              <a:latin typeface="+mj-lt"/>
            </a:endParaRPr>
          </a:p>
        </p:txBody>
      </p:sp>
      <p:sp>
        <p:nvSpPr>
          <p:cNvPr id="17" name="Rounded Rectangle 39">
            <a:extLst>
              <a:ext uri="{FF2B5EF4-FFF2-40B4-BE49-F238E27FC236}">
                <a16:creationId xmlns:a16="http://schemas.microsoft.com/office/drawing/2014/main" id="{D6837FC0-1B6D-4909-9DA8-3AE8DA31723A}"/>
              </a:ext>
            </a:extLst>
          </p:cNvPr>
          <p:cNvSpPr/>
          <p:nvPr/>
        </p:nvSpPr>
        <p:spPr>
          <a:xfrm>
            <a:off x="7262082" y="2038944"/>
            <a:ext cx="974904" cy="43507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Data Store</a:t>
            </a:r>
          </a:p>
        </p:txBody>
      </p:sp>
      <p:sp>
        <p:nvSpPr>
          <p:cNvPr id="18" name="Rounded Rectangle 40">
            <a:extLst>
              <a:ext uri="{FF2B5EF4-FFF2-40B4-BE49-F238E27FC236}">
                <a16:creationId xmlns:a16="http://schemas.microsoft.com/office/drawing/2014/main" id="{EE3EE742-470D-4C7F-A8F9-899D44B3D276}"/>
              </a:ext>
            </a:extLst>
          </p:cNvPr>
          <p:cNvSpPr/>
          <p:nvPr/>
        </p:nvSpPr>
        <p:spPr>
          <a:xfrm>
            <a:off x="7338317" y="3307944"/>
            <a:ext cx="895053" cy="25109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800" dirty="0">
              <a:latin typeface="+mj-lt"/>
            </a:endParaRPr>
          </a:p>
        </p:txBody>
      </p:sp>
      <p:sp>
        <p:nvSpPr>
          <p:cNvPr id="19" name="Rounded Rectangle 41">
            <a:extLst>
              <a:ext uri="{FF2B5EF4-FFF2-40B4-BE49-F238E27FC236}">
                <a16:creationId xmlns:a16="http://schemas.microsoft.com/office/drawing/2014/main" id="{F503B3C8-5EF2-4CC1-861D-E7DF93B77A4B}"/>
              </a:ext>
            </a:extLst>
          </p:cNvPr>
          <p:cNvSpPr/>
          <p:nvPr/>
        </p:nvSpPr>
        <p:spPr>
          <a:xfrm>
            <a:off x="8317373" y="3302331"/>
            <a:ext cx="895053" cy="27986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800" dirty="0">
              <a:latin typeface="+mj-lt"/>
            </a:endParaRPr>
          </a:p>
        </p:txBody>
      </p:sp>
      <p:sp>
        <p:nvSpPr>
          <p:cNvPr id="21" name="Rectangle 20">
            <a:extLst>
              <a:ext uri="{FF2B5EF4-FFF2-40B4-BE49-F238E27FC236}">
                <a16:creationId xmlns:a16="http://schemas.microsoft.com/office/drawing/2014/main" id="{541795DF-172B-4B00-A0EF-4EF7A3D07D0D}"/>
              </a:ext>
            </a:extLst>
          </p:cNvPr>
          <p:cNvSpPr/>
          <p:nvPr/>
        </p:nvSpPr>
        <p:spPr>
          <a:xfrm>
            <a:off x="3156343" y="1770945"/>
            <a:ext cx="1110880" cy="51420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Batch/Micro Batch</a:t>
            </a:r>
          </a:p>
        </p:txBody>
      </p:sp>
      <p:sp>
        <p:nvSpPr>
          <p:cNvPr id="22" name="Rectangle 21">
            <a:extLst>
              <a:ext uri="{FF2B5EF4-FFF2-40B4-BE49-F238E27FC236}">
                <a16:creationId xmlns:a16="http://schemas.microsoft.com/office/drawing/2014/main" id="{E6E04E17-170D-4D85-A6BD-FEDC2989B496}"/>
              </a:ext>
            </a:extLst>
          </p:cNvPr>
          <p:cNvSpPr/>
          <p:nvPr/>
        </p:nvSpPr>
        <p:spPr>
          <a:xfrm>
            <a:off x="3156343" y="2696174"/>
            <a:ext cx="1110880" cy="51420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Real-Time/ Stream/Events</a:t>
            </a:r>
          </a:p>
        </p:txBody>
      </p:sp>
      <p:sp>
        <p:nvSpPr>
          <p:cNvPr id="23" name="Rectangle 22">
            <a:extLst>
              <a:ext uri="{FF2B5EF4-FFF2-40B4-BE49-F238E27FC236}">
                <a16:creationId xmlns:a16="http://schemas.microsoft.com/office/drawing/2014/main" id="{D2643881-8458-4DD1-8F04-26F78DD9D06F}"/>
              </a:ext>
            </a:extLst>
          </p:cNvPr>
          <p:cNvSpPr/>
          <p:nvPr/>
        </p:nvSpPr>
        <p:spPr>
          <a:xfrm>
            <a:off x="616928" y="1749347"/>
            <a:ext cx="1624122" cy="42819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ERP, MDM, POS, HR, Finance etc. </a:t>
            </a:r>
          </a:p>
        </p:txBody>
      </p:sp>
      <p:sp>
        <p:nvSpPr>
          <p:cNvPr id="24" name="Rectangle 23">
            <a:extLst>
              <a:ext uri="{FF2B5EF4-FFF2-40B4-BE49-F238E27FC236}">
                <a16:creationId xmlns:a16="http://schemas.microsoft.com/office/drawing/2014/main" id="{7BBE8B03-8BB8-497C-ABA2-D8507270AE4C}"/>
              </a:ext>
            </a:extLst>
          </p:cNvPr>
          <p:cNvSpPr/>
          <p:nvPr/>
        </p:nvSpPr>
        <p:spPr>
          <a:xfrm>
            <a:off x="616928" y="3024544"/>
            <a:ext cx="1624122" cy="42819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Social Media, Third Party etc.</a:t>
            </a:r>
          </a:p>
        </p:txBody>
      </p:sp>
      <p:sp>
        <p:nvSpPr>
          <p:cNvPr id="25" name="Rounded Rectangle 47">
            <a:extLst>
              <a:ext uri="{FF2B5EF4-FFF2-40B4-BE49-F238E27FC236}">
                <a16:creationId xmlns:a16="http://schemas.microsoft.com/office/drawing/2014/main" id="{F8C5FF88-EE8D-4442-B1A0-2A296B9C4082}"/>
              </a:ext>
            </a:extLst>
          </p:cNvPr>
          <p:cNvSpPr/>
          <p:nvPr/>
        </p:nvSpPr>
        <p:spPr>
          <a:xfrm>
            <a:off x="5567705" y="3551947"/>
            <a:ext cx="1132662" cy="2006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Extract</a:t>
            </a:r>
          </a:p>
        </p:txBody>
      </p:sp>
      <p:sp>
        <p:nvSpPr>
          <p:cNvPr id="26" name="Rounded Rectangle 48">
            <a:extLst>
              <a:ext uri="{FF2B5EF4-FFF2-40B4-BE49-F238E27FC236}">
                <a16:creationId xmlns:a16="http://schemas.microsoft.com/office/drawing/2014/main" id="{F991D99E-AA90-47D6-92BF-AF861CEC5F1F}"/>
              </a:ext>
            </a:extLst>
          </p:cNvPr>
          <p:cNvSpPr/>
          <p:nvPr/>
        </p:nvSpPr>
        <p:spPr>
          <a:xfrm>
            <a:off x="9783502" y="1357809"/>
            <a:ext cx="1938596" cy="2780750"/>
          </a:xfrm>
          <a:prstGeom prst="roundRect">
            <a:avLst/>
          </a:prstGeom>
          <a:solidFill>
            <a:schemeClr val="accent3">
              <a:lumMod val="20000"/>
              <a:lumOff val="80000"/>
            </a:schemeClr>
          </a:solidFill>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800" dirty="0">
              <a:latin typeface="+mj-lt"/>
            </a:endParaRPr>
          </a:p>
        </p:txBody>
      </p:sp>
      <p:sp>
        <p:nvSpPr>
          <p:cNvPr id="27" name="Rectangle 26">
            <a:extLst>
              <a:ext uri="{FF2B5EF4-FFF2-40B4-BE49-F238E27FC236}">
                <a16:creationId xmlns:a16="http://schemas.microsoft.com/office/drawing/2014/main" id="{81176EFF-16D2-470A-AE12-5E4E4FF16BF7}"/>
              </a:ext>
            </a:extLst>
          </p:cNvPr>
          <p:cNvSpPr/>
          <p:nvPr/>
        </p:nvSpPr>
        <p:spPr>
          <a:xfrm>
            <a:off x="10017659" y="1806979"/>
            <a:ext cx="1470283" cy="2058771"/>
          </a:xfrm>
          <a:prstGeom prst="rect">
            <a:avLst/>
          </a:prstGeom>
          <a:solidFill>
            <a:schemeClr val="accent3">
              <a:lumMod val="20000"/>
              <a:lumOff val="80000"/>
            </a:schemeClr>
          </a:solidFill>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800" dirty="0">
              <a:latin typeface="+mj-lt"/>
            </a:endParaRPr>
          </a:p>
          <a:p>
            <a:pPr algn="ctr"/>
            <a:endParaRPr lang="en-US" sz="800" dirty="0">
              <a:latin typeface="+mj-lt"/>
            </a:endParaRPr>
          </a:p>
          <a:p>
            <a:pPr algn="ctr"/>
            <a:endParaRPr lang="en-US" sz="800" dirty="0">
              <a:latin typeface="+mj-lt"/>
            </a:endParaRPr>
          </a:p>
          <a:p>
            <a:pPr algn="ctr"/>
            <a:endParaRPr lang="en-US" sz="800" dirty="0">
              <a:latin typeface="+mj-lt"/>
            </a:endParaRPr>
          </a:p>
          <a:p>
            <a:pPr algn="ctr"/>
            <a:endParaRPr lang="en-US" sz="800" dirty="0">
              <a:latin typeface="+mj-lt"/>
            </a:endParaRPr>
          </a:p>
          <a:p>
            <a:pPr algn="ctr"/>
            <a:endParaRPr lang="en-US" sz="800" dirty="0">
              <a:latin typeface="+mj-lt"/>
            </a:endParaRPr>
          </a:p>
          <a:p>
            <a:pPr algn="ctr"/>
            <a:endParaRPr lang="en-US" sz="800" dirty="0">
              <a:latin typeface="+mj-lt"/>
            </a:endParaRPr>
          </a:p>
          <a:p>
            <a:pPr algn="ctr"/>
            <a:endParaRPr lang="en-US" sz="800" dirty="0">
              <a:latin typeface="+mj-lt"/>
            </a:endParaRPr>
          </a:p>
        </p:txBody>
      </p:sp>
      <p:sp>
        <p:nvSpPr>
          <p:cNvPr id="28" name="Rectangle 27">
            <a:extLst>
              <a:ext uri="{FF2B5EF4-FFF2-40B4-BE49-F238E27FC236}">
                <a16:creationId xmlns:a16="http://schemas.microsoft.com/office/drawing/2014/main" id="{CD5BA1E0-B6D7-4D41-937A-BB3C507D6D59}"/>
              </a:ext>
            </a:extLst>
          </p:cNvPr>
          <p:cNvSpPr/>
          <p:nvPr/>
        </p:nvSpPr>
        <p:spPr>
          <a:xfrm>
            <a:off x="10037633" y="1566151"/>
            <a:ext cx="1470283" cy="174651"/>
          </a:xfrm>
          <a:prstGeom prst="rect">
            <a:avLst/>
          </a:prstGeom>
          <a:solidFill>
            <a:schemeClr val="accent3">
              <a:lumMod val="20000"/>
              <a:lumOff val="80000"/>
            </a:schemeClr>
          </a:solidFill>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800" dirty="0">
                <a:latin typeface="+mj-lt"/>
              </a:rPr>
              <a:t>Traditional BI</a:t>
            </a:r>
          </a:p>
        </p:txBody>
      </p:sp>
      <p:sp>
        <p:nvSpPr>
          <p:cNvPr id="29" name="Rectangle 28">
            <a:extLst>
              <a:ext uri="{FF2B5EF4-FFF2-40B4-BE49-F238E27FC236}">
                <a16:creationId xmlns:a16="http://schemas.microsoft.com/office/drawing/2014/main" id="{99BF85D0-29B4-490A-9E63-A4D0918DD1DA}"/>
              </a:ext>
            </a:extLst>
          </p:cNvPr>
          <p:cNvSpPr/>
          <p:nvPr/>
        </p:nvSpPr>
        <p:spPr>
          <a:xfrm>
            <a:off x="10017659" y="3932963"/>
            <a:ext cx="1470283" cy="165545"/>
          </a:xfrm>
          <a:prstGeom prst="rect">
            <a:avLst/>
          </a:prstGeom>
          <a:solidFill>
            <a:schemeClr val="accent3">
              <a:lumMod val="20000"/>
              <a:lumOff val="80000"/>
            </a:schemeClr>
          </a:solidFill>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800" dirty="0">
                <a:latin typeface="+mj-lt"/>
              </a:rPr>
              <a:t>Analytical</a:t>
            </a:r>
          </a:p>
        </p:txBody>
      </p:sp>
      <p:sp>
        <p:nvSpPr>
          <p:cNvPr id="30" name="Arrow: Right 46">
            <a:extLst>
              <a:ext uri="{FF2B5EF4-FFF2-40B4-BE49-F238E27FC236}">
                <a16:creationId xmlns:a16="http://schemas.microsoft.com/office/drawing/2014/main" id="{3BF875A3-0017-481B-A53F-E77523071D86}"/>
              </a:ext>
            </a:extLst>
          </p:cNvPr>
          <p:cNvSpPr/>
          <p:nvPr/>
        </p:nvSpPr>
        <p:spPr>
          <a:xfrm>
            <a:off x="2446013" y="1848076"/>
            <a:ext cx="287000" cy="137706"/>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800" b="1" kern="0" dirty="0">
              <a:solidFill>
                <a:prstClr val="white"/>
              </a:solidFill>
              <a:latin typeface="+mj-lt"/>
              <a:cs typeface="Arial" pitchFamily="34" charset="0"/>
            </a:endParaRPr>
          </a:p>
        </p:txBody>
      </p:sp>
      <p:sp>
        <p:nvSpPr>
          <p:cNvPr id="31" name="Arrow: Right 46">
            <a:extLst>
              <a:ext uri="{FF2B5EF4-FFF2-40B4-BE49-F238E27FC236}">
                <a16:creationId xmlns:a16="http://schemas.microsoft.com/office/drawing/2014/main" id="{F81D32B6-946B-4A33-B685-67B5D516CC39}"/>
              </a:ext>
            </a:extLst>
          </p:cNvPr>
          <p:cNvSpPr/>
          <p:nvPr/>
        </p:nvSpPr>
        <p:spPr>
          <a:xfrm>
            <a:off x="2446013" y="2987147"/>
            <a:ext cx="287000" cy="137706"/>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800" b="1" kern="0" dirty="0">
              <a:solidFill>
                <a:prstClr val="white"/>
              </a:solidFill>
              <a:latin typeface="+mj-lt"/>
              <a:cs typeface="Arial" pitchFamily="34" charset="0"/>
            </a:endParaRPr>
          </a:p>
        </p:txBody>
      </p:sp>
      <p:sp>
        <p:nvSpPr>
          <p:cNvPr id="32" name="Rounded Rectangle 56">
            <a:extLst>
              <a:ext uri="{FF2B5EF4-FFF2-40B4-BE49-F238E27FC236}">
                <a16:creationId xmlns:a16="http://schemas.microsoft.com/office/drawing/2014/main" id="{73EB6A01-DB37-44B7-91F7-EB3B5106CD2D}"/>
              </a:ext>
            </a:extLst>
          </p:cNvPr>
          <p:cNvSpPr/>
          <p:nvPr/>
        </p:nvSpPr>
        <p:spPr>
          <a:xfrm>
            <a:off x="2828705" y="4257891"/>
            <a:ext cx="8807172" cy="17747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mj-lt"/>
              </a:rPr>
              <a:t>Governance, Health Check, Metadata &amp; Security</a:t>
            </a:r>
          </a:p>
        </p:txBody>
      </p:sp>
      <p:cxnSp>
        <p:nvCxnSpPr>
          <p:cNvPr id="33" name="Straight Arrow Connector 32">
            <a:extLst>
              <a:ext uri="{FF2B5EF4-FFF2-40B4-BE49-F238E27FC236}">
                <a16:creationId xmlns:a16="http://schemas.microsoft.com/office/drawing/2014/main" id="{5F05E8C5-2D76-4037-874A-5054E7CD33FC}"/>
              </a:ext>
            </a:extLst>
          </p:cNvPr>
          <p:cNvCxnSpPr>
            <a:stCxn id="12" idx="2"/>
            <a:endCxn id="13" idx="0"/>
          </p:cNvCxnSpPr>
          <p:nvPr/>
        </p:nvCxnSpPr>
        <p:spPr>
          <a:xfrm flipH="1">
            <a:off x="6134037" y="2177546"/>
            <a:ext cx="1" cy="2234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7196973-3ED5-4CF4-92C6-FFAA9D52BE6A}"/>
              </a:ext>
            </a:extLst>
          </p:cNvPr>
          <p:cNvCxnSpPr>
            <a:stCxn id="13" idx="2"/>
            <a:endCxn id="14" idx="0"/>
          </p:cNvCxnSpPr>
          <p:nvPr/>
        </p:nvCxnSpPr>
        <p:spPr>
          <a:xfrm>
            <a:off x="6134037" y="2755899"/>
            <a:ext cx="0" cy="2231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2E3EFE3-EB35-499C-B561-90ADB2DEB7FD}"/>
              </a:ext>
            </a:extLst>
          </p:cNvPr>
          <p:cNvCxnSpPr>
            <a:stCxn id="14" idx="2"/>
            <a:endCxn id="25" idx="0"/>
          </p:cNvCxnSpPr>
          <p:nvPr/>
        </p:nvCxnSpPr>
        <p:spPr>
          <a:xfrm>
            <a:off x="6134037" y="3333977"/>
            <a:ext cx="0" cy="2179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63">
            <a:extLst>
              <a:ext uri="{FF2B5EF4-FFF2-40B4-BE49-F238E27FC236}">
                <a16:creationId xmlns:a16="http://schemas.microsoft.com/office/drawing/2014/main" id="{EACF246C-0FED-4E09-8E69-5002BEA6CEE1}"/>
              </a:ext>
            </a:extLst>
          </p:cNvPr>
          <p:cNvCxnSpPr>
            <a:stCxn id="14" idx="3"/>
            <a:endCxn id="17" idx="1"/>
          </p:cNvCxnSpPr>
          <p:nvPr/>
        </p:nvCxnSpPr>
        <p:spPr>
          <a:xfrm flipV="1">
            <a:off x="6700367" y="2256484"/>
            <a:ext cx="561715" cy="900018"/>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89">
            <a:extLst>
              <a:ext uri="{FF2B5EF4-FFF2-40B4-BE49-F238E27FC236}">
                <a16:creationId xmlns:a16="http://schemas.microsoft.com/office/drawing/2014/main" id="{21E2289C-1E9F-4047-82BF-397807DF9EB2}"/>
              </a:ext>
            </a:extLst>
          </p:cNvPr>
          <p:cNvCxnSpPr/>
          <p:nvPr/>
        </p:nvCxnSpPr>
        <p:spPr>
          <a:xfrm flipV="1">
            <a:off x="6738676" y="1916597"/>
            <a:ext cx="3277171" cy="1243330"/>
          </a:xfrm>
          <a:prstGeom prst="bentConnector3">
            <a:avLst>
              <a:gd name="adj1" fmla="val 67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101">
            <a:extLst>
              <a:ext uri="{FF2B5EF4-FFF2-40B4-BE49-F238E27FC236}">
                <a16:creationId xmlns:a16="http://schemas.microsoft.com/office/drawing/2014/main" id="{0B32C897-6540-4F46-B6BF-CC49D4CE0B35}"/>
              </a:ext>
            </a:extLst>
          </p:cNvPr>
          <p:cNvSpPr/>
          <p:nvPr/>
        </p:nvSpPr>
        <p:spPr>
          <a:xfrm>
            <a:off x="8394745" y="2040626"/>
            <a:ext cx="885170" cy="43507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Semantic</a:t>
            </a:r>
          </a:p>
        </p:txBody>
      </p:sp>
      <p:cxnSp>
        <p:nvCxnSpPr>
          <p:cNvPr id="39" name="Straight Arrow Connector 38">
            <a:extLst>
              <a:ext uri="{FF2B5EF4-FFF2-40B4-BE49-F238E27FC236}">
                <a16:creationId xmlns:a16="http://schemas.microsoft.com/office/drawing/2014/main" id="{38DE47B3-22F9-4805-9819-EBCB6DBBB2F1}"/>
              </a:ext>
            </a:extLst>
          </p:cNvPr>
          <p:cNvCxnSpPr>
            <a:endCxn id="38" idx="1"/>
          </p:cNvCxnSpPr>
          <p:nvPr/>
        </p:nvCxnSpPr>
        <p:spPr>
          <a:xfrm>
            <a:off x="8367671" y="2245343"/>
            <a:ext cx="27073" cy="12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C73BBB9-BB48-46C7-897A-5EB48DFE5DCF}"/>
              </a:ext>
            </a:extLst>
          </p:cNvPr>
          <p:cNvCxnSpPr>
            <a:stCxn id="17" idx="3"/>
            <a:endCxn id="38" idx="1"/>
          </p:cNvCxnSpPr>
          <p:nvPr/>
        </p:nvCxnSpPr>
        <p:spPr>
          <a:xfrm>
            <a:off x="8236986" y="2256484"/>
            <a:ext cx="157759" cy="16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567CE4D-0935-41EF-8654-1E9B74A660FF}"/>
              </a:ext>
            </a:extLst>
          </p:cNvPr>
          <p:cNvCxnSpPr>
            <a:stCxn id="56" idx="3"/>
          </p:cNvCxnSpPr>
          <p:nvPr/>
        </p:nvCxnSpPr>
        <p:spPr>
          <a:xfrm flipV="1">
            <a:off x="9183600" y="2664044"/>
            <a:ext cx="854033" cy="40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EC6D9BEB-8AC3-4B25-8685-D2E76B6CA4BA}"/>
              </a:ext>
            </a:extLst>
          </p:cNvPr>
          <p:cNvSpPr/>
          <p:nvPr/>
        </p:nvSpPr>
        <p:spPr>
          <a:xfrm>
            <a:off x="9506164" y="1749347"/>
            <a:ext cx="268078" cy="138239"/>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mj-lt"/>
                <a:ea typeface="+mn-ea"/>
                <a:cs typeface="+mn-cs"/>
              </a:rPr>
              <a:t>1</a:t>
            </a:r>
          </a:p>
        </p:txBody>
      </p:sp>
      <p:sp>
        <p:nvSpPr>
          <p:cNvPr id="43" name="Oval 42">
            <a:extLst>
              <a:ext uri="{FF2B5EF4-FFF2-40B4-BE49-F238E27FC236}">
                <a16:creationId xmlns:a16="http://schemas.microsoft.com/office/drawing/2014/main" id="{5A723B28-869C-49F9-B7E4-E291A518E813}"/>
              </a:ext>
            </a:extLst>
          </p:cNvPr>
          <p:cNvSpPr/>
          <p:nvPr/>
        </p:nvSpPr>
        <p:spPr>
          <a:xfrm>
            <a:off x="9516513" y="2098099"/>
            <a:ext cx="268078" cy="138239"/>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0" dirty="0">
                <a:solidFill>
                  <a:srgbClr val="FFFFFF"/>
                </a:solidFill>
                <a:latin typeface="+mj-lt"/>
              </a:rPr>
              <a:t>2</a:t>
            </a:r>
            <a:endParaRPr kumimoji="0" lang="en-US" sz="800" b="1" i="0" u="none" strike="noStrike" kern="0" cap="none" spc="0" normalizeH="0" baseline="0" noProof="0" dirty="0">
              <a:ln>
                <a:noFill/>
              </a:ln>
              <a:solidFill>
                <a:srgbClr val="FFFFFF"/>
              </a:solidFill>
              <a:effectLst/>
              <a:uLnTx/>
              <a:uFillTx/>
              <a:latin typeface="+mj-lt"/>
              <a:ea typeface="+mn-ea"/>
              <a:cs typeface="+mn-cs"/>
            </a:endParaRPr>
          </a:p>
        </p:txBody>
      </p:sp>
      <p:sp>
        <p:nvSpPr>
          <p:cNvPr id="44" name="Oval 43">
            <a:extLst>
              <a:ext uri="{FF2B5EF4-FFF2-40B4-BE49-F238E27FC236}">
                <a16:creationId xmlns:a16="http://schemas.microsoft.com/office/drawing/2014/main" id="{FE4ABD64-1B9A-403D-B598-09B22161EEE5}"/>
              </a:ext>
            </a:extLst>
          </p:cNvPr>
          <p:cNvSpPr/>
          <p:nvPr/>
        </p:nvSpPr>
        <p:spPr>
          <a:xfrm>
            <a:off x="9507816" y="2496711"/>
            <a:ext cx="268078" cy="138239"/>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mj-lt"/>
                <a:ea typeface="+mn-ea"/>
                <a:cs typeface="+mn-cs"/>
              </a:rPr>
              <a:t>3</a:t>
            </a:r>
          </a:p>
        </p:txBody>
      </p:sp>
      <p:cxnSp>
        <p:nvCxnSpPr>
          <p:cNvPr id="55" name="Elbow Connector 2056">
            <a:extLst>
              <a:ext uri="{FF2B5EF4-FFF2-40B4-BE49-F238E27FC236}">
                <a16:creationId xmlns:a16="http://schemas.microsoft.com/office/drawing/2014/main" id="{7B10117D-CB63-4A1C-91B5-09CA78308087}"/>
              </a:ext>
            </a:extLst>
          </p:cNvPr>
          <p:cNvCxnSpPr>
            <a:stCxn id="14" idx="3"/>
            <a:endCxn id="56" idx="1"/>
          </p:cNvCxnSpPr>
          <p:nvPr/>
        </p:nvCxnSpPr>
        <p:spPr>
          <a:xfrm flipV="1">
            <a:off x="6700367" y="2668065"/>
            <a:ext cx="637948" cy="488437"/>
          </a:xfrm>
          <a:prstGeom prst="bentConnector3">
            <a:avLst>
              <a:gd name="adj1" fmla="val 63195"/>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Rounded Rectangle 38">
            <a:extLst>
              <a:ext uri="{FF2B5EF4-FFF2-40B4-BE49-F238E27FC236}">
                <a16:creationId xmlns:a16="http://schemas.microsoft.com/office/drawing/2014/main" id="{54791777-89B0-4D45-9AA3-2B83DC4C747B}"/>
              </a:ext>
            </a:extLst>
          </p:cNvPr>
          <p:cNvSpPr/>
          <p:nvPr/>
        </p:nvSpPr>
        <p:spPr>
          <a:xfrm>
            <a:off x="7338316" y="2583341"/>
            <a:ext cx="1845285" cy="16944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800" dirty="0">
                <a:latin typeface="+mj-lt"/>
              </a:rPr>
              <a:t>NoSQL/Graph</a:t>
            </a:r>
          </a:p>
        </p:txBody>
      </p:sp>
      <p:pic>
        <p:nvPicPr>
          <p:cNvPr id="57" name="Picture 56">
            <a:extLst>
              <a:ext uri="{FF2B5EF4-FFF2-40B4-BE49-F238E27FC236}">
                <a16:creationId xmlns:a16="http://schemas.microsoft.com/office/drawing/2014/main" id="{89E1E714-C035-4182-BB63-30E674DD4A3A}"/>
              </a:ext>
            </a:extLst>
          </p:cNvPr>
          <p:cNvPicPr>
            <a:picLocks noChangeAspect="1"/>
          </p:cNvPicPr>
          <p:nvPr/>
        </p:nvPicPr>
        <p:blipFill>
          <a:blip r:embed="rId9"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10559028" y="2123440"/>
            <a:ext cx="366524" cy="248920"/>
          </a:xfrm>
          <a:prstGeom prst="rect">
            <a:avLst/>
          </a:prstGeom>
        </p:spPr>
      </p:pic>
      <p:pic>
        <p:nvPicPr>
          <p:cNvPr id="58" name="Picture 57">
            <a:extLst>
              <a:ext uri="{FF2B5EF4-FFF2-40B4-BE49-F238E27FC236}">
                <a16:creationId xmlns:a16="http://schemas.microsoft.com/office/drawing/2014/main" id="{DEA04697-4789-4B6F-83BB-97AB96A5BBF8}"/>
              </a:ext>
            </a:extLst>
          </p:cNvPr>
          <p:cNvPicPr>
            <a:picLocks noChangeAspect="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25085" y="2717649"/>
            <a:ext cx="725866" cy="323374"/>
          </a:xfrm>
          <a:prstGeom prst="rect">
            <a:avLst/>
          </a:prstGeom>
        </p:spPr>
      </p:pic>
      <p:sp>
        <p:nvSpPr>
          <p:cNvPr id="59" name="Rectangle 58">
            <a:extLst>
              <a:ext uri="{FF2B5EF4-FFF2-40B4-BE49-F238E27FC236}">
                <a16:creationId xmlns:a16="http://schemas.microsoft.com/office/drawing/2014/main" id="{D7266A58-EE69-4C35-A321-3CF61A4823C4}"/>
              </a:ext>
            </a:extLst>
          </p:cNvPr>
          <p:cNvSpPr/>
          <p:nvPr/>
        </p:nvSpPr>
        <p:spPr>
          <a:xfrm>
            <a:off x="10203228" y="2492380"/>
            <a:ext cx="1139094" cy="123111"/>
          </a:xfrm>
          <a:prstGeom prst="rect">
            <a:avLst/>
          </a:prstGeom>
          <a:noFill/>
          <a:ln w="19050" cap="flat" cmpd="sng" algn="ctr">
            <a:noFill/>
            <a:prstDash val="solid"/>
          </a:ln>
          <a:effectLst/>
        </p:spPr>
        <p:txBody>
          <a:bodyPr wrap="none" lIns="45720" tIns="0" rIns="45720" bIns="0" rtlCol="0" anchor="ctr">
            <a:spAutoFit/>
          </a:bodyPr>
          <a:lstStyle>
            <a:defPPr>
              <a:defRPr lang="en-US"/>
            </a:defPPr>
            <a:lvl1pPr algn="ctr" rtl="0" fontAlgn="base">
              <a:spcBef>
                <a:spcPct val="20000"/>
              </a:spcBef>
              <a:spcAft>
                <a:spcPct val="0"/>
              </a:spcAft>
              <a:defRPr sz="1100" b="1" kern="1200">
                <a:solidFill>
                  <a:schemeClr val="lt1"/>
                </a:solidFill>
                <a:latin typeface="+mn-lt"/>
                <a:ea typeface="+mn-ea"/>
                <a:cs typeface="+mn-cs"/>
              </a:defRPr>
            </a:lvl1pPr>
            <a:lvl2pPr marL="457200" algn="ctr" rtl="0" fontAlgn="base">
              <a:spcBef>
                <a:spcPct val="20000"/>
              </a:spcBef>
              <a:spcAft>
                <a:spcPct val="0"/>
              </a:spcAft>
              <a:defRPr sz="1100" b="1" kern="1200">
                <a:solidFill>
                  <a:schemeClr val="lt1"/>
                </a:solidFill>
                <a:latin typeface="+mn-lt"/>
                <a:ea typeface="+mn-ea"/>
                <a:cs typeface="+mn-cs"/>
              </a:defRPr>
            </a:lvl2pPr>
            <a:lvl3pPr marL="914400" algn="ctr" rtl="0" fontAlgn="base">
              <a:spcBef>
                <a:spcPct val="20000"/>
              </a:spcBef>
              <a:spcAft>
                <a:spcPct val="0"/>
              </a:spcAft>
              <a:defRPr sz="1100" b="1" kern="1200">
                <a:solidFill>
                  <a:schemeClr val="lt1"/>
                </a:solidFill>
                <a:latin typeface="+mn-lt"/>
                <a:ea typeface="+mn-ea"/>
                <a:cs typeface="+mn-cs"/>
              </a:defRPr>
            </a:lvl3pPr>
            <a:lvl4pPr marL="1371600" algn="ctr" rtl="0" fontAlgn="base">
              <a:spcBef>
                <a:spcPct val="20000"/>
              </a:spcBef>
              <a:spcAft>
                <a:spcPct val="0"/>
              </a:spcAft>
              <a:defRPr sz="1100" b="1" kern="1200">
                <a:solidFill>
                  <a:schemeClr val="lt1"/>
                </a:solidFill>
                <a:latin typeface="+mn-lt"/>
                <a:ea typeface="+mn-ea"/>
                <a:cs typeface="+mn-cs"/>
              </a:defRPr>
            </a:lvl4pPr>
            <a:lvl5pPr marL="1828800" algn="ctr" rtl="0" fontAlgn="base">
              <a:spcBef>
                <a:spcPct val="20000"/>
              </a:spcBef>
              <a:spcAft>
                <a:spcPct val="0"/>
              </a:spcAft>
              <a:defRPr sz="1100" b="1" kern="1200">
                <a:solidFill>
                  <a:schemeClr val="lt1"/>
                </a:solidFill>
                <a:latin typeface="+mn-lt"/>
                <a:ea typeface="+mn-ea"/>
                <a:cs typeface="+mn-cs"/>
              </a:defRPr>
            </a:lvl5pPr>
            <a:lvl6pPr marL="2286000" algn="l" defTabSz="914400" rtl="0" eaLnBrk="1" latinLnBrk="0" hangingPunct="1">
              <a:defRPr sz="1100" b="1" kern="1200">
                <a:solidFill>
                  <a:schemeClr val="lt1"/>
                </a:solidFill>
                <a:latin typeface="+mn-lt"/>
                <a:ea typeface="+mn-ea"/>
                <a:cs typeface="+mn-cs"/>
              </a:defRPr>
            </a:lvl6pPr>
            <a:lvl7pPr marL="2743200" algn="l" defTabSz="914400" rtl="0" eaLnBrk="1" latinLnBrk="0" hangingPunct="1">
              <a:defRPr sz="1100" b="1" kern="1200">
                <a:solidFill>
                  <a:schemeClr val="lt1"/>
                </a:solidFill>
                <a:latin typeface="+mn-lt"/>
                <a:ea typeface="+mn-ea"/>
                <a:cs typeface="+mn-cs"/>
              </a:defRPr>
            </a:lvl7pPr>
            <a:lvl8pPr marL="3200400" algn="l" defTabSz="914400" rtl="0" eaLnBrk="1" latinLnBrk="0" hangingPunct="1">
              <a:defRPr sz="1100" b="1" kern="1200">
                <a:solidFill>
                  <a:schemeClr val="lt1"/>
                </a:solidFill>
                <a:latin typeface="+mn-lt"/>
                <a:ea typeface="+mn-ea"/>
                <a:cs typeface="+mn-cs"/>
              </a:defRPr>
            </a:lvl8pPr>
            <a:lvl9pPr marL="3657600" algn="l" defTabSz="914400" rtl="0" eaLnBrk="1" latinLnBrk="0" hangingPunct="1">
              <a:defRPr sz="1100" b="1"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j-lt"/>
                <a:ea typeface="Arial" charset="0"/>
                <a:cs typeface="Arial" charset="0"/>
              </a:rPr>
              <a:t>Real</a:t>
            </a:r>
            <a:r>
              <a:rPr kumimoji="0" lang="en-US" sz="800" b="0" i="0" u="none" strike="noStrike" kern="1200" cap="none" spc="0" normalizeH="0" noProof="0" dirty="0">
                <a:ln>
                  <a:noFill/>
                </a:ln>
                <a:solidFill>
                  <a:srgbClr val="000000"/>
                </a:solidFill>
                <a:effectLst/>
                <a:uLnTx/>
                <a:uFillTx/>
                <a:latin typeface="+mj-lt"/>
                <a:ea typeface="Arial" charset="0"/>
                <a:cs typeface="Arial" charset="0"/>
              </a:rPr>
              <a:t> Time Analytics </a:t>
            </a:r>
            <a:endParaRPr kumimoji="0" lang="en-US" sz="800" b="0" i="0" u="none" strike="noStrike" kern="1200" cap="none" spc="0" normalizeH="0" baseline="0" noProof="0" dirty="0">
              <a:ln>
                <a:noFill/>
              </a:ln>
              <a:solidFill>
                <a:srgbClr val="000000"/>
              </a:solidFill>
              <a:effectLst/>
              <a:uLnTx/>
              <a:uFillTx/>
              <a:latin typeface="+mj-lt"/>
              <a:ea typeface="Arial" charset="0"/>
              <a:cs typeface="Arial" charset="0"/>
            </a:endParaRPr>
          </a:p>
        </p:txBody>
      </p:sp>
      <p:grpSp>
        <p:nvGrpSpPr>
          <p:cNvPr id="60" name="Group 59">
            <a:extLst>
              <a:ext uri="{FF2B5EF4-FFF2-40B4-BE49-F238E27FC236}">
                <a16:creationId xmlns:a16="http://schemas.microsoft.com/office/drawing/2014/main" id="{84EA82AE-C995-46AA-8EE0-4284BF57AF4A}"/>
              </a:ext>
            </a:extLst>
          </p:cNvPr>
          <p:cNvGrpSpPr/>
          <p:nvPr/>
        </p:nvGrpSpPr>
        <p:grpSpPr>
          <a:xfrm>
            <a:off x="10639823" y="3325672"/>
            <a:ext cx="336713" cy="164723"/>
            <a:chOff x="7562086" y="2013177"/>
            <a:chExt cx="266700" cy="184150"/>
          </a:xfrm>
        </p:grpSpPr>
        <p:sp>
          <p:nvSpPr>
            <p:cNvPr id="61" name="Freeform 221">
              <a:extLst>
                <a:ext uri="{FF2B5EF4-FFF2-40B4-BE49-F238E27FC236}">
                  <a16:creationId xmlns:a16="http://schemas.microsoft.com/office/drawing/2014/main" id="{11C0FFE3-AA91-449E-A557-7C45B1B15BD7}"/>
                </a:ext>
              </a:extLst>
            </p:cNvPr>
            <p:cNvSpPr>
              <a:spLocks/>
            </p:cNvSpPr>
            <p:nvPr/>
          </p:nvSpPr>
          <p:spPr bwMode="auto">
            <a:xfrm>
              <a:off x="7562086" y="2171927"/>
              <a:ext cx="266700" cy="25400"/>
            </a:xfrm>
            <a:custGeom>
              <a:avLst/>
              <a:gdLst>
                <a:gd name="T0" fmla="*/ 330 w 335"/>
                <a:gd name="T1" fmla="*/ 0 h 33"/>
                <a:gd name="T2" fmla="*/ 5 w 335"/>
                <a:gd name="T3" fmla="*/ 0 h 33"/>
                <a:gd name="T4" fmla="*/ 5 w 335"/>
                <a:gd name="T5" fmla="*/ 0 h 33"/>
                <a:gd name="T6" fmla="*/ 2 w 335"/>
                <a:gd name="T7" fmla="*/ 0 h 33"/>
                <a:gd name="T8" fmla="*/ 1 w 335"/>
                <a:gd name="T9" fmla="*/ 2 h 33"/>
                <a:gd name="T10" fmla="*/ 0 w 335"/>
                <a:gd name="T11" fmla="*/ 3 h 33"/>
                <a:gd name="T12" fmla="*/ 0 w 335"/>
                <a:gd name="T13" fmla="*/ 6 h 33"/>
                <a:gd name="T14" fmla="*/ 0 w 335"/>
                <a:gd name="T15" fmla="*/ 11 h 33"/>
                <a:gd name="T16" fmla="*/ 0 w 335"/>
                <a:gd name="T17" fmla="*/ 11 h 33"/>
                <a:gd name="T18" fmla="*/ 0 w 335"/>
                <a:gd name="T19" fmla="*/ 15 h 33"/>
                <a:gd name="T20" fmla="*/ 1 w 335"/>
                <a:gd name="T21" fmla="*/ 19 h 33"/>
                <a:gd name="T22" fmla="*/ 4 w 335"/>
                <a:gd name="T23" fmla="*/ 23 h 33"/>
                <a:gd name="T24" fmla="*/ 6 w 335"/>
                <a:gd name="T25" fmla="*/ 26 h 33"/>
                <a:gd name="T26" fmla="*/ 9 w 335"/>
                <a:gd name="T27" fmla="*/ 29 h 33"/>
                <a:gd name="T28" fmla="*/ 13 w 335"/>
                <a:gd name="T29" fmla="*/ 31 h 33"/>
                <a:gd name="T30" fmla="*/ 17 w 335"/>
                <a:gd name="T31" fmla="*/ 33 h 33"/>
                <a:gd name="T32" fmla="*/ 21 w 335"/>
                <a:gd name="T33" fmla="*/ 33 h 33"/>
                <a:gd name="T34" fmla="*/ 314 w 335"/>
                <a:gd name="T35" fmla="*/ 33 h 33"/>
                <a:gd name="T36" fmla="*/ 314 w 335"/>
                <a:gd name="T37" fmla="*/ 33 h 33"/>
                <a:gd name="T38" fmla="*/ 318 w 335"/>
                <a:gd name="T39" fmla="*/ 33 h 33"/>
                <a:gd name="T40" fmla="*/ 322 w 335"/>
                <a:gd name="T41" fmla="*/ 31 h 33"/>
                <a:gd name="T42" fmla="*/ 326 w 335"/>
                <a:gd name="T43" fmla="*/ 29 h 33"/>
                <a:gd name="T44" fmla="*/ 329 w 335"/>
                <a:gd name="T45" fmla="*/ 26 h 33"/>
                <a:gd name="T46" fmla="*/ 331 w 335"/>
                <a:gd name="T47" fmla="*/ 23 h 33"/>
                <a:gd name="T48" fmla="*/ 334 w 335"/>
                <a:gd name="T49" fmla="*/ 19 h 33"/>
                <a:gd name="T50" fmla="*/ 335 w 335"/>
                <a:gd name="T51" fmla="*/ 15 h 33"/>
                <a:gd name="T52" fmla="*/ 335 w 335"/>
                <a:gd name="T53" fmla="*/ 11 h 33"/>
                <a:gd name="T54" fmla="*/ 335 w 335"/>
                <a:gd name="T55" fmla="*/ 6 h 33"/>
                <a:gd name="T56" fmla="*/ 335 w 335"/>
                <a:gd name="T57" fmla="*/ 6 h 33"/>
                <a:gd name="T58" fmla="*/ 335 w 335"/>
                <a:gd name="T59" fmla="*/ 3 h 33"/>
                <a:gd name="T60" fmla="*/ 334 w 335"/>
                <a:gd name="T61" fmla="*/ 2 h 33"/>
                <a:gd name="T62" fmla="*/ 331 w 335"/>
                <a:gd name="T63" fmla="*/ 0 h 33"/>
                <a:gd name="T64" fmla="*/ 330 w 335"/>
                <a:gd name="T65" fmla="*/ 0 h 33"/>
                <a:gd name="T66" fmla="*/ 330 w 335"/>
                <a:gd name="T67"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5" h="33">
                  <a:moveTo>
                    <a:pt x="330" y="0"/>
                  </a:moveTo>
                  <a:lnTo>
                    <a:pt x="5" y="0"/>
                  </a:lnTo>
                  <a:lnTo>
                    <a:pt x="5" y="0"/>
                  </a:lnTo>
                  <a:lnTo>
                    <a:pt x="2" y="0"/>
                  </a:lnTo>
                  <a:lnTo>
                    <a:pt x="1" y="2"/>
                  </a:lnTo>
                  <a:lnTo>
                    <a:pt x="0" y="3"/>
                  </a:lnTo>
                  <a:lnTo>
                    <a:pt x="0" y="6"/>
                  </a:lnTo>
                  <a:lnTo>
                    <a:pt x="0" y="11"/>
                  </a:lnTo>
                  <a:lnTo>
                    <a:pt x="0" y="11"/>
                  </a:lnTo>
                  <a:lnTo>
                    <a:pt x="0" y="15"/>
                  </a:lnTo>
                  <a:lnTo>
                    <a:pt x="1" y="19"/>
                  </a:lnTo>
                  <a:lnTo>
                    <a:pt x="4" y="23"/>
                  </a:lnTo>
                  <a:lnTo>
                    <a:pt x="6" y="26"/>
                  </a:lnTo>
                  <a:lnTo>
                    <a:pt x="9" y="29"/>
                  </a:lnTo>
                  <a:lnTo>
                    <a:pt x="13" y="31"/>
                  </a:lnTo>
                  <a:lnTo>
                    <a:pt x="17" y="33"/>
                  </a:lnTo>
                  <a:lnTo>
                    <a:pt x="21" y="33"/>
                  </a:lnTo>
                  <a:lnTo>
                    <a:pt x="314" y="33"/>
                  </a:lnTo>
                  <a:lnTo>
                    <a:pt x="314" y="33"/>
                  </a:lnTo>
                  <a:lnTo>
                    <a:pt x="318" y="33"/>
                  </a:lnTo>
                  <a:lnTo>
                    <a:pt x="322" y="31"/>
                  </a:lnTo>
                  <a:lnTo>
                    <a:pt x="326" y="29"/>
                  </a:lnTo>
                  <a:lnTo>
                    <a:pt x="329" y="26"/>
                  </a:lnTo>
                  <a:lnTo>
                    <a:pt x="331" y="23"/>
                  </a:lnTo>
                  <a:lnTo>
                    <a:pt x="334" y="19"/>
                  </a:lnTo>
                  <a:lnTo>
                    <a:pt x="335" y="15"/>
                  </a:lnTo>
                  <a:lnTo>
                    <a:pt x="335" y="11"/>
                  </a:lnTo>
                  <a:lnTo>
                    <a:pt x="335" y="6"/>
                  </a:lnTo>
                  <a:lnTo>
                    <a:pt x="335" y="6"/>
                  </a:lnTo>
                  <a:lnTo>
                    <a:pt x="335" y="3"/>
                  </a:lnTo>
                  <a:lnTo>
                    <a:pt x="334" y="2"/>
                  </a:lnTo>
                  <a:lnTo>
                    <a:pt x="331" y="0"/>
                  </a:lnTo>
                  <a:lnTo>
                    <a:pt x="330" y="0"/>
                  </a:lnTo>
                  <a:lnTo>
                    <a:pt x="3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srgbClr val="000000"/>
                </a:solidFill>
                <a:effectLst/>
                <a:uLnTx/>
                <a:uFillTx/>
                <a:latin typeface="+mj-lt"/>
                <a:ea typeface="+mn-ea"/>
                <a:cs typeface="+mn-cs"/>
              </a:endParaRPr>
            </a:p>
          </p:txBody>
        </p:sp>
        <p:sp>
          <p:nvSpPr>
            <p:cNvPr id="62" name="Freeform 222">
              <a:extLst>
                <a:ext uri="{FF2B5EF4-FFF2-40B4-BE49-F238E27FC236}">
                  <a16:creationId xmlns:a16="http://schemas.microsoft.com/office/drawing/2014/main" id="{51C67D72-A306-4E17-AC9B-5E0B1576E0A1}"/>
                </a:ext>
              </a:extLst>
            </p:cNvPr>
            <p:cNvSpPr>
              <a:spLocks/>
            </p:cNvSpPr>
            <p:nvPr/>
          </p:nvSpPr>
          <p:spPr bwMode="auto">
            <a:xfrm>
              <a:off x="7582723" y="2013177"/>
              <a:ext cx="223838" cy="142875"/>
            </a:xfrm>
            <a:custGeom>
              <a:avLst/>
              <a:gdLst>
                <a:gd name="T0" fmla="*/ 22 w 283"/>
                <a:gd name="T1" fmla="*/ 33 h 179"/>
                <a:gd name="T2" fmla="*/ 22 w 283"/>
                <a:gd name="T3" fmla="*/ 33 h 179"/>
                <a:gd name="T4" fmla="*/ 23 w 283"/>
                <a:gd name="T5" fmla="*/ 29 h 179"/>
                <a:gd name="T6" fmla="*/ 26 w 283"/>
                <a:gd name="T7" fmla="*/ 25 h 179"/>
                <a:gd name="T8" fmla="*/ 29 w 283"/>
                <a:gd name="T9" fmla="*/ 23 h 179"/>
                <a:gd name="T10" fmla="*/ 33 w 283"/>
                <a:gd name="T11" fmla="*/ 22 h 179"/>
                <a:gd name="T12" fmla="*/ 250 w 283"/>
                <a:gd name="T13" fmla="*/ 22 h 179"/>
                <a:gd name="T14" fmla="*/ 250 w 283"/>
                <a:gd name="T15" fmla="*/ 22 h 179"/>
                <a:gd name="T16" fmla="*/ 254 w 283"/>
                <a:gd name="T17" fmla="*/ 23 h 179"/>
                <a:gd name="T18" fmla="*/ 257 w 283"/>
                <a:gd name="T19" fmla="*/ 25 h 179"/>
                <a:gd name="T20" fmla="*/ 260 w 283"/>
                <a:gd name="T21" fmla="*/ 29 h 179"/>
                <a:gd name="T22" fmla="*/ 261 w 283"/>
                <a:gd name="T23" fmla="*/ 33 h 179"/>
                <a:gd name="T24" fmla="*/ 261 w 283"/>
                <a:gd name="T25" fmla="*/ 179 h 179"/>
                <a:gd name="T26" fmla="*/ 283 w 283"/>
                <a:gd name="T27" fmla="*/ 179 h 179"/>
                <a:gd name="T28" fmla="*/ 283 w 283"/>
                <a:gd name="T29" fmla="*/ 33 h 179"/>
                <a:gd name="T30" fmla="*/ 283 w 283"/>
                <a:gd name="T31" fmla="*/ 33 h 179"/>
                <a:gd name="T32" fmla="*/ 281 w 283"/>
                <a:gd name="T33" fmla="*/ 26 h 179"/>
                <a:gd name="T34" fmla="*/ 280 w 283"/>
                <a:gd name="T35" fmla="*/ 21 h 179"/>
                <a:gd name="T36" fmla="*/ 277 w 283"/>
                <a:gd name="T37" fmla="*/ 14 h 179"/>
                <a:gd name="T38" fmla="*/ 273 w 283"/>
                <a:gd name="T39" fmla="*/ 10 h 179"/>
                <a:gd name="T40" fmla="*/ 268 w 283"/>
                <a:gd name="T41" fmla="*/ 6 h 179"/>
                <a:gd name="T42" fmla="*/ 262 w 283"/>
                <a:gd name="T43" fmla="*/ 3 h 179"/>
                <a:gd name="T44" fmla="*/ 256 w 283"/>
                <a:gd name="T45" fmla="*/ 0 h 179"/>
                <a:gd name="T46" fmla="*/ 250 w 283"/>
                <a:gd name="T47" fmla="*/ 0 h 179"/>
                <a:gd name="T48" fmla="*/ 33 w 283"/>
                <a:gd name="T49" fmla="*/ 0 h 179"/>
                <a:gd name="T50" fmla="*/ 33 w 283"/>
                <a:gd name="T51" fmla="*/ 0 h 179"/>
                <a:gd name="T52" fmla="*/ 26 w 283"/>
                <a:gd name="T53" fmla="*/ 0 h 179"/>
                <a:gd name="T54" fmla="*/ 21 w 283"/>
                <a:gd name="T55" fmla="*/ 3 h 179"/>
                <a:gd name="T56" fmla="*/ 15 w 283"/>
                <a:gd name="T57" fmla="*/ 6 h 179"/>
                <a:gd name="T58" fmla="*/ 10 w 283"/>
                <a:gd name="T59" fmla="*/ 10 h 179"/>
                <a:gd name="T60" fmla="*/ 6 w 283"/>
                <a:gd name="T61" fmla="*/ 14 h 179"/>
                <a:gd name="T62" fmla="*/ 3 w 283"/>
                <a:gd name="T63" fmla="*/ 21 h 179"/>
                <a:gd name="T64" fmla="*/ 2 w 283"/>
                <a:gd name="T65" fmla="*/ 26 h 179"/>
                <a:gd name="T66" fmla="*/ 0 w 283"/>
                <a:gd name="T67" fmla="*/ 33 h 179"/>
                <a:gd name="T68" fmla="*/ 0 w 283"/>
                <a:gd name="T69" fmla="*/ 179 h 179"/>
                <a:gd name="T70" fmla="*/ 22 w 283"/>
                <a:gd name="T71" fmla="*/ 179 h 179"/>
                <a:gd name="T72" fmla="*/ 22 w 283"/>
                <a:gd name="T73" fmla="*/ 3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3" h="179">
                  <a:moveTo>
                    <a:pt x="22" y="33"/>
                  </a:moveTo>
                  <a:lnTo>
                    <a:pt x="22" y="33"/>
                  </a:lnTo>
                  <a:lnTo>
                    <a:pt x="23" y="29"/>
                  </a:lnTo>
                  <a:lnTo>
                    <a:pt x="26" y="25"/>
                  </a:lnTo>
                  <a:lnTo>
                    <a:pt x="29" y="23"/>
                  </a:lnTo>
                  <a:lnTo>
                    <a:pt x="33" y="22"/>
                  </a:lnTo>
                  <a:lnTo>
                    <a:pt x="250" y="22"/>
                  </a:lnTo>
                  <a:lnTo>
                    <a:pt x="250" y="22"/>
                  </a:lnTo>
                  <a:lnTo>
                    <a:pt x="254" y="23"/>
                  </a:lnTo>
                  <a:lnTo>
                    <a:pt x="257" y="25"/>
                  </a:lnTo>
                  <a:lnTo>
                    <a:pt x="260" y="29"/>
                  </a:lnTo>
                  <a:lnTo>
                    <a:pt x="261" y="33"/>
                  </a:lnTo>
                  <a:lnTo>
                    <a:pt x="261" y="179"/>
                  </a:lnTo>
                  <a:lnTo>
                    <a:pt x="283" y="179"/>
                  </a:lnTo>
                  <a:lnTo>
                    <a:pt x="283" y="33"/>
                  </a:lnTo>
                  <a:lnTo>
                    <a:pt x="283" y="33"/>
                  </a:lnTo>
                  <a:lnTo>
                    <a:pt x="281" y="26"/>
                  </a:lnTo>
                  <a:lnTo>
                    <a:pt x="280" y="21"/>
                  </a:lnTo>
                  <a:lnTo>
                    <a:pt x="277" y="14"/>
                  </a:lnTo>
                  <a:lnTo>
                    <a:pt x="273" y="10"/>
                  </a:lnTo>
                  <a:lnTo>
                    <a:pt x="268" y="6"/>
                  </a:lnTo>
                  <a:lnTo>
                    <a:pt x="262" y="3"/>
                  </a:lnTo>
                  <a:lnTo>
                    <a:pt x="256" y="0"/>
                  </a:lnTo>
                  <a:lnTo>
                    <a:pt x="250" y="0"/>
                  </a:lnTo>
                  <a:lnTo>
                    <a:pt x="33" y="0"/>
                  </a:lnTo>
                  <a:lnTo>
                    <a:pt x="33" y="0"/>
                  </a:lnTo>
                  <a:lnTo>
                    <a:pt x="26" y="0"/>
                  </a:lnTo>
                  <a:lnTo>
                    <a:pt x="21" y="3"/>
                  </a:lnTo>
                  <a:lnTo>
                    <a:pt x="15" y="6"/>
                  </a:lnTo>
                  <a:lnTo>
                    <a:pt x="10" y="10"/>
                  </a:lnTo>
                  <a:lnTo>
                    <a:pt x="6" y="14"/>
                  </a:lnTo>
                  <a:lnTo>
                    <a:pt x="3" y="21"/>
                  </a:lnTo>
                  <a:lnTo>
                    <a:pt x="2" y="26"/>
                  </a:lnTo>
                  <a:lnTo>
                    <a:pt x="0" y="33"/>
                  </a:lnTo>
                  <a:lnTo>
                    <a:pt x="0" y="179"/>
                  </a:lnTo>
                  <a:lnTo>
                    <a:pt x="22" y="179"/>
                  </a:lnTo>
                  <a:lnTo>
                    <a:pt x="22"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srgbClr val="000000"/>
                </a:solidFill>
                <a:effectLst/>
                <a:uLnTx/>
                <a:uFillTx/>
                <a:latin typeface="+mj-lt"/>
                <a:ea typeface="+mn-ea"/>
                <a:cs typeface="+mn-cs"/>
              </a:endParaRPr>
            </a:p>
          </p:txBody>
        </p:sp>
        <p:sp>
          <p:nvSpPr>
            <p:cNvPr id="63" name="Freeform 223">
              <a:extLst>
                <a:ext uri="{FF2B5EF4-FFF2-40B4-BE49-F238E27FC236}">
                  <a16:creationId xmlns:a16="http://schemas.microsoft.com/office/drawing/2014/main" id="{B733A7DF-46BA-4E38-89A4-A577A007D18F}"/>
                </a:ext>
              </a:extLst>
            </p:cNvPr>
            <p:cNvSpPr>
              <a:spLocks/>
            </p:cNvSpPr>
            <p:nvPr/>
          </p:nvSpPr>
          <p:spPr bwMode="auto">
            <a:xfrm>
              <a:off x="7627173" y="2090809"/>
              <a:ext cx="125413" cy="65088"/>
            </a:xfrm>
            <a:custGeom>
              <a:avLst/>
              <a:gdLst>
                <a:gd name="T0" fmla="*/ 149 w 157"/>
                <a:gd name="T1" fmla="*/ 60 h 81"/>
                <a:gd name="T2" fmla="*/ 149 w 157"/>
                <a:gd name="T3" fmla="*/ 60 h 81"/>
                <a:gd name="T4" fmla="*/ 153 w 157"/>
                <a:gd name="T5" fmla="*/ 59 h 81"/>
                <a:gd name="T6" fmla="*/ 156 w 157"/>
                <a:gd name="T7" fmla="*/ 57 h 81"/>
                <a:gd name="T8" fmla="*/ 157 w 157"/>
                <a:gd name="T9" fmla="*/ 55 h 81"/>
                <a:gd name="T10" fmla="*/ 157 w 157"/>
                <a:gd name="T11" fmla="*/ 52 h 81"/>
                <a:gd name="T12" fmla="*/ 157 w 157"/>
                <a:gd name="T13" fmla="*/ 8 h 81"/>
                <a:gd name="T14" fmla="*/ 157 w 157"/>
                <a:gd name="T15" fmla="*/ 8 h 81"/>
                <a:gd name="T16" fmla="*/ 157 w 157"/>
                <a:gd name="T17" fmla="*/ 5 h 81"/>
                <a:gd name="T18" fmla="*/ 157 w 157"/>
                <a:gd name="T19" fmla="*/ 5 h 81"/>
                <a:gd name="T20" fmla="*/ 156 w 157"/>
                <a:gd name="T21" fmla="*/ 2 h 81"/>
                <a:gd name="T22" fmla="*/ 153 w 157"/>
                <a:gd name="T23" fmla="*/ 1 h 81"/>
                <a:gd name="T24" fmla="*/ 153 w 157"/>
                <a:gd name="T25" fmla="*/ 1 h 81"/>
                <a:gd name="T26" fmla="*/ 149 w 157"/>
                <a:gd name="T27" fmla="*/ 0 h 81"/>
                <a:gd name="T28" fmla="*/ 106 w 157"/>
                <a:gd name="T29" fmla="*/ 0 h 81"/>
                <a:gd name="T30" fmla="*/ 106 w 157"/>
                <a:gd name="T31" fmla="*/ 0 h 81"/>
                <a:gd name="T32" fmla="*/ 103 w 157"/>
                <a:gd name="T33" fmla="*/ 1 h 81"/>
                <a:gd name="T34" fmla="*/ 101 w 157"/>
                <a:gd name="T35" fmla="*/ 2 h 81"/>
                <a:gd name="T36" fmla="*/ 98 w 157"/>
                <a:gd name="T37" fmla="*/ 5 h 81"/>
                <a:gd name="T38" fmla="*/ 98 w 157"/>
                <a:gd name="T39" fmla="*/ 8 h 81"/>
                <a:gd name="T40" fmla="*/ 98 w 157"/>
                <a:gd name="T41" fmla="*/ 8 h 81"/>
                <a:gd name="T42" fmla="*/ 98 w 157"/>
                <a:gd name="T43" fmla="*/ 12 h 81"/>
                <a:gd name="T44" fmla="*/ 101 w 157"/>
                <a:gd name="T45" fmla="*/ 14 h 81"/>
                <a:gd name="T46" fmla="*/ 103 w 157"/>
                <a:gd name="T47" fmla="*/ 16 h 81"/>
                <a:gd name="T48" fmla="*/ 106 w 157"/>
                <a:gd name="T49" fmla="*/ 16 h 81"/>
                <a:gd name="T50" fmla="*/ 130 w 157"/>
                <a:gd name="T51" fmla="*/ 16 h 81"/>
                <a:gd name="T52" fmla="*/ 85 w 157"/>
                <a:gd name="T53" fmla="*/ 61 h 81"/>
                <a:gd name="T54" fmla="*/ 47 w 157"/>
                <a:gd name="T55" fmla="*/ 24 h 81"/>
                <a:gd name="T56" fmla="*/ 47 w 157"/>
                <a:gd name="T57" fmla="*/ 24 h 81"/>
                <a:gd name="T58" fmla="*/ 44 w 157"/>
                <a:gd name="T59" fmla="*/ 22 h 81"/>
                <a:gd name="T60" fmla="*/ 42 w 157"/>
                <a:gd name="T61" fmla="*/ 21 h 81"/>
                <a:gd name="T62" fmla="*/ 38 w 157"/>
                <a:gd name="T63" fmla="*/ 22 h 81"/>
                <a:gd name="T64" fmla="*/ 35 w 157"/>
                <a:gd name="T65" fmla="*/ 24 h 81"/>
                <a:gd name="T66" fmla="*/ 3 w 157"/>
                <a:gd name="T67" fmla="*/ 56 h 81"/>
                <a:gd name="T68" fmla="*/ 3 w 157"/>
                <a:gd name="T69" fmla="*/ 56 h 81"/>
                <a:gd name="T70" fmla="*/ 1 w 157"/>
                <a:gd name="T71" fmla="*/ 59 h 81"/>
                <a:gd name="T72" fmla="*/ 0 w 157"/>
                <a:gd name="T73" fmla="*/ 63 h 81"/>
                <a:gd name="T74" fmla="*/ 0 w 157"/>
                <a:gd name="T75" fmla="*/ 63 h 81"/>
                <a:gd name="T76" fmla="*/ 1 w 157"/>
                <a:gd name="T77" fmla="*/ 65 h 81"/>
                <a:gd name="T78" fmla="*/ 3 w 157"/>
                <a:gd name="T79" fmla="*/ 68 h 81"/>
                <a:gd name="T80" fmla="*/ 3 w 157"/>
                <a:gd name="T81" fmla="*/ 68 h 81"/>
                <a:gd name="T82" fmla="*/ 5 w 157"/>
                <a:gd name="T83" fmla="*/ 69 h 81"/>
                <a:gd name="T84" fmla="*/ 8 w 157"/>
                <a:gd name="T85" fmla="*/ 71 h 81"/>
                <a:gd name="T86" fmla="*/ 12 w 157"/>
                <a:gd name="T87" fmla="*/ 69 h 81"/>
                <a:gd name="T88" fmla="*/ 15 w 157"/>
                <a:gd name="T89" fmla="*/ 68 h 81"/>
                <a:gd name="T90" fmla="*/ 42 w 157"/>
                <a:gd name="T91" fmla="*/ 41 h 81"/>
                <a:gd name="T92" fmla="*/ 79 w 157"/>
                <a:gd name="T93" fmla="*/ 79 h 81"/>
                <a:gd name="T94" fmla="*/ 79 w 157"/>
                <a:gd name="T95" fmla="*/ 79 h 81"/>
                <a:gd name="T96" fmla="*/ 82 w 157"/>
                <a:gd name="T97" fmla="*/ 80 h 81"/>
                <a:gd name="T98" fmla="*/ 85 w 157"/>
                <a:gd name="T99" fmla="*/ 81 h 81"/>
                <a:gd name="T100" fmla="*/ 85 w 157"/>
                <a:gd name="T101" fmla="*/ 81 h 81"/>
                <a:gd name="T102" fmla="*/ 87 w 157"/>
                <a:gd name="T103" fmla="*/ 80 h 81"/>
                <a:gd name="T104" fmla="*/ 90 w 157"/>
                <a:gd name="T105" fmla="*/ 79 h 81"/>
                <a:gd name="T106" fmla="*/ 141 w 157"/>
                <a:gd name="T107" fmla="*/ 28 h 81"/>
                <a:gd name="T108" fmla="*/ 141 w 157"/>
                <a:gd name="T109" fmla="*/ 52 h 81"/>
                <a:gd name="T110" fmla="*/ 141 w 157"/>
                <a:gd name="T111" fmla="*/ 52 h 81"/>
                <a:gd name="T112" fmla="*/ 142 w 157"/>
                <a:gd name="T113" fmla="*/ 55 h 81"/>
                <a:gd name="T114" fmla="*/ 144 w 157"/>
                <a:gd name="T115" fmla="*/ 57 h 81"/>
                <a:gd name="T116" fmla="*/ 146 w 157"/>
                <a:gd name="T117" fmla="*/ 59 h 81"/>
                <a:gd name="T118" fmla="*/ 149 w 157"/>
                <a:gd name="T119" fmla="*/ 60 h 81"/>
                <a:gd name="T120" fmla="*/ 149 w 157"/>
                <a:gd name="T121" fmla="*/ 6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81">
                  <a:moveTo>
                    <a:pt x="149" y="60"/>
                  </a:moveTo>
                  <a:lnTo>
                    <a:pt x="149" y="60"/>
                  </a:lnTo>
                  <a:lnTo>
                    <a:pt x="153" y="59"/>
                  </a:lnTo>
                  <a:lnTo>
                    <a:pt x="156" y="57"/>
                  </a:lnTo>
                  <a:lnTo>
                    <a:pt x="157" y="55"/>
                  </a:lnTo>
                  <a:lnTo>
                    <a:pt x="157" y="52"/>
                  </a:lnTo>
                  <a:lnTo>
                    <a:pt x="157" y="8"/>
                  </a:lnTo>
                  <a:lnTo>
                    <a:pt x="157" y="8"/>
                  </a:lnTo>
                  <a:lnTo>
                    <a:pt x="157" y="5"/>
                  </a:lnTo>
                  <a:lnTo>
                    <a:pt x="157" y="5"/>
                  </a:lnTo>
                  <a:lnTo>
                    <a:pt x="156" y="2"/>
                  </a:lnTo>
                  <a:lnTo>
                    <a:pt x="153" y="1"/>
                  </a:lnTo>
                  <a:lnTo>
                    <a:pt x="153" y="1"/>
                  </a:lnTo>
                  <a:lnTo>
                    <a:pt x="149" y="0"/>
                  </a:lnTo>
                  <a:lnTo>
                    <a:pt x="106" y="0"/>
                  </a:lnTo>
                  <a:lnTo>
                    <a:pt x="106" y="0"/>
                  </a:lnTo>
                  <a:lnTo>
                    <a:pt x="103" y="1"/>
                  </a:lnTo>
                  <a:lnTo>
                    <a:pt x="101" y="2"/>
                  </a:lnTo>
                  <a:lnTo>
                    <a:pt x="98" y="5"/>
                  </a:lnTo>
                  <a:lnTo>
                    <a:pt x="98" y="8"/>
                  </a:lnTo>
                  <a:lnTo>
                    <a:pt x="98" y="8"/>
                  </a:lnTo>
                  <a:lnTo>
                    <a:pt x="98" y="12"/>
                  </a:lnTo>
                  <a:lnTo>
                    <a:pt x="101" y="14"/>
                  </a:lnTo>
                  <a:lnTo>
                    <a:pt x="103" y="16"/>
                  </a:lnTo>
                  <a:lnTo>
                    <a:pt x="106" y="16"/>
                  </a:lnTo>
                  <a:lnTo>
                    <a:pt x="130" y="16"/>
                  </a:lnTo>
                  <a:lnTo>
                    <a:pt x="85" y="61"/>
                  </a:lnTo>
                  <a:lnTo>
                    <a:pt x="47" y="24"/>
                  </a:lnTo>
                  <a:lnTo>
                    <a:pt x="47" y="24"/>
                  </a:lnTo>
                  <a:lnTo>
                    <a:pt x="44" y="22"/>
                  </a:lnTo>
                  <a:lnTo>
                    <a:pt x="42" y="21"/>
                  </a:lnTo>
                  <a:lnTo>
                    <a:pt x="38" y="22"/>
                  </a:lnTo>
                  <a:lnTo>
                    <a:pt x="35" y="24"/>
                  </a:lnTo>
                  <a:lnTo>
                    <a:pt x="3" y="56"/>
                  </a:lnTo>
                  <a:lnTo>
                    <a:pt x="3" y="56"/>
                  </a:lnTo>
                  <a:lnTo>
                    <a:pt x="1" y="59"/>
                  </a:lnTo>
                  <a:lnTo>
                    <a:pt x="0" y="63"/>
                  </a:lnTo>
                  <a:lnTo>
                    <a:pt x="0" y="63"/>
                  </a:lnTo>
                  <a:lnTo>
                    <a:pt x="1" y="65"/>
                  </a:lnTo>
                  <a:lnTo>
                    <a:pt x="3" y="68"/>
                  </a:lnTo>
                  <a:lnTo>
                    <a:pt x="3" y="68"/>
                  </a:lnTo>
                  <a:lnTo>
                    <a:pt x="5" y="69"/>
                  </a:lnTo>
                  <a:lnTo>
                    <a:pt x="8" y="71"/>
                  </a:lnTo>
                  <a:lnTo>
                    <a:pt x="12" y="69"/>
                  </a:lnTo>
                  <a:lnTo>
                    <a:pt x="15" y="68"/>
                  </a:lnTo>
                  <a:lnTo>
                    <a:pt x="42" y="41"/>
                  </a:lnTo>
                  <a:lnTo>
                    <a:pt x="79" y="79"/>
                  </a:lnTo>
                  <a:lnTo>
                    <a:pt x="79" y="79"/>
                  </a:lnTo>
                  <a:lnTo>
                    <a:pt x="82" y="80"/>
                  </a:lnTo>
                  <a:lnTo>
                    <a:pt x="85" y="81"/>
                  </a:lnTo>
                  <a:lnTo>
                    <a:pt x="85" y="81"/>
                  </a:lnTo>
                  <a:lnTo>
                    <a:pt x="87" y="80"/>
                  </a:lnTo>
                  <a:lnTo>
                    <a:pt x="90" y="79"/>
                  </a:lnTo>
                  <a:lnTo>
                    <a:pt x="141" y="28"/>
                  </a:lnTo>
                  <a:lnTo>
                    <a:pt x="141" y="52"/>
                  </a:lnTo>
                  <a:lnTo>
                    <a:pt x="141" y="52"/>
                  </a:lnTo>
                  <a:lnTo>
                    <a:pt x="142" y="55"/>
                  </a:lnTo>
                  <a:lnTo>
                    <a:pt x="144" y="57"/>
                  </a:lnTo>
                  <a:lnTo>
                    <a:pt x="146" y="59"/>
                  </a:lnTo>
                  <a:lnTo>
                    <a:pt x="149" y="60"/>
                  </a:lnTo>
                  <a:lnTo>
                    <a:pt x="149"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srgbClr val="000000"/>
                </a:solidFill>
                <a:effectLst/>
                <a:uLnTx/>
                <a:uFillTx/>
                <a:latin typeface="+mj-lt"/>
                <a:ea typeface="+mn-ea"/>
                <a:cs typeface="+mn-cs"/>
              </a:endParaRPr>
            </a:p>
          </p:txBody>
        </p:sp>
      </p:grpSp>
      <p:sp>
        <p:nvSpPr>
          <p:cNvPr id="64" name="Rectangle 63">
            <a:extLst>
              <a:ext uri="{FF2B5EF4-FFF2-40B4-BE49-F238E27FC236}">
                <a16:creationId xmlns:a16="http://schemas.microsoft.com/office/drawing/2014/main" id="{045FE357-615B-40E4-B3B8-2B3F60DC29FE}"/>
              </a:ext>
            </a:extLst>
          </p:cNvPr>
          <p:cNvSpPr/>
          <p:nvPr/>
        </p:nvSpPr>
        <p:spPr>
          <a:xfrm>
            <a:off x="10302631" y="3556645"/>
            <a:ext cx="1011099" cy="246221"/>
          </a:xfrm>
          <a:prstGeom prst="rect">
            <a:avLst/>
          </a:prstGeom>
          <a:noFill/>
          <a:ln w="19050" cap="flat" cmpd="sng" algn="ctr">
            <a:noFill/>
            <a:prstDash val="solid"/>
          </a:ln>
          <a:effectLst/>
        </p:spPr>
        <p:txBody>
          <a:bodyPr wrap="square" lIns="45720" tIns="0" rIns="45720" bIns="0" rtlCol="0" anchor="ctr">
            <a:spAutoFit/>
          </a:bodyPr>
          <a:lstStyle>
            <a:defPPr>
              <a:defRPr lang="en-US"/>
            </a:defPPr>
            <a:lvl1pPr algn="ctr" rtl="0" fontAlgn="base">
              <a:spcBef>
                <a:spcPct val="20000"/>
              </a:spcBef>
              <a:spcAft>
                <a:spcPct val="0"/>
              </a:spcAft>
              <a:defRPr sz="1100" b="1" kern="1200">
                <a:solidFill>
                  <a:schemeClr val="lt1"/>
                </a:solidFill>
                <a:latin typeface="+mn-lt"/>
                <a:ea typeface="+mn-ea"/>
                <a:cs typeface="+mn-cs"/>
              </a:defRPr>
            </a:lvl1pPr>
            <a:lvl2pPr marL="457200" algn="ctr" rtl="0" fontAlgn="base">
              <a:spcBef>
                <a:spcPct val="20000"/>
              </a:spcBef>
              <a:spcAft>
                <a:spcPct val="0"/>
              </a:spcAft>
              <a:defRPr sz="1100" b="1" kern="1200">
                <a:solidFill>
                  <a:schemeClr val="lt1"/>
                </a:solidFill>
                <a:latin typeface="+mn-lt"/>
                <a:ea typeface="+mn-ea"/>
                <a:cs typeface="+mn-cs"/>
              </a:defRPr>
            </a:lvl2pPr>
            <a:lvl3pPr marL="914400" algn="ctr" rtl="0" fontAlgn="base">
              <a:spcBef>
                <a:spcPct val="20000"/>
              </a:spcBef>
              <a:spcAft>
                <a:spcPct val="0"/>
              </a:spcAft>
              <a:defRPr sz="1100" b="1" kern="1200">
                <a:solidFill>
                  <a:schemeClr val="lt1"/>
                </a:solidFill>
                <a:latin typeface="+mn-lt"/>
                <a:ea typeface="+mn-ea"/>
                <a:cs typeface="+mn-cs"/>
              </a:defRPr>
            </a:lvl3pPr>
            <a:lvl4pPr marL="1371600" algn="ctr" rtl="0" fontAlgn="base">
              <a:spcBef>
                <a:spcPct val="20000"/>
              </a:spcBef>
              <a:spcAft>
                <a:spcPct val="0"/>
              </a:spcAft>
              <a:defRPr sz="1100" b="1" kern="1200">
                <a:solidFill>
                  <a:schemeClr val="lt1"/>
                </a:solidFill>
                <a:latin typeface="+mn-lt"/>
                <a:ea typeface="+mn-ea"/>
                <a:cs typeface="+mn-cs"/>
              </a:defRPr>
            </a:lvl4pPr>
            <a:lvl5pPr marL="1828800" algn="ctr" rtl="0" fontAlgn="base">
              <a:spcBef>
                <a:spcPct val="20000"/>
              </a:spcBef>
              <a:spcAft>
                <a:spcPct val="0"/>
              </a:spcAft>
              <a:defRPr sz="1100" b="1" kern="1200">
                <a:solidFill>
                  <a:schemeClr val="lt1"/>
                </a:solidFill>
                <a:latin typeface="+mn-lt"/>
                <a:ea typeface="+mn-ea"/>
                <a:cs typeface="+mn-cs"/>
              </a:defRPr>
            </a:lvl5pPr>
            <a:lvl6pPr marL="2286000" algn="l" defTabSz="914400" rtl="0" eaLnBrk="1" latinLnBrk="0" hangingPunct="1">
              <a:defRPr sz="1100" b="1" kern="1200">
                <a:solidFill>
                  <a:schemeClr val="lt1"/>
                </a:solidFill>
                <a:latin typeface="+mn-lt"/>
                <a:ea typeface="+mn-ea"/>
                <a:cs typeface="+mn-cs"/>
              </a:defRPr>
            </a:lvl6pPr>
            <a:lvl7pPr marL="2743200" algn="l" defTabSz="914400" rtl="0" eaLnBrk="1" latinLnBrk="0" hangingPunct="1">
              <a:defRPr sz="1100" b="1" kern="1200">
                <a:solidFill>
                  <a:schemeClr val="lt1"/>
                </a:solidFill>
                <a:latin typeface="+mn-lt"/>
                <a:ea typeface="+mn-ea"/>
                <a:cs typeface="+mn-cs"/>
              </a:defRPr>
            </a:lvl7pPr>
            <a:lvl8pPr marL="3200400" algn="l" defTabSz="914400" rtl="0" eaLnBrk="1" latinLnBrk="0" hangingPunct="1">
              <a:defRPr sz="1100" b="1" kern="1200">
                <a:solidFill>
                  <a:schemeClr val="lt1"/>
                </a:solidFill>
                <a:latin typeface="+mn-lt"/>
                <a:ea typeface="+mn-ea"/>
                <a:cs typeface="+mn-cs"/>
              </a:defRPr>
            </a:lvl8pPr>
            <a:lvl9pPr marL="3657600" algn="l" defTabSz="914400" rtl="0" eaLnBrk="1" latinLnBrk="0" hangingPunct="1">
              <a:defRPr sz="1100" b="1"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j-lt"/>
                <a:ea typeface="Arial" charset="0"/>
                <a:cs typeface="Arial" charset="0"/>
              </a:rPr>
              <a:t>Operational</a:t>
            </a:r>
            <a:endParaRPr kumimoji="0" lang="en-US" sz="800" b="0" i="0" u="none" strike="noStrike" kern="1200" cap="none" spc="0" normalizeH="0" noProof="0" dirty="0">
              <a:ln>
                <a:noFill/>
              </a:ln>
              <a:solidFill>
                <a:srgbClr val="000000"/>
              </a:solidFill>
              <a:effectLst/>
              <a:uLnTx/>
              <a:uFillTx/>
              <a:latin typeface="+mj-lt"/>
              <a:ea typeface="Arial" charset="0"/>
              <a:cs typeface="Arial" charset="0"/>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sz="800" b="0" i="0" u="none" strike="noStrike" kern="1200" cap="none" spc="0" normalizeH="0" noProof="0" dirty="0">
                <a:ln>
                  <a:noFill/>
                </a:ln>
                <a:solidFill>
                  <a:srgbClr val="000000"/>
                </a:solidFill>
                <a:effectLst/>
                <a:uLnTx/>
                <a:uFillTx/>
                <a:latin typeface="+mj-lt"/>
                <a:ea typeface="Arial" charset="0"/>
                <a:cs typeface="Arial" charset="0"/>
              </a:rPr>
              <a:t>Analytics </a:t>
            </a:r>
            <a:endParaRPr kumimoji="0" lang="en-US" sz="800" b="0" i="0" u="none" strike="noStrike" kern="1200" cap="none" spc="0" normalizeH="0" baseline="0" noProof="0" dirty="0">
              <a:ln>
                <a:noFill/>
              </a:ln>
              <a:solidFill>
                <a:srgbClr val="000000"/>
              </a:solidFill>
              <a:effectLst/>
              <a:uLnTx/>
              <a:uFillTx/>
              <a:latin typeface="+mj-lt"/>
              <a:ea typeface="Arial" charset="0"/>
              <a:cs typeface="Arial" charset="0"/>
            </a:endParaRPr>
          </a:p>
        </p:txBody>
      </p:sp>
      <p:sp>
        <p:nvSpPr>
          <p:cNvPr id="65" name="Rectangle 64">
            <a:extLst>
              <a:ext uri="{FF2B5EF4-FFF2-40B4-BE49-F238E27FC236}">
                <a16:creationId xmlns:a16="http://schemas.microsoft.com/office/drawing/2014/main" id="{31486132-2EBD-4E3D-BC48-259C0BE29479}"/>
              </a:ext>
            </a:extLst>
          </p:cNvPr>
          <p:cNvSpPr/>
          <p:nvPr/>
        </p:nvSpPr>
        <p:spPr>
          <a:xfrm>
            <a:off x="10166508" y="3088027"/>
            <a:ext cx="1342321" cy="123111"/>
          </a:xfrm>
          <a:prstGeom prst="rect">
            <a:avLst/>
          </a:prstGeom>
          <a:noFill/>
          <a:ln w="19050" cap="flat" cmpd="sng" algn="ctr">
            <a:noFill/>
            <a:prstDash val="solid"/>
          </a:ln>
          <a:effectLst/>
        </p:spPr>
        <p:txBody>
          <a:bodyPr wrap="square" lIns="45720" tIns="0" rIns="45720" bIns="0" rtlCol="0" anchor="ctr">
            <a:spAutoFit/>
          </a:bodyPr>
          <a:lstStyle>
            <a:defPPr>
              <a:defRPr lang="en-US"/>
            </a:defPPr>
            <a:lvl1pPr algn="ctr" rtl="0" fontAlgn="base">
              <a:spcBef>
                <a:spcPct val="20000"/>
              </a:spcBef>
              <a:spcAft>
                <a:spcPct val="0"/>
              </a:spcAft>
              <a:defRPr sz="1100" b="1" kern="1200">
                <a:solidFill>
                  <a:schemeClr val="lt1"/>
                </a:solidFill>
                <a:latin typeface="+mn-lt"/>
                <a:ea typeface="+mn-ea"/>
                <a:cs typeface="+mn-cs"/>
              </a:defRPr>
            </a:lvl1pPr>
            <a:lvl2pPr marL="457200" algn="ctr" rtl="0" fontAlgn="base">
              <a:spcBef>
                <a:spcPct val="20000"/>
              </a:spcBef>
              <a:spcAft>
                <a:spcPct val="0"/>
              </a:spcAft>
              <a:defRPr sz="1100" b="1" kern="1200">
                <a:solidFill>
                  <a:schemeClr val="lt1"/>
                </a:solidFill>
                <a:latin typeface="+mn-lt"/>
                <a:ea typeface="+mn-ea"/>
                <a:cs typeface="+mn-cs"/>
              </a:defRPr>
            </a:lvl2pPr>
            <a:lvl3pPr marL="914400" algn="ctr" rtl="0" fontAlgn="base">
              <a:spcBef>
                <a:spcPct val="20000"/>
              </a:spcBef>
              <a:spcAft>
                <a:spcPct val="0"/>
              </a:spcAft>
              <a:defRPr sz="1100" b="1" kern="1200">
                <a:solidFill>
                  <a:schemeClr val="lt1"/>
                </a:solidFill>
                <a:latin typeface="+mn-lt"/>
                <a:ea typeface="+mn-ea"/>
                <a:cs typeface="+mn-cs"/>
              </a:defRPr>
            </a:lvl3pPr>
            <a:lvl4pPr marL="1371600" algn="ctr" rtl="0" fontAlgn="base">
              <a:spcBef>
                <a:spcPct val="20000"/>
              </a:spcBef>
              <a:spcAft>
                <a:spcPct val="0"/>
              </a:spcAft>
              <a:defRPr sz="1100" b="1" kern="1200">
                <a:solidFill>
                  <a:schemeClr val="lt1"/>
                </a:solidFill>
                <a:latin typeface="+mn-lt"/>
                <a:ea typeface="+mn-ea"/>
                <a:cs typeface="+mn-cs"/>
              </a:defRPr>
            </a:lvl4pPr>
            <a:lvl5pPr marL="1828800" algn="ctr" rtl="0" fontAlgn="base">
              <a:spcBef>
                <a:spcPct val="20000"/>
              </a:spcBef>
              <a:spcAft>
                <a:spcPct val="0"/>
              </a:spcAft>
              <a:defRPr sz="1100" b="1" kern="1200">
                <a:solidFill>
                  <a:schemeClr val="lt1"/>
                </a:solidFill>
                <a:latin typeface="+mn-lt"/>
                <a:ea typeface="+mn-ea"/>
                <a:cs typeface="+mn-cs"/>
              </a:defRPr>
            </a:lvl5pPr>
            <a:lvl6pPr marL="2286000" algn="l" defTabSz="914400" rtl="0" eaLnBrk="1" latinLnBrk="0" hangingPunct="1">
              <a:defRPr sz="1100" b="1" kern="1200">
                <a:solidFill>
                  <a:schemeClr val="lt1"/>
                </a:solidFill>
                <a:latin typeface="+mn-lt"/>
                <a:ea typeface="+mn-ea"/>
                <a:cs typeface="+mn-cs"/>
              </a:defRPr>
            </a:lvl6pPr>
            <a:lvl7pPr marL="2743200" algn="l" defTabSz="914400" rtl="0" eaLnBrk="1" latinLnBrk="0" hangingPunct="1">
              <a:defRPr sz="1100" b="1" kern="1200">
                <a:solidFill>
                  <a:schemeClr val="lt1"/>
                </a:solidFill>
                <a:latin typeface="+mn-lt"/>
                <a:ea typeface="+mn-ea"/>
                <a:cs typeface="+mn-cs"/>
              </a:defRPr>
            </a:lvl7pPr>
            <a:lvl8pPr marL="3200400" algn="l" defTabSz="914400" rtl="0" eaLnBrk="1" latinLnBrk="0" hangingPunct="1">
              <a:defRPr sz="1100" b="1" kern="1200">
                <a:solidFill>
                  <a:schemeClr val="lt1"/>
                </a:solidFill>
                <a:latin typeface="+mn-lt"/>
                <a:ea typeface="+mn-ea"/>
                <a:cs typeface="+mn-cs"/>
              </a:defRPr>
            </a:lvl8pPr>
            <a:lvl9pPr marL="3657600" algn="l" defTabSz="914400" rtl="0" eaLnBrk="1" latinLnBrk="0" hangingPunct="1">
              <a:defRPr sz="1100" b="1"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sz="800" b="0" dirty="0">
                <a:solidFill>
                  <a:srgbClr val="000000"/>
                </a:solidFill>
                <a:latin typeface="+mj-lt"/>
                <a:ea typeface="Arial" charset="0"/>
                <a:cs typeface="Arial" charset="0"/>
              </a:rPr>
              <a:t>Alerts/ Events</a:t>
            </a:r>
            <a:endParaRPr kumimoji="0" lang="en-US" sz="800" b="0" i="0" u="none" strike="noStrike" kern="1200" cap="none" spc="0" normalizeH="0" noProof="0" dirty="0">
              <a:ln>
                <a:noFill/>
              </a:ln>
              <a:solidFill>
                <a:srgbClr val="000000"/>
              </a:solidFill>
              <a:effectLst/>
              <a:uLnTx/>
              <a:uFillTx/>
              <a:latin typeface="+mj-lt"/>
              <a:ea typeface="Arial" charset="0"/>
              <a:cs typeface="Arial" charset="0"/>
            </a:endParaRPr>
          </a:p>
        </p:txBody>
      </p:sp>
      <p:cxnSp>
        <p:nvCxnSpPr>
          <p:cNvPr id="66" name="Straight Arrow Connector 65">
            <a:extLst>
              <a:ext uri="{FF2B5EF4-FFF2-40B4-BE49-F238E27FC236}">
                <a16:creationId xmlns:a16="http://schemas.microsoft.com/office/drawing/2014/main" id="{14D75C0B-2D11-4965-831C-40A53B7DA9BB}"/>
              </a:ext>
            </a:extLst>
          </p:cNvPr>
          <p:cNvCxnSpPr>
            <a:stCxn id="38" idx="3"/>
          </p:cNvCxnSpPr>
          <p:nvPr/>
        </p:nvCxnSpPr>
        <p:spPr>
          <a:xfrm flipV="1">
            <a:off x="9279915" y="2258164"/>
            <a:ext cx="73593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Arrow: Right 46">
            <a:extLst>
              <a:ext uri="{FF2B5EF4-FFF2-40B4-BE49-F238E27FC236}">
                <a16:creationId xmlns:a16="http://schemas.microsoft.com/office/drawing/2014/main" id="{D5F5F20C-A25A-4E1B-B47B-6CC83EA8E21D}"/>
              </a:ext>
            </a:extLst>
          </p:cNvPr>
          <p:cNvSpPr/>
          <p:nvPr/>
        </p:nvSpPr>
        <p:spPr>
          <a:xfrm>
            <a:off x="4720962" y="2597200"/>
            <a:ext cx="287000" cy="137706"/>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800" b="1" kern="0" dirty="0">
              <a:solidFill>
                <a:prstClr val="white"/>
              </a:solidFill>
              <a:latin typeface="+mj-lt"/>
              <a:cs typeface="Arial" pitchFamily="34" charset="0"/>
            </a:endParaRPr>
          </a:p>
        </p:txBody>
      </p:sp>
      <p:sp>
        <p:nvSpPr>
          <p:cNvPr id="78" name="TextBox 77">
            <a:extLst>
              <a:ext uri="{FF2B5EF4-FFF2-40B4-BE49-F238E27FC236}">
                <a16:creationId xmlns:a16="http://schemas.microsoft.com/office/drawing/2014/main" id="{2C3669B3-0769-4583-828F-0AE199E6EC79}"/>
              </a:ext>
            </a:extLst>
          </p:cNvPr>
          <p:cNvSpPr txBox="1"/>
          <p:nvPr/>
        </p:nvSpPr>
        <p:spPr bwMode="gray">
          <a:xfrm>
            <a:off x="5667965" y="1603342"/>
            <a:ext cx="1193132" cy="148744"/>
          </a:xfrm>
          <a:prstGeom prst="rect">
            <a:avLst/>
          </a:prstGeom>
        </p:spPr>
        <p:txBody>
          <a:bodyPr wrap="square" lIns="0" rIns="0" rtlCol="0" anchor="b" anchorCtr="0">
            <a:noAutofit/>
          </a:bodyPr>
          <a:lstStyle/>
          <a:p>
            <a:pPr>
              <a:lnSpc>
                <a:spcPts val="900"/>
              </a:lnSpc>
            </a:pPr>
            <a:r>
              <a:rPr lang="en-US" sz="800" b="1" dirty="0">
                <a:solidFill>
                  <a:schemeClr val="bg1"/>
                </a:solidFill>
                <a:latin typeface="+mj-lt"/>
              </a:rPr>
              <a:t>Data Lake</a:t>
            </a:r>
          </a:p>
        </p:txBody>
      </p:sp>
      <p:sp>
        <p:nvSpPr>
          <p:cNvPr id="79" name="TextBox 78">
            <a:extLst>
              <a:ext uri="{FF2B5EF4-FFF2-40B4-BE49-F238E27FC236}">
                <a16:creationId xmlns:a16="http://schemas.microsoft.com/office/drawing/2014/main" id="{A1AB6C31-BD17-468A-B667-DD0C2CBD9BDB}"/>
              </a:ext>
            </a:extLst>
          </p:cNvPr>
          <p:cNvSpPr txBox="1"/>
          <p:nvPr/>
        </p:nvSpPr>
        <p:spPr bwMode="gray">
          <a:xfrm>
            <a:off x="7436676" y="1511241"/>
            <a:ext cx="1593389" cy="265119"/>
          </a:xfrm>
          <a:prstGeom prst="rect">
            <a:avLst/>
          </a:prstGeom>
        </p:spPr>
        <p:txBody>
          <a:bodyPr wrap="square" lIns="0" rIns="0" rtlCol="0" anchor="b" anchorCtr="0">
            <a:normAutofit/>
          </a:bodyPr>
          <a:lstStyle/>
          <a:p>
            <a:r>
              <a:rPr lang="en-US" sz="800" b="1" dirty="0">
                <a:solidFill>
                  <a:schemeClr val="bg1"/>
                </a:solidFill>
                <a:latin typeface="+mj-lt"/>
              </a:rPr>
              <a:t>Data Store &amp; Marts</a:t>
            </a:r>
          </a:p>
        </p:txBody>
      </p:sp>
      <p:sp>
        <p:nvSpPr>
          <p:cNvPr id="80" name="TextBox 79">
            <a:extLst>
              <a:ext uri="{FF2B5EF4-FFF2-40B4-BE49-F238E27FC236}">
                <a16:creationId xmlns:a16="http://schemas.microsoft.com/office/drawing/2014/main" id="{3A597D43-1895-4E25-B242-FC407A2A8100}"/>
              </a:ext>
            </a:extLst>
          </p:cNvPr>
          <p:cNvSpPr txBox="1"/>
          <p:nvPr/>
        </p:nvSpPr>
        <p:spPr bwMode="gray">
          <a:xfrm>
            <a:off x="7473242" y="3291468"/>
            <a:ext cx="697298" cy="284050"/>
          </a:xfrm>
          <a:prstGeom prst="rect">
            <a:avLst/>
          </a:prstGeom>
        </p:spPr>
        <p:txBody>
          <a:bodyPr wrap="square" lIns="0" rIns="0" rtlCol="0" anchor="b" anchorCtr="0">
            <a:noAutofit/>
          </a:bodyPr>
          <a:lstStyle/>
          <a:p>
            <a:pPr>
              <a:lnSpc>
                <a:spcPts val="900"/>
              </a:lnSpc>
            </a:pPr>
            <a:r>
              <a:rPr lang="en-US" sz="800" dirty="0">
                <a:solidFill>
                  <a:schemeClr val="bg1"/>
                </a:solidFill>
                <a:latin typeface="+mj-lt"/>
              </a:rPr>
              <a:t>Discovery/ Search</a:t>
            </a:r>
          </a:p>
        </p:txBody>
      </p:sp>
      <p:sp>
        <p:nvSpPr>
          <p:cNvPr id="81" name="TextBox 80">
            <a:extLst>
              <a:ext uri="{FF2B5EF4-FFF2-40B4-BE49-F238E27FC236}">
                <a16:creationId xmlns:a16="http://schemas.microsoft.com/office/drawing/2014/main" id="{0D8051AA-288E-468E-B069-EE9F6A02A4AC}"/>
              </a:ext>
            </a:extLst>
          </p:cNvPr>
          <p:cNvSpPr txBox="1"/>
          <p:nvPr/>
        </p:nvSpPr>
        <p:spPr bwMode="gray">
          <a:xfrm>
            <a:off x="8131904" y="3285455"/>
            <a:ext cx="1248411" cy="304406"/>
          </a:xfrm>
          <a:prstGeom prst="rect">
            <a:avLst/>
          </a:prstGeom>
        </p:spPr>
        <p:txBody>
          <a:bodyPr wrap="square" lIns="0" rIns="0" rtlCol="0" anchor="b" anchorCtr="0">
            <a:noAutofit/>
          </a:bodyPr>
          <a:lstStyle/>
          <a:p>
            <a:pPr algn="ctr"/>
            <a:r>
              <a:rPr lang="en-US" sz="800" dirty="0">
                <a:solidFill>
                  <a:schemeClr val="bg1"/>
                </a:solidFill>
                <a:latin typeface="+mj-lt"/>
              </a:rPr>
              <a:t>Mining/</a:t>
            </a:r>
          </a:p>
          <a:p>
            <a:pPr algn="ctr"/>
            <a:r>
              <a:rPr lang="en-US" sz="800" dirty="0">
                <a:solidFill>
                  <a:schemeClr val="bg1"/>
                </a:solidFill>
                <a:latin typeface="+mj-lt"/>
              </a:rPr>
              <a:t>Predictive</a:t>
            </a:r>
          </a:p>
        </p:txBody>
      </p:sp>
      <p:sp>
        <p:nvSpPr>
          <p:cNvPr id="82" name="TextBox 81">
            <a:extLst>
              <a:ext uri="{FF2B5EF4-FFF2-40B4-BE49-F238E27FC236}">
                <a16:creationId xmlns:a16="http://schemas.microsoft.com/office/drawing/2014/main" id="{CD055DB7-FF3C-4C86-B6AC-338C0747D53D}"/>
              </a:ext>
            </a:extLst>
          </p:cNvPr>
          <p:cNvSpPr txBox="1"/>
          <p:nvPr/>
        </p:nvSpPr>
        <p:spPr bwMode="gray">
          <a:xfrm>
            <a:off x="10108229" y="1809975"/>
            <a:ext cx="1388973" cy="282888"/>
          </a:xfrm>
          <a:prstGeom prst="rect">
            <a:avLst/>
          </a:prstGeom>
        </p:spPr>
        <p:txBody>
          <a:bodyPr wrap="square" lIns="0" rIns="0" rtlCol="0" anchor="b" anchorCtr="0">
            <a:normAutofit/>
          </a:bodyPr>
          <a:lstStyle/>
          <a:p>
            <a:pPr algn="ctr"/>
            <a:r>
              <a:rPr lang="en-US" sz="800" dirty="0">
                <a:latin typeface="+mj-lt"/>
              </a:rPr>
              <a:t>Transactional/Real Time</a:t>
            </a:r>
          </a:p>
        </p:txBody>
      </p:sp>
      <p:sp>
        <p:nvSpPr>
          <p:cNvPr id="91" name="Rectangle 90">
            <a:extLst>
              <a:ext uri="{FF2B5EF4-FFF2-40B4-BE49-F238E27FC236}">
                <a16:creationId xmlns:a16="http://schemas.microsoft.com/office/drawing/2014/main" id="{A1A53EC3-D422-481D-8178-07F4CD367542}"/>
              </a:ext>
            </a:extLst>
          </p:cNvPr>
          <p:cNvSpPr/>
          <p:nvPr/>
        </p:nvSpPr>
        <p:spPr>
          <a:xfrm>
            <a:off x="545412"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Sources</a:t>
            </a:r>
          </a:p>
        </p:txBody>
      </p:sp>
      <p:sp>
        <p:nvSpPr>
          <p:cNvPr id="92" name="Rectangle 91">
            <a:extLst>
              <a:ext uri="{FF2B5EF4-FFF2-40B4-BE49-F238E27FC236}">
                <a16:creationId xmlns:a16="http://schemas.microsoft.com/office/drawing/2014/main" id="{D00BA805-E4B3-4595-BFCF-DDDF87B1A742}"/>
              </a:ext>
            </a:extLst>
          </p:cNvPr>
          <p:cNvSpPr/>
          <p:nvPr/>
        </p:nvSpPr>
        <p:spPr>
          <a:xfrm>
            <a:off x="2802746"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Ingestion/Prep</a:t>
            </a:r>
          </a:p>
        </p:txBody>
      </p:sp>
      <p:sp>
        <p:nvSpPr>
          <p:cNvPr id="93" name="Rectangle 92">
            <a:extLst>
              <a:ext uri="{FF2B5EF4-FFF2-40B4-BE49-F238E27FC236}">
                <a16:creationId xmlns:a16="http://schemas.microsoft.com/office/drawing/2014/main" id="{19710A34-B0E5-47F0-A744-484A5DB45E11}"/>
              </a:ext>
            </a:extLst>
          </p:cNvPr>
          <p:cNvSpPr/>
          <p:nvPr/>
        </p:nvSpPr>
        <p:spPr>
          <a:xfrm>
            <a:off x="5060079" y="1017589"/>
            <a:ext cx="4404688"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Processing/Storage</a:t>
            </a:r>
          </a:p>
        </p:txBody>
      </p:sp>
      <p:sp>
        <p:nvSpPr>
          <p:cNvPr id="94" name="Rectangle 93">
            <a:extLst>
              <a:ext uri="{FF2B5EF4-FFF2-40B4-BE49-F238E27FC236}">
                <a16:creationId xmlns:a16="http://schemas.microsoft.com/office/drawing/2014/main" id="{93F96056-A3DC-482E-A75C-E81E9DDCE03E}"/>
              </a:ext>
            </a:extLst>
          </p:cNvPr>
          <p:cNvSpPr/>
          <p:nvPr/>
        </p:nvSpPr>
        <p:spPr>
          <a:xfrm>
            <a:off x="9796514"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Consumption</a:t>
            </a:r>
          </a:p>
        </p:txBody>
      </p:sp>
    </p:spTree>
    <p:extLst>
      <p:ext uri="{BB962C8B-B14F-4D97-AF65-F5344CB8AC3E}">
        <p14:creationId xmlns:p14="http://schemas.microsoft.com/office/powerpoint/2010/main" val="702279310"/>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A7B8FC-422C-47DF-B236-354982EACBB3}"/>
              </a:ext>
            </a:extLst>
          </p:cNvPr>
          <p:cNvSpPr>
            <a:spLocks noGrp="1"/>
          </p:cNvSpPr>
          <p:nvPr>
            <p:ph type="title"/>
          </p:nvPr>
        </p:nvSpPr>
        <p:spPr>
          <a:xfrm>
            <a:off x="469900" y="402586"/>
            <a:ext cx="11252200" cy="698501"/>
          </a:xfrm>
        </p:spPr>
        <p:txBody>
          <a:bodyPr/>
          <a:lstStyle/>
          <a:p>
            <a:r>
              <a:rPr lang="en-US" dirty="0"/>
              <a:t>Advanced analytics consumption pattern</a:t>
            </a:r>
          </a:p>
        </p:txBody>
      </p:sp>
      <p:sp>
        <p:nvSpPr>
          <p:cNvPr id="41" name="Rectangle 40">
            <a:extLst>
              <a:ext uri="{FF2B5EF4-FFF2-40B4-BE49-F238E27FC236}">
                <a16:creationId xmlns:a16="http://schemas.microsoft.com/office/drawing/2014/main" id="{6FC2370E-17EE-4258-BE40-F591EDBBAEA7}"/>
              </a:ext>
            </a:extLst>
          </p:cNvPr>
          <p:cNvSpPr/>
          <p:nvPr/>
        </p:nvSpPr>
        <p:spPr>
          <a:xfrm>
            <a:off x="469900" y="4769708"/>
            <a:ext cx="11252200" cy="1529492"/>
          </a:xfrm>
          <a:prstGeom prst="rect">
            <a:avLst/>
          </a:prstGeom>
          <a:noFill/>
          <a:ln w="635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Open Sans"/>
              <a:ea typeface="+mn-ea"/>
              <a:cs typeface="+mn-cs"/>
            </a:endParaRPr>
          </a:p>
        </p:txBody>
      </p:sp>
      <p:grpSp>
        <p:nvGrpSpPr>
          <p:cNvPr id="42" name="Group 41">
            <a:extLst>
              <a:ext uri="{FF2B5EF4-FFF2-40B4-BE49-F238E27FC236}">
                <a16:creationId xmlns:a16="http://schemas.microsoft.com/office/drawing/2014/main" id="{620BAB43-CB9F-4EEA-B94C-2DA528BEEF7B}"/>
              </a:ext>
            </a:extLst>
          </p:cNvPr>
          <p:cNvGrpSpPr/>
          <p:nvPr/>
        </p:nvGrpSpPr>
        <p:grpSpPr>
          <a:xfrm>
            <a:off x="629538" y="4925749"/>
            <a:ext cx="3275197" cy="883004"/>
            <a:chOff x="231329" y="5728712"/>
            <a:chExt cx="1245703" cy="247142"/>
          </a:xfrm>
          <a:solidFill>
            <a:schemeClr val="bg1">
              <a:lumMod val="85000"/>
            </a:schemeClr>
          </a:solidFill>
        </p:grpSpPr>
        <p:sp>
          <p:nvSpPr>
            <p:cNvPr id="43" name="Rectangle 42">
              <a:extLst>
                <a:ext uri="{FF2B5EF4-FFF2-40B4-BE49-F238E27FC236}">
                  <a16:creationId xmlns:a16="http://schemas.microsoft.com/office/drawing/2014/main" id="{C9281B4A-5A30-4FF3-95EA-F22657C70FFA}"/>
                </a:ext>
              </a:extLst>
            </p:cNvPr>
            <p:cNvSpPr/>
            <p:nvPr/>
          </p:nvSpPr>
          <p:spPr>
            <a:xfrm>
              <a:off x="231329" y="5728712"/>
              <a:ext cx="1157524" cy="150842"/>
            </a:xfrm>
            <a:prstGeom prst="rect">
              <a:avLst/>
            </a:prstGeom>
            <a:noFill/>
          </p:spPr>
          <p:txBody>
            <a:bodyPr wrap="square"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0" cap="all" spc="0" normalizeH="0" baseline="0" noProof="0" dirty="0">
                  <a:ln>
                    <a:noFill/>
                  </a:ln>
                  <a:solidFill>
                    <a:srgbClr val="000000"/>
                  </a:solidFill>
                  <a:effectLst/>
                  <a:uLnTx/>
                  <a:uFillTx/>
                  <a:latin typeface="+mj-lt"/>
                  <a:ea typeface="Nexa Black" charset="0"/>
                  <a:cs typeface="Nexa Black" charset="0"/>
                </a:rPr>
                <a:t>1. EXPLORING</a:t>
              </a:r>
              <a:r>
                <a:rPr kumimoji="0" lang="en-US" sz="800" b="1" i="0" u="none" strike="noStrike" kern="0" cap="all" spc="0" normalizeH="0" noProof="0" dirty="0">
                  <a:ln>
                    <a:noFill/>
                  </a:ln>
                  <a:solidFill>
                    <a:srgbClr val="000000"/>
                  </a:solidFill>
                  <a:effectLst/>
                  <a:uLnTx/>
                  <a:uFillTx/>
                  <a:latin typeface="+mj-lt"/>
                  <a:ea typeface="Nexa Black" charset="0"/>
                  <a:cs typeface="Nexa Black" charset="0"/>
                </a:rPr>
                <a:t> DATA </a:t>
              </a:r>
              <a:endParaRPr kumimoji="0" lang="en-US" sz="800" b="1" i="0" u="none" strike="noStrike" kern="0" cap="all" spc="0" normalizeH="0" baseline="0" noProof="0" dirty="0">
                <a:ln>
                  <a:noFill/>
                </a:ln>
                <a:solidFill>
                  <a:srgbClr val="000000"/>
                </a:solidFill>
                <a:effectLst/>
                <a:uLnTx/>
                <a:uFillTx/>
                <a:latin typeface="+mj-lt"/>
                <a:ea typeface="Nexa Black" charset="0"/>
                <a:cs typeface="Nexa Black" charset="0"/>
              </a:endParaRPr>
            </a:p>
          </p:txBody>
        </p:sp>
        <p:sp>
          <p:nvSpPr>
            <p:cNvPr id="44" name="TextBox 43">
              <a:extLst>
                <a:ext uri="{FF2B5EF4-FFF2-40B4-BE49-F238E27FC236}">
                  <a16:creationId xmlns:a16="http://schemas.microsoft.com/office/drawing/2014/main" id="{F74A6BC6-44FD-49EA-84F7-AB07866CA4B1}"/>
                </a:ext>
              </a:extLst>
            </p:cNvPr>
            <p:cNvSpPr txBox="1"/>
            <p:nvPr/>
          </p:nvSpPr>
          <p:spPr>
            <a:xfrm>
              <a:off x="231330" y="5777725"/>
              <a:ext cx="1245702" cy="1981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solidFill>
                    <a:srgbClr val="000000"/>
                  </a:solidFill>
                  <a:effectLst/>
                  <a:uLnTx/>
                  <a:uFillTx/>
                  <a:latin typeface="+mj-lt"/>
                  <a:ea typeface="+mn-ea"/>
                  <a:cs typeface="+mn-cs"/>
                </a:rPr>
                <a:t>Analytical use cases are more aligned to dig through troves of data and explore and discover insights</a:t>
              </a:r>
              <a:r>
                <a:rPr kumimoji="0" lang="en-US" sz="800" b="0" i="0" u="none" strike="noStrike" kern="0" cap="none" spc="0" normalizeH="0" noProof="0" dirty="0">
                  <a:ln>
                    <a:noFill/>
                  </a:ln>
                  <a:solidFill>
                    <a:srgbClr val="000000"/>
                  </a:solidFill>
                  <a:effectLst/>
                  <a:uLnTx/>
                  <a:uFillTx/>
                  <a:latin typeface="+mj-lt"/>
                  <a:ea typeface="+mn-ea"/>
                  <a:cs typeface="+mn-cs"/>
                </a:rPr>
                <a:t> which eventually help improve processes or systems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0" baseline="0" dirty="0">
                  <a:solidFill>
                    <a:srgbClr val="000000"/>
                  </a:solidFill>
                  <a:latin typeface="+mj-lt"/>
                </a:rPr>
                <a:t>Examples of Technologies:</a:t>
              </a:r>
              <a:endParaRPr kumimoji="0" lang="en-US" sz="800" b="0" i="0" u="none" strike="noStrike" kern="0" cap="none" spc="0" normalizeH="0" baseline="0" noProof="0" dirty="0">
                <a:ln>
                  <a:noFill/>
                </a:ln>
                <a:solidFill>
                  <a:srgbClr val="000000"/>
                </a:solidFill>
                <a:effectLst/>
                <a:uLnTx/>
                <a:uFillTx/>
                <a:latin typeface="+mj-lt"/>
                <a:ea typeface="+mn-ea"/>
                <a:cs typeface="+mn-cs"/>
              </a:endParaRPr>
            </a:p>
          </p:txBody>
        </p:sp>
      </p:grpSp>
      <p:grpSp>
        <p:nvGrpSpPr>
          <p:cNvPr id="45" name="Group 44">
            <a:extLst>
              <a:ext uri="{FF2B5EF4-FFF2-40B4-BE49-F238E27FC236}">
                <a16:creationId xmlns:a16="http://schemas.microsoft.com/office/drawing/2014/main" id="{9AF65EE7-7670-4114-AAB6-6B0F314150E6}"/>
              </a:ext>
            </a:extLst>
          </p:cNvPr>
          <p:cNvGrpSpPr/>
          <p:nvPr/>
        </p:nvGrpSpPr>
        <p:grpSpPr>
          <a:xfrm>
            <a:off x="6409658" y="4928196"/>
            <a:ext cx="4105941" cy="865320"/>
            <a:chOff x="1387411" y="5729189"/>
            <a:chExt cx="1987317" cy="539105"/>
          </a:xfrm>
          <a:noFill/>
        </p:grpSpPr>
        <p:sp>
          <p:nvSpPr>
            <p:cNvPr id="46" name="Rectangle 45">
              <a:extLst>
                <a:ext uri="{FF2B5EF4-FFF2-40B4-BE49-F238E27FC236}">
                  <a16:creationId xmlns:a16="http://schemas.microsoft.com/office/drawing/2014/main" id="{D1FFCCC9-3FF1-4446-B97B-7A25245DCB18}"/>
                </a:ext>
              </a:extLst>
            </p:cNvPr>
            <p:cNvSpPr/>
            <p:nvPr/>
          </p:nvSpPr>
          <p:spPr>
            <a:xfrm>
              <a:off x="1387411" y="5729189"/>
              <a:ext cx="1917848" cy="539105"/>
            </a:xfrm>
            <a:prstGeom prst="rect">
              <a:avLst/>
            </a:prstGeom>
            <a:grpFill/>
          </p:spPr>
          <p:txBody>
            <a:bodyPr wrap="square"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0" cap="all" spc="0" normalizeH="0" baseline="0" noProof="0" dirty="0">
                  <a:ln>
                    <a:noFill/>
                  </a:ln>
                  <a:effectLst/>
                  <a:uLnTx/>
                  <a:uFillTx/>
                  <a:latin typeface="+mj-lt"/>
                  <a:ea typeface="Nexa Black" charset="0"/>
                  <a:cs typeface="Nexa Black" charset="0"/>
                </a:rPr>
                <a:t>2. Data Sciences</a:t>
              </a:r>
              <a:r>
                <a:rPr kumimoji="0" lang="en-US" sz="800" b="1" i="0" u="none" strike="noStrike" kern="0" cap="all" spc="0" normalizeH="0" noProof="0" dirty="0">
                  <a:ln>
                    <a:noFill/>
                  </a:ln>
                  <a:effectLst/>
                  <a:uLnTx/>
                  <a:uFillTx/>
                  <a:latin typeface="+mj-lt"/>
                  <a:ea typeface="Nexa Black" charset="0"/>
                  <a:cs typeface="Nexa Black" charset="0"/>
                </a:rPr>
                <a:t>—Models, ML, AI </a:t>
              </a:r>
              <a:endParaRPr kumimoji="0" lang="en-US" sz="800" b="1" i="0" u="none" strike="noStrike" kern="0" cap="all" spc="0" normalizeH="0" baseline="0" noProof="0" dirty="0">
                <a:ln>
                  <a:noFill/>
                </a:ln>
                <a:effectLst/>
                <a:uLnTx/>
                <a:uFillTx/>
                <a:latin typeface="+mj-lt"/>
                <a:ea typeface="Nexa Black" charset="0"/>
                <a:cs typeface="Nexa Black" charset="0"/>
              </a:endParaRPr>
            </a:p>
          </p:txBody>
        </p:sp>
        <p:sp>
          <p:nvSpPr>
            <p:cNvPr id="47" name="TextBox 46">
              <a:extLst>
                <a:ext uri="{FF2B5EF4-FFF2-40B4-BE49-F238E27FC236}">
                  <a16:creationId xmlns:a16="http://schemas.microsoft.com/office/drawing/2014/main" id="{DAB2130E-AB5D-461A-A677-93C91E429AB9}"/>
                </a:ext>
              </a:extLst>
            </p:cNvPr>
            <p:cNvSpPr txBox="1"/>
            <p:nvPr/>
          </p:nvSpPr>
          <p:spPr>
            <a:xfrm>
              <a:off x="1389012" y="5837661"/>
              <a:ext cx="1985716" cy="364322"/>
            </a:xfrm>
            <a:prstGeom prst="rect">
              <a:avLst/>
            </a:prstGeom>
            <a:grp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dirty="0">
                  <a:ln>
                    <a:noFill/>
                  </a:ln>
                  <a:effectLst/>
                  <a:uLnTx/>
                  <a:uFillTx/>
                  <a:latin typeface="+mj-lt"/>
                  <a:ea typeface="+mn-ea"/>
                  <a:cs typeface="+mn-cs"/>
                </a:rPr>
                <a:t>Advanced</a:t>
              </a:r>
              <a:r>
                <a:rPr kumimoji="0" lang="en-US" sz="800" b="0" i="0" u="none" strike="noStrike" kern="0" cap="none" spc="0" normalizeH="0" noProof="0" dirty="0">
                  <a:ln>
                    <a:noFill/>
                  </a:ln>
                  <a:effectLst/>
                  <a:uLnTx/>
                  <a:uFillTx/>
                  <a:latin typeface="+mj-lt"/>
                  <a:ea typeface="+mn-ea"/>
                  <a:cs typeface="+mn-cs"/>
                </a:rPr>
                <a:t> Analytics does cater to all other analytics by using modeling techniques to machine learning and leading to artificial intelligence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0" baseline="0" dirty="0">
                  <a:latin typeface="+mj-lt"/>
                </a:rPr>
                <a:t>Examples</a:t>
              </a:r>
              <a:r>
                <a:rPr lang="en-US" sz="800" kern="0" dirty="0">
                  <a:latin typeface="+mj-lt"/>
                </a:rPr>
                <a:t> of Technologies: </a:t>
              </a:r>
              <a:endParaRPr kumimoji="0" lang="en-US" sz="800" b="0" i="0" u="none" strike="noStrike" kern="0" cap="none" spc="0" normalizeH="0" baseline="0" noProof="0" dirty="0">
                <a:ln>
                  <a:noFill/>
                </a:ln>
                <a:effectLst/>
                <a:uLnTx/>
                <a:uFillTx/>
                <a:latin typeface="+mj-lt"/>
              </a:endParaRPr>
            </a:p>
          </p:txBody>
        </p:sp>
      </p:grpSp>
      <p:pic>
        <p:nvPicPr>
          <p:cNvPr id="64" name="Picture 10" descr="Related image">
            <a:extLst>
              <a:ext uri="{FF2B5EF4-FFF2-40B4-BE49-F238E27FC236}">
                <a16:creationId xmlns:a16="http://schemas.microsoft.com/office/drawing/2014/main" id="{ECCFE0FF-D400-49A4-8A8F-3975AC4B1C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3744" y="5766713"/>
            <a:ext cx="448274" cy="445790"/>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14" descr="Image result for r studio logo">
            <a:extLst>
              <a:ext uri="{FF2B5EF4-FFF2-40B4-BE49-F238E27FC236}">
                <a16:creationId xmlns:a16="http://schemas.microsoft.com/office/drawing/2014/main" id="{AB090E27-E88A-48A7-9AAD-4FE0AA80B30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78884" y="5846911"/>
            <a:ext cx="715041" cy="251094"/>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16" descr="Image result for apache zeppelin logo">
            <a:extLst>
              <a:ext uri="{FF2B5EF4-FFF2-40B4-BE49-F238E27FC236}">
                <a16:creationId xmlns:a16="http://schemas.microsoft.com/office/drawing/2014/main" id="{0FE17BB4-BE2C-4530-A5B8-C64DECBD87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8282" y="5738592"/>
            <a:ext cx="836463" cy="560608"/>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8" descr="Image result for sas logo">
            <a:extLst>
              <a:ext uri="{FF2B5EF4-FFF2-40B4-BE49-F238E27FC236}">
                <a16:creationId xmlns:a16="http://schemas.microsoft.com/office/drawing/2014/main" id="{30B67197-5B53-466B-BB1B-0D84381B9C5C}"/>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50396" y="5676900"/>
            <a:ext cx="929154" cy="573512"/>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0" descr="Image result for spark logo">
            <a:extLst>
              <a:ext uri="{FF2B5EF4-FFF2-40B4-BE49-F238E27FC236}">
                <a16:creationId xmlns:a16="http://schemas.microsoft.com/office/drawing/2014/main" id="{B5B1200E-36BC-45F8-8DCD-A2588DE32E8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11728" y="5689776"/>
            <a:ext cx="724368" cy="376898"/>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2" descr="Image result for rapid miner logo">
            <a:extLst>
              <a:ext uri="{FF2B5EF4-FFF2-40B4-BE49-F238E27FC236}">
                <a16:creationId xmlns:a16="http://schemas.microsoft.com/office/drawing/2014/main" id="{F535F63E-87D3-4BB9-BE2F-1F86BE002C3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70520" y="5742909"/>
            <a:ext cx="1155640" cy="412527"/>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25">
            <a:extLst>
              <a:ext uri="{FF2B5EF4-FFF2-40B4-BE49-F238E27FC236}">
                <a16:creationId xmlns:a16="http://schemas.microsoft.com/office/drawing/2014/main" id="{DED72CC8-5B62-4D83-869D-318CC311AB57}"/>
              </a:ext>
            </a:extLst>
          </p:cNvPr>
          <p:cNvSpPr/>
          <p:nvPr/>
        </p:nvSpPr>
        <p:spPr>
          <a:xfrm>
            <a:off x="5027425" y="1394361"/>
            <a:ext cx="4434445" cy="2978214"/>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mj-lt"/>
            </a:endParaRPr>
          </a:p>
        </p:txBody>
      </p:sp>
      <p:sp>
        <p:nvSpPr>
          <p:cNvPr id="5" name="Rounded Rectangle 26">
            <a:extLst>
              <a:ext uri="{FF2B5EF4-FFF2-40B4-BE49-F238E27FC236}">
                <a16:creationId xmlns:a16="http://schemas.microsoft.com/office/drawing/2014/main" id="{0AFED37B-FB0C-4E41-899B-E8256E97C78F}"/>
              </a:ext>
            </a:extLst>
          </p:cNvPr>
          <p:cNvSpPr/>
          <p:nvPr/>
        </p:nvSpPr>
        <p:spPr>
          <a:xfrm>
            <a:off x="482257" y="1394362"/>
            <a:ext cx="1938596" cy="102326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dirty="0">
                <a:solidFill>
                  <a:schemeClr val="bg1"/>
                </a:solidFill>
                <a:latin typeface="+mj-lt"/>
              </a:rPr>
              <a:t>Internal</a:t>
            </a:r>
          </a:p>
          <a:p>
            <a:endParaRPr lang="en-US" sz="900" b="1" dirty="0">
              <a:solidFill>
                <a:schemeClr val="bg1"/>
              </a:solidFill>
              <a:latin typeface="+mj-lt"/>
            </a:endParaRPr>
          </a:p>
          <a:p>
            <a:endParaRPr lang="en-US" sz="900" b="1" dirty="0">
              <a:solidFill>
                <a:schemeClr val="bg1"/>
              </a:solidFill>
              <a:latin typeface="+mj-lt"/>
            </a:endParaRPr>
          </a:p>
          <a:p>
            <a:endParaRPr lang="en-US" sz="900" b="1" dirty="0">
              <a:solidFill>
                <a:schemeClr val="bg1"/>
              </a:solidFill>
              <a:latin typeface="+mj-lt"/>
            </a:endParaRPr>
          </a:p>
        </p:txBody>
      </p:sp>
      <p:sp>
        <p:nvSpPr>
          <p:cNvPr id="6" name="Rounded Rectangle 27">
            <a:extLst>
              <a:ext uri="{FF2B5EF4-FFF2-40B4-BE49-F238E27FC236}">
                <a16:creationId xmlns:a16="http://schemas.microsoft.com/office/drawing/2014/main" id="{ED9FB657-4F0C-4143-9EE6-8B79764F983E}"/>
              </a:ext>
            </a:extLst>
          </p:cNvPr>
          <p:cNvSpPr/>
          <p:nvPr/>
        </p:nvSpPr>
        <p:spPr>
          <a:xfrm>
            <a:off x="482257" y="2680577"/>
            <a:ext cx="1938596" cy="1126958"/>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dirty="0">
                <a:solidFill>
                  <a:schemeClr val="bg1"/>
                </a:solidFill>
                <a:latin typeface="+mj-lt"/>
              </a:rPr>
              <a:t>External</a:t>
            </a:r>
          </a:p>
          <a:p>
            <a:pPr algn="ctr"/>
            <a:endParaRPr lang="en-US" sz="900" b="1" dirty="0">
              <a:solidFill>
                <a:schemeClr val="bg1"/>
              </a:solidFill>
              <a:latin typeface="+mj-lt"/>
            </a:endParaRPr>
          </a:p>
          <a:p>
            <a:pPr algn="ctr"/>
            <a:endParaRPr lang="en-US" sz="900" b="1" dirty="0">
              <a:solidFill>
                <a:schemeClr val="bg1"/>
              </a:solidFill>
              <a:latin typeface="+mj-lt"/>
            </a:endParaRPr>
          </a:p>
          <a:p>
            <a:endParaRPr lang="en-US" sz="900" b="1" dirty="0">
              <a:solidFill>
                <a:schemeClr val="bg1"/>
              </a:solidFill>
              <a:latin typeface="+mj-lt"/>
            </a:endParaRPr>
          </a:p>
        </p:txBody>
      </p:sp>
      <p:sp>
        <p:nvSpPr>
          <p:cNvPr id="9" name="Rounded Rectangle 30">
            <a:extLst>
              <a:ext uri="{FF2B5EF4-FFF2-40B4-BE49-F238E27FC236}">
                <a16:creationId xmlns:a16="http://schemas.microsoft.com/office/drawing/2014/main" id="{71DFAE0C-678A-485B-981E-92199F1A878B}"/>
              </a:ext>
            </a:extLst>
          </p:cNvPr>
          <p:cNvSpPr/>
          <p:nvPr/>
        </p:nvSpPr>
        <p:spPr>
          <a:xfrm>
            <a:off x="2754842" y="1394362"/>
            <a:ext cx="1938596" cy="2413174"/>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mj-lt"/>
            </a:endParaRPr>
          </a:p>
        </p:txBody>
      </p:sp>
      <p:sp>
        <p:nvSpPr>
          <p:cNvPr id="11" name="Rounded Rectangle 32">
            <a:extLst>
              <a:ext uri="{FF2B5EF4-FFF2-40B4-BE49-F238E27FC236}">
                <a16:creationId xmlns:a16="http://schemas.microsoft.com/office/drawing/2014/main" id="{C874CE05-2C13-4D48-91C2-0F57C599095A}"/>
              </a:ext>
            </a:extLst>
          </p:cNvPr>
          <p:cNvSpPr/>
          <p:nvPr/>
        </p:nvSpPr>
        <p:spPr>
          <a:xfrm>
            <a:off x="5401103" y="1508555"/>
            <a:ext cx="1548040" cy="27619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dirty="0">
                <a:latin typeface="+mj-lt"/>
              </a:rPr>
              <a:t>ake</a:t>
            </a: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p:txBody>
      </p:sp>
      <p:sp>
        <p:nvSpPr>
          <p:cNvPr id="12" name="Rounded Rectangle 33">
            <a:extLst>
              <a:ext uri="{FF2B5EF4-FFF2-40B4-BE49-F238E27FC236}">
                <a16:creationId xmlns:a16="http://schemas.microsoft.com/office/drawing/2014/main" id="{F06A52D7-218F-4D11-B971-500E507C79CC}"/>
              </a:ext>
            </a:extLst>
          </p:cNvPr>
          <p:cNvSpPr/>
          <p:nvPr/>
        </p:nvSpPr>
        <p:spPr>
          <a:xfrm>
            <a:off x="5580062" y="1892152"/>
            <a:ext cx="1132662" cy="38015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Raw</a:t>
            </a:r>
          </a:p>
        </p:txBody>
      </p:sp>
      <p:sp>
        <p:nvSpPr>
          <p:cNvPr id="13" name="Rounded Rectangle 34">
            <a:extLst>
              <a:ext uri="{FF2B5EF4-FFF2-40B4-BE49-F238E27FC236}">
                <a16:creationId xmlns:a16="http://schemas.microsoft.com/office/drawing/2014/main" id="{E96EAC9A-A687-4EFA-B739-897B248F548B}"/>
              </a:ext>
            </a:extLst>
          </p:cNvPr>
          <p:cNvSpPr/>
          <p:nvPr/>
        </p:nvSpPr>
        <p:spPr>
          <a:xfrm>
            <a:off x="5580061" y="2511574"/>
            <a:ext cx="1132662" cy="38015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Transform</a:t>
            </a:r>
          </a:p>
        </p:txBody>
      </p:sp>
      <p:sp>
        <p:nvSpPr>
          <p:cNvPr id="14" name="Rounded Rectangle 35">
            <a:extLst>
              <a:ext uri="{FF2B5EF4-FFF2-40B4-BE49-F238E27FC236}">
                <a16:creationId xmlns:a16="http://schemas.microsoft.com/office/drawing/2014/main" id="{354E4A6C-1BA0-4FDE-98C6-6F75FEF5B9FB}"/>
              </a:ext>
            </a:extLst>
          </p:cNvPr>
          <p:cNvSpPr/>
          <p:nvPr/>
        </p:nvSpPr>
        <p:spPr>
          <a:xfrm>
            <a:off x="5580061" y="3130701"/>
            <a:ext cx="1132662" cy="38015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Refined</a:t>
            </a:r>
          </a:p>
        </p:txBody>
      </p:sp>
      <p:sp>
        <p:nvSpPr>
          <p:cNvPr id="15" name="Rounded Rectangle 36">
            <a:extLst>
              <a:ext uri="{FF2B5EF4-FFF2-40B4-BE49-F238E27FC236}">
                <a16:creationId xmlns:a16="http://schemas.microsoft.com/office/drawing/2014/main" id="{BD7B8250-B1A7-4C50-934A-383BC4EE36D1}"/>
              </a:ext>
            </a:extLst>
          </p:cNvPr>
          <p:cNvSpPr/>
          <p:nvPr/>
        </p:nvSpPr>
        <p:spPr>
          <a:xfrm>
            <a:off x="7207440" y="1574665"/>
            <a:ext cx="2134635" cy="15647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a:p>
            <a:endParaRPr lang="en-US" sz="900" dirty="0">
              <a:latin typeface="+mj-lt"/>
            </a:endParaRPr>
          </a:p>
        </p:txBody>
      </p:sp>
      <p:sp>
        <p:nvSpPr>
          <p:cNvPr id="16" name="Rounded Rectangle 37">
            <a:extLst>
              <a:ext uri="{FF2B5EF4-FFF2-40B4-BE49-F238E27FC236}">
                <a16:creationId xmlns:a16="http://schemas.microsoft.com/office/drawing/2014/main" id="{7927DD76-2D2C-40BE-B13E-98AA088F47B9}"/>
              </a:ext>
            </a:extLst>
          </p:cNvPr>
          <p:cNvSpPr/>
          <p:nvPr/>
        </p:nvSpPr>
        <p:spPr>
          <a:xfrm>
            <a:off x="7208205" y="3201990"/>
            <a:ext cx="2169261" cy="6273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dirty="0">
                <a:latin typeface="+mj-lt"/>
              </a:rPr>
              <a:t>AA</a:t>
            </a:r>
          </a:p>
          <a:p>
            <a:endParaRPr lang="en-US" sz="900" dirty="0">
              <a:latin typeface="+mj-lt"/>
            </a:endParaRPr>
          </a:p>
          <a:p>
            <a:endParaRPr lang="en-US" sz="900" dirty="0">
              <a:latin typeface="+mj-lt"/>
            </a:endParaRPr>
          </a:p>
        </p:txBody>
      </p:sp>
      <p:sp>
        <p:nvSpPr>
          <p:cNvPr id="17" name="Rounded Rectangle 39">
            <a:extLst>
              <a:ext uri="{FF2B5EF4-FFF2-40B4-BE49-F238E27FC236}">
                <a16:creationId xmlns:a16="http://schemas.microsoft.com/office/drawing/2014/main" id="{231CFC14-1667-4999-AE7E-FDE85AB672AA}"/>
              </a:ext>
            </a:extLst>
          </p:cNvPr>
          <p:cNvSpPr/>
          <p:nvPr/>
        </p:nvSpPr>
        <p:spPr>
          <a:xfrm>
            <a:off x="7274438" y="2123864"/>
            <a:ext cx="974903" cy="46597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Data Store</a:t>
            </a:r>
          </a:p>
        </p:txBody>
      </p:sp>
      <p:sp>
        <p:nvSpPr>
          <p:cNvPr id="21" name="Rectangle 20">
            <a:extLst>
              <a:ext uri="{FF2B5EF4-FFF2-40B4-BE49-F238E27FC236}">
                <a16:creationId xmlns:a16="http://schemas.microsoft.com/office/drawing/2014/main" id="{065B5811-41DF-4BAB-8413-B7317BD9C098}"/>
              </a:ext>
            </a:extLst>
          </p:cNvPr>
          <p:cNvSpPr/>
          <p:nvPr/>
        </p:nvSpPr>
        <p:spPr>
          <a:xfrm>
            <a:off x="3168700" y="1836834"/>
            <a:ext cx="1110880" cy="5507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Batch/Micro Batch</a:t>
            </a:r>
          </a:p>
        </p:txBody>
      </p:sp>
      <p:sp>
        <p:nvSpPr>
          <p:cNvPr id="22" name="Rectangle 21">
            <a:extLst>
              <a:ext uri="{FF2B5EF4-FFF2-40B4-BE49-F238E27FC236}">
                <a16:creationId xmlns:a16="http://schemas.microsoft.com/office/drawing/2014/main" id="{3E6F483F-01B2-43F0-AEF9-C21147C10AA9}"/>
              </a:ext>
            </a:extLst>
          </p:cNvPr>
          <p:cNvSpPr/>
          <p:nvPr/>
        </p:nvSpPr>
        <p:spPr>
          <a:xfrm>
            <a:off x="3168700" y="2827765"/>
            <a:ext cx="1110880" cy="5507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Real-Time/ Stream/Events</a:t>
            </a:r>
          </a:p>
        </p:txBody>
      </p:sp>
      <p:sp>
        <p:nvSpPr>
          <p:cNvPr id="23" name="Rectangle 22">
            <a:extLst>
              <a:ext uri="{FF2B5EF4-FFF2-40B4-BE49-F238E27FC236}">
                <a16:creationId xmlns:a16="http://schemas.microsoft.com/office/drawing/2014/main" id="{C44B418D-5660-4E07-B2D8-B7C41BDA14F6}"/>
              </a:ext>
            </a:extLst>
          </p:cNvPr>
          <p:cNvSpPr/>
          <p:nvPr/>
        </p:nvSpPr>
        <p:spPr>
          <a:xfrm>
            <a:off x="629285" y="1813703"/>
            <a:ext cx="1624122" cy="45860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ERP, MDM, POS, HR, Finance etc. </a:t>
            </a:r>
          </a:p>
        </p:txBody>
      </p:sp>
      <p:sp>
        <p:nvSpPr>
          <p:cNvPr id="24" name="Rectangle 23">
            <a:extLst>
              <a:ext uri="{FF2B5EF4-FFF2-40B4-BE49-F238E27FC236}">
                <a16:creationId xmlns:a16="http://schemas.microsoft.com/office/drawing/2014/main" id="{C0DDEB1A-1C53-4973-8B9A-434585413993}"/>
              </a:ext>
            </a:extLst>
          </p:cNvPr>
          <p:cNvSpPr/>
          <p:nvPr/>
        </p:nvSpPr>
        <p:spPr>
          <a:xfrm>
            <a:off x="629285" y="3179453"/>
            <a:ext cx="1624122" cy="45860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Social Media, Third Party etc.</a:t>
            </a:r>
          </a:p>
        </p:txBody>
      </p:sp>
      <p:sp>
        <p:nvSpPr>
          <p:cNvPr id="25" name="Rounded Rectangle 47">
            <a:extLst>
              <a:ext uri="{FF2B5EF4-FFF2-40B4-BE49-F238E27FC236}">
                <a16:creationId xmlns:a16="http://schemas.microsoft.com/office/drawing/2014/main" id="{52FBC2E4-2021-497C-A7E7-7374E937EAC0}"/>
              </a:ext>
            </a:extLst>
          </p:cNvPr>
          <p:cNvSpPr/>
          <p:nvPr/>
        </p:nvSpPr>
        <p:spPr>
          <a:xfrm>
            <a:off x="5580061" y="3744306"/>
            <a:ext cx="1132662" cy="21487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Extract</a:t>
            </a:r>
          </a:p>
        </p:txBody>
      </p:sp>
      <p:sp>
        <p:nvSpPr>
          <p:cNvPr id="26" name="Rounded Rectangle 48">
            <a:extLst>
              <a:ext uri="{FF2B5EF4-FFF2-40B4-BE49-F238E27FC236}">
                <a16:creationId xmlns:a16="http://schemas.microsoft.com/office/drawing/2014/main" id="{E9B88300-DDA9-475B-8CD2-655C88DECB4E}"/>
              </a:ext>
            </a:extLst>
          </p:cNvPr>
          <p:cNvSpPr/>
          <p:nvPr/>
        </p:nvSpPr>
        <p:spPr>
          <a:xfrm>
            <a:off x="9795858" y="1394362"/>
            <a:ext cx="1938596" cy="2978213"/>
          </a:xfrm>
          <a:prstGeom prst="roundRect">
            <a:avLst/>
          </a:prstGeom>
          <a:solidFill>
            <a:schemeClr val="accent3">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900" dirty="0">
              <a:latin typeface="+mj-lt"/>
            </a:endParaRPr>
          </a:p>
        </p:txBody>
      </p:sp>
      <p:sp>
        <p:nvSpPr>
          <p:cNvPr id="27" name="Rectangle 26">
            <a:extLst>
              <a:ext uri="{FF2B5EF4-FFF2-40B4-BE49-F238E27FC236}">
                <a16:creationId xmlns:a16="http://schemas.microsoft.com/office/drawing/2014/main" id="{14CDBE4D-8009-483B-9A78-A6CD511D2954}"/>
              </a:ext>
            </a:extLst>
          </p:cNvPr>
          <p:cNvSpPr/>
          <p:nvPr/>
        </p:nvSpPr>
        <p:spPr>
          <a:xfrm>
            <a:off x="10049988" y="1617498"/>
            <a:ext cx="1470283" cy="214934"/>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900" dirty="0">
                <a:latin typeface="+mj-lt"/>
              </a:rPr>
              <a:t>Traditional BI</a:t>
            </a:r>
          </a:p>
        </p:txBody>
      </p:sp>
      <p:sp>
        <p:nvSpPr>
          <p:cNvPr id="28" name="Rectangle 27">
            <a:extLst>
              <a:ext uri="{FF2B5EF4-FFF2-40B4-BE49-F238E27FC236}">
                <a16:creationId xmlns:a16="http://schemas.microsoft.com/office/drawing/2014/main" id="{35E09D57-248A-4A9C-BF22-18E50BF2ACBA}"/>
              </a:ext>
            </a:extLst>
          </p:cNvPr>
          <p:cNvSpPr/>
          <p:nvPr/>
        </p:nvSpPr>
        <p:spPr>
          <a:xfrm>
            <a:off x="10049988" y="1919668"/>
            <a:ext cx="1470283" cy="184207"/>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900" dirty="0">
                <a:latin typeface="+mj-lt"/>
              </a:rPr>
              <a:t>Real-time</a:t>
            </a:r>
          </a:p>
        </p:txBody>
      </p:sp>
      <p:sp>
        <p:nvSpPr>
          <p:cNvPr id="29" name="Rectangle 28">
            <a:extLst>
              <a:ext uri="{FF2B5EF4-FFF2-40B4-BE49-F238E27FC236}">
                <a16:creationId xmlns:a16="http://schemas.microsoft.com/office/drawing/2014/main" id="{E5CF422A-CF55-44B5-A9EA-5DB72CD95E54}"/>
              </a:ext>
            </a:extLst>
          </p:cNvPr>
          <p:cNvSpPr/>
          <p:nvPr/>
        </p:nvSpPr>
        <p:spPr>
          <a:xfrm>
            <a:off x="10049988" y="2191206"/>
            <a:ext cx="1470283" cy="2074703"/>
          </a:xfrm>
          <a:prstGeom prst="rect">
            <a:avLst/>
          </a:prstGeom>
          <a:solidFill>
            <a:schemeClr val="accent3">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a:p>
            <a:pPr algn="ctr"/>
            <a:endParaRPr lang="en-US" sz="900" dirty="0">
              <a:latin typeface="+mj-lt"/>
            </a:endParaRPr>
          </a:p>
        </p:txBody>
      </p:sp>
      <p:sp>
        <p:nvSpPr>
          <p:cNvPr id="30" name="Arrow: Right 46">
            <a:extLst>
              <a:ext uri="{FF2B5EF4-FFF2-40B4-BE49-F238E27FC236}">
                <a16:creationId xmlns:a16="http://schemas.microsoft.com/office/drawing/2014/main" id="{002E3881-13EF-4FE6-AC93-CF30E9728B57}"/>
              </a:ext>
            </a:extLst>
          </p:cNvPr>
          <p:cNvSpPr/>
          <p:nvPr/>
        </p:nvSpPr>
        <p:spPr>
          <a:xfrm>
            <a:off x="2458369" y="1919443"/>
            <a:ext cx="287000" cy="147485"/>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1" name="Arrow: Right 46">
            <a:extLst>
              <a:ext uri="{FF2B5EF4-FFF2-40B4-BE49-F238E27FC236}">
                <a16:creationId xmlns:a16="http://schemas.microsoft.com/office/drawing/2014/main" id="{23B0F435-B960-4463-B46B-3281526708BF}"/>
              </a:ext>
            </a:extLst>
          </p:cNvPr>
          <p:cNvSpPr/>
          <p:nvPr/>
        </p:nvSpPr>
        <p:spPr>
          <a:xfrm>
            <a:off x="2458369" y="3139400"/>
            <a:ext cx="287000" cy="147485"/>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2" name="Arrow: Right 46">
            <a:extLst>
              <a:ext uri="{FF2B5EF4-FFF2-40B4-BE49-F238E27FC236}">
                <a16:creationId xmlns:a16="http://schemas.microsoft.com/office/drawing/2014/main" id="{5DF41CAA-94AC-4AD1-8B24-F64439A48FD5}"/>
              </a:ext>
            </a:extLst>
          </p:cNvPr>
          <p:cNvSpPr/>
          <p:nvPr/>
        </p:nvSpPr>
        <p:spPr>
          <a:xfrm>
            <a:off x="4716931" y="2486499"/>
            <a:ext cx="287000" cy="147485"/>
          </a:xfrm>
          <a:prstGeom prst="rightArrow">
            <a:avLst/>
          </a:prstGeom>
          <a:solidFill>
            <a:schemeClr val="accent6"/>
          </a:solidFill>
          <a:ln w="6350" algn="ctr">
            <a:noFill/>
            <a:miter lim="800000"/>
            <a:headEnd type="none" w="sm" len="sm"/>
            <a:tailEnd type="none" w="sm" len="sm"/>
          </a:ln>
        </p:spPr>
        <p:txBody>
          <a:bodyPr lIns="88900" tIns="88900" rIns="88900" bIns="88900" anchor="ctr"/>
          <a:lstStyle/>
          <a:p>
            <a:endParaRPr lang="en-US" sz="900" b="1" kern="0" dirty="0">
              <a:solidFill>
                <a:prstClr val="white"/>
              </a:solidFill>
              <a:latin typeface="+mj-lt"/>
              <a:cs typeface="Arial" pitchFamily="34" charset="0"/>
            </a:endParaRPr>
          </a:p>
        </p:txBody>
      </p:sp>
      <p:sp>
        <p:nvSpPr>
          <p:cNvPr id="33" name="Rounded Rectangle 56">
            <a:extLst>
              <a:ext uri="{FF2B5EF4-FFF2-40B4-BE49-F238E27FC236}">
                <a16:creationId xmlns:a16="http://schemas.microsoft.com/office/drawing/2014/main" id="{CCADAA9A-8354-4ED8-B743-6732F03CF0C2}"/>
              </a:ext>
            </a:extLst>
          </p:cNvPr>
          <p:cNvSpPr/>
          <p:nvPr/>
        </p:nvSpPr>
        <p:spPr>
          <a:xfrm>
            <a:off x="2841062" y="4480774"/>
            <a:ext cx="8807170" cy="1900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latin typeface="+mj-lt"/>
              </a:rPr>
              <a:t>Governance, Health Check, Metadata &amp; Security</a:t>
            </a:r>
          </a:p>
        </p:txBody>
      </p:sp>
      <p:cxnSp>
        <p:nvCxnSpPr>
          <p:cNvPr id="34" name="Straight Arrow Connector 33">
            <a:extLst>
              <a:ext uri="{FF2B5EF4-FFF2-40B4-BE49-F238E27FC236}">
                <a16:creationId xmlns:a16="http://schemas.microsoft.com/office/drawing/2014/main" id="{13692892-3F63-452E-B49C-7B09B095E365}"/>
              </a:ext>
            </a:extLst>
          </p:cNvPr>
          <p:cNvCxnSpPr>
            <a:stCxn id="12" idx="2"/>
            <a:endCxn id="13" idx="0"/>
          </p:cNvCxnSpPr>
          <p:nvPr/>
        </p:nvCxnSpPr>
        <p:spPr>
          <a:xfrm flipH="1">
            <a:off x="6146393" y="2272309"/>
            <a:ext cx="1" cy="2392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5E34416-DD0B-4641-A998-D1AB186D234A}"/>
              </a:ext>
            </a:extLst>
          </p:cNvPr>
          <p:cNvCxnSpPr>
            <a:stCxn id="13" idx="2"/>
            <a:endCxn id="14" idx="0"/>
          </p:cNvCxnSpPr>
          <p:nvPr/>
        </p:nvCxnSpPr>
        <p:spPr>
          <a:xfrm>
            <a:off x="6146393" y="2891731"/>
            <a:ext cx="0" cy="2389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86F0945-8DD0-4FBF-9F0C-BB4745F93839}"/>
              </a:ext>
            </a:extLst>
          </p:cNvPr>
          <p:cNvCxnSpPr>
            <a:stCxn id="14" idx="2"/>
            <a:endCxn id="25" idx="0"/>
          </p:cNvCxnSpPr>
          <p:nvPr/>
        </p:nvCxnSpPr>
        <p:spPr>
          <a:xfrm>
            <a:off x="6146393" y="3510858"/>
            <a:ext cx="0" cy="2334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ounded Rectangle 101">
            <a:extLst>
              <a:ext uri="{FF2B5EF4-FFF2-40B4-BE49-F238E27FC236}">
                <a16:creationId xmlns:a16="http://schemas.microsoft.com/office/drawing/2014/main" id="{B7E5B225-9F4F-48A3-8938-47AA55E856E6}"/>
              </a:ext>
            </a:extLst>
          </p:cNvPr>
          <p:cNvSpPr/>
          <p:nvPr/>
        </p:nvSpPr>
        <p:spPr>
          <a:xfrm>
            <a:off x="8407100" y="2125666"/>
            <a:ext cx="885170" cy="46597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Semantic</a:t>
            </a:r>
          </a:p>
        </p:txBody>
      </p:sp>
      <p:cxnSp>
        <p:nvCxnSpPr>
          <p:cNvPr id="38" name="Straight Arrow Connector 37">
            <a:extLst>
              <a:ext uri="{FF2B5EF4-FFF2-40B4-BE49-F238E27FC236}">
                <a16:creationId xmlns:a16="http://schemas.microsoft.com/office/drawing/2014/main" id="{E0021EFE-A507-43EB-99C2-B19C6FA37AC2}"/>
              </a:ext>
            </a:extLst>
          </p:cNvPr>
          <p:cNvCxnSpPr>
            <a:endCxn id="37" idx="1"/>
          </p:cNvCxnSpPr>
          <p:nvPr/>
        </p:nvCxnSpPr>
        <p:spPr>
          <a:xfrm>
            <a:off x="8380027" y="2344919"/>
            <a:ext cx="27073" cy="13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F4538F18-0A35-4176-8445-B506A10ACEC9}"/>
              </a:ext>
            </a:extLst>
          </p:cNvPr>
          <p:cNvSpPr/>
          <p:nvPr/>
        </p:nvSpPr>
        <p:spPr>
          <a:xfrm>
            <a:off x="9733244" y="2332899"/>
            <a:ext cx="268078" cy="148056"/>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mj-lt"/>
                <a:ea typeface="+mn-ea"/>
                <a:cs typeface="+mn-cs"/>
              </a:rPr>
              <a:t>1</a:t>
            </a:r>
          </a:p>
        </p:txBody>
      </p:sp>
      <p:sp>
        <p:nvSpPr>
          <p:cNvPr id="40" name="Oval 39">
            <a:extLst>
              <a:ext uri="{FF2B5EF4-FFF2-40B4-BE49-F238E27FC236}">
                <a16:creationId xmlns:a16="http://schemas.microsoft.com/office/drawing/2014/main" id="{9F03F16A-B11B-4B9F-B2E5-923931F84E8F}"/>
              </a:ext>
            </a:extLst>
          </p:cNvPr>
          <p:cNvSpPr/>
          <p:nvPr/>
        </p:nvSpPr>
        <p:spPr>
          <a:xfrm>
            <a:off x="9729206" y="2867579"/>
            <a:ext cx="268078" cy="148056"/>
          </a:xfrm>
          <a:prstGeom prst="ellipse">
            <a:avLst/>
          </a:prstGeom>
          <a:solidFill>
            <a:srgbClr val="0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0" dirty="0">
                <a:solidFill>
                  <a:srgbClr val="FFFFFF"/>
                </a:solidFill>
                <a:latin typeface="+mj-lt"/>
              </a:rPr>
              <a:t>2</a:t>
            </a:r>
            <a:endParaRPr kumimoji="0" lang="en-US" sz="900" b="1" i="0" u="none" strike="noStrike" kern="0" cap="none" spc="0" normalizeH="0" baseline="0" noProof="0" dirty="0">
              <a:ln>
                <a:noFill/>
              </a:ln>
              <a:solidFill>
                <a:srgbClr val="FFFFFF"/>
              </a:solidFill>
              <a:effectLst/>
              <a:uLnTx/>
              <a:uFillTx/>
              <a:latin typeface="+mj-lt"/>
              <a:ea typeface="+mn-ea"/>
              <a:cs typeface="+mn-cs"/>
            </a:endParaRPr>
          </a:p>
        </p:txBody>
      </p:sp>
      <p:sp>
        <p:nvSpPr>
          <p:cNvPr id="48" name="Rounded Rectangle 38">
            <a:extLst>
              <a:ext uri="{FF2B5EF4-FFF2-40B4-BE49-F238E27FC236}">
                <a16:creationId xmlns:a16="http://schemas.microsoft.com/office/drawing/2014/main" id="{CD27E138-4E67-49F6-A540-BB31BA2F7D82}"/>
              </a:ext>
            </a:extLst>
          </p:cNvPr>
          <p:cNvSpPr/>
          <p:nvPr/>
        </p:nvSpPr>
        <p:spPr>
          <a:xfrm>
            <a:off x="7350671" y="2830881"/>
            <a:ext cx="1845284" cy="1814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900" dirty="0">
                <a:solidFill>
                  <a:schemeClr val="bg1"/>
                </a:solidFill>
                <a:latin typeface="+mj-lt"/>
              </a:rPr>
              <a:t>NoSQL/Graph</a:t>
            </a:r>
          </a:p>
        </p:txBody>
      </p:sp>
      <p:cxnSp>
        <p:nvCxnSpPr>
          <p:cNvPr id="49" name="Elbow Connector 7">
            <a:extLst>
              <a:ext uri="{FF2B5EF4-FFF2-40B4-BE49-F238E27FC236}">
                <a16:creationId xmlns:a16="http://schemas.microsoft.com/office/drawing/2014/main" id="{AA50793C-02FE-4B90-9E5C-D05716464665}"/>
              </a:ext>
            </a:extLst>
          </p:cNvPr>
          <p:cNvCxnSpPr>
            <a:stCxn id="11" idx="3"/>
            <a:endCxn id="16" idx="1"/>
          </p:cNvCxnSpPr>
          <p:nvPr/>
        </p:nvCxnSpPr>
        <p:spPr>
          <a:xfrm>
            <a:off x="6949143" y="2889511"/>
            <a:ext cx="259062" cy="626144"/>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9">
            <a:extLst>
              <a:ext uri="{FF2B5EF4-FFF2-40B4-BE49-F238E27FC236}">
                <a16:creationId xmlns:a16="http://schemas.microsoft.com/office/drawing/2014/main" id="{6EF9C007-C5BB-43DE-A549-4C2AAF547B81}"/>
              </a:ext>
            </a:extLst>
          </p:cNvPr>
          <p:cNvCxnSpPr>
            <a:stCxn id="11" idx="3"/>
            <a:endCxn id="15" idx="1"/>
          </p:cNvCxnSpPr>
          <p:nvPr/>
        </p:nvCxnSpPr>
        <p:spPr>
          <a:xfrm flipV="1">
            <a:off x="6949143" y="2357033"/>
            <a:ext cx="258297" cy="532479"/>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884160C-C8D6-42C6-82AC-D8DEE0ECB051}"/>
              </a:ext>
            </a:extLst>
          </p:cNvPr>
          <p:cNvCxnSpPr>
            <a:stCxn id="17" idx="3"/>
            <a:endCxn id="37" idx="1"/>
          </p:cNvCxnSpPr>
          <p:nvPr/>
        </p:nvCxnSpPr>
        <p:spPr>
          <a:xfrm>
            <a:off x="8249341" y="2356851"/>
            <a:ext cx="157759" cy="18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17">
            <a:extLst>
              <a:ext uri="{FF2B5EF4-FFF2-40B4-BE49-F238E27FC236}">
                <a16:creationId xmlns:a16="http://schemas.microsoft.com/office/drawing/2014/main" id="{AA33629F-689F-4F75-BB33-A19ADEB649E0}"/>
              </a:ext>
            </a:extLst>
          </p:cNvPr>
          <p:cNvCxnSpPr>
            <a:stCxn id="15" idx="3"/>
          </p:cNvCxnSpPr>
          <p:nvPr/>
        </p:nvCxnSpPr>
        <p:spPr>
          <a:xfrm>
            <a:off x="9342075" y="2357033"/>
            <a:ext cx="707913" cy="178121"/>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19">
            <a:extLst>
              <a:ext uri="{FF2B5EF4-FFF2-40B4-BE49-F238E27FC236}">
                <a16:creationId xmlns:a16="http://schemas.microsoft.com/office/drawing/2014/main" id="{1D781B8F-F704-4854-85A9-E1F7A77C2A84}"/>
              </a:ext>
            </a:extLst>
          </p:cNvPr>
          <p:cNvCxnSpPr>
            <a:stCxn id="16" idx="3"/>
          </p:cNvCxnSpPr>
          <p:nvPr/>
        </p:nvCxnSpPr>
        <p:spPr>
          <a:xfrm flipV="1">
            <a:off x="9377466" y="3059754"/>
            <a:ext cx="672522" cy="455901"/>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98D9375-C89C-4D90-8DA0-286D8939947C}"/>
              </a:ext>
            </a:extLst>
          </p:cNvPr>
          <p:cNvCxnSpPr>
            <a:stCxn id="17" idx="2"/>
          </p:cNvCxnSpPr>
          <p:nvPr/>
        </p:nvCxnSpPr>
        <p:spPr>
          <a:xfrm flipH="1">
            <a:off x="7761889" y="2589838"/>
            <a:ext cx="1" cy="237928"/>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8F02738-22FB-44D6-8B9B-07BCB3B31F60}"/>
              </a:ext>
            </a:extLst>
          </p:cNvPr>
          <p:cNvCxnSpPr>
            <a:stCxn id="37" idx="2"/>
          </p:cNvCxnSpPr>
          <p:nvPr/>
        </p:nvCxnSpPr>
        <p:spPr>
          <a:xfrm>
            <a:off x="8849685" y="2591639"/>
            <a:ext cx="12587" cy="253417"/>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E1982610-C64A-41CF-9EC8-B1F1A775C520}"/>
              </a:ext>
            </a:extLst>
          </p:cNvPr>
          <p:cNvGrpSpPr>
            <a:grpSpLocks noChangeAspect="1"/>
          </p:cNvGrpSpPr>
          <p:nvPr/>
        </p:nvGrpSpPr>
        <p:grpSpPr>
          <a:xfrm>
            <a:off x="10642291" y="2556016"/>
            <a:ext cx="285676" cy="215670"/>
            <a:chOff x="4179888" y="2610485"/>
            <a:chExt cx="311151" cy="309563"/>
          </a:xfrm>
        </p:grpSpPr>
        <p:sp>
          <p:nvSpPr>
            <p:cNvPr id="57" name="Freeform 142">
              <a:extLst>
                <a:ext uri="{FF2B5EF4-FFF2-40B4-BE49-F238E27FC236}">
                  <a16:creationId xmlns:a16="http://schemas.microsoft.com/office/drawing/2014/main" id="{656F6A2E-ACD8-430C-8080-30719CA61832}"/>
                </a:ext>
              </a:extLst>
            </p:cNvPr>
            <p:cNvSpPr>
              <a:spLocks/>
            </p:cNvSpPr>
            <p:nvPr/>
          </p:nvSpPr>
          <p:spPr bwMode="auto">
            <a:xfrm>
              <a:off x="4179888" y="2661285"/>
              <a:ext cx="90488" cy="88900"/>
            </a:xfrm>
            <a:custGeom>
              <a:avLst/>
              <a:gdLst>
                <a:gd name="T0" fmla="*/ 45 w 114"/>
                <a:gd name="T1" fmla="*/ 87 h 113"/>
                <a:gd name="T2" fmla="*/ 45 w 114"/>
                <a:gd name="T3" fmla="*/ 87 h 113"/>
                <a:gd name="T4" fmla="*/ 53 w 114"/>
                <a:gd name="T5" fmla="*/ 87 h 113"/>
                <a:gd name="T6" fmla="*/ 59 w 114"/>
                <a:gd name="T7" fmla="*/ 85 h 113"/>
                <a:gd name="T8" fmla="*/ 66 w 114"/>
                <a:gd name="T9" fmla="*/ 82 h 113"/>
                <a:gd name="T10" fmla="*/ 71 w 114"/>
                <a:gd name="T11" fmla="*/ 79 h 113"/>
                <a:gd name="T12" fmla="*/ 104 w 114"/>
                <a:gd name="T13" fmla="*/ 111 h 113"/>
                <a:gd name="T14" fmla="*/ 104 w 114"/>
                <a:gd name="T15" fmla="*/ 111 h 113"/>
                <a:gd name="T16" fmla="*/ 105 w 114"/>
                <a:gd name="T17" fmla="*/ 113 h 113"/>
                <a:gd name="T18" fmla="*/ 108 w 114"/>
                <a:gd name="T19" fmla="*/ 113 h 113"/>
                <a:gd name="T20" fmla="*/ 108 w 114"/>
                <a:gd name="T21" fmla="*/ 113 h 113"/>
                <a:gd name="T22" fmla="*/ 110 w 114"/>
                <a:gd name="T23" fmla="*/ 113 h 113"/>
                <a:gd name="T24" fmla="*/ 112 w 114"/>
                <a:gd name="T25" fmla="*/ 111 h 113"/>
                <a:gd name="T26" fmla="*/ 112 w 114"/>
                <a:gd name="T27" fmla="*/ 111 h 113"/>
                <a:gd name="T28" fmla="*/ 113 w 114"/>
                <a:gd name="T29" fmla="*/ 109 h 113"/>
                <a:gd name="T30" fmla="*/ 114 w 114"/>
                <a:gd name="T31" fmla="*/ 106 h 113"/>
                <a:gd name="T32" fmla="*/ 113 w 114"/>
                <a:gd name="T33" fmla="*/ 103 h 113"/>
                <a:gd name="T34" fmla="*/ 112 w 114"/>
                <a:gd name="T35" fmla="*/ 102 h 113"/>
                <a:gd name="T36" fmla="*/ 79 w 114"/>
                <a:gd name="T37" fmla="*/ 70 h 113"/>
                <a:gd name="T38" fmla="*/ 79 w 114"/>
                <a:gd name="T39" fmla="*/ 70 h 113"/>
                <a:gd name="T40" fmla="*/ 84 w 114"/>
                <a:gd name="T41" fmla="*/ 64 h 113"/>
                <a:gd name="T42" fmla="*/ 86 w 114"/>
                <a:gd name="T43" fmla="*/ 58 h 113"/>
                <a:gd name="T44" fmla="*/ 89 w 114"/>
                <a:gd name="T45" fmla="*/ 51 h 113"/>
                <a:gd name="T46" fmla="*/ 89 w 114"/>
                <a:gd name="T47" fmla="*/ 43 h 113"/>
                <a:gd name="T48" fmla="*/ 89 w 114"/>
                <a:gd name="T49" fmla="*/ 43 h 113"/>
                <a:gd name="T50" fmla="*/ 88 w 114"/>
                <a:gd name="T51" fmla="*/ 35 h 113"/>
                <a:gd name="T52" fmla="*/ 85 w 114"/>
                <a:gd name="T53" fmla="*/ 27 h 113"/>
                <a:gd name="T54" fmla="*/ 81 w 114"/>
                <a:gd name="T55" fmla="*/ 19 h 113"/>
                <a:gd name="T56" fmla="*/ 75 w 114"/>
                <a:gd name="T57" fmla="*/ 12 h 113"/>
                <a:gd name="T58" fmla="*/ 70 w 114"/>
                <a:gd name="T59" fmla="*/ 7 h 113"/>
                <a:gd name="T60" fmla="*/ 62 w 114"/>
                <a:gd name="T61" fmla="*/ 3 h 113"/>
                <a:gd name="T62" fmla="*/ 54 w 114"/>
                <a:gd name="T63" fmla="*/ 0 h 113"/>
                <a:gd name="T64" fmla="*/ 45 w 114"/>
                <a:gd name="T65" fmla="*/ 0 h 113"/>
                <a:gd name="T66" fmla="*/ 45 w 114"/>
                <a:gd name="T67" fmla="*/ 0 h 113"/>
                <a:gd name="T68" fmla="*/ 36 w 114"/>
                <a:gd name="T69" fmla="*/ 0 h 113"/>
                <a:gd name="T70" fmla="*/ 27 w 114"/>
                <a:gd name="T71" fmla="*/ 3 h 113"/>
                <a:gd name="T72" fmla="*/ 20 w 114"/>
                <a:gd name="T73" fmla="*/ 7 h 113"/>
                <a:gd name="T74" fmla="*/ 14 w 114"/>
                <a:gd name="T75" fmla="*/ 12 h 113"/>
                <a:gd name="T76" fmla="*/ 8 w 114"/>
                <a:gd name="T77" fmla="*/ 19 h 113"/>
                <a:gd name="T78" fmla="*/ 4 w 114"/>
                <a:gd name="T79" fmla="*/ 27 h 113"/>
                <a:gd name="T80" fmla="*/ 2 w 114"/>
                <a:gd name="T81" fmla="*/ 35 h 113"/>
                <a:gd name="T82" fmla="*/ 0 w 114"/>
                <a:gd name="T83" fmla="*/ 43 h 113"/>
                <a:gd name="T84" fmla="*/ 0 w 114"/>
                <a:gd name="T85" fmla="*/ 43 h 113"/>
                <a:gd name="T86" fmla="*/ 2 w 114"/>
                <a:gd name="T87" fmla="*/ 52 h 113"/>
                <a:gd name="T88" fmla="*/ 4 w 114"/>
                <a:gd name="T89" fmla="*/ 60 h 113"/>
                <a:gd name="T90" fmla="*/ 8 w 114"/>
                <a:gd name="T91" fmla="*/ 68 h 113"/>
                <a:gd name="T92" fmla="*/ 14 w 114"/>
                <a:gd name="T93" fmla="*/ 75 h 113"/>
                <a:gd name="T94" fmla="*/ 20 w 114"/>
                <a:gd name="T95" fmla="*/ 80 h 113"/>
                <a:gd name="T96" fmla="*/ 27 w 114"/>
                <a:gd name="T97" fmla="*/ 85 h 113"/>
                <a:gd name="T98" fmla="*/ 36 w 114"/>
                <a:gd name="T99" fmla="*/ 86 h 113"/>
                <a:gd name="T100" fmla="*/ 45 w 114"/>
                <a:gd name="T101" fmla="*/ 87 h 113"/>
                <a:gd name="T102" fmla="*/ 45 w 114"/>
                <a:gd name="T103" fmla="*/ 87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4" h="113">
                  <a:moveTo>
                    <a:pt x="45" y="87"/>
                  </a:moveTo>
                  <a:lnTo>
                    <a:pt x="45" y="87"/>
                  </a:lnTo>
                  <a:lnTo>
                    <a:pt x="53" y="87"/>
                  </a:lnTo>
                  <a:lnTo>
                    <a:pt x="59" y="85"/>
                  </a:lnTo>
                  <a:lnTo>
                    <a:pt x="66" y="82"/>
                  </a:lnTo>
                  <a:lnTo>
                    <a:pt x="71" y="79"/>
                  </a:lnTo>
                  <a:lnTo>
                    <a:pt x="104" y="111"/>
                  </a:lnTo>
                  <a:lnTo>
                    <a:pt x="104" y="111"/>
                  </a:lnTo>
                  <a:lnTo>
                    <a:pt x="105" y="113"/>
                  </a:lnTo>
                  <a:lnTo>
                    <a:pt x="108" y="113"/>
                  </a:lnTo>
                  <a:lnTo>
                    <a:pt x="108" y="113"/>
                  </a:lnTo>
                  <a:lnTo>
                    <a:pt x="110" y="113"/>
                  </a:lnTo>
                  <a:lnTo>
                    <a:pt x="112" y="111"/>
                  </a:lnTo>
                  <a:lnTo>
                    <a:pt x="112" y="111"/>
                  </a:lnTo>
                  <a:lnTo>
                    <a:pt x="113" y="109"/>
                  </a:lnTo>
                  <a:lnTo>
                    <a:pt x="114" y="106"/>
                  </a:lnTo>
                  <a:lnTo>
                    <a:pt x="113" y="103"/>
                  </a:lnTo>
                  <a:lnTo>
                    <a:pt x="112" y="102"/>
                  </a:lnTo>
                  <a:lnTo>
                    <a:pt x="79" y="70"/>
                  </a:lnTo>
                  <a:lnTo>
                    <a:pt x="79" y="70"/>
                  </a:lnTo>
                  <a:lnTo>
                    <a:pt x="84" y="64"/>
                  </a:lnTo>
                  <a:lnTo>
                    <a:pt x="86" y="58"/>
                  </a:lnTo>
                  <a:lnTo>
                    <a:pt x="89" y="51"/>
                  </a:lnTo>
                  <a:lnTo>
                    <a:pt x="89" y="43"/>
                  </a:lnTo>
                  <a:lnTo>
                    <a:pt x="89" y="43"/>
                  </a:lnTo>
                  <a:lnTo>
                    <a:pt x="88" y="35"/>
                  </a:lnTo>
                  <a:lnTo>
                    <a:pt x="85" y="27"/>
                  </a:lnTo>
                  <a:lnTo>
                    <a:pt x="81" y="19"/>
                  </a:lnTo>
                  <a:lnTo>
                    <a:pt x="75" y="12"/>
                  </a:lnTo>
                  <a:lnTo>
                    <a:pt x="70" y="7"/>
                  </a:lnTo>
                  <a:lnTo>
                    <a:pt x="62" y="3"/>
                  </a:lnTo>
                  <a:lnTo>
                    <a:pt x="54" y="0"/>
                  </a:lnTo>
                  <a:lnTo>
                    <a:pt x="45" y="0"/>
                  </a:lnTo>
                  <a:lnTo>
                    <a:pt x="45" y="0"/>
                  </a:lnTo>
                  <a:lnTo>
                    <a:pt x="36" y="0"/>
                  </a:lnTo>
                  <a:lnTo>
                    <a:pt x="27" y="3"/>
                  </a:lnTo>
                  <a:lnTo>
                    <a:pt x="20" y="7"/>
                  </a:lnTo>
                  <a:lnTo>
                    <a:pt x="14" y="12"/>
                  </a:lnTo>
                  <a:lnTo>
                    <a:pt x="8" y="19"/>
                  </a:lnTo>
                  <a:lnTo>
                    <a:pt x="4" y="27"/>
                  </a:lnTo>
                  <a:lnTo>
                    <a:pt x="2" y="35"/>
                  </a:lnTo>
                  <a:lnTo>
                    <a:pt x="0" y="43"/>
                  </a:lnTo>
                  <a:lnTo>
                    <a:pt x="0" y="43"/>
                  </a:lnTo>
                  <a:lnTo>
                    <a:pt x="2" y="52"/>
                  </a:lnTo>
                  <a:lnTo>
                    <a:pt x="4" y="60"/>
                  </a:lnTo>
                  <a:lnTo>
                    <a:pt x="8" y="68"/>
                  </a:lnTo>
                  <a:lnTo>
                    <a:pt x="14" y="75"/>
                  </a:lnTo>
                  <a:lnTo>
                    <a:pt x="20" y="80"/>
                  </a:lnTo>
                  <a:lnTo>
                    <a:pt x="27" y="85"/>
                  </a:lnTo>
                  <a:lnTo>
                    <a:pt x="36" y="86"/>
                  </a:lnTo>
                  <a:lnTo>
                    <a:pt x="45" y="87"/>
                  </a:lnTo>
                  <a:lnTo>
                    <a:pt x="45"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58" name="Freeform 143">
              <a:extLst>
                <a:ext uri="{FF2B5EF4-FFF2-40B4-BE49-F238E27FC236}">
                  <a16:creationId xmlns:a16="http://schemas.microsoft.com/office/drawing/2014/main" id="{B8EC0BE1-87B9-4489-91DF-16F105F4D260}"/>
                </a:ext>
              </a:extLst>
            </p:cNvPr>
            <p:cNvSpPr>
              <a:spLocks/>
            </p:cNvSpPr>
            <p:nvPr/>
          </p:nvSpPr>
          <p:spPr bwMode="auto">
            <a:xfrm>
              <a:off x="4300538" y="2610485"/>
              <a:ext cx="69850" cy="111125"/>
            </a:xfrm>
            <a:custGeom>
              <a:avLst/>
              <a:gdLst>
                <a:gd name="T0" fmla="*/ 44 w 89"/>
                <a:gd name="T1" fmla="*/ 138 h 138"/>
                <a:gd name="T2" fmla="*/ 44 w 89"/>
                <a:gd name="T3" fmla="*/ 138 h 138"/>
                <a:gd name="T4" fmla="*/ 47 w 89"/>
                <a:gd name="T5" fmla="*/ 137 h 138"/>
                <a:gd name="T6" fmla="*/ 48 w 89"/>
                <a:gd name="T7" fmla="*/ 135 h 138"/>
                <a:gd name="T8" fmla="*/ 50 w 89"/>
                <a:gd name="T9" fmla="*/ 134 h 138"/>
                <a:gd name="T10" fmla="*/ 50 w 89"/>
                <a:gd name="T11" fmla="*/ 131 h 138"/>
                <a:gd name="T12" fmla="*/ 50 w 89"/>
                <a:gd name="T13" fmla="*/ 87 h 138"/>
                <a:gd name="T14" fmla="*/ 50 w 89"/>
                <a:gd name="T15" fmla="*/ 87 h 138"/>
                <a:gd name="T16" fmla="*/ 58 w 89"/>
                <a:gd name="T17" fmla="*/ 86 h 138"/>
                <a:gd name="T18" fmla="*/ 66 w 89"/>
                <a:gd name="T19" fmla="*/ 82 h 138"/>
                <a:gd name="T20" fmla="*/ 71 w 89"/>
                <a:gd name="T21" fmla="*/ 78 h 138"/>
                <a:gd name="T22" fmla="*/ 77 w 89"/>
                <a:gd name="T23" fmla="*/ 72 h 138"/>
                <a:gd name="T24" fmla="*/ 82 w 89"/>
                <a:gd name="T25" fmla="*/ 66 h 138"/>
                <a:gd name="T26" fmla="*/ 85 w 89"/>
                <a:gd name="T27" fmla="*/ 59 h 138"/>
                <a:gd name="T28" fmla="*/ 87 w 89"/>
                <a:gd name="T29" fmla="*/ 51 h 138"/>
                <a:gd name="T30" fmla="*/ 89 w 89"/>
                <a:gd name="T31" fmla="*/ 43 h 138"/>
                <a:gd name="T32" fmla="*/ 89 w 89"/>
                <a:gd name="T33" fmla="*/ 43 h 138"/>
                <a:gd name="T34" fmla="*/ 87 w 89"/>
                <a:gd name="T35" fmla="*/ 35 h 138"/>
                <a:gd name="T36" fmla="*/ 85 w 89"/>
                <a:gd name="T37" fmla="*/ 27 h 138"/>
                <a:gd name="T38" fmla="*/ 81 w 89"/>
                <a:gd name="T39" fmla="*/ 18 h 138"/>
                <a:gd name="T40" fmla="*/ 75 w 89"/>
                <a:gd name="T41" fmla="*/ 12 h 138"/>
                <a:gd name="T42" fmla="*/ 69 w 89"/>
                <a:gd name="T43" fmla="*/ 6 h 138"/>
                <a:gd name="T44" fmla="*/ 62 w 89"/>
                <a:gd name="T45" fmla="*/ 2 h 138"/>
                <a:gd name="T46" fmla="*/ 52 w 89"/>
                <a:gd name="T47" fmla="*/ 0 h 138"/>
                <a:gd name="T48" fmla="*/ 44 w 89"/>
                <a:gd name="T49" fmla="*/ 0 h 138"/>
                <a:gd name="T50" fmla="*/ 44 w 89"/>
                <a:gd name="T51" fmla="*/ 0 h 138"/>
                <a:gd name="T52" fmla="*/ 35 w 89"/>
                <a:gd name="T53" fmla="*/ 0 h 138"/>
                <a:gd name="T54" fmla="*/ 27 w 89"/>
                <a:gd name="T55" fmla="*/ 2 h 138"/>
                <a:gd name="T56" fmla="*/ 19 w 89"/>
                <a:gd name="T57" fmla="*/ 6 h 138"/>
                <a:gd name="T58" fmla="*/ 14 w 89"/>
                <a:gd name="T59" fmla="*/ 12 h 138"/>
                <a:gd name="T60" fmla="*/ 8 w 89"/>
                <a:gd name="T61" fmla="*/ 18 h 138"/>
                <a:gd name="T62" fmla="*/ 4 w 89"/>
                <a:gd name="T63" fmla="*/ 27 h 138"/>
                <a:gd name="T64" fmla="*/ 1 w 89"/>
                <a:gd name="T65" fmla="*/ 35 h 138"/>
                <a:gd name="T66" fmla="*/ 0 w 89"/>
                <a:gd name="T67" fmla="*/ 43 h 138"/>
                <a:gd name="T68" fmla="*/ 0 w 89"/>
                <a:gd name="T69" fmla="*/ 43 h 138"/>
                <a:gd name="T70" fmla="*/ 0 w 89"/>
                <a:gd name="T71" fmla="*/ 51 h 138"/>
                <a:gd name="T72" fmla="*/ 3 w 89"/>
                <a:gd name="T73" fmla="*/ 59 h 138"/>
                <a:gd name="T74" fmla="*/ 7 w 89"/>
                <a:gd name="T75" fmla="*/ 66 h 138"/>
                <a:gd name="T76" fmla="*/ 11 w 89"/>
                <a:gd name="T77" fmla="*/ 72 h 138"/>
                <a:gd name="T78" fmla="*/ 16 w 89"/>
                <a:gd name="T79" fmla="*/ 78 h 138"/>
                <a:gd name="T80" fmla="*/ 23 w 89"/>
                <a:gd name="T81" fmla="*/ 82 h 138"/>
                <a:gd name="T82" fmla="*/ 30 w 89"/>
                <a:gd name="T83" fmla="*/ 86 h 138"/>
                <a:gd name="T84" fmla="*/ 38 w 89"/>
                <a:gd name="T85" fmla="*/ 87 h 138"/>
                <a:gd name="T86" fmla="*/ 38 w 89"/>
                <a:gd name="T87" fmla="*/ 131 h 138"/>
                <a:gd name="T88" fmla="*/ 38 w 89"/>
                <a:gd name="T89" fmla="*/ 131 h 138"/>
                <a:gd name="T90" fmla="*/ 38 w 89"/>
                <a:gd name="T91" fmla="*/ 134 h 138"/>
                <a:gd name="T92" fmla="*/ 39 w 89"/>
                <a:gd name="T93" fmla="*/ 135 h 138"/>
                <a:gd name="T94" fmla="*/ 42 w 89"/>
                <a:gd name="T95" fmla="*/ 137 h 138"/>
                <a:gd name="T96" fmla="*/ 44 w 89"/>
                <a:gd name="T97" fmla="*/ 138 h 138"/>
                <a:gd name="T98" fmla="*/ 44 w 89"/>
                <a:gd name="T99"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9" h="138">
                  <a:moveTo>
                    <a:pt x="44" y="138"/>
                  </a:moveTo>
                  <a:lnTo>
                    <a:pt x="44" y="138"/>
                  </a:lnTo>
                  <a:lnTo>
                    <a:pt x="47" y="137"/>
                  </a:lnTo>
                  <a:lnTo>
                    <a:pt x="48" y="135"/>
                  </a:lnTo>
                  <a:lnTo>
                    <a:pt x="50" y="134"/>
                  </a:lnTo>
                  <a:lnTo>
                    <a:pt x="50" y="131"/>
                  </a:lnTo>
                  <a:lnTo>
                    <a:pt x="50" y="87"/>
                  </a:lnTo>
                  <a:lnTo>
                    <a:pt x="50" y="87"/>
                  </a:lnTo>
                  <a:lnTo>
                    <a:pt x="58" y="86"/>
                  </a:lnTo>
                  <a:lnTo>
                    <a:pt x="66" y="82"/>
                  </a:lnTo>
                  <a:lnTo>
                    <a:pt x="71" y="78"/>
                  </a:lnTo>
                  <a:lnTo>
                    <a:pt x="77" y="72"/>
                  </a:lnTo>
                  <a:lnTo>
                    <a:pt x="82" y="66"/>
                  </a:lnTo>
                  <a:lnTo>
                    <a:pt x="85" y="59"/>
                  </a:lnTo>
                  <a:lnTo>
                    <a:pt x="87" y="51"/>
                  </a:lnTo>
                  <a:lnTo>
                    <a:pt x="89" y="43"/>
                  </a:lnTo>
                  <a:lnTo>
                    <a:pt x="89" y="43"/>
                  </a:lnTo>
                  <a:lnTo>
                    <a:pt x="87" y="35"/>
                  </a:lnTo>
                  <a:lnTo>
                    <a:pt x="85" y="27"/>
                  </a:lnTo>
                  <a:lnTo>
                    <a:pt x="81" y="18"/>
                  </a:lnTo>
                  <a:lnTo>
                    <a:pt x="75" y="12"/>
                  </a:lnTo>
                  <a:lnTo>
                    <a:pt x="69" y="6"/>
                  </a:lnTo>
                  <a:lnTo>
                    <a:pt x="62" y="2"/>
                  </a:lnTo>
                  <a:lnTo>
                    <a:pt x="52" y="0"/>
                  </a:lnTo>
                  <a:lnTo>
                    <a:pt x="44" y="0"/>
                  </a:lnTo>
                  <a:lnTo>
                    <a:pt x="44" y="0"/>
                  </a:lnTo>
                  <a:lnTo>
                    <a:pt x="35" y="0"/>
                  </a:lnTo>
                  <a:lnTo>
                    <a:pt x="27" y="2"/>
                  </a:lnTo>
                  <a:lnTo>
                    <a:pt x="19" y="6"/>
                  </a:lnTo>
                  <a:lnTo>
                    <a:pt x="14" y="12"/>
                  </a:lnTo>
                  <a:lnTo>
                    <a:pt x="8" y="18"/>
                  </a:lnTo>
                  <a:lnTo>
                    <a:pt x="4" y="27"/>
                  </a:lnTo>
                  <a:lnTo>
                    <a:pt x="1" y="35"/>
                  </a:lnTo>
                  <a:lnTo>
                    <a:pt x="0" y="43"/>
                  </a:lnTo>
                  <a:lnTo>
                    <a:pt x="0" y="43"/>
                  </a:lnTo>
                  <a:lnTo>
                    <a:pt x="0" y="51"/>
                  </a:lnTo>
                  <a:lnTo>
                    <a:pt x="3" y="59"/>
                  </a:lnTo>
                  <a:lnTo>
                    <a:pt x="7" y="66"/>
                  </a:lnTo>
                  <a:lnTo>
                    <a:pt x="11" y="72"/>
                  </a:lnTo>
                  <a:lnTo>
                    <a:pt x="16" y="78"/>
                  </a:lnTo>
                  <a:lnTo>
                    <a:pt x="23" y="82"/>
                  </a:lnTo>
                  <a:lnTo>
                    <a:pt x="30" y="86"/>
                  </a:lnTo>
                  <a:lnTo>
                    <a:pt x="38" y="87"/>
                  </a:lnTo>
                  <a:lnTo>
                    <a:pt x="38" y="131"/>
                  </a:lnTo>
                  <a:lnTo>
                    <a:pt x="38" y="131"/>
                  </a:lnTo>
                  <a:lnTo>
                    <a:pt x="38" y="134"/>
                  </a:lnTo>
                  <a:lnTo>
                    <a:pt x="39" y="135"/>
                  </a:lnTo>
                  <a:lnTo>
                    <a:pt x="42" y="137"/>
                  </a:lnTo>
                  <a:lnTo>
                    <a:pt x="44" y="138"/>
                  </a:lnTo>
                  <a:lnTo>
                    <a:pt x="44"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59" name="Freeform 144">
              <a:extLst>
                <a:ext uri="{FF2B5EF4-FFF2-40B4-BE49-F238E27FC236}">
                  <a16:creationId xmlns:a16="http://schemas.microsoft.com/office/drawing/2014/main" id="{3218FB33-1E46-4AA3-ABA1-8C835CA27E7D}"/>
                </a:ext>
              </a:extLst>
            </p:cNvPr>
            <p:cNvSpPr>
              <a:spLocks/>
            </p:cNvSpPr>
            <p:nvPr/>
          </p:nvSpPr>
          <p:spPr bwMode="auto">
            <a:xfrm>
              <a:off x="4400551" y="2661285"/>
              <a:ext cx="90488" cy="88900"/>
            </a:xfrm>
            <a:custGeom>
              <a:avLst/>
              <a:gdLst>
                <a:gd name="T0" fmla="*/ 69 w 113"/>
                <a:gd name="T1" fmla="*/ 0 h 113"/>
                <a:gd name="T2" fmla="*/ 69 w 113"/>
                <a:gd name="T3" fmla="*/ 0 h 113"/>
                <a:gd name="T4" fmla="*/ 61 w 113"/>
                <a:gd name="T5" fmla="*/ 0 h 113"/>
                <a:gd name="T6" fmla="*/ 53 w 113"/>
                <a:gd name="T7" fmla="*/ 3 h 113"/>
                <a:gd name="T8" fmla="*/ 45 w 113"/>
                <a:gd name="T9" fmla="*/ 7 h 113"/>
                <a:gd name="T10" fmla="*/ 38 w 113"/>
                <a:gd name="T11" fmla="*/ 12 h 113"/>
                <a:gd name="T12" fmla="*/ 33 w 113"/>
                <a:gd name="T13" fmla="*/ 19 h 113"/>
                <a:gd name="T14" fmla="*/ 29 w 113"/>
                <a:gd name="T15" fmla="*/ 27 h 113"/>
                <a:gd name="T16" fmla="*/ 26 w 113"/>
                <a:gd name="T17" fmla="*/ 35 h 113"/>
                <a:gd name="T18" fmla="*/ 25 w 113"/>
                <a:gd name="T19" fmla="*/ 43 h 113"/>
                <a:gd name="T20" fmla="*/ 25 w 113"/>
                <a:gd name="T21" fmla="*/ 43 h 113"/>
                <a:gd name="T22" fmla="*/ 26 w 113"/>
                <a:gd name="T23" fmla="*/ 51 h 113"/>
                <a:gd name="T24" fmla="*/ 27 w 113"/>
                <a:gd name="T25" fmla="*/ 58 h 113"/>
                <a:gd name="T26" fmla="*/ 30 w 113"/>
                <a:gd name="T27" fmla="*/ 64 h 113"/>
                <a:gd name="T28" fmla="*/ 34 w 113"/>
                <a:gd name="T29" fmla="*/ 70 h 113"/>
                <a:gd name="T30" fmla="*/ 2 w 113"/>
                <a:gd name="T31" fmla="*/ 102 h 113"/>
                <a:gd name="T32" fmla="*/ 2 w 113"/>
                <a:gd name="T33" fmla="*/ 102 h 113"/>
                <a:gd name="T34" fmla="*/ 0 w 113"/>
                <a:gd name="T35" fmla="*/ 103 h 113"/>
                <a:gd name="T36" fmla="*/ 0 w 113"/>
                <a:gd name="T37" fmla="*/ 106 h 113"/>
                <a:gd name="T38" fmla="*/ 0 w 113"/>
                <a:gd name="T39" fmla="*/ 109 h 113"/>
                <a:gd name="T40" fmla="*/ 2 w 113"/>
                <a:gd name="T41" fmla="*/ 111 h 113"/>
                <a:gd name="T42" fmla="*/ 2 w 113"/>
                <a:gd name="T43" fmla="*/ 111 h 113"/>
                <a:gd name="T44" fmla="*/ 4 w 113"/>
                <a:gd name="T45" fmla="*/ 113 h 113"/>
                <a:gd name="T46" fmla="*/ 6 w 113"/>
                <a:gd name="T47" fmla="*/ 113 h 113"/>
                <a:gd name="T48" fmla="*/ 6 w 113"/>
                <a:gd name="T49" fmla="*/ 113 h 113"/>
                <a:gd name="T50" fmla="*/ 8 w 113"/>
                <a:gd name="T51" fmla="*/ 113 h 113"/>
                <a:gd name="T52" fmla="*/ 11 w 113"/>
                <a:gd name="T53" fmla="*/ 111 h 113"/>
                <a:gd name="T54" fmla="*/ 43 w 113"/>
                <a:gd name="T55" fmla="*/ 79 h 113"/>
                <a:gd name="T56" fmla="*/ 43 w 113"/>
                <a:gd name="T57" fmla="*/ 79 h 113"/>
                <a:gd name="T58" fmla="*/ 49 w 113"/>
                <a:gd name="T59" fmla="*/ 82 h 113"/>
                <a:gd name="T60" fmla="*/ 56 w 113"/>
                <a:gd name="T61" fmla="*/ 85 h 113"/>
                <a:gd name="T62" fmla="*/ 62 w 113"/>
                <a:gd name="T63" fmla="*/ 87 h 113"/>
                <a:gd name="T64" fmla="*/ 69 w 113"/>
                <a:gd name="T65" fmla="*/ 87 h 113"/>
                <a:gd name="T66" fmla="*/ 69 w 113"/>
                <a:gd name="T67" fmla="*/ 87 h 113"/>
                <a:gd name="T68" fmla="*/ 78 w 113"/>
                <a:gd name="T69" fmla="*/ 86 h 113"/>
                <a:gd name="T70" fmla="*/ 86 w 113"/>
                <a:gd name="T71" fmla="*/ 85 h 113"/>
                <a:gd name="T72" fmla="*/ 94 w 113"/>
                <a:gd name="T73" fmla="*/ 80 h 113"/>
                <a:gd name="T74" fmla="*/ 100 w 113"/>
                <a:gd name="T75" fmla="*/ 75 h 113"/>
                <a:gd name="T76" fmla="*/ 107 w 113"/>
                <a:gd name="T77" fmla="*/ 68 h 113"/>
                <a:gd name="T78" fmla="*/ 111 w 113"/>
                <a:gd name="T79" fmla="*/ 60 h 113"/>
                <a:gd name="T80" fmla="*/ 112 w 113"/>
                <a:gd name="T81" fmla="*/ 52 h 113"/>
                <a:gd name="T82" fmla="*/ 113 w 113"/>
                <a:gd name="T83" fmla="*/ 43 h 113"/>
                <a:gd name="T84" fmla="*/ 113 w 113"/>
                <a:gd name="T85" fmla="*/ 43 h 113"/>
                <a:gd name="T86" fmla="*/ 112 w 113"/>
                <a:gd name="T87" fmla="*/ 35 h 113"/>
                <a:gd name="T88" fmla="*/ 111 w 113"/>
                <a:gd name="T89" fmla="*/ 27 h 113"/>
                <a:gd name="T90" fmla="*/ 107 w 113"/>
                <a:gd name="T91" fmla="*/ 19 h 113"/>
                <a:gd name="T92" fmla="*/ 100 w 113"/>
                <a:gd name="T93" fmla="*/ 12 h 113"/>
                <a:gd name="T94" fmla="*/ 94 w 113"/>
                <a:gd name="T95" fmla="*/ 7 h 113"/>
                <a:gd name="T96" fmla="*/ 86 w 113"/>
                <a:gd name="T97" fmla="*/ 3 h 113"/>
                <a:gd name="T98" fmla="*/ 78 w 113"/>
                <a:gd name="T99" fmla="*/ 0 h 113"/>
                <a:gd name="T100" fmla="*/ 69 w 113"/>
                <a:gd name="T101" fmla="*/ 0 h 113"/>
                <a:gd name="T102" fmla="*/ 69 w 113"/>
                <a:gd name="T103"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3" h="113">
                  <a:moveTo>
                    <a:pt x="69" y="0"/>
                  </a:moveTo>
                  <a:lnTo>
                    <a:pt x="69" y="0"/>
                  </a:lnTo>
                  <a:lnTo>
                    <a:pt x="61" y="0"/>
                  </a:lnTo>
                  <a:lnTo>
                    <a:pt x="53" y="3"/>
                  </a:lnTo>
                  <a:lnTo>
                    <a:pt x="45" y="7"/>
                  </a:lnTo>
                  <a:lnTo>
                    <a:pt x="38" y="12"/>
                  </a:lnTo>
                  <a:lnTo>
                    <a:pt x="33" y="19"/>
                  </a:lnTo>
                  <a:lnTo>
                    <a:pt x="29" y="27"/>
                  </a:lnTo>
                  <a:lnTo>
                    <a:pt x="26" y="35"/>
                  </a:lnTo>
                  <a:lnTo>
                    <a:pt x="25" y="43"/>
                  </a:lnTo>
                  <a:lnTo>
                    <a:pt x="25" y="43"/>
                  </a:lnTo>
                  <a:lnTo>
                    <a:pt x="26" y="51"/>
                  </a:lnTo>
                  <a:lnTo>
                    <a:pt x="27" y="58"/>
                  </a:lnTo>
                  <a:lnTo>
                    <a:pt x="30" y="64"/>
                  </a:lnTo>
                  <a:lnTo>
                    <a:pt x="34" y="70"/>
                  </a:lnTo>
                  <a:lnTo>
                    <a:pt x="2" y="102"/>
                  </a:lnTo>
                  <a:lnTo>
                    <a:pt x="2" y="102"/>
                  </a:lnTo>
                  <a:lnTo>
                    <a:pt x="0" y="103"/>
                  </a:lnTo>
                  <a:lnTo>
                    <a:pt x="0" y="106"/>
                  </a:lnTo>
                  <a:lnTo>
                    <a:pt x="0" y="109"/>
                  </a:lnTo>
                  <a:lnTo>
                    <a:pt x="2" y="111"/>
                  </a:lnTo>
                  <a:lnTo>
                    <a:pt x="2" y="111"/>
                  </a:lnTo>
                  <a:lnTo>
                    <a:pt x="4" y="113"/>
                  </a:lnTo>
                  <a:lnTo>
                    <a:pt x="6" y="113"/>
                  </a:lnTo>
                  <a:lnTo>
                    <a:pt x="6" y="113"/>
                  </a:lnTo>
                  <a:lnTo>
                    <a:pt x="8" y="113"/>
                  </a:lnTo>
                  <a:lnTo>
                    <a:pt x="11" y="111"/>
                  </a:lnTo>
                  <a:lnTo>
                    <a:pt x="43" y="79"/>
                  </a:lnTo>
                  <a:lnTo>
                    <a:pt x="43" y="79"/>
                  </a:lnTo>
                  <a:lnTo>
                    <a:pt x="49" y="82"/>
                  </a:lnTo>
                  <a:lnTo>
                    <a:pt x="56" y="85"/>
                  </a:lnTo>
                  <a:lnTo>
                    <a:pt x="62" y="87"/>
                  </a:lnTo>
                  <a:lnTo>
                    <a:pt x="69" y="87"/>
                  </a:lnTo>
                  <a:lnTo>
                    <a:pt x="69" y="87"/>
                  </a:lnTo>
                  <a:lnTo>
                    <a:pt x="78" y="86"/>
                  </a:lnTo>
                  <a:lnTo>
                    <a:pt x="86" y="85"/>
                  </a:lnTo>
                  <a:lnTo>
                    <a:pt x="94" y="80"/>
                  </a:lnTo>
                  <a:lnTo>
                    <a:pt x="100" y="75"/>
                  </a:lnTo>
                  <a:lnTo>
                    <a:pt x="107" y="68"/>
                  </a:lnTo>
                  <a:lnTo>
                    <a:pt x="111" y="60"/>
                  </a:lnTo>
                  <a:lnTo>
                    <a:pt x="112" y="52"/>
                  </a:lnTo>
                  <a:lnTo>
                    <a:pt x="113" y="43"/>
                  </a:lnTo>
                  <a:lnTo>
                    <a:pt x="113" y="43"/>
                  </a:lnTo>
                  <a:lnTo>
                    <a:pt x="112" y="35"/>
                  </a:lnTo>
                  <a:lnTo>
                    <a:pt x="111" y="27"/>
                  </a:lnTo>
                  <a:lnTo>
                    <a:pt x="107" y="19"/>
                  </a:lnTo>
                  <a:lnTo>
                    <a:pt x="100" y="12"/>
                  </a:lnTo>
                  <a:lnTo>
                    <a:pt x="94" y="7"/>
                  </a:lnTo>
                  <a:lnTo>
                    <a:pt x="86" y="3"/>
                  </a:lnTo>
                  <a:lnTo>
                    <a:pt x="78" y="0"/>
                  </a:lnTo>
                  <a:lnTo>
                    <a:pt x="69" y="0"/>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60" name="Freeform 145">
              <a:extLst>
                <a:ext uri="{FF2B5EF4-FFF2-40B4-BE49-F238E27FC236}">
                  <a16:creationId xmlns:a16="http://schemas.microsoft.com/office/drawing/2014/main" id="{F8D0D89A-ACC1-407F-8A6C-489484A9083E}"/>
                </a:ext>
              </a:extLst>
            </p:cNvPr>
            <p:cNvSpPr>
              <a:spLocks/>
            </p:cNvSpPr>
            <p:nvPr/>
          </p:nvSpPr>
          <p:spPr bwMode="auto">
            <a:xfrm>
              <a:off x="4279901" y="2750185"/>
              <a:ext cx="109538" cy="120650"/>
            </a:xfrm>
            <a:custGeom>
              <a:avLst/>
              <a:gdLst>
                <a:gd name="T0" fmla="*/ 69 w 138"/>
                <a:gd name="T1" fmla="*/ 0 h 150"/>
                <a:gd name="T2" fmla="*/ 69 w 138"/>
                <a:gd name="T3" fmla="*/ 0 h 150"/>
                <a:gd name="T4" fmla="*/ 55 w 138"/>
                <a:gd name="T5" fmla="*/ 1 h 150"/>
                <a:gd name="T6" fmla="*/ 43 w 138"/>
                <a:gd name="T7" fmla="*/ 5 h 150"/>
                <a:gd name="T8" fmla="*/ 30 w 138"/>
                <a:gd name="T9" fmla="*/ 12 h 150"/>
                <a:gd name="T10" fmla="*/ 20 w 138"/>
                <a:gd name="T11" fmla="*/ 20 h 150"/>
                <a:gd name="T12" fmla="*/ 12 w 138"/>
                <a:gd name="T13" fmla="*/ 31 h 150"/>
                <a:gd name="T14" fmla="*/ 5 w 138"/>
                <a:gd name="T15" fmla="*/ 41 h 150"/>
                <a:gd name="T16" fmla="*/ 1 w 138"/>
                <a:gd name="T17" fmla="*/ 55 h 150"/>
                <a:gd name="T18" fmla="*/ 0 w 138"/>
                <a:gd name="T19" fmla="*/ 68 h 150"/>
                <a:gd name="T20" fmla="*/ 0 w 138"/>
                <a:gd name="T21" fmla="*/ 82 h 150"/>
                <a:gd name="T22" fmla="*/ 0 w 138"/>
                <a:gd name="T23" fmla="*/ 82 h 150"/>
                <a:gd name="T24" fmla="*/ 1 w 138"/>
                <a:gd name="T25" fmla="*/ 95 h 150"/>
                <a:gd name="T26" fmla="*/ 5 w 138"/>
                <a:gd name="T27" fmla="*/ 109 h 150"/>
                <a:gd name="T28" fmla="*/ 12 w 138"/>
                <a:gd name="T29" fmla="*/ 121 h 150"/>
                <a:gd name="T30" fmla="*/ 20 w 138"/>
                <a:gd name="T31" fmla="*/ 130 h 150"/>
                <a:gd name="T32" fmla="*/ 30 w 138"/>
                <a:gd name="T33" fmla="*/ 140 h 150"/>
                <a:gd name="T34" fmla="*/ 43 w 138"/>
                <a:gd name="T35" fmla="*/ 145 h 150"/>
                <a:gd name="T36" fmla="*/ 55 w 138"/>
                <a:gd name="T37" fmla="*/ 149 h 150"/>
                <a:gd name="T38" fmla="*/ 69 w 138"/>
                <a:gd name="T39" fmla="*/ 150 h 150"/>
                <a:gd name="T40" fmla="*/ 69 w 138"/>
                <a:gd name="T41" fmla="*/ 150 h 150"/>
                <a:gd name="T42" fmla="*/ 83 w 138"/>
                <a:gd name="T43" fmla="*/ 149 h 150"/>
                <a:gd name="T44" fmla="*/ 96 w 138"/>
                <a:gd name="T45" fmla="*/ 145 h 150"/>
                <a:gd name="T46" fmla="*/ 108 w 138"/>
                <a:gd name="T47" fmla="*/ 140 h 150"/>
                <a:gd name="T48" fmla="*/ 118 w 138"/>
                <a:gd name="T49" fmla="*/ 130 h 150"/>
                <a:gd name="T50" fmla="*/ 127 w 138"/>
                <a:gd name="T51" fmla="*/ 121 h 150"/>
                <a:gd name="T52" fmla="*/ 133 w 138"/>
                <a:gd name="T53" fmla="*/ 109 h 150"/>
                <a:gd name="T54" fmla="*/ 137 w 138"/>
                <a:gd name="T55" fmla="*/ 95 h 150"/>
                <a:gd name="T56" fmla="*/ 138 w 138"/>
                <a:gd name="T57" fmla="*/ 82 h 150"/>
                <a:gd name="T58" fmla="*/ 138 w 138"/>
                <a:gd name="T59" fmla="*/ 68 h 150"/>
                <a:gd name="T60" fmla="*/ 138 w 138"/>
                <a:gd name="T61" fmla="*/ 68 h 150"/>
                <a:gd name="T62" fmla="*/ 137 w 138"/>
                <a:gd name="T63" fmla="*/ 55 h 150"/>
                <a:gd name="T64" fmla="*/ 133 w 138"/>
                <a:gd name="T65" fmla="*/ 41 h 150"/>
                <a:gd name="T66" fmla="*/ 127 w 138"/>
                <a:gd name="T67" fmla="*/ 31 h 150"/>
                <a:gd name="T68" fmla="*/ 118 w 138"/>
                <a:gd name="T69" fmla="*/ 20 h 150"/>
                <a:gd name="T70" fmla="*/ 108 w 138"/>
                <a:gd name="T71" fmla="*/ 12 h 150"/>
                <a:gd name="T72" fmla="*/ 96 w 138"/>
                <a:gd name="T73" fmla="*/ 5 h 150"/>
                <a:gd name="T74" fmla="*/ 83 w 138"/>
                <a:gd name="T75" fmla="*/ 1 h 150"/>
                <a:gd name="T76" fmla="*/ 69 w 138"/>
                <a:gd name="T77" fmla="*/ 0 h 150"/>
                <a:gd name="T78" fmla="*/ 69 w 138"/>
                <a:gd name="T79"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8" h="150">
                  <a:moveTo>
                    <a:pt x="69" y="0"/>
                  </a:moveTo>
                  <a:lnTo>
                    <a:pt x="69" y="0"/>
                  </a:lnTo>
                  <a:lnTo>
                    <a:pt x="55" y="1"/>
                  </a:lnTo>
                  <a:lnTo>
                    <a:pt x="43" y="5"/>
                  </a:lnTo>
                  <a:lnTo>
                    <a:pt x="30" y="12"/>
                  </a:lnTo>
                  <a:lnTo>
                    <a:pt x="20" y="20"/>
                  </a:lnTo>
                  <a:lnTo>
                    <a:pt x="12" y="31"/>
                  </a:lnTo>
                  <a:lnTo>
                    <a:pt x="5" y="41"/>
                  </a:lnTo>
                  <a:lnTo>
                    <a:pt x="1" y="55"/>
                  </a:lnTo>
                  <a:lnTo>
                    <a:pt x="0" y="68"/>
                  </a:lnTo>
                  <a:lnTo>
                    <a:pt x="0" y="82"/>
                  </a:lnTo>
                  <a:lnTo>
                    <a:pt x="0" y="82"/>
                  </a:lnTo>
                  <a:lnTo>
                    <a:pt x="1" y="95"/>
                  </a:lnTo>
                  <a:lnTo>
                    <a:pt x="5" y="109"/>
                  </a:lnTo>
                  <a:lnTo>
                    <a:pt x="12" y="121"/>
                  </a:lnTo>
                  <a:lnTo>
                    <a:pt x="20" y="130"/>
                  </a:lnTo>
                  <a:lnTo>
                    <a:pt x="30" y="140"/>
                  </a:lnTo>
                  <a:lnTo>
                    <a:pt x="43" y="145"/>
                  </a:lnTo>
                  <a:lnTo>
                    <a:pt x="55" y="149"/>
                  </a:lnTo>
                  <a:lnTo>
                    <a:pt x="69" y="150"/>
                  </a:lnTo>
                  <a:lnTo>
                    <a:pt x="69" y="150"/>
                  </a:lnTo>
                  <a:lnTo>
                    <a:pt x="83" y="149"/>
                  </a:lnTo>
                  <a:lnTo>
                    <a:pt x="96" y="145"/>
                  </a:lnTo>
                  <a:lnTo>
                    <a:pt x="108" y="140"/>
                  </a:lnTo>
                  <a:lnTo>
                    <a:pt x="118" y="130"/>
                  </a:lnTo>
                  <a:lnTo>
                    <a:pt x="127" y="121"/>
                  </a:lnTo>
                  <a:lnTo>
                    <a:pt x="133" y="109"/>
                  </a:lnTo>
                  <a:lnTo>
                    <a:pt x="137" y="95"/>
                  </a:lnTo>
                  <a:lnTo>
                    <a:pt x="138" y="82"/>
                  </a:lnTo>
                  <a:lnTo>
                    <a:pt x="138" y="68"/>
                  </a:lnTo>
                  <a:lnTo>
                    <a:pt x="138" y="68"/>
                  </a:lnTo>
                  <a:lnTo>
                    <a:pt x="137" y="55"/>
                  </a:lnTo>
                  <a:lnTo>
                    <a:pt x="133" y="41"/>
                  </a:lnTo>
                  <a:lnTo>
                    <a:pt x="127" y="31"/>
                  </a:lnTo>
                  <a:lnTo>
                    <a:pt x="118" y="20"/>
                  </a:lnTo>
                  <a:lnTo>
                    <a:pt x="108" y="12"/>
                  </a:lnTo>
                  <a:lnTo>
                    <a:pt x="96" y="5"/>
                  </a:lnTo>
                  <a:lnTo>
                    <a:pt x="83" y="1"/>
                  </a:lnTo>
                  <a:lnTo>
                    <a:pt x="69" y="0"/>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sp>
          <p:nvSpPr>
            <p:cNvPr id="61" name="Freeform 146">
              <a:extLst>
                <a:ext uri="{FF2B5EF4-FFF2-40B4-BE49-F238E27FC236}">
                  <a16:creationId xmlns:a16="http://schemas.microsoft.com/office/drawing/2014/main" id="{206281BB-C611-4D67-AD13-41FCA0B9FA87}"/>
                </a:ext>
              </a:extLst>
            </p:cNvPr>
            <p:cNvSpPr>
              <a:spLocks/>
            </p:cNvSpPr>
            <p:nvPr/>
          </p:nvSpPr>
          <p:spPr bwMode="auto">
            <a:xfrm>
              <a:off x="4240213" y="2858135"/>
              <a:ext cx="190500" cy="61913"/>
            </a:xfrm>
            <a:custGeom>
              <a:avLst/>
              <a:gdLst>
                <a:gd name="T0" fmla="*/ 119 w 239"/>
                <a:gd name="T1" fmla="*/ 28 h 77"/>
                <a:gd name="T2" fmla="*/ 119 w 239"/>
                <a:gd name="T3" fmla="*/ 28 h 77"/>
                <a:gd name="T4" fmla="*/ 110 w 239"/>
                <a:gd name="T5" fmla="*/ 26 h 77"/>
                <a:gd name="T6" fmla="*/ 101 w 239"/>
                <a:gd name="T7" fmla="*/ 25 h 77"/>
                <a:gd name="T8" fmla="*/ 93 w 239"/>
                <a:gd name="T9" fmla="*/ 24 h 77"/>
                <a:gd name="T10" fmla="*/ 84 w 239"/>
                <a:gd name="T11" fmla="*/ 20 h 77"/>
                <a:gd name="T12" fmla="*/ 76 w 239"/>
                <a:gd name="T13" fmla="*/ 16 h 77"/>
                <a:gd name="T14" fmla="*/ 70 w 239"/>
                <a:gd name="T15" fmla="*/ 10 h 77"/>
                <a:gd name="T16" fmla="*/ 63 w 239"/>
                <a:gd name="T17" fmla="*/ 5 h 77"/>
                <a:gd name="T18" fmla="*/ 58 w 239"/>
                <a:gd name="T19" fmla="*/ 0 h 77"/>
                <a:gd name="T20" fmla="*/ 2 w 239"/>
                <a:gd name="T21" fmla="*/ 28 h 77"/>
                <a:gd name="T22" fmla="*/ 2 w 239"/>
                <a:gd name="T23" fmla="*/ 28 h 77"/>
                <a:gd name="T24" fmla="*/ 0 w 239"/>
                <a:gd name="T25" fmla="*/ 30 h 77"/>
                <a:gd name="T26" fmla="*/ 0 w 239"/>
                <a:gd name="T27" fmla="*/ 34 h 77"/>
                <a:gd name="T28" fmla="*/ 0 w 239"/>
                <a:gd name="T29" fmla="*/ 72 h 77"/>
                <a:gd name="T30" fmla="*/ 0 w 239"/>
                <a:gd name="T31" fmla="*/ 72 h 77"/>
                <a:gd name="T32" fmla="*/ 0 w 239"/>
                <a:gd name="T33" fmla="*/ 73 h 77"/>
                <a:gd name="T34" fmla="*/ 1 w 239"/>
                <a:gd name="T35" fmla="*/ 76 h 77"/>
                <a:gd name="T36" fmla="*/ 4 w 239"/>
                <a:gd name="T37" fmla="*/ 77 h 77"/>
                <a:gd name="T38" fmla="*/ 5 w 239"/>
                <a:gd name="T39" fmla="*/ 77 h 77"/>
                <a:gd name="T40" fmla="*/ 232 w 239"/>
                <a:gd name="T41" fmla="*/ 77 h 77"/>
                <a:gd name="T42" fmla="*/ 232 w 239"/>
                <a:gd name="T43" fmla="*/ 77 h 77"/>
                <a:gd name="T44" fmla="*/ 235 w 239"/>
                <a:gd name="T45" fmla="*/ 77 h 77"/>
                <a:gd name="T46" fmla="*/ 236 w 239"/>
                <a:gd name="T47" fmla="*/ 76 h 77"/>
                <a:gd name="T48" fmla="*/ 238 w 239"/>
                <a:gd name="T49" fmla="*/ 73 h 77"/>
                <a:gd name="T50" fmla="*/ 239 w 239"/>
                <a:gd name="T51" fmla="*/ 72 h 77"/>
                <a:gd name="T52" fmla="*/ 239 w 239"/>
                <a:gd name="T53" fmla="*/ 34 h 77"/>
                <a:gd name="T54" fmla="*/ 239 w 239"/>
                <a:gd name="T55" fmla="*/ 34 h 77"/>
                <a:gd name="T56" fmla="*/ 238 w 239"/>
                <a:gd name="T57" fmla="*/ 30 h 77"/>
                <a:gd name="T58" fmla="*/ 235 w 239"/>
                <a:gd name="T59" fmla="*/ 28 h 77"/>
                <a:gd name="T60" fmla="*/ 181 w 239"/>
                <a:gd name="T61" fmla="*/ 0 h 77"/>
                <a:gd name="T62" fmla="*/ 181 w 239"/>
                <a:gd name="T63" fmla="*/ 0 h 77"/>
                <a:gd name="T64" fmla="*/ 175 w 239"/>
                <a:gd name="T65" fmla="*/ 5 h 77"/>
                <a:gd name="T66" fmla="*/ 168 w 239"/>
                <a:gd name="T67" fmla="*/ 10 h 77"/>
                <a:gd name="T68" fmla="*/ 161 w 239"/>
                <a:gd name="T69" fmla="*/ 16 h 77"/>
                <a:gd name="T70" fmla="*/ 153 w 239"/>
                <a:gd name="T71" fmla="*/ 20 h 77"/>
                <a:gd name="T72" fmla="*/ 145 w 239"/>
                <a:gd name="T73" fmla="*/ 24 h 77"/>
                <a:gd name="T74" fmla="*/ 137 w 239"/>
                <a:gd name="T75" fmla="*/ 25 h 77"/>
                <a:gd name="T76" fmla="*/ 129 w 239"/>
                <a:gd name="T77" fmla="*/ 26 h 77"/>
                <a:gd name="T78" fmla="*/ 119 w 239"/>
                <a:gd name="T79" fmla="*/ 28 h 77"/>
                <a:gd name="T80" fmla="*/ 119 w 239"/>
                <a:gd name="T81" fmla="*/ 2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9" h="77">
                  <a:moveTo>
                    <a:pt x="119" y="28"/>
                  </a:moveTo>
                  <a:lnTo>
                    <a:pt x="119" y="28"/>
                  </a:lnTo>
                  <a:lnTo>
                    <a:pt x="110" y="26"/>
                  </a:lnTo>
                  <a:lnTo>
                    <a:pt x="101" y="25"/>
                  </a:lnTo>
                  <a:lnTo>
                    <a:pt x="93" y="24"/>
                  </a:lnTo>
                  <a:lnTo>
                    <a:pt x="84" y="20"/>
                  </a:lnTo>
                  <a:lnTo>
                    <a:pt x="76" y="16"/>
                  </a:lnTo>
                  <a:lnTo>
                    <a:pt x="70" y="10"/>
                  </a:lnTo>
                  <a:lnTo>
                    <a:pt x="63" y="5"/>
                  </a:lnTo>
                  <a:lnTo>
                    <a:pt x="58" y="0"/>
                  </a:lnTo>
                  <a:lnTo>
                    <a:pt x="2" y="28"/>
                  </a:lnTo>
                  <a:lnTo>
                    <a:pt x="2" y="28"/>
                  </a:lnTo>
                  <a:lnTo>
                    <a:pt x="0" y="30"/>
                  </a:lnTo>
                  <a:lnTo>
                    <a:pt x="0" y="34"/>
                  </a:lnTo>
                  <a:lnTo>
                    <a:pt x="0" y="72"/>
                  </a:lnTo>
                  <a:lnTo>
                    <a:pt x="0" y="72"/>
                  </a:lnTo>
                  <a:lnTo>
                    <a:pt x="0" y="73"/>
                  </a:lnTo>
                  <a:lnTo>
                    <a:pt x="1" y="76"/>
                  </a:lnTo>
                  <a:lnTo>
                    <a:pt x="4" y="77"/>
                  </a:lnTo>
                  <a:lnTo>
                    <a:pt x="5" y="77"/>
                  </a:lnTo>
                  <a:lnTo>
                    <a:pt x="232" y="77"/>
                  </a:lnTo>
                  <a:lnTo>
                    <a:pt x="232" y="77"/>
                  </a:lnTo>
                  <a:lnTo>
                    <a:pt x="235" y="77"/>
                  </a:lnTo>
                  <a:lnTo>
                    <a:pt x="236" y="76"/>
                  </a:lnTo>
                  <a:lnTo>
                    <a:pt x="238" y="73"/>
                  </a:lnTo>
                  <a:lnTo>
                    <a:pt x="239" y="72"/>
                  </a:lnTo>
                  <a:lnTo>
                    <a:pt x="239" y="34"/>
                  </a:lnTo>
                  <a:lnTo>
                    <a:pt x="239" y="34"/>
                  </a:lnTo>
                  <a:lnTo>
                    <a:pt x="238" y="30"/>
                  </a:lnTo>
                  <a:lnTo>
                    <a:pt x="235" y="28"/>
                  </a:lnTo>
                  <a:lnTo>
                    <a:pt x="181" y="0"/>
                  </a:lnTo>
                  <a:lnTo>
                    <a:pt x="181" y="0"/>
                  </a:lnTo>
                  <a:lnTo>
                    <a:pt x="175" y="5"/>
                  </a:lnTo>
                  <a:lnTo>
                    <a:pt x="168" y="10"/>
                  </a:lnTo>
                  <a:lnTo>
                    <a:pt x="161" y="16"/>
                  </a:lnTo>
                  <a:lnTo>
                    <a:pt x="153" y="20"/>
                  </a:lnTo>
                  <a:lnTo>
                    <a:pt x="145" y="24"/>
                  </a:lnTo>
                  <a:lnTo>
                    <a:pt x="137" y="25"/>
                  </a:lnTo>
                  <a:lnTo>
                    <a:pt x="129" y="26"/>
                  </a:lnTo>
                  <a:lnTo>
                    <a:pt x="119" y="28"/>
                  </a:lnTo>
                  <a:lnTo>
                    <a:pt x="119"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000000"/>
                </a:solidFill>
                <a:effectLst/>
                <a:uLnTx/>
                <a:uFillTx/>
                <a:latin typeface="+mj-lt"/>
                <a:ea typeface="+mn-ea"/>
                <a:cs typeface="+mn-cs"/>
              </a:endParaRPr>
            </a:p>
          </p:txBody>
        </p:sp>
      </p:grpSp>
      <p:sp>
        <p:nvSpPr>
          <p:cNvPr id="62" name="Rectangle 61">
            <a:extLst>
              <a:ext uri="{FF2B5EF4-FFF2-40B4-BE49-F238E27FC236}">
                <a16:creationId xmlns:a16="http://schemas.microsoft.com/office/drawing/2014/main" id="{B039B583-76CD-43A9-A8CB-7F66CB19B2DD}"/>
              </a:ext>
            </a:extLst>
          </p:cNvPr>
          <p:cNvSpPr/>
          <p:nvPr/>
        </p:nvSpPr>
        <p:spPr>
          <a:xfrm>
            <a:off x="10026858" y="2905189"/>
            <a:ext cx="1542841" cy="265371"/>
          </a:xfrm>
          <a:prstGeom prst="rect">
            <a:avLst/>
          </a:prstGeom>
          <a:noFill/>
          <a:ln w="19050" cap="flat" cmpd="sng" algn="ctr">
            <a:noFill/>
            <a:prstDash val="solid"/>
          </a:ln>
          <a:effectLst/>
        </p:spPr>
        <p:txBody>
          <a:bodyPr wrap="square" lIns="45720" tIns="0" rIns="45720" bIns="0" rtlCol="0" anchor="ctr">
            <a:spAutoFit/>
          </a:bodyPr>
          <a:lstStyle>
            <a:defPPr>
              <a:defRPr lang="en-US"/>
            </a:defPPr>
            <a:lvl1pPr algn="ctr" rtl="0" fontAlgn="base">
              <a:spcBef>
                <a:spcPct val="20000"/>
              </a:spcBef>
              <a:spcAft>
                <a:spcPct val="0"/>
              </a:spcAft>
              <a:defRPr sz="1100" b="1" kern="1200">
                <a:solidFill>
                  <a:schemeClr val="lt1"/>
                </a:solidFill>
                <a:latin typeface="+mn-lt"/>
                <a:ea typeface="+mn-ea"/>
                <a:cs typeface="+mn-cs"/>
              </a:defRPr>
            </a:lvl1pPr>
            <a:lvl2pPr marL="457200" algn="ctr" rtl="0" fontAlgn="base">
              <a:spcBef>
                <a:spcPct val="20000"/>
              </a:spcBef>
              <a:spcAft>
                <a:spcPct val="0"/>
              </a:spcAft>
              <a:defRPr sz="1100" b="1" kern="1200">
                <a:solidFill>
                  <a:schemeClr val="lt1"/>
                </a:solidFill>
                <a:latin typeface="+mn-lt"/>
                <a:ea typeface="+mn-ea"/>
                <a:cs typeface="+mn-cs"/>
              </a:defRPr>
            </a:lvl2pPr>
            <a:lvl3pPr marL="914400" algn="ctr" rtl="0" fontAlgn="base">
              <a:spcBef>
                <a:spcPct val="20000"/>
              </a:spcBef>
              <a:spcAft>
                <a:spcPct val="0"/>
              </a:spcAft>
              <a:defRPr sz="1100" b="1" kern="1200">
                <a:solidFill>
                  <a:schemeClr val="lt1"/>
                </a:solidFill>
                <a:latin typeface="+mn-lt"/>
                <a:ea typeface="+mn-ea"/>
                <a:cs typeface="+mn-cs"/>
              </a:defRPr>
            </a:lvl3pPr>
            <a:lvl4pPr marL="1371600" algn="ctr" rtl="0" fontAlgn="base">
              <a:spcBef>
                <a:spcPct val="20000"/>
              </a:spcBef>
              <a:spcAft>
                <a:spcPct val="0"/>
              </a:spcAft>
              <a:defRPr sz="1100" b="1" kern="1200">
                <a:solidFill>
                  <a:schemeClr val="lt1"/>
                </a:solidFill>
                <a:latin typeface="+mn-lt"/>
                <a:ea typeface="+mn-ea"/>
                <a:cs typeface="+mn-cs"/>
              </a:defRPr>
            </a:lvl4pPr>
            <a:lvl5pPr marL="1828800" algn="ctr" rtl="0" fontAlgn="base">
              <a:spcBef>
                <a:spcPct val="20000"/>
              </a:spcBef>
              <a:spcAft>
                <a:spcPct val="0"/>
              </a:spcAft>
              <a:defRPr sz="1100" b="1" kern="1200">
                <a:solidFill>
                  <a:schemeClr val="lt1"/>
                </a:solidFill>
                <a:latin typeface="+mn-lt"/>
                <a:ea typeface="+mn-ea"/>
                <a:cs typeface="+mn-cs"/>
              </a:defRPr>
            </a:lvl5pPr>
            <a:lvl6pPr marL="2286000" algn="l" defTabSz="914400" rtl="0" eaLnBrk="1" latinLnBrk="0" hangingPunct="1">
              <a:defRPr sz="1100" b="1" kern="1200">
                <a:solidFill>
                  <a:schemeClr val="lt1"/>
                </a:solidFill>
                <a:latin typeface="+mn-lt"/>
                <a:ea typeface="+mn-ea"/>
                <a:cs typeface="+mn-cs"/>
              </a:defRPr>
            </a:lvl6pPr>
            <a:lvl7pPr marL="2743200" algn="l" defTabSz="914400" rtl="0" eaLnBrk="1" latinLnBrk="0" hangingPunct="1">
              <a:defRPr sz="1100" b="1" kern="1200">
                <a:solidFill>
                  <a:schemeClr val="lt1"/>
                </a:solidFill>
                <a:latin typeface="+mn-lt"/>
                <a:ea typeface="+mn-ea"/>
                <a:cs typeface="+mn-cs"/>
              </a:defRPr>
            </a:lvl7pPr>
            <a:lvl8pPr marL="3200400" algn="l" defTabSz="914400" rtl="0" eaLnBrk="1" latinLnBrk="0" hangingPunct="1">
              <a:defRPr sz="1100" b="1" kern="1200">
                <a:solidFill>
                  <a:schemeClr val="lt1"/>
                </a:solidFill>
                <a:latin typeface="+mn-lt"/>
                <a:ea typeface="+mn-ea"/>
                <a:cs typeface="+mn-cs"/>
              </a:defRPr>
            </a:lvl8pPr>
            <a:lvl9pPr marL="3657600" algn="l" defTabSz="914400" rtl="0" eaLnBrk="1" latinLnBrk="0" hangingPunct="1">
              <a:defRPr sz="1100" b="1"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j-lt"/>
                <a:ea typeface="Arial" charset="0"/>
                <a:cs typeface="Arial" charset="0"/>
              </a:rPr>
              <a:t>Discovery, Mining &amp; Exploration </a:t>
            </a:r>
          </a:p>
        </p:txBody>
      </p:sp>
      <p:sp>
        <p:nvSpPr>
          <p:cNvPr id="63" name="Rectangle 62">
            <a:extLst>
              <a:ext uri="{FF2B5EF4-FFF2-40B4-BE49-F238E27FC236}">
                <a16:creationId xmlns:a16="http://schemas.microsoft.com/office/drawing/2014/main" id="{F447F80A-8CD9-4C3F-90F3-F960EB6FE676}"/>
              </a:ext>
            </a:extLst>
          </p:cNvPr>
          <p:cNvSpPr/>
          <p:nvPr/>
        </p:nvSpPr>
        <p:spPr>
          <a:xfrm>
            <a:off x="10206182" y="3656321"/>
            <a:ext cx="1038378" cy="398056"/>
          </a:xfrm>
          <a:prstGeom prst="rect">
            <a:avLst/>
          </a:prstGeom>
          <a:noFill/>
          <a:ln w="19050" cap="flat" cmpd="sng" algn="ctr">
            <a:noFill/>
            <a:prstDash val="solid"/>
          </a:ln>
          <a:effectLst/>
        </p:spPr>
        <p:txBody>
          <a:bodyPr wrap="square" lIns="45720" tIns="0" rIns="45720" bIns="0" rtlCol="0" anchor="ctr">
            <a:spAutoFit/>
          </a:bodyPr>
          <a:lstStyle>
            <a:defPPr>
              <a:defRPr lang="en-US"/>
            </a:defPPr>
            <a:lvl1pPr algn="ctr" rtl="0" fontAlgn="base">
              <a:spcBef>
                <a:spcPct val="20000"/>
              </a:spcBef>
              <a:spcAft>
                <a:spcPct val="0"/>
              </a:spcAft>
              <a:defRPr sz="1100" b="1" kern="1200">
                <a:solidFill>
                  <a:schemeClr val="lt1"/>
                </a:solidFill>
                <a:latin typeface="+mn-lt"/>
                <a:ea typeface="+mn-ea"/>
                <a:cs typeface="+mn-cs"/>
              </a:defRPr>
            </a:lvl1pPr>
            <a:lvl2pPr marL="457200" algn="ctr" rtl="0" fontAlgn="base">
              <a:spcBef>
                <a:spcPct val="20000"/>
              </a:spcBef>
              <a:spcAft>
                <a:spcPct val="0"/>
              </a:spcAft>
              <a:defRPr sz="1100" b="1" kern="1200">
                <a:solidFill>
                  <a:schemeClr val="lt1"/>
                </a:solidFill>
                <a:latin typeface="+mn-lt"/>
                <a:ea typeface="+mn-ea"/>
                <a:cs typeface="+mn-cs"/>
              </a:defRPr>
            </a:lvl2pPr>
            <a:lvl3pPr marL="914400" algn="ctr" rtl="0" fontAlgn="base">
              <a:spcBef>
                <a:spcPct val="20000"/>
              </a:spcBef>
              <a:spcAft>
                <a:spcPct val="0"/>
              </a:spcAft>
              <a:defRPr sz="1100" b="1" kern="1200">
                <a:solidFill>
                  <a:schemeClr val="lt1"/>
                </a:solidFill>
                <a:latin typeface="+mn-lt"/>
                <a:ea typeface="+mn-ea"/>
                <a:cs typeface="+mn-cs"/>
              </a:defRPr>
            </a:lvl3pPr>
            <a:lvl4pPr marL="1371600" algn="ctr" rtl="0" fontAlgn="base">
              <a:spcBef>
                <a:spcPct val="20000"/>
              </a:spcBef>
              <a:spcAft>
                <a:spcPct val="0"/>
              </a:spcAft>
              <a:defRPr sz="1100" b="1" kern="1200">
                <a:solidFill>
                  <a:schemeClr val="lt1"/>
                </a:solidFill>
                <a:latin typeface="+mn-lt"/>
                <a:ea typeface="+mn-ea"/>
                <a:cs typeface="+mn-cs"/>
              </a:defRPr>
            </a:lvl4pPr>
            <a:lvl5pPr marL="1828800" algn="ctr" rtl="0" fontAlgn="base">
              <a:spcBef>
                <a:spcPct val="20000"/>
              </a:spcBef>
              <a:spcAft>
                <a:spcPct val="0"/>
              </a:spcAft>
              <a:defRPr sz="1100" b="1" kern="1200">
                <a:solidFill>
                  <a:schemeClr val="lt1"/>
                </a:solidFill>
                <a:latin typeface="+mn-lt"/>
                <a:ea typeface="+mn-ea"/>
                <a:cs typeface="+mn-cs"/>
              </a:defRPr>
            </a:lvl5pPr>
            <a:lvl6pPr marL="2286000" algn="l" defTabSz="914400" rtl="0" eaLnBrk="1" latinLnBrk="0" hangingPunct="1">
              <a:defRPr sz="1100" b="1" kern="1200">
                <a:solidFill>
                  <a:schemeClr val="lt1"/>
                </a:solidFill>
                <a:latin typeface="+mn-lt"/>
                <a:ea typeface="+mn-ea"/>
                <a:cs typeface="+mn-cs"/>
              </a:defRPr>
            </a:lvl6pPr>
            <a:lvl7pPr marL="2743200" algn="l" defTabSz="914400" rtl="0" eaLnBrk="1" latinLnBrk="0" hangingPunct="1">
              <a:defRPr sz="1100" b="1" kern="1200">
                <a:solidFill>
                  <a:schemeClr val="lt1"/>
                </a:solidFill>
                <a:latin typeface="+mn-lt"/>
                <a:ea typeface="+mn-ea"/>
                <a:cs typeface="+mn-cs"/>
              </a:defRPr>
            </a:lvl7pPr>
            <a:lvl8pPr marL="3200400" algn="l" defTabSz="914400" rtl="0" eaLnBrk="1" latinLnBrk="0" hangingPunct="1">
              <a:defRPr sz="1100" b="1" kern="1200">
                <a:solidFill>
                  <a:schemeClr val="lt1"/>
                </a:solidFill>
                <a:latin typeface="+mn-lt"/>
                <a:ea typeface="+mn-ea"/>
                <a:cs typeface="+mn-cs"/>
              </a:defRPr>
            </a:lvl8pPr>
            <a:lvl9pPr marL="3657600" algn="l" defTabSz="914400" rtl="0" eaLnBrk="1" latinLnBrk="0" hangingPunct="1">
              <a:defRPr sz="1100" b="1"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mj-lt"/>
                <a:ea typeface="Arial" charset="0"/>
                <a:cs typeface="Arial" charset="0"/>
              </a:rPr>
              <a:t>Data Sciences/ Machine Learning</a:t>
            </a:r>
          </a:p>
        </p:txBody>
      </p:sp>
      <p:pic>
        <p:nvPicPr>
          <p:cNvPr id="67" name="Picture 66">
            <a:extLst>
              <a:ext uri="{FF2B5EF4-FFF2-40B4-BE49-F238E27FC236}">
                <a16:creationId xmlns:a16="http://schemas.microsoft.com/office/drawing/2014/main" id="{06BB6C27-7209-4BF9-BF02-3688014FF03A}"/>
              </a:ext>
            </a:extLst>
          </p:cNvPr>
          <p:cNvPicPr>
            <a:picLocks noChangeAspect="1"/>
          </p:cNvPicPr>
          <p:nvPr/>
        </p:nvPicPr>
        <p:blipFill>
          <a:blip r:embed="rId9" cstate="print">
            <a:biLevel thresh="75000"/>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tretch>
            <a:fillRect/>
          </a:stretch>
        </p:blipFill>
        <p:spPr>
          <a:xfrm>
            <a:off x="10556393" y="3332063"/>
            <a:ext cx="305014" cy="231450"/>
          </a:xfrm>
          <a:prstGeom prst="rect">
            <a:avLst/>
          </a:prstGeom>
        </p:spPr>
      </p:pic>
      <p:sp>
        <p:nvSpPr>
          <p:cNvPr id="71" name="TextBox 70">
            <a:extLst>
              <a:ext uri="{FF2B5EF4-FFF2-40B4-BE49-F238E27FC236}">
                <a16:creationId xmlns:a16="http://schemas.microsoft.com/office/drawing/2014/main" id="{0E809F39-26C6-4A1B-B12D-604CE552FDC7}"/>
              </a:ext>
            </a:extLst>
          </p:cNvPr>
          <p:cNvSpPr txBox="1"/>
          <p:nvPr/>
        </p:nvSpPr>
        <p:spPr bwMode="gray">
          <a:xfrm>
            <a:off x="5680321" y="1657330"/>
            <a:ext cx="1193132" cy="159307"/>
          </a:xfrm>
          <a:prstGeom prst="rect">
            <a:avLst/>
          </a:prstGeom>
        </p:spPr>
        <p:txBody>
          <a:bodyPr wrap="square" lIns="0" rIns="0" rtlCol="0" anchor="b" anchorCtr="0">
            <a:noAutofit/>
          </a:bodyPr>
          <a:lstStyle/>
          <a:p>
            <a:pPr>
              <a:lnSpc>
                <a:spcPts val="900"/>
              </a:lnSpc>
            </a:pPr>
            <a:r>
              <a:rPr lang="en-US" sz="900" b="1" dirty="0">
                <a:solidFill>
                  <a:schemeClr val="bg1"/>
                </a:solidFill>
                <a:latin typeface="+mj-lt"/>
              </a:rPr>
              <a:t>Data Lake</a:t>
            </a:r>
          </a:p>
        </p:txBody>
      </p:sp>
      <p:sp>
        <p:nvSpPr>
          <p:cNvPr id="72" name="TextBox 71">
            <a:extLst>
              <a:ext uri="{FF2B5EF4-FFF2-40B4-BE49-F238E27FC236}">
                <a16:creationId xmlns:a16="http://schemas.microsoft.com/office/drawing/2014/main" id="{AB07D4BE-698B-4EE8-9CFB-78EBEC131F39}"/>
              </a:ext>
            </a:extLst>
          </p:cNvPr>
          <p:cNvSpPr txBox="1"/>
          <p:nvPr/>
        </p:nvSpPr>
        <p:spPr bwMode="gray">
          <a:xfrm>
            <a:off x="7449031" y="1558688"/>
            <a:ext cx="1593388" cy="283945"/>
          </a:xfrm>
          <a:prstGeom prst="rect">
            <a:avLst/>
          </a:prstGeom>
        </p:spPr>
        <p:txBody>
          <a:bodyPr wrap="square" lIns="0" rIns="0" rtlCol="0" anchor="b" anchorCtr="0">
            <a:normAutofit/>
          </a:bodyPr>
          <a:lstStyle/>
          <a:p>
            <a:r>
              <a:rPr lang="en-US" sz="900" b="1" dirty="0">
                <a:solidFill>
                  <a:schemeClr val="bg1"/>
                </a:solidFill>
                <a:latin typeface="+mj-lt"/>
              </a:rPr>
              <a:t>Data Store &amp; Marts</a:t>
            </a:r>
          </a:p>
        </p:txBody>
      </p:sp>
      <p:sp>
        <p:nvSpPr>
          <p:cNvPr id="73" name="Rounded Rectangle 40">
            <a:extLst>
              <a:ext uri="{FF2B5EF4-FFF2-40B4-BE49-F238E27FC236}">
                <a16:creationId xmlns:a16="http://schemas.microsoft.com/office/drawing/2014/main" id="{8013CBB1-DBA4-432C-B9CB-F518D6206126}"/>
              </a:ext>
            </a:extLst>
          </p:cNvPr>
          <p:cNvSpPr/>
          <p:nvPr/>
        </p:nvSpPr>
        <p:spPr>
          <a:xfrm>
            <a:off x="7350673" y="3482977"/>
            <a:ext cx="895053" cy="26893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900" dirty="0">
              <a:solidFill>
                <a:schemeClr val="bg1"/>
              </a:solidFill>
              <a:latin typeface="+mj-lt"/>
            </a:endParaRPr>
          </a:p>
        </p:txBody>
      </p:sp>
      <p:sp>
        <p:nvSpPr>
          <p:cNvPr id="74" name="Rounded Rectangle 41">
            <a:extLst>
              <a:ext uri="{FF2B5EF4-FFF2-40B4-BE49-F238E27FC236}">
                <a16:creationId xmlns:a16="http://schemas.microsoft.com/office/drawing/2014/main" id="{6461A3D8-F31D-463A-BD02-8DC73D68398C}"/>
              </a:ext>
            </a:extLst>
          </p:cNvPr>
          <p:cNvSpPr/>
          <p:nvPr/>
        </p:nvSpPr>
        <p:spPr>
          <a:xfrm>
            <a:off x="8329728" y="3476965"/>
            <a:ext cx="895053" cy="29973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900" dirty="0">
              <a:solidFill>
                <a:schemeClr val="bg1"/>
              </a:solidFill>
              <a:latin typeface="+mj-lt"/>
            </a:endParaRPr>
          </a:p>
        </p:txBody>
      </p:sp>
      <p:sp>
        <p:nvSpPr>
          <p:cNvPr id="75" name="TextBox 74">
            <a:extLst>
              <a:ext uri="{FF2B5EF4-FFF2-40B4-BE49-F238E27FC236}">
                <a16:creationId xmlns:a16="http://schemas.microsoft.com/office/drawing/2014/main" id="{BFA0AF63-1AC7-4EE1-BC70-12E7A16A3B0E}"/>
              </a:ext>
            </a:extLst>
          </p:cNvPr>
          <p:cNvSpPr txBox="1"/>
          <p:nvPr/>
        </p:nvSpPr>
        <p:spPr bwMode="gray">
          <a:xfrm>
            <a:off x="7485598" y="3465331"/>
            <a:ext cx="697298" cy="304221"/>
          </a:xfrm>
          <a:prstGeom prst="rect">
            <a:avLst/>
          </a:prstGeom>
        </p:spPr>
        <p:txBody>
          <a:bodyPr wrap="square" lIns="0" rIns="0" rtlCol="0" anchor="b" anchorCtr="0">
            <a:noAutofit/>
          </a:bodyPr>
          <a:lstStyle/>
          <a:p>
            <a:pPr>
              <a:lnSpc>
                <a:spcPts val="900"/>
              </a:lnSpc>
            </a:pPr>
            <a:r>
              <a:rPr lang="en-US" sz="900" dirty="0">
                <a:solidFill>
                  <a:schemeClr val="bg1"/>
                </a:solidFill>
                <a:latin typeface="+mj-lt"/>
              </a:rPr>
              <a:t>Discovery/ Search</a:t>
            </a:r>
          </a:p>
        </p:txBody>
      </p:sp>
      <p:sp>
        <p:nvSpPr>
          <p:cNvPr id="76" name="TextBox 75">
            <a:extLst>
              <a:ext uri="{FF2B5EF4-FFF2-40B4-BE49-F238E27FC236}">
                <a16:creationId xmlns:a16="http://schemas.microsoft.com/office/drawing/2014/main" id="{A9782508-2E0F-4AF3-9288-49705D4F3F5A}"/>
              </a:ext>
            </a:extLst>
          </p:cNvPr>
          <p:cNvSpPr txBox="1"/>
          <p:nvPr/>
        </p:nvSpPr>
        <p:spPr bwMode="gray">
          <a:xfrm>
            <a:off x="8144260" y="3458891"/>
            <a:ext cx="1248411" cy="326022"/>
          </a:xfrm>
          <a:prstGeom prst="rect">
            <a:avLst/>
          </a:prstGeom>
        </p:spPr>
        <p:txBody>
          <a:bodyPr wrap="square" lIns="0" rIns="0" rtlCol="0" anchor="b" anchorCtr="0">
            <a:noAutofit/>
          </a:bodyPr>
          <a:lstStyle/>
          <a:p>
            <a:pPr algn="ctr"/>
            <a:r>
              <a:rPr lang="en-US" sz="900" dirty="0">
                <a:solidFill>
                  <a:schemeClr val="bg1"/>
                </a:solidFill>
                <a:latin typeface="+mj-lt"/>
              </a:rPr>
              <a:t>Mining/</a:t>
            </a:r>
          </a:p>
          <a:p>
            <a:pPr algn="ctr"/>
            <a:r>
              <a:rPr lang="en-US" sz="900" dirty="0">
                <a:solidFill>
                  <a:schemeClr val="bg1"/>
                </a:solidFill>
                <a:latin typeface="+mj-lt"/>
              </a:rPr>
              <a:t>Predictive</a:t>
            </a:r>
          </a:p>
        </p:txBody>
      </p:sp>
      <p:sp>
        <p:nvSpPr>
          <p:cNvPr id="77" name="TextBox 76">
            <a:extLst>
              <a:ext uri="{FF2B5EF4-FFF2-40B4-BE49-F238E27FC236}">
                <a16:creationId xmlns:a16="http://schemas.microsoft.com/office/drawing/2014/main" id="{07CDDC57-F6DF-4E94-A4D1-37557E70D30E}"/>
              </a:ext>
            </a:extLst>
          </p:cNvPr>
          <p:cNvSpPr txBox="1"/>
          <p:nvPr/>
        </p:nvSpPr>
        <p:spPr bwMode="gray">
          <a:xfrm>
            <a:off x="10129601" y="2206055"/>
            <a:ext cx="1311056" cy="320077"/>
          </a:xfrm>
          <a:prstGeom prst="rect">
            <a:avLst/>
          </a:prstGeom>
        </p:spPr>
        <p:txBody>
          <a:bodyPr wrap="square" lIns="0" rIns="0" rtlCol="0" anchor="b" anchorCtr="0">
            <a:noAutofit/>
          </a:bodyPr>
          <a:lstStyle/>
          <a:p>
            <a:pPr algn="ctr"/>
            <a:r>
              <a:rPr lang="en-US" sz="900" dirty="0">
                <a:latin typeface="+mj-lt"/>
              </a:rPr>
              <a:t>Advanced</a:t>
            </a:r>
          </a:p>
          <a:p>
            <a:pPr algn="ctr"/>
            <a:r>
              <a:rPr lang="en-US" sz="900" dirty="0">
                <a:latin typeface="+mj-lt"/>
              </a:rPr>
              <a:t>Analytics</a:t>
            </a:r>
            <a:endParaRPr lang="en-US" sz="900" b="1" dirty="0">
              <a:solidFill>
                <a:schemeClr val="tx1"/>
              </a:solidFill>
              <a:latin typeface="+mj-lt"/>
            </a:endParaRPr>
          </a:p>
        </p:txBody>
      </p:sp>
      <p:sp>
        <p:nvSpPr>
          <p:cNvPr id="81" name="Rectangle 80">
            <a:extLst>
              <a:ext uri="{FF2B5EF4-FFF2-40B4-BE49-F238E27FC236}">
                <a16:creationId xmlns:a16="http://schemas.microsoft.com/office/drawing/2014/main" id="{E95974DD-C0B3-48C4-90FC-713065ADB318}"/>
              </a:ext>
            </a:extLst>
          </p:cNvPr>
          <p:cNvSpPr/>
          <p:nvPr/>
        </p:nvSpPr>
        <p:spPr>
          <a:xfrm>
            <a:off x="545412"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Sources</a:t>
            </a:r>
          </a:p>
        </p:txBody>
      </p:sp>
      <p:sp>
        <p:nvSpPr>
          <p:cNvPr id="82" name="Rectangle 81">
            <a:extLst>
              <a:ext uri="{FF2B5EF4-FFF2-40B4-BE49-F238E27FC236}">
                <a16:creationId xmlns:a16="http://schemas.microsoft.com/office/drawing/2014/main" id="{8578059E-C7C7-4982-A634-EC25DE6E7946}"/>
              </a:ext>
            </a:extLst>
          </p:cNvPr>
          <p:cNvSpPr/>
          <p:nvPr/>
        </p:nvSpPr>
        <p:spPr>
          <a:xfrm>
            <a:off x="2802746"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Ingestion/Prep</a:t>
            </a:r>
          </a:p>
        </p:txBody>
      </p:sp>
      <p:sp>
        <p:nvSpPr>
          <p:cNvPr id="83" name="Rectangle 82">
            <a:extLst>
              <a:ext uri="{FF2B5EF4-FFF2-40B4-BE49-F238E27FC236}">
                <a16:creationId xmlns:a16="http://schemas.microsoft.com/office/drawing/2014/main" id="{34A442F5-9011-4691-A7C1-21ED1BC96B6A}"/>
              </a:ext>
            </a:extLst>
          </p:cNvPr>
          <p:cNvSpPr/>
          <p:nvPr/>
        </p:nvSpPr>
        <p:spPr>
          <a:xfrm>
            <a:off x="5060079" y="1017589"/>
            <a:ext cx="4404688"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Processing/Storage</a:t>
            </a:r>
          </a:p>
        </p:txBody>
      </p:sp>
      <p:sp>
        <p:nvSpPr>
          <p:cNvPr id="84" name="Rectangle 83">
            <a:extLst>
              <a:ext uri="{FF2B5EF4-FFF2-40B4-BE49-F238E27FC236}">
                <a16:creationId xmlns:a16="http://schemas.microsoft.com/office/drawing/2014/main" id="{FF62B373-E2B6-4050-9A0E-F89F65FA6A2B}"/>
              </a:ext>
            </a:extLst>
          </p:cNvPr>
          <p:cNvSpPr/>
          <p:nvPr/>
        </p:nvSpPr>
        <p:spPr>
          <a:xfrm>
            <a:off x="9796514" y="1017589"/>
            <a:ext cx="1925586" cy="227084"/>
          </a:xfrm>
          <a:prstGeom prst="rect">
            <a:avLst/>
          </a:prstGeom>
          <a:solidFill>
            <a:schemeClr val="tx2"/>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b="1" dirty="0">
                <a:solidFill>
                  <a:schemeClr val="bg1"/>
                </a:solidFill>
                <a:latin typeface="+mj-lt"/>
              </a:rPr>
              <a:t>Consumption</a:t>
            </a:r>
          </a:p>
        </p:txBody>
      </p:sp>
    </p:spTree>
    <p:extLst>
      <p:ext uri="{BB962C8B-B14F-4D97-AF65-F5344CB8AC3E}">
        <p14:creationId xmlns:p14="http://schemas.microsoft.com/office/powerpoint/2010/main" val="4291982953"/>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Design pattern: Audit, balance and control</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709043357"/>
              </p:ext>
            </p:extLst>
          </p:nvPr>
        </p:nvGraphicFramePr>
        <p:xfrm>
          <a:off x="7216347" y="1724198"/>
          <a:ext cx="4505754" cy="4160520"/>
        </p:xfrm>
        <a:graphic>
          <a:graphicData uri="http://schemas.openxmlformats.org/drawingml/2006/table">
            <a:tbl>
              <a:tblPr bandRow="1">
                <a:effectLst/>
              </a:tblPr>
              <a:tblGrid>
                <a:gridCol w="4505754">
                  <a:extLst>
                    <a:ext uri="{9D8B030D-6E8A-4147-A177-3AD203B41FA5}">
                      <a16:colId xmlns:a16="http://schemas.microsoft.com/office/drawing/2014/main" val="2219018424"/>
                    </a:ext>
                  </a:extLst>
                </a:gridCol>
              </a:tblGrid>
              <a:tr h="0">
                <a:tc>
                  <a:txBody>
                    <a:bodyPr/>
                    <a:lstStyle/>
                    <a:p>
                      <a:pPr indent="0">
                        <a:lnSpc>
                          <a:spcPct val="100000"/>
                        </a:lnSpc>
                        <a:spcBef>
                          <a:spcPts val="0"/>
                        </a:spcBef>
                        <a:spcAft>
                          <a:spcPts val="600"/>
                        </a:spcAft>
                      </a:pPr>
                      <a:r>
                        <a:rPr lang="en-US" sz="1000" b="1" dirty="0">
                          <a:solidFill>
                            <a:schemeClr val="tx1"/>
                          </a:solidFill>
                        </a:rPr>
                        <a:t>Context</a:t>
                      </a:r>
                    </a:p>
                    <a:p>
                      <a:pPr indent="0">
                        <a:lnSpc>
                          <a:spcPct val="100000"/>
                        </a:lnSpc>
                        <a:spcBef>
                          <a:spcPts val="0"/>
                        </a:spcBef>
                        <a:spcAft>
                          <a:spcPts val="600"/>
                        </a:spcAft>
                      </a:pPr>
                      <a:r>
                        <a:rPr lang="en-US" sz="1000" dirty="0">
                          <a:solidFill>
                            <a:schemeClr val="tx1"/>
                          </a:solidFill>
                        </a:rPr>
                        <a:t>Data from different data sources is transformed as it moves across the various layers of the data and analytics platform. It is essential to collect the metadata about the data movement on the data and analytics platform to manage the data catalog. The data linage of data across data pipelines should be maintained along with audit details such as number of records managed, date and time when records arrived on to a data layer. The audit data may capture to manage the data control processes such as control totals.</a:t>
                      </a:r>
                      <a:endParaRPr lang="en-US" sz="1000" b="0" dirty="0">
                        <a:solidFill>
                          <a:schemeClr val="tx1"/>
                        </a:solidFill>
                      </a:endParaRPr>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indent="0">
                        <a:lnSpc>
                          <a:spcPct val="100000"/>
                        </a:lnSpc>
                        <a:spcBef>
                          <a:spcPts val="0"/>
                        </a:spcBef>
                        <a:spcAft>
                          <a:spcPts val="600"/>
                        </a:spcAft>
                      </a:pPr>
                      <a:r>
                        <a:rPr lang="en-US" sz="1000" b="1" dirty="0">
                          <a:solidFill>
                            <a:schemeClr val="tx1"/>
                          </a:solidFill>
                        </a:rPr>
                        <a:t>Solution description</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dirty="0">
                          <a:solidFill>
                            <a:schemeClr val="tx1"/>
                          </a:solidFill>
                        </a:rPr>
                        <a:t>Audit Balance &amp; Control (ABC) framework provides capabilities to log audit messages, error messages and pipeline statistics asynchronously to a relational data store (Oracle, SQL Server, MySQL etc.). Async capability is provided using a combination of an orchestration tool and messaging infrastructure. At the onset and finish of file ingestion, logs are created into the ABC job statistics tables. Any validations, errors and exceptions captured during data ingestion are also captured using ABC framework.</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indent="0">
                        <a:lnSpc>
                          <a:spcPct val="100000"/>
                        </a:lnSpc>
                        <a:spcBef>
                          <a:spcPts val="0"/>
                        </a:spcBef>
                        <a:spcAft>
                          <a:spcPts val="600"/>
                        </a:spcAft>
                      </a:pPr>
                      <a:r>
                        <a:rPr lang="en-US" sz="1000" b="1" dirty="0">
                          <a:solidFill>
                            <a:schemeClr val="tx1"/>
                          </a:solidFill>
                        </a:rPr>
                        <a:t>Rationale</a:t>
                      </a:r>
                    </a:p>
                    <a:p>
                      <a:pPr indent="0">
                        <a:lnSpc>
                          <a:spcPct val="100000"/>
                        </a:lnSpc>
                        <a:spcBef>
                          <a:spcPts val="0"/>
                        </a:spcBef>
                        <a:spcAft>
                          <a:spcPts val="600"/>
                        </a:spcAft>
                      </a:pPr>
                      <a:r>
                        <a:rPr lang="en-US" sz="1000" dirty="0">
                          <a:solidFill>
                            <a:schemeClr val="tx1"/>
                          </a:solidFill>
                        </a:rPr>
                        <a:t>ABC data management framework provides audit information to balance totals and manage the linage of data across the data and analytics platform. It improves the data quality management processes and provides a way to manage the operational support of the data and analytics platform and supports job Restartability.</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sp>
        <p:nvSpPr>
          <p:cNvPr id="2" name="TextBox 1">
            <a:extLst>
              <a:ext uri="{FF2B5EF4-FFF2-40B4-BE49-F238E27FC236}">
                <a16:creationId xmlns:a16="http://schemas.microsoft.com/office/drawing/2014/main" id="{46F5A66E-10A9-4BBF-ACDB-C25EBF2372FF}"/>
              </a:ext>
            </a:extLst>
          </p:cNvPr>
          <p:cNvSpPr txBox="1"/>
          <p:nvPr/>
        </p:nvSpPr>
        <p:spPr bwMode="gray">
          <a:xfrm>
            <a:off x="469900" y="4584356"/>
            <a:ext cx="6235700" cy="234779"/>
          </a:xfrm>
          <a:prstGeom prst="rect">
            <a:avLst/>
          </a:prstGeom>
          <a:solidFill>
            <a:schemeClr val="accent1"/>
          </a:solidFill>
          <a:ln>
            <a:solidFill>
              <a:schemeClr val="tx1"/>
            </a:solidFill>
          </a:ln>
        </p:spPr>
        <p:txBody>
          <a:bodyPr wrap="square" lIns="0" rIns="0" rtlCol="0" anchor="b" anchorCtr="0">
            <a:noAutofit/>
          </a:bodyPr>
          <a:lstStyle/>
          <a:p>
            <a:pPr algn="ctr">
              <a:lnSpc>
                <a:spcPts val="900"/>
              </a:lnSpc>
            </a:pPr>
            <a:r>
              <a:rPr lang="en-US" sz="900" b="1" dirty="0">
                <a:solidFill>
                  <a:schemeClr val="bg1"/>
                </a:solidFill>
              </a:rPr>
              <a:t>Orchestration tool</a:t>
            </a:r>
          </a:p>
        </p:txBody>
      </p:sp>
      <p:sp>
        <p:nvSpPr>
          <p:cNvPr id="5" name="Rectangle 4">
            <a:extLst>
              <a:ext uri="{FF2B5EF4-FFF2-40B4-BE49-F238E27FC236}">
                <a16:creationId xmlns:a16="http://schemas.microsoft.com/office/drawing/2014/main" id="{3FBFB76B-AF42-474C-BD24-47F52B48D648}"/>
              </a:ext>
            </a:extLst>
          </p:cNvPr>
          <p:cNvSpPr/>
          <p:nvPr/>
        </p:nvSpPr>
        <p:spPr>
          <a:xfrm>
            <a:off x="1728957" y="4937104"/>
            <a:ext cx="3708015" cy="230832"/>
          </a:xfrm>
          <a:prstGeom prst="rect">
            <a:avLst/>
          </a:prstGeom>
        </p:spPr>
        <p:txBody>
          <a:bodyPr wrap="square">
            <a:spAutoFit/>
          </a:bodyPr>
          <a:lstStyle/>
          <a:p>
            <a:r>
              <a:rPr lang="en-US" sz="900" b="1" dirty="0"/>
              <a:t>Managing DAG of tasks associated with a data pipeline</a:t>
            </a:r>
            <a:endParaRPr lang="en-US" sz="900" dirty="0"/>
          </a:p>
        </p:txBody>
      </p:sp>
      <p:pic>
        <p:nvPicPr>
          <p:cNvPr id="12" name="Picture 11">
            <a:extLst>
              <a:ext uri="{FF2B5EF4-FFF2-40B4-BE49-F238E27FC236}">
                <a16:creationId xmlns:a16="http://schemas.microsoft.com/office/drawing/2014/main" id="{9FE5A3EC-0A62-4E88-B68B-277EDCBF02D0}"/>
              </a:ext>
            </a:extLst>
          </p:cNvPr>
          <p:cNvPicPr>
            <a:picLocks noChangeAspect="1"/>
          </p:cNvPicPr>
          <p:nvPr/>
        </p:nvPicPr>
        <p:blipFill>
          <a:blip r:embed="rId2"/>
          <a:stretch>
            <a:fillRect/>
          </a:stretch>
        </p:blipFill>
        <p:spPr>
          <a:xfrm>
            <a:off x="469900" y="2456660"/>
            <a:ext cx="6680824" cy="1944680"/>
          </a:xfrm>
          <a:prstGeom prst="rect">
            <a:avLst/>
          </a:prstGeom>
        </p:spPr>
      </p:pic>
    </p:spTree>
    <p:extLst>
      <p:ext uri="{BB962C8B-B14F-4D97-AF65-F5344CB8AC3E}">
        <p14:creationId xmlns:p14="http://schemas.microsoft.com/office/powerpoint/2010/main" val="1122722187"/>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Design pattern: Read and write isolation</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1918096969"/>
              </p:ext>
            </p:extLst>
          </p:nvPr>
        </p:nvGraphicFramePr>
        <p:xfrm>
          <a:off x="6705600" y="1700213"/>
          <a:ext cx="5230995" cy="3246120"/>
        </p:xfrm>
        <a:graphic>
          <a:graphicData uri="http://schemas.openxmlformats.org/drawingml/2006/table">
            <a:tbl>
              <a:tblPr bandRow="1">
                <a:effectLst/>
              </a:tblPr>
              <a:tblGrid>
                <a:gridCol w="5230995">
                  <a:extLst>
                    <a:ext uri="{9D8B030D-6E8A-4147-A177-3AD203B41FA5}">
                      <a16:colId xmlns:a16="http://schemas.microsoft.com/office/drawing/2014/main" val="2219018424"/>
                    </a:ext>
                  </a:extLst>
                </a:gridCol>
              </a:tblGrid>
              <a:tr h="0">
                <a:tc>
                  <a:txBody>
                    <a:bodyPr/>
                    <a:lstStyle/>
                    <a:p>
                      <a:pPr>
                        <a:spcAft>
                          <a:spcPts val="600"/>
                        </a:spcAft>
                      </a:pPr>
                      <a:r>
                        <a:rPr lang="en-US" sz="1000" b="1" dirty="0">
                          <a:solidFill>
                            <a:schemeClr val="tx1"/>
                          </a:solidFill>
                        </a:rPr>
                        <a:t>Context</a:t>
                      </a:r>
                    </a:p>
                    <a:p>
                      <a:pPr>
                        <a:spcAft>
                          <a:spcPts val="600"/>
                        </a:spcAft>
                      </a:pPr>
                      <a:r>
                        <a:rPr lang="en-US" sz="1000" dirty="0">
                          <a:solidFill>
                            <a:schemeClr val="tx1"/>
                          </a:solidFill>
                        </a:rPr>
                        <a:t>The on-demand and ad-hoc reporting and query requirements pose a challenge to maintain read and write isolation on the data lake because data lakes, specially Hadoop based architectures, lack transactions support and locking. A user may read inconsistent data (dirty read) from the data lake while the data is still being written.</a:t>
                      </a:r>
                      <a:endParaRPr lang="en-US" sz="1000" b="0" dirty="0">
                        <a:solidFill>
                          <a:schemeClr val="tx1"/>
                        </a:solidFill>
                      </a:endParaRPr>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a:spcAft>
                          <a:spcPts val="600"/>
                        </a:spcAft>
                      </a:pPr>
                      <a:r>
                        <a:rPr lang="en-US" sz="1000" b="1" dirty="0">
                          <a:solidFill>
                            <a:schemeClr val="tx1"/>
                          </a:solidFill>
                        </a:rPr>
                        <a:t>Solution description</a:t>
                      </a:r>
                    </a:p>
                    <a:p>
                      <a:pPr>
                        <a:spcAft>
                          <a:spcPts val="600"/>
                        </a:spcAft>
                      </a:pPr>
                      <a:r>
                        <a:rPr lang="en-US" sz="1000" dirty="0">
                          <a:solidFill>
                            <a:schemeClr val="tx1"/>
                          </a:solidFill>
                        </a:rPr>
                        <a:t>Isolating the read partitions and write partitions in the data lake or analytical or tabular data models is required to avoid dirty reads. When the partition is written, user has access to an alternate read only consistent partition of the data and when the partition is replaced by a new then a custom switch process moves the end user transparently to this new partition. This switch is orchestrated for either a single fact or a functional domain to manage all dependencies. Elaborate access control mechanism has to be implemented as part of the data management pipelines to achieve it. </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a:spcAft>
                          <a:spcPts val="600"/>
                        </a:spcAft>
                      </a:pPr>
                      <a:r>
                        <a:rPr lang="en-US" sz="1000" b="1" dirty="0">
                          <a:solidFill>
                            <a:schemeClr val="tx1"/>
                          </a:solidFill>
                        </a:rPr>
                        <a:t>Rationale</a:t>
                      </a:r>
                    </a:p>
                    <a:p>
                      <a:pPr>
                        <a:spcAft>
                          <a:spcPts val="600"/>
                        </a:spcAft>
                      </a:pPr>
                      <a:r>
                        <a:rPr lang="en-US" sz="1000" dirty="0">
                          <a:solidFill>
                            <a:schemeClr val="tx1"/>
                          </a:solidFill>
                        </a:rPr>
                        <a:t>The pattern solves the read and write isolation for the Big Data based technologies. </a:t>
                      </a:r>
                      <a:endParaRPr lang="en-US" sz="1000" b="0" dirty="0">
                        <a:solidFill>
                          <a:schemeClr val="tx1"/>
                        </a:solidFill>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sp>
        <p:nvSpPr>
          <p:cNvPr id="2" name="Rectangle 1">
            <a:extLst>
              <a:ext uri="{FF2B5EF4-FFF2-40B4-BE49-F238E27FC236}">
                <a16:creationId xmlns:a16="http://schemas.microsoft.com/office/drawing/2014/main" id="{8E73E5EB-3B62-4E09-9FE4-59567CAF9024}"/>
              </a:ext>
            </a:extLst>
          </p:cNvPr>
          <p:cNvSpPr/>
          <p:nvPr/>
        </p:nvSpPr>
        <p:spPr bwMode="gray">
          <a:xfrm>
            <a:off x="2281379" y="1653586"/>
            <a:ext cx="1463040" cy="641247"/>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Read Only</a:t>
            </a:r>
          </a:p>
          <a:p>
            <a:pPr algn="ctr">
              <a:lnSpc>
                <a:spcPct val="106000"/>
              </a:lnSpc>
              <a:buFont typeface="Wingdings 2" pitchFamily="18" charset="2"/>
              <a:buNone/>
            </a:pPr>
            <a:r>
              <a:rPr lang="en-US" sz="1000" dirty="0">
                <a:solidFill>
                  <a:schemeClr val="bg1"/>
                </a:solidFill>
              </a:rPr>
              <a:t>Partition</a:t>
            </a:r>
          </a:p>
          <a:p>
            <a:pPr algn="ctr">
              <a:lnSpc>
                <a:spcPct val="106000"/>
              </a:lnSpc>
              <a:buFont typeface="Wingdings 2" pitchFamily="18" charset="2"/>
              <a:buNone/>
            </a:pPr>
            <a:r>
              <a:rPr lang="en-US" sz="1000" dirty="0">
                <a:solidFill>
                  <a:schemeClr val="bg1"/>
                </a:solidFill>
              </a:rPr>
              <a:t>R1</a:t>
            </a:r>
          </a:p>
        </p:txBody>
      </p:sp>
      <p:sp>
        <p:nvSpPr>
          <p:cNvPr id="7" name="Rectangle 6">
            <a:extLst>
              <a:ext uri="{FF2B5EF4-FFF2-40B4-BE49-F238E27FC236}">
                <a16:creationId xmlns:a16="http://schemas.microsoft.com/office/drawing/2014/main" id="{3D6A3F53-A0E6-48C0-B410-C06898513B98}"/>
              </a:ext>
            </a:extLst>
          </p:cNvPr>
          <p:cNvSpPr/>
          <p:nvPr/>
        </p:nvSpPr>
        <p:spPr bwMode="gray">
          <a:xfrm>
            <a:off x="2368006" y="5628567"/>
            <a:ext cx="1463040" cy="641247"/>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Write Partition</a:t>
            </a:r>
          </a:p>
          <a:p>
            <a:pPr algn="ctr">
              <a:lnSpc>
                <a:spcPct val="106000"/>
              </a:lnSpc>
              <a:buFont typeface="Wingdings 2" pitchFamily="18" charset="2"/>
              <a:buNone/>
            </a:pPr>
            <a:r>
              <a:rPr lang="en-US" sz="1000" dirty="0">
                <a:solidFill>
                  <a:schemeClr val="bg1"/>
                </a:solidFill>
              </a:rPr>
              <a:t>WR1</a:t>
            </a:r>
          </a:p>
        </p:txBody>
      </p:sp>
      <p:cxnSp>
        <p:nvCxnSpPr>
          <p:cNvPr id="11" name="Connector: Elbow 10">
            <a:extLst>
              <a:ext uri="{FF2B5EF4-FFF2-40B4-BE49-F238E27FC236}">
                <a16:creationId xmlns:a16="http://schemas.microsoft.com/office/drawing/2014/main" id="{38A1362B-7233-473C-95C6-676CCAC7F10D}"/>
              </a:ext>
            </a:extLst>
          </p:cNvPr>
          <p:cNvCxnSpPr>
            <a:cxnSpLocks/>
            <a:stCxn id="2" idx="3"/>
          </p:cNvCxnSpPr>
          <p:nvPr/>
        </p:nvCxnSpPr>
        <p:spPr>
          <a:xfrm>
            <a:off x="3744419" y="1974210"/>
            <a:ext cx="2069164" cy="1279619"/>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 name="Flowchart: Direct Access Storage 12">
            <a:extLst>
              <a:ext uri="{FF2B5EF4-FFF2-40B4-BE49-F238E27FC236}">
                <a16:creationId xmlns:a16="http://schemas.microsoft.com/office/drawing/2014/main" id="{F8518856-309C-4CA1-A74C-EB9C4ABC7272}"/>
              </a:ext>
            </a:extLst>
          </p:cNvPr>
          <p:cNvSpPr/>
          <p:nvPr/>
        </p:nvSpPr>
        <p:spPr bwMode="gray">
          <a:xfrm>
            <a:off x="556718" y="5847542"/>
            <a:ext cx="1118268" cy="462012"/>
          </a:xfrm>
          <a:prstGeom prst="flowChartMagneticDrum">
            <a:avLst/>
          </a:prstGeom>
          <a:ln>
            <a:headEnd/>
            <a:tailEnd/>
          </a:ln>
        </p:spPr>
        <p:style>
          <a:lnRef idx="2">
            <a:schemeClr val="accent3"/>
          </a:lnRef>
          <a:fillRef idx="1">
            <a:schemeClr val="lt1"/>
          </a:fillRef>
          <a:effectRef idx="0">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000" b="1" dirty="0">
              <a:solidFill>
                <a:schemeClr val="tx1"/>
              </a:solidFill>
            </a:endParaRPr>
          </a:p>
        </p:txBody>
      </p:sp>
      <p:sp>
        <p:nvSpPr>
          <p:cNvPr id="14" name="TextBox 13">
            <a:extLst>
              <a:ext uri="{FF2B5EF4-FFF2-40B4-BE49-F238E27FC236}">
                <a16:creationId xmlns:a16="http://schemas.microsoft.com/office/drawing/2014/main" id="{5EFA3AA9-3F5D-4C7B-97E2-6D26F8DA8B86}"/>
              </a:ext>
            </a:extLst>
          </p:cNvPr>
          <p:cNvSpPr txBox="1"/>
          <p:nvPr/>
        </p:nvSpPr>
        <p:spPr bwMode="gray">
          <a:xfrm>
            <a:off x="550821" y="5916325"/>
            <a:ext cx="945014" cy="334102"/>
          </a:xfrm>
          <a:prstGeom prst="rect">
            <a:avLst/>
          </a:prstGeom>
        </p:spPr>
        <p:txBody>
          <a:bodyPr wrap="square" lIns="0" rIns="0" rtlCol="0" anchor="ctr" anchorCtr="0">
            <a:normAutofit/>
          </a:bodyPr>
          <a:lstStyle/>
          <a:p>
            <a:pPr algn="ctr">
              <a:lnSpc>
                <a:spcPts val="900"/>
              </a:lnSpc>
            </a:pPr>
            <a:r>
              <a:rPr lang="en-US" sz="1000" dirty="0">
                <a:solidFill>
                  <a:schemeClr val="tx1"/>
                </a:solidFill>
              </a:rPr>
              <a:t>Data Pipeline</a:t>
            </a:r>
          </a:p>
        </p:txBody>
      </p:sp>
      <p:cxnSp>
        <p:nvCxnSpPr>
          <p:cNvPr id="16" name="Connector: Elbow 15">
            <a:extLst>
              <a:ext uri="{FF2B5EF4-FFF2-40B4-BE49-F238E27FC236}">
                <a16:creationId xmlns:a16="http://schemas.microsoft.com/office/drawing/2014/main" id="{94957BEA-5E1E-4E79-8D60-DD4696E81CCE}"/>
              </a:ext>
            </a:extLst>
          </p:cNvPr>
          <p:cNvCxnSpPr>
            <a:cxnSpLocks/>
            <a:stCxn id="13" idx="4"/>
            <a:endCxn id="7" idx="1"/>
          </p:cNvCxnSpPr>
          <p:nvPr/>
        </p:nvCxnSpPr>
        <p:spPr>
          <a:xfrm flipV="1">
            <a:off x="1674986" y="5949191"/>
            <a:ext cx="693020" cy="129357"/>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103E7B2-5415-4E6A-A49D-A6D0FA473673}"/>
              </a:ext>
            </a:extLst>
          </p:cNvPr>
          <p:cNvSpPr txBox="1"/>
          <p:nvPr/>
        </p:nvSpPr>
        <p:spPr bwMode="gray">
          <a:xfrm>
            <a:off x="4377642" y="5263975"/>
            <a:ext cx="633817" cy="179306"/>
          </a:xfrm>
          <a:prstGeom prst="rect">
            <a:avLst/>
          </a:prstGeom>
        </p:spPr>
        <p:txBody>
          <a:bodyPr wrap="square" lIns="0" rIns="0" rtlCol="0" anchor="b" anchorCtr="0">
            <a:noAutofit/>
          </a:bodyPr>
          <a:lstStyle/>
          <a:p>
            <a:pPr algn="ctr">
              <a:lnSpc>
                <a:spcPts val="900"/>
              </a:lnSpc>
            </a:pPr>
            <a:r>
              <a:rPr lang="en-US" sz="1000" dirty="0">
                <a:solidFill>
                  <a:schemeClr val="bg1"/>
                </a:solidFill>
              </a:rPr>
              <a:t>Switch?</a:t>
            </a:r>
          </a:p>
        </p:txBody>
      </p:sp>
      <p:cxnSp>
        <p:nvCxnSpPr>
          <p:cNvPr id="24" name="Connector: Elbow 23">
            <a:extLst>
              <a:ext uri="{FF2B5EF4-FFF2-40B4-BE49-F238E27FC236}">
                <a16:creationId xmlns:a16="http://schemas.microsoft.com/office/drawing/2014/main" id="{46232FD6-3B6A-4E19-81CC-EDA260692080}"/>
              </a:ext>
            </a:extLst>
          </p:cNvPr>
          <p:cNvCxnSpPr>
            <a:cxnSpLocks/>
            <a:stCxn id="7" idx="3"/>
          </p:cNvCxnSpPr>
          <p:nvPr/>
        </p:nvCxnSpPr>
        <p:spPr>
          <a:xfrm flipV="1">
            <a:off x="3831046" y="5628567"/>
            <a:ext cx="800216" cy="320624"/>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A5A6ABEE-D748-45F5-962B-CE4E4EB118DE}"/>
              </a:ext>
            </a:extLst>
          </p:cNvPr>
          <p:cNvSpPr/>
          <p:nvPr/>
        </p:nvSpPr>
        <p:spPr bwMode="gray">
          <a:xfrm>
            <a:off x="4110741" y="5070302"/>
            <a:ext cx="1089698" cy="558265"/>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dirty="0">
                <a:solidFill>
                  <a:schemeClr val="bg1"/>
                </a:solidFill>
              </a:rPr>
              <a:t>Write Complete</a:t>
            </a:r>
          </a:p>
        </p:txBody>
      </p:sp>
      <p:sp>
        <p:nvSpPr>
          <p:cNvPr id="28" name="Rectangle 27">
            <a:extLst>
              <a:ext uri="{FF2B5EF4-FFF2-40B4-BE49-F238E27FC236}">
                <a16:creationId xmlns:a16="http://schemas.microsoft.com/office/drawing/2014/main" id="{4D5E8659-A45B-4F49-A75E-22F9B1941305}"/>
              </a:ext>
            </a:extLst>
          </p:cNvPr>
          <p:cNvSpPr/>
          <p:nvPr/>
        </p:nvSpPr>
        <p:spPr bwMode="gray">
          <a:xfrm>
            <a:off x="4110740" y="4278782"/>
            <a:ext cx="1089699" cy="641247"/>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dirty="0">
                <a:solidFill>
                  <a:schemeClr val="bg1"/>
                </a:solidFill>
              </a:rPr>
              <a:t>Remove User Access to R1 Partition</a:t>
            </a:r>
          </a:p>
        </p:txBody>
      </p:sp>
      <p:sp>
        <p:nvSpPr>
          <p:cNvPr id="29" name="Rectangle 28">
            <a:extLst>
              <a:ext uri="{FF2B5EF4-FFF2-40B4-BE49-F238E27FC236}">
                <a16:creationId xmlns:a16="http://schemas.microsoft.com/office/drawing/2014/main" id="{CE64AA32-F352-42E8-8A1E-A9631A6042D9}"/>
              </a:ext>
            </a:extLst>
          </p:cNvPr>
          <p:cNvSpPr/>
          <p:nvPr/>
        </p:nvSpPr>
        <p:spPr bwMode="gray">
          <a:xfrm>
            <a:off x="4110739" y="3459868"/>
            <a:ext cx="1089699" cy="641247"/>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dirty="0">
                <a:solidFill>
                  <a:schemeClr val="bg1"/>
                </a:solidFill>
              </a:rPr>
              <a:t>Replace R1 by WR1 and mark it Read Only as R2</a:t>
            </a:r>
          </a:p>
        </p:txBody>
      </p:sp>
      <p:sp>
        <p:nvSpPr>
          <p:cNvPr id="30" name="Rectangle 29">
            <a:extLst>
              <a:ext uri="{FF2B5EF4-FFF2-40B4-BE49-F238E27FC236}">
                <a16:creationId xmlns:a16="http://schemas.microsoft.com/office/drawing/2014/main" id="{2CCE3B3B-9A9A-4DCA-A0A9-82D14AB485DF}"/>
              </a:ext>
            </a:extLst>
          </p:cNvPr>
          <p:cNvSpPr/>
          <p:nvPr/>
        </p:nvSpPr>
        <p:spPr bwMode="gray">
          <a:xfrm>
            <a:off x="2328203" y="2632254"/>
            <a:ext cx="1463040" cy="641247"/>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Read Only</a:t>
            </a:r>
          </a:p>
          <a:p>
            <a:pPr algn="ctr">
              <a:lnSpc>
                <a:spcPct val="106000"/>
              </a:lnSpc>
              <a:buFont typeface="Wingdings 2" pitchFamily="18" charset="2"/>
              <a:buNone/>
            </a:pPr>
            <a:r>
              <a:rPr lang="en-US" sz="1000" dirty="0">
                <a:solidFill>
                  <a:schemeClr val="bg1"/>
                </a:solidFill>
              </a:rPr>
              <a:t>Partition</a:t>
            </a:r>
          </a:p>
          <a:p>
            <a:pPr algn="ctr">
              <a:lnSpc>
                <a:spcPct val="106000"/>
              </a:lnSpc>
              <a:buFont typeface="Wingdings 2" pitchFamily="18" charset="2"/>
              <a:buNone/>
            </a:pPr>
            <a:r>
              <a:rPr lang="en-US" sz="1000" dirty="0">
                <a:solidFill>
                  <a:schemeClr val="bg1"/>
                </a:solidFill>
              </a:rPr>
              <a:t>R2</a:t>
            </a:r>
          </a:p>
        </p:txBody>
      </p:sp>
      <p:cxnSp>
        <p:nvCxnSpPr>
          <p:cNvPr id="32" name="Straight Connector 31">
            <a:extLst>
              <a:ext uri="{FF2B5EF4-FFF2-40B4-BE49-F238E27FC236}">
                <a16:creationId xmlns:a16="http://schemas.microsoft.com/office/drawing/2014/main" id="{98DDB827-EFE0-4A00-A754-39AC2C770030}"/>
              </a:ext>
            </a:extLst>
          </p:cNvPr>
          <p:cNvCxnSpPr/>
          <p:nvPr/>
        </p:nvCxnSpPr>
        <p:spPr>
          <a:xfrm>
            <a:off x="4631262" y="1683590"/>
            <a:ext cx="669844" cy="611243"/>
          </a:xfrm>
          <a:prstGeom prst="line">
            <a:avLst/>
          </a:prstGeom>
          <a:ln>
            <a:solidFill>
              <a:srgbClr val="DA291C"/>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B0B6985-3C36-449A-A7D3-2C2EA7B80E58}"/>
              </a:ext>
            </a:extLst>
          </p:cNvPr>
          <p:cNvCxnSpPr>
            <a:cxnSpLocks/>
          </p:cNvCxnSpPr>
          <p:nvPr/>
        </p:nvCxnSpPr>
        <p:spPr>
          <a:xfrm flipH="1">
            <a:off x="4516455" y="1683590"/>
            <a:ext cx="784652" cy="633233"/>
          </a:xfrm>
          <a:prstGeom prst="line">
            <a:avLst/>
          </a:prstGeom>
          <a:ln>
            <a:solidFill>
              <a:srgbClr val="DA291C"/>
            </a:solidFill>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874952C3-BF25-4346-8F4D-5190CFEB7899}"/>
              </a:ext>
            </a:extLst>
          </p:cNvPr>
          <p:cNvCxnSpPr>
            <a:cxnSpLocks/>
            <a:stCxn id="30" idx="3"/>
          </p:cNvCxnSpPr>
          <p:nvPr/>
        </p:nvCxnSpPr>
        <p:spPr>
          <a:xfrm>
            <a:off x="3791243" y="2952878"/>
            <a:ext cx="1849861" cy="526662"/>
          </a:xfrm>
          <a:prstGeom prst="bentConnector3">
            <a:avLst>
              <a:gd name="adj1" fmla="val 10047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D02FC2F-A8A8-4325-A982-0DE08A330683}"/>
              </a:ext>
            </a:extLst>
          </p:cNvPr>
          <p:cNvCxnSpPr>
            <a:stCxn id="25" idx="0"/>
            <a:endCxn id="28" idx="2"/>
          </p:cNvCxnSpPr>
          <p:nvPr/>
        </p:nvCxnSpPr>
        <p:spPr>
          <a:xfrm flipV="1">
            <a:off x="4655590" y="4920029"/>
            <a:ext cx="0" cy="15027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25968E0-43D1-46CB-B0A9-D24D6B84D2C0}"/>
              </a:ext>
            </a:extLst>
          </p:cNvPr>
          <p:cNvCxnSpPr>
            <a:stCxn id="28" idx="0"/>
            <a:endCxn id="29" idx="2"/>
          </p:cNvCxnSpPr>
          <p:nvPr/>
        </p:nvCxnSpPr>
        <p:spPr>
          <a:xfrm flipH="1" flipV="1">
            <a:off x="4655589" y="4101115"/>
            <a:ext cx="1" cy="17766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1C096D89-846E-4935-982A-8E921F2EAD69}"/>
              </a:ext>
            </a:extLst>
          </p:cNvPr>
          <p:cNvCxnSpPr>
            <a:stCxn id="29" idx="1"/>
            <a:endCxn id="30" idx="2"/>
          </p:cNvCxnSpPr>
          <p:nvPr/>
        </p:nvCxnSpPr>
        <p:spPr>
          <a:xfrm rot="10800000">
            <a:off x="3059723" y="3273502"/>
            <a:ext cx="1051016" cy="506991"/>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7" name="Freeform 756">
            <a:extLst>
              <a:ext uri="{FF2B5EF4-FFF2-40B4-BE49-F238E27FC236}">
                <a16:creationId xmlns:a16="http://schemas.microsoft.com/office/drawing/2014/main" id="{57AF9CFC-9ED5-41D5-8C4A-0F78FA41ED63}"/>
              </a:ext>
            </a:extLst>
          </p:cNvPr>
          <p:cNvSpPr>
            <a:spLocks noChangeAspect="1" noEditPoints="1"/>
          </p:cNvSpPr>
          <p:nvPr/>
        </p:nvSpPr>
        <p:spPr bwMode="auto">
          <a:xfrm>
            <a:off x="5522910" y="3585522"/>
            <a:ext cx="666109" cy="666109"/>
          </a:xfrm>
          <a:custGeom>
            <a:avLst/>
            <a:gdLst>
              <a:gd name="T0" fmla="*/ 0 w 512"/>
              <a:gd name="T1" fmla="*/ 256 h 512"/>
              <a:gd name="T2" fmla="*/ 512 w 512"/>
              <a:gd name="T3" fmla="*/ 256 h 512"/>
              <a:gd name="T4" fmla="*/ 308 w 512"/>
              <a:gd name="T5" fmla="*/ 356 h 512"/>
              <a:gd name="T6" fmla="*/ 294 w 512"/>
              <a:gd name="T7" fmla="*/ 361 h 512"/>
              <a:gd name="T8" fmla="*/ 240 w 512"/>
              <a:gd name="T9" fmla="*/ 350 h 512"/>
              <a:gd name="T10" fmla="*/ 221 w 512"/>
              <a:gd name="T11" fmla="*/ 290 h 512"/>
              <a:gd name="T12" fmla="*/ 235 w 512"/>
              <a:gd name="T13" fmla="*/ 191 h 512"/>
              <a:gd name="T14" fmla="*/ 202 w 512"/>
              <a:gd name="T15" fmla="*/ 176 h 512"/>
              <a:gd name="T16" fmla="*/ 170 w 512"/>
              <a:gd name="T17" fmla="*/ 191 h 512"/>
              <a:gd name="T18" fmla="*/ 184 w 512"/>
              <a:gd name="T19" fmla="*/ 290 h 512"/>
              <a:gd name="T20" fmla="*/ 165 w 512"/>
              <a:gd name="T21" fmla="*/ 350 h 512"/>
              <a:gd name="T22" fmla="*/ 111 w 512"/>
              <a:gd name="T23" fmla="*/ 361 h 512"/>
              <a:gd name="T24" fmla="*/ 97 w 512"/>
              <a:gd name="T25" fmla="*/ 356 h 512"/>
              <a:gd name="T26" fmla="*/ 139 w 512"/>
              <a:gd name="T27" fmla="*/ 334 h 512"/>
              <a:gd name="T28" fmla="*/ 166 w 512"/>
              <a:gd name="T29" fmla="*/ 302 h 512"/>
              <a:gd name="T30" fmla="*/ 153 w 512"/>
              <a:gd name="T31" fmla="*/ 177 h 512"/>
              <a:gd name="T32" fmla="*/ 251 w 512"/>
              <a:gd name="T33" fmla="*/ 177 h 512"/>
              <a:gd name="T34" fmla="*/ 239 w 512"/>
              <a:gd name="T35" fmla="*/ 302 h 512"/>
              <a:gd name="T36" fmla="*/ 265 w 512"/>
              <a:gd name="T37" fmla="*/ 334 h 512"/>
              <a:gd name="T38" fmla="*/ 308 w 512"/>
              <a:gd name="T39" fmla="*/ 356 h 512"/>
              <a:gd name="T40" fmla="*/ 405 w 512"/>
              <a:gd name="T41" fmla="*/ 342 h 512"/>
              <a:gd name="T42" fmla="*/ 380 w 512"/>
              <a:gd name="T43" fmla="*/ 335 h 512"/>
              <a:gd name="T44" fmla="*/ 356 w 512"/>
              <a:gd name="T45" fmla="*/ 328 h 512"/>
              <a:gd name="T46" fmla="*/ 360 w 512"/>
              <a:gd name="T47" fmla="*/ 248 h 512"/>
              <a:gd name="T48" fmla="*/ 330 w 512"/>
              <a:gd name="T49" fmla="*/ 197 h 512"/>
              <a:gd name="T50" fmla="*/ 301 w 512"/>
              <a:gd name="T51" fmla="*/ 248 h 512"/>
              <a:gd name="T52" fmla="*/ 305 w 512"/>
              <a:gd name="T53" fmla="*/ 328 h 512"/>
              <a:gd name="T54" fmla="*/ 290 w 512"/>
              <a:gd name="T55" fmla="*/ 326 h 512"/>
              <a:gd name="T56" fmla="*/ 298 w 512"/>
              <a:gd name="T57" fmla="*/ 293 h 512"/>
              <a:gd name="T58" fmla="*/ 288 w 512"/>
              <a:gd name="T59" fmla="*/ 195 h 512"/>
              <a:gd name="T60" fmla="*/ 373 w 512"/>
              <a:gd name="T61" fmla="*/ 195 h 512"/>
              <a:gd name="T62" fmla="*/ 363 w 512"/>
              <a:gd name="T63" fmla="*/ 293 h 512"/>
              <a:gd name="T64" fmla="*/ 383 w 512"/>
              <a:gd name="T65" fmla="*/ 314 h 512"/>
              <a:gd name="T66" fmla="*/ 414 w 512"/>
              <a:gd name="T67" fmla="*/ 33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08" y="356"/>
                </a:moveTo>
                <a:cubicBezTo>
                  <a:pt x="306" y="360"/>
                  <a:pt x="302" y="362"/>
                  <a:pt x="298" y="362"/>
                </a:cubicBezTo>
                <a:cubicBezTo>
                  <a:pt x="297" y="362"/>
                  <a:pt x="295" y="362"/>
                  <a:pt x="294" y="361"/>
                </a:cubicBezTo>
                <a:cubicBezTo>
                  <a:pt x="283" y="356"/>
                  <a:pt x="273" y="356"/>
                  <a:pt x="264" y="355"/>
                </a:cubicBezTo>
                <a:cubicBezTo>
                  <a:pt x="256" y="355"/>
                  <a:pt x="248" y="355"/>
                  <a:pt x="240" y="350"/>
                </a:cubicBezTo>
                <a:cubicBezTo>
                  <a:pt x="226" y="343"/>
                  <a:pt x="220" y="323"/>
                  <a:pt x="219" y="317"/>
                </a:cubicBezTo>
                <a:cubicBezTo>
                  <a:pt x="217" y="308"/>
                  <a:pt x="216" y="297"/>
                  <a:pt x="221" y="290"/>
                </a:cubicBezTo>
                <a:cubicBezTo>
                  <a:pt x="228" y="280"/>
                  <a:pt x="236" y="261"/>
                  <a:pt x="240" y="246"/>
                </a:cubicBezTo>
                <a:cubicBezTo>
                  <a:pt x="246" y="221"/>
                  <a:pt x="244" y="202"/>
                  <a:pt x="235" y="191"/>
                </a:cubicBezTo>
                <a:cubicBezTo>
                  <a:pt x="223" y="176"/>
                  <a:pt x="203" y="177"/>
                  <a:pt x="203" y="177"/>
                </a:cubicBezTo>
                <a:cubicBezTo>
                  <a:pt x="202" y="177"/>
                  <a:pt x="202" y="176"/>
                  <a:pt x="202" y="176"/>
                </a:cubicBezTo>
                <a:cubicBezTo>
                  <a:pt x="202" y="176"/>
                  <a:pt x="202" y="177"/>
                  <a:pt x="202" y="177"/>
                </a:cubicBezTo>
                <a:cubicBezTo>
                  <a:pt x="202" y="177"/>
                  <a:pt x="181" y="176"/>
                  <a:pt x="170" y="191"/>
                </a:cubicBezTo>
                <a:cubicBezTo>
                  <a:pt x="160" y="202"/>
                  <a:pt x="159" y="221"/>
                  <a:pt x="165" y="246"/>
                </a:cubicBezTo>
                <a:cubicBezTo>
                  <a:pt x="168" y="261"/>
                  <a:pt x="176" y="280"/>
                  <a:pt x="184" y="290"/>
                </a:cubicBezTo>
                <a:cubicBezTo>
                  <a:pt x="189" y="297"/>
                  <a:pt x="187" y="308"/>
                  <a:pt x="185" y="317"/>
                </a:cubicBezTo>
                <a:cubicBezTo>
                  <a:pt x="184" y="323"/>
                  <a:pt x="179" y="343"/>
                  <a:pt x="165" y="350"/>
                </a:cubicBezTo>
                <a:cubicBezTo>
                  <a:pt x="157" y="355"/>
                  <a:pt x="149" y="355"/>
                  <a:pt x="140" y="355"/>
                </a:cubicBezTo>
                <a:cubicBezTo>
                  <a:pt x="131" y="356"/>
                  <a:pt x="122" y="356"/>
                  <a:pt x="111" y="361"/>
                </a:cubicBezTo>
                <a:cubicBezTo>
                  <a:pt x="109" y="362"/>
                  <a:pt x="108" y="362"/>
                  <a:pt x="106" y="362"/>
                </a:cubicBezTo>
                <a:cubicBezTo>
                  <a:pt x="102" y="362"/>
                  <a:pt x="98" y="360"/>
                  <a:pt x="97" y="356"/>
                </a:cubicBezTo>
                <a:cubicBezTo>
                  <a:pt x="94" y="351"/>
                  <a:pt x="96" y="344"/>
                  <a:pt x="102" y="342"/>
                </a:cubicBezTo>
                <a:cubicBezTo>
                  <a:pt x="116" y="335"/>
                  <a:pt x="129" y="335"/>
                  <a:pt x="139" y="334"/>
                </a:cubicBezTo>
                <a:cubicBezTo>
                  <a:pt x="146" y="334"/>
                  <a:pt x="151" y="334"/>
                  <a:pt x="155" y="332"/>
                </a:cubicBezTo>
                <a:cubicBezTo>
                  <a:pt x="161" y="328"/>
                  <a:pt x="167" y="308"/>
                  <a:pt x="166" y="302"/>
                </a:cubicBezTo>
                <a:cubicBezTo>
                  <a:pt x="157" y="289"/>
                  <a:pt x="148" y="269"/>
                  <a:pt x="144" y="251"/>
                </a:cubicBezTo>
                <a:cubicBezTo>
                  <a:pt x="136" y="219"/>
                  <a:pt x="139" y="194"/>
                  <a:pt x="153" y="177"/>
                </a:cubicBezTo>
                <a:cubicBezTo>
                  <a:pt x="171" y="155"/>
                  <a:pt x="200" y="155"/>
                  <a:pt x="202" y="155"/>
                </a:cubicBezTo>
                <a:cubicBezTo>
                  <a:pt x="205" y="155"/>
                  <a:pt x="233" y="155"/>
                  <a:pt x="251" y="177"/>
                </a:cubicBezTo>
                <a:cubicBezTo>
                  <a:pt x="265" y="194"/>
                  <a:pt x="268" y="219"/>
                  <a:pt x="261" y="251"/>
                </a:cubicBezTo>
                <a:cubicBezTo>
                  <a:pt x="256" y="269"/>
                  <a:pt x="247" y="289"/>
                  <a:pt x="239" y="302"/>
                </a:cubicBezTo>
                <a:cubicBezTo>
                  <a:pt x="237" y="308"/>
                  <a:pt x="243" y="328"/>
                  <a:pt x="250" y="332"/>
                </a:cubicBezTo>
                <a:cubicBezTo>
                  <a:pt x="253" y="334"/>
                  <a:pt x="259" y="334"/>
                  <a:pt x="265" y="334"/>
                </a:cubicBezTo>
                <a:cubicBezTo>
                  <a:pt x="276" y="335"/>
                  <a:pt x="288" y="335"/>
                  <a:pt x="303" y="342"/>
                </a:cubicBezTo>
                <a:cubicBezTo>
                  <a:pt x="308" y="344"/>
                  <a:pt x="310" y="351"/>
                  <a:pt x="308" y="356"/>
                </a:cubicBezTo>
                <a:close/>
                <a:moveTo>
                  <a:pt x="414" y="337"/>
                </a:moveTo>
                <a:cubicBezTo>
                  <a:pt x="412" y="340"/>
                  <a:pt x="408" y="342"/>
                  <a:pt x="405" y="342"/>
                </a:cubicBezTo>
                <a:cubicBezTo>
                  <a:pt x="403" y="342"/>
                  <a:pt x="401" y="341"/>
                  <a:pt x="399" y="340"/>
                </a:cubicBezTo>
                <a:cubicBezTo>
                  <a:pt x="395" y="337"/>
                  <a:pt x="387" y="336"/>
                  <a:pt x="380" y="335"/>
                </a:cubicBezTo>
                <a:cubicBezTo>
                  <a:pt x="372" y="334"/>
                  <a:pt x="364" y="333"/>
                  <a:pt x="357" y="329"/>
                </a:cubicBezTo>
                <a:cubicBezTo>
                  <a:pt x="357" y="329"/>
                  <a:pt x="356" y="328"/>
                  <a:pt x="356" y="328"/>
                </a:cubicBezTo>
                <a:cubicBezTo>
                  <a:pt x="341" y="317"/>
                  <a:pt x="337" y="293"/>
                  <a:pt x="345" y="282"/>
                </a:cubicBezTo>
                <a:cubicBezTo>
                  <a:pt x="351" y="274"/>
                  <a:pt x="357" y="260"/>
                  <a:pt x="360" y="248"/>
                </a:cubicBezTo>
                <a:cubicBezTo>
                  <a:pt x="364" y="230"/>
                  <a:pt x="363" y="217"/>
                  <a:pt x="356" y="208"/>
                </a:cubicBezTo>
                <a:cubicBezTo>
                  <a:pt x="347" y="197"/>
                  <a:pt x="332" y="197"/>
                  <a:pt x="330" y="197"/>
                </a:cubicBezTo>
                <a:cubicBezTo>
                  <a:pt x="329" y="197"/>
                  <a:pt x="313" y="197"/>
                  <a:pt x="305" y="208"/>
                </a:cubicBezTo>
                <a:cubicBezTo>
                  <a:pt x="298" y="217"/>
                  <a:pt x="297" y="230"/>
                  <a:pt x="301" y="248"/>
                </a:cubicBezTo>
                <a:cubicBezTo>
                  <a:pt x="304" y="260"/>
                  <a:pt x="310" y="274"/>
                  <a:pt x="315" y="282"/>
                </a:cubicBezTo>
                <a:cubicBezTo>
                  <a:pt x="323" y="293"/>
                  <a:pt x="319" y="317"/>
                  <a:pt x="305" y="328"/>
                </a:cubicBezTo>
                <a:cubicBezTo>
                  <a:pt x="303" y="330"/>
                  <a:pt x="300" y="330"/>
                  <a:pt x="298" y="330"/>
                </a:cubicBezTo>
                <a:cubicBezTo>
                  <a:pt x="295" y="330"/>
                  <a:pt x="292" y="329"/>
                  <a:pt x="290" y="326"/>
                </a:cubicBezTo>
                <a:cubicBezTo>
                  <a:pt x="286" y="321"/>
                  <a:pt x="287" y="315"/>
                  <a:pt x="292" y="311"/>
                </a:cubicBezTo>
                <a:cubicBezTo>
                  <a:pt x="298" y="307"/>
                  <a:pt x="299" y="296"/>
                  <a:pt x="298" y="293"/>
                </a:cubicBezTo>
                <a:cubicBezTo>
                  <a:pt x="291" y="284"/>
                  <a:pt x="284" y="268"/>
                  <a:pt x="280" y="253"/>
                </a:cubicBezTo>
                <a:cubicBezTo>
                  <a:pt x="274" y="228"/>
                  <a:pt x="277" y="209"/>
                  <a:pt x="288" y="195"/>
                </a:cubicBezTo>
                <a:cubicBezTo>
                  <a:pt x="304" y="175"/>
                  <a:pt x="328" y="176"/>
                  <a:pt x="330" y="176"/>
                </a:cubicBezTo>
                <a:cubicBezTo>
                  <a:pt x="332" y="176"/>
                  <a:pt x="357" y="175"/>
                  <a:pt x="373" y="195"/>
                </a:cubicBezTo>
                <a:cubicBezTo>
                  <a:pt x="384" y="209"/>
                  <a:pt x="386" y="228"/>
                  <a:pt x="380" y="253"/>
                </a:cubicBezTo>
                <a:cubicBezTo>
                  <a:pt x="377" y="268"/>
                  <a:pt x="370" y="284"/>
                  <a:pt x="363" y="293"/>
                </a:cubicBezTo>
                <a:cubicBezTo>
                  <a:pt x="362" y="296"/>
                  <a:pt x="363" y="306"/>
                  <a:pt x="369" y="311"/>
                </a:cubicBezTo>
                <a:cubicBezTo>
                  <a:pt x="372" y="312"/>
                  <a:pt x="378" y="313"/>
                  <a:pt x="383" y="314"/>
                </a:cubicBezTo>
                <a:cubicBezTo>
                  <a:pt x="392" y="315"/>
                  <a:pt x="402" y="317"/>
                  <a:pt x="410" y="322"/>
                </a:cubicBezTo>
                <a:cubicBezTo>
                  <a:pt x="415" y="325"/>
                  <a:pt x="417" y="332"/>
                  <a:pt x="414" y="337"/>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586033915"/>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572BF4-5513-47B3-BEAB-5C1699F4A030}"/>
              </a:ext>
            </a:extLst>
          </p:cNvPr>
          <p:cNvPicPr>
            <a:picLocks noChangeAspect="1"/>
          </p:cNvPicPr>
          <p:nvPr/>
        </p:nvPicPr>
        <p:blipFill>
          <a:blip r:embed="rId2"/>
          <a:stretch>
            <a:fillRect/>
          </a:stretch>
        </p:blipFill>
        <p:spPr>
          <a:xfrm>
            <a:off x="469900" y="1700213"/>
            <a:ext cx="6811259" cy="4186043"/>
          </a:xfrm>
          <a:prstGeom prst="rect">
            <a:avLst/>
          </a:prstGeom>
        </p:spPr>
      </p:pic>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Best practice: </a:t>
            </a:r>
            <a:r>
              <a:rPr lang="en-US" dirty="0" err="1"/>
              <a:t>DataOps</a:t>
            </a:r>
            <a:endParaRPr lang="en-US" dirty="0"/>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1054333365"/>
              </p:ext>
            </p:extLst>
          </p:nvPr>
        </p:nvGraphicFramePr>
        <p:xfrm>
          <a:off x="7335483" y="1308586"/>
          <a:ext cx="4386617" cy="4998720"/>
        </p:xfrm>
        <a:graphic>
          <a:graphicData uri="http://schemas.openxmlformats.org/drawingml/2006/table">
            <a:tbl>
              <a:tblPr bandRow="1">
                <a:effectLst/>
              </a:tblPr>
              <a:tblGrid>
                <a:gridCol w="4386617">
                  <a:extLst>
                    <a:ext uri="{9D8B030D-6E8A-4147-A177-3AD203B41FA5}">
                      <a16:colId xmlns:a16="http://schemas.microsoft.com/office/drawing/2014/main" val="2219018424"/>
                    </a:ext>
                  </a:extLst>
                </a:gridCol>
              </a:tblGrid>
              <a:tr h="0">
                <a:tc>
                  <a:txBody>
                    <a:bodyPr/>
                    <a:lstStyle/>
                    <a:p>
                      <a:pPr>
                        <a:spcAft>
                          <a:spcPts val="600"/>
                        </a:spcAft>
                      </a:pPr>
                      <a:r>
                        <a:rPr lang="en-US" sz="1000" b="1" dirty="0"/>
                        <a:t>Context</a:t>
                      </a:r>
                    </a:p>
                    <a:p>
                      <a:pPr>
                        <a:spcAft>
                          <a:spcPts val="600"/>
                        </a:spcAft>
                      </a:pPr>
                      <a:r>
                        <a:rPr lang="en-US" sz="1000" dirty="0" err="1"/>
                        <a:t>DataOps</a:t>
                      </a:r>
                      <a:r>
                        <a:rPr lang="en-US" sz="1000" dirty="0"/>
                        <a:t> is as much an organizational model as technical architecture. The output of the “innovation process” or application replaces the “dev/design” phase of </a:t>
                      </a:r>
                      <a:r>
                        <a:rPr lang="en-US" sz="1000" dirty="0" err="1"/>
                        <a:t>devOps</a:t>
                      </a:r>
                      <a:r>
                        <a:rPr lang="en-US" sz="1000" dirty="0"/>
                        <a:t>. The production of data and information is analogous to “operations”, and is seen as similar to a “factory” or pipeline that produces value for the enterprise.</a:t>
                      </a:r>
                      <a:endParaRPr lang="en-US" sz="1000" b="1" dirty="0"/>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b="1" dirty="0"/>
                        <a:t>Solution description</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dirty="0"/>
                        <a:t>There are two dimensions in DataOps, one for delivering value by efficiently managing incoming production data using established data pipelines, where data is “manufactured”. The other involves managing “innovation” to refine the production of data and information in a separate sandbox environment that mirrors production.</a:t>
                      </a:r>
                    </a:p>
                    <a:p>
                      <a:pPr marL="0" marR="0" lvl="0" indent="0" algn="l" defTabSz="1219170" rtl="0" eaLnBrk="1" fontAlgn="auto" latinLnBrk="0" hangingPunct="1">
                        <a:lnSpc>
                          <a:spcPct val="100000"/>
                        </a:lnSpc>
                        <a:spcBef>
                          <a:spcPts val="0"/>
                        </a:spcBef>
                        <a:spcAft>
                          <a:spcPts val="600"/>
                        </a:spcAft>
                        <a:buClrTx/>
                        <a:buSzTx/>
                        <a:buFontTx/>
                        <a:buNone/>
                        <a:tabLst/>
                        <a:defRPr/>
                      </a:pPr>
                      <a:r>
                        <a:rPr lang="en-US" sz="1000" dirty="0"/>
                        <a:t>Analytics, ML and standard ETL should be code based, so version control and continuous testing and deployment is easily supported. Systems should be containerized or deployed as microservices to permit re-use across the organization, and between data science and production data engineering teams. Data Quality and metrics to support governance should be tightly integrated with production data processing to enforce quality standards. The data value pipeline is a streamlined manufacturing process, to be measured and optimized.</a:t>
                      </a: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a:spcAft>
                          <a:spcPts val="600"/>
                        </a:spcAft>
                      </a:pPr>
                      <a:r>
                        <a:rPr lang="en-US" sz="1000" b="1" dirty="0"/>
                        <a:t>Rationale</a:t>
                      </a:r>
                    </a:p>
                    <a:p>
                      <a:pPr>
                        <a:spcAft>
                          <a:spcPts val="600"/>
                        </a:spcAft>
                      </a:pPr>
                      <a:r>
                        <a:rPr lang="en-US" sz="1000" dirty="0"/>
                        <a:t>Modern data systems are in a process of ongoing change, yet they must also maintain robust and accurate data processes to support enterprise applications. Combining the need for incremental change, insights and innovation with ongoing data system reliability is the goal of the DataOps architecture. </a:t>
                      </a:r>
                      <a:endParaRPr lang="en-US" sz="1000" b="1" dirty="0"/>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sp>
        <p:nvSpPr>
          <p:cNvPr id="140" name="TextBox 139">
            <a:extLst>
              <a:ext uri="{FF2B5EF4-FFF2-40B4-BE49-F238E27FC236}">
                <a16:creationId xmlns:a16="http://schemas.microsoft.com/office/drawing/2014/main" id="{C11E6746-76DE-4DA2-81D4-9B41C3287264}"/>
              </a:ext>
            </a:extLst>
          </p:cNvPr>
          <p:cNvSpPr txBox="1"/>
          <p:nvPr/>
        </p:nvSpPr>
        <p:spPr bwMode="gray">
          <a:xfrm>
            <a:off x="5535952" y="2014436"/>
            <a:ext cx="1838528" cy="233464"/>
          </a:xfrm>
          <a:prstGeom prst="rect">
            <a:avLst/>
          </a:prstGeom>
        </p:spPr>
        <p:txBody>
          <a:bodyPr wrap="none" lIns="0" rIns="0" rtlCol="0" anchor="b" anchorCtr="0">
            <a:normAutofit/>
          </a:bodyPr>
          <a:lstStyle/>
          <a:p>
            <a:pPr>
              <a:lnSpc>
                <a:spcPts val="900"/>
              </a:lnSpc>
            </a:pPr>
            <a:r>
              <a:rPr lang="en-US" sz="1000" b="1" dirty="0">
                <a:solidFill>
                  <a:schemeClr val="tx1"/>
                </a:solidFill>
              </a:rPr>
              <a:t>Value Pipeline</a:t>
            </a:r>
          </a:p>
        </p:txBody>
      </p:sp>
      <p:sp>
        <p:nvSpPr>
          <p:cNvPr id="182" name="TextBox 181">
            <a:extLst>
              <a:ext uri="{FF2B5EF4-FFF2-40B4-BE49-F238E27FC236}">
                <a16:creationId xmlns:a16="http://schemas.microsoft.com/office/drawing/2014/main" id="{A6511DDD-920E-4422-B5AF-3B2035411081}"/>
              </a:ext>
            </a:extLst>
          </p:cNvPr>
          <p:cNvSpPr txBox="1"/>
          <p:nvPr/>
        </p:nvSpPr>
        <p:spPr bwMode="gray">
          <a:xfrm>
            <a:off x="2159054" y="5950629"/>
            <a:ext cx="1838528" cy="233464"/>
          </a:xfrm>
          <a:prstGeom prst="rect">
            <a:avLst/>
          </a:prstGeom>
        </p:spPr>
        <p:txBody>
          <a:bodyPr wrap="none" lIns="0" rIns="0" rtlCol="0" anchor="b" anchorCtr="0">
            <a:normAutofit/>
          </a:bodyPr>
          <a:lstStyle/>
          <a:p>
            <a:pPr>
              <a:lnSpc>
                <a:spcPts val="900"/>
              </a:lnSpc>
            </a:pPr>
            <a:r>
              <a:rPr lang="en-US" sz="1000" b="1" dirty="0">
                <a:solidFill>
                  <a:schemeClr val="tx1"/>
                </a:solidFill>
              </a:rPr>
              <a:t>Innovation Pipeline</a:t>
            </a:r>
          </a:p>
        </p:txBody>
      </p:sp>
    </p:spTree>
    <p:extLst>
      <p:ext uri="{BB962C8B-B14F-4D97-AF65-F5344CB8AC3E}">
        <p14:creationId xmlns:p14="http://schemas.microsoft.com/office/powerpoint/2010/main" val="2618826065"/>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901468-B92C-4D86-B7D5-25F27F66F38F}"/>
              </a:ext>
            </a:extLst>
          </p:cNvPr>
          <p:cNvSpPr>
            <a:spLocks noGrp="1"/>
          </p:cNvSpPr>
          <p:nvPr>
            <p:ph type="title"/>
          </p:nvPr>
        </p:nvSpPr>
        <p:spPr/>
        <p:txBody>
          <a:bodyPr/>
          <a:lstStyle/>
          <a:p>
            <a:r>
              <a:rPr lang="en-US" dirty="0"/>
              <a:t>Best practice: Security</a:t>
            </a:r>
          </a:p>
        </p:txBody>
      </p:sp>
      <p:graphicFrame>
        <p:nvGraphicFramePr>
          <p:cNvPr id="4" name="Table 3">
            <a:extLst>
              <a:ext uri="{FF2B5EF4-FFF2-40B4-BE49-F238E27FC236}">
                <a16:creationId xmlns:a16="http://schemas.microsoft.com/office/drawing/2014/main" id="{0E82EFC1-18A6-464C-A4D8-80035EBB2445}"/>
              </a:ext>
            </a:extLst>
          </p:cNvPr>
          <p:cNvGraphicFramePr>
            <a:graphicFrameLocks noGrp="1"/>
          </p:cNvGraphicFramePr>
          <p:nvPr>
            <p:extLst>
              <p:ext uri="{D42A27DB-BD31-4B8C-83A1-F6EECF244321}">
                <p14:modId xmlns:p14="http://schemas.microsoft.com/office/powerpoint/2010/main" val="1739868948"/>
              </p:ext>
            </p:extLst>
          </p:nvPr>
        </p:nvGraphicFramePr>
        <p:xfrm>
          <a:off x="6897590" y="1306977"/>
          <a:ext cx="4831460" cy="4998720"/>
        </p:xfrm>
        <a:graphic>
          <a:graphicData uri="http://schemas.openxmlformats.org/drawingml/2006/table">
            <a:tbl>
              <a:tblPr bandRow="1">
                <a:effectLst/>
              </a:tblPr>
              <a:tblGrid>
                <a:gridCol w="4831460">
                  <a:extLst>
                    <a:ext uri="{9D8B030D-6E8A-4147-A177-3AD203B41FA5}">
                      <a16:colId xmlns:a16="http://schemas.microsoft.com/office/drawing/2014/main" val="2219018424"/>
                    </a:ext>
                  </a:extLst>
                </a:gridCol>
              </a:tblGrid>
              <a:tr h="0">
                <a:tc>
                  <a:txBody>
                    <a:bodyPr/>
                    <a:lstStyle/>
                    <a:p>
                      <a:pPr>
                        <a:lnSpc>
                          <a:spcPct val="100000"/>
                        </a:lnSpc>
                        <a:spcBef>
                          <a:spcPts val="0"/>
                        </a:spcBef>
                        <a:spcAft>
                          <a:spcPts val="0"/>
                        </a:spcAft>
                      </a:pPr>
                      <a:r>
                        <a:rPr lang="en-US" sz="1000" b="1" dirty="0"/>
                        <a:t>Context</a:t>
                      </a:r>
                    </a:p>
                    <a:p>
                      <a:pPr>
                        <a:lnSpc>
                          <a:spcPct val="100000"/>
                        </a:lnSpc>
                        <a:spcBef>
                          <a:spcPts val="0"/>
                        </a:spcBef>
                        <a:spcAft>
                          <a:spcPts val="0"/>
                        </a:spcAft>
                      </a:pPr>
                      <a:r>
                        <a:rPr lang="en-US" sz="1000" dirty="0"/>
                        <a:t>Enterprise Security architectures are comprised of the following components: People and process components, technical components, and governance components. Core technical components for enterprise data systems are addressed here. </a:t>
                      </a:r>
                    </a:p>
                    <a:p>
                      <a:pPr>
                        <a:lnSpc>
                          <a:spcPct val="100000"/>
                        </a:lnSpc>
                        <a:spcBef>
                          <a:spcPts val="0"/>
                        </a:spcBef>
                        <a:spcAft>
                          <a:spcPts val="0"/>
                        </a:spcAft>
                      </a:pPr>
                      <a:r>
                        <a:rPr lang="en-US" sz="1000" dirty="0"/>
                        <a:t>Broader security guidelines are contained in standards such as SABSA and the Open Information Security Management Maturity Model </a:t>
                      </a:r>
                      <a:br>
                        <a:rPr lang="en-US" sz="1000" dirty="0"/>
                      </a:br>
                      <a:r>
                        <a:rPr lang="en-US" sz="1000" dirty="0"/>
                        <a:t>(O-ISM3).</a:t>
                      </a:r>
                      <a:endParaRPr lang="en-US" sz="1000" b="0" dirty="0"/>
                    </a:p>
                  </a:txBody>
                  <a:tcPr marL="45720" marR="45720">
                    <a:lnL w="12700" cmpd="sng">
                      <a:noFill/>
                      <a:prstDash val="solid"/>
                    </a:lnL>
                    <a:lnR w="12700" cmpd="sng">
                      <a:noFill/>
                      <a:prstDash val="solid"/>
                    </a:lnR>
                    <a:lnT w="38100" cap="flat" cmpd="sng" algn="ctr">
                      <a:solidFill>
                        <a:schemeClr val="accent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9805065"/>
                  </a:ext>
                </a:extLst>
              </a:tr>
              <a:tr h="0">
                <a:tc>
                  <a:txBody>
                    <a:bodyPr/>
                    <a:lstStyle/>
                    <a:p>
                      <a:pPr>
                        <a:lnSpc>
                          <a:spcPct val="100000"/>
                        </a:lnSpc>
                        <a:spcBef>
                          <a:spcPts val="0"/>
                        </a:spcBef>
                        <a:spcAft>
                          <a:spcPts val="0"/>
                        </a:spcAft>
                      </a:pPr>
                      <a:r>
                        <a:rPr lang="en-US" sz="1000" b="1" dirty="0"/>
                        <a:t>Solution description</a:t>
                      </a:r>
                    </a:p>
                    <a:p>
                      <a:pPr>
                        <a:lnSpc>
                          <a:spcPct val="100000"/>
                        </a:lnSpc>
                        <a:spcBef>
                          <a:spcPts val="0"/>
                        </a:spcBef>
                        <a:spcAft>
                          <a:spcPts val="0"/>
                        </a:spcAft>
                      </a:pPr>
                      <a:r>
                        <a:rPr lang="en-US" sz="1000" dirty="0"/>
                        <a:t>Core technical components for Enterprise security involve the following:</a:t>
                      </a:r>
                    </a:p>
                    <a:p>
                      <a:pPr marL="228600" indent="-228600">
                        <a:lnSpc>
                          <a:spcPct val="100000"/>
                        </a:lnSpc>
                        <a:spcBef>
                          <a:spcPts val="0"/>
                        </a:spcBef>
                        <a:spcAft>
                          <a:spcPts val="0"/>
                        </a:spcAft>
                        <a:buFont typeface="+mj-lt"/>
                        <a:buAutoNum type="alphaLcPeriod"/>
                      </a:pPr>
                      <a:r>
                        <a:rPr lang="en-US" sz="1000" b="1" dirty="0"/>
                        <a:t>Identity and Access Management:</a:t>
                      </a:r>
                      <a:r>
                        <a:rPr lang="en-US" sz="1000" dirty="0"/>
                        <a:t> Authentication and role based access management through common or federated IAM systems.</a:t>
                      </a:r>
                    </a:p>
                    <a:p>
                      <a:pPr marL="228600" indent="-228600">
                        <a:lnSpc>
                          <a:spcPct val="100000"/>
                        </a:lnSpc>
                        <a:spcBef>
                          <a:spcPts val="0"/>
                        </a:spcBef>
                        <a:spcAft>
                          <a:spcPts val="0"/>
                        </a:spcAft>
                        <a:buFont typeface="+mj-lt"/>
                        <a:buAutoNum type="alphaLcPeriod"/>
                      </a:pPr>
                      <a:r>
                        <a:rPr lang="en-US" sz="1000" b="1" dirty="0"/>
                        <a:t>Data and Content Protection:</a:t>
                      </a:r>
                      <a:r>
                        <a:rPr lang="en-US" sz="1000" dirty="0"/>
                        <a:t> Data security, and data movement is controlled, using role based authentication and data encryption both in transit and at rest. This is required to address the PII/PHI/PCI/GDPR requirements. </a:t>
                      </a:r>
                    </a:p>
                    <a:p>
                      <a:pPr marL="228600" indent="-228600">
                        <a:lnSpc>
                          <a:spcPct val="100000"/>
                        </a:lnSpc>
                        <a:spcBef>
                          <a:spcPts val="0"/>
                        </a:spcBef>
                        <a:spcAft>
                          <a:spcPts val="0"/>
                        </a:spcAft>
                        <a:buFont typeface="+mj-lt"/>
                        <a:buAutoNum type="alphaLcPeriod"/>
                      </a:pPr>
                      <a:r>
                        <a:rPr lang="en-US" sz="1000" b="1" dirty="0"/>
                        <a:t>Border Protection: </a:t>
                      </a:r>
                      <a:r>
                        <a:rPr lang="en-US" sz="1000" dirty="0"/>
                        <a:t>Access at the network layer is protected via network security, using zones, vpns, private links and authentication services</a:t>
                      </a:r>
                    </a:p>
                    <a:p>
                      <a:pPr marL="228600" indent="-228600">
                        <a:lnSpc>
                          <a:spcPct val="100000"/>
                        </a:lnSpc>
                        <a:spcBef>
                          <a:spcPts val="0"/>
                        </a:spcBef>
                        <a:spcAft>
                          <a:spcPts val="0"/>
                        </a:spcAft>
                        <a:buFont typeface="+mj-lt"/>
                        <a:buAutoNum type="alphaLcPeriod"/>
                      </a:pPr>
                      <a:r>
                        <a:rPr lang="en-US" sz="1000" b="1" dirty="0"/>
                        <a:t>Auditing/Logging:</a:t>
                      </a:r>
                      <a:r>
                        <a:rPr lang="en-US" sz="1000" dirty="0"/>
                        <a:t> Data and processes are audited to determine compliance, and data integrity.</a:t>
                      </a:r>
                    </a:p>
                    <a:p>
                      <a:pPr marL="228600" indent="-228600">
                        <a:lnSpc>
                          <a:spcPct val="100000"/>
                        </a:lnSpc>
                        <a:spcBef>
                          <a:spcPts val="0"/>
                        </a:spcBef>
                        <a:spcAft>
                          <a:spcPts val="0"/>
                        </a:spcAft>
                        <a:buFont typeface="+mj-lt"/>
                        <a:buAutoNum type="alphaLcPeriod"/>
                      </a:pPr>
                      <a:r>
                        <a:rPr lang="en-US" sz="1000" b="1" dirty="0"/>
                        <a:t>Threat Detection: </a:t>
                      </a:r>
                      <a:r>
                        <a:rPr lang="en-US" sz="1000" dirty="0"/>
                        <a:t>Intrusion events are monitored with automated alerting.</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dirty="0"/>
                        <a:t>Cloud computing addresses many of these components using a combination of technologies. </a:t>
                      </a:r>
                      <a:endParaRPr lang="en-US" sz="1000" b="1" dirty="0"/>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9945826"/>
                  </a:ext>
                </a:extLst>
              </a:tr>
              <a:tr h="0">
                <a:tc>
                  <a:txBody>
                    <a:bodyPr/>
                    <a:lstStyle/>
                    <a:p>
                      <a:pPr>
                        <a:lnSpc>
                          <a:spcPct val="100000"/>
                        </a:lnSpc>
                        <a:spcBef>
                          <a:spcPts val="0"/>
                        </a:spcBef>
                        <a:spcAft>
                          <a:spcPts val="0"/>
                        </a:spcAft>
                      </a:pPr>
                      <a:r>
                        <a:rPr lang="en-US" sz="1000" b="1" dirty="0"/>
                        <a:t>Rationale</a:t>
                      </a:r>
                    </a:p>
                    <a:p>
                      <a:pPr>
                        <a:lnSpc>
                          <a:spcPct val="100000"/>
                        </a:lnSpc>
                        <a:spcBef>
                          <a:spcPts val="0"/>
                        </a:spcBef>
                        <a:spcAft>
                          <a:spcPts val="0"/>
                        </a:spcAft>
                      </a:pPr>
                      <a:r>
                        <a:rPr lang="en-US" sz="1000" dirty="0"/>
                        <a:t>Data Security protects the customer, and it protects the business and the business reputation. It mitigates the risks associated with loss of sensitive data. Security standards and templates also serve to guide both network and data architectures, and provide an on going measure of their integrity</a:t>
                      </a:r>
                      <a:endParaRPr lang="en-US" sz="1000" b="1" dirty="0"/>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7694336"/>
                  </a:ext>
                </a:extLst>
              </a:tr>
            </a:tbl>
          </a:graphicData>
        </a:graphic>
      </p:graphicFrame>
      <p:grpSp>
        <p:nvGrpSpPr>
          <p:cNvPr id="10" name="Group 9">
            <a:extLst>
              <a:ext uri="{FF2B5EF4-FFF2-40B4-BE49-F238E27FC236}">
                <a16:creationId xmlns:a16="http://schemas.microsoft.com/office/drawing/2014/main" id="{40BE7F94-5008-4D16-8C98-7E387E64439B}"/>
              </a:ext>
            </a:extLst>
          </p:cNvPr>
          <p:cNvGrpSpPr/>
          <p:nvPr/>
        </p:nvGrpSpPr>
        <p:grpSpPr>
          <a:xfrm>
            <a:off x="457165" y="1700213"/>
            <a:ext cx="6412903" cy="3032425"/>
            <a:chOff x="457165" y="1700213"/>
            <a:chExt cx="7458110" cy="3526665"/>
          </a:xfrm>
        </p:grpSpPr>
        <p:sp>
          <p:nvSpPr>
            <p:cNvPr id="77" name="Rectangle 76">
              <a:extLst>
                <a:ext uri="{FF2B5EF4-FFF2-40B4-BE49-F238E27FC236}">
                  <a16:creationId xmlns:a16="http://schemas.microsoft.com/office/drawing/2014/main" id="{70596C5F-F355-4C3B-BA9B-EB032B1ECFB2}"/>
                </a:ext>
              </a:extLst>
            </p:cNvPr>
            <p:cNvSpPr/>
            <p:nvPr/>
          </p:nvSpPr>
          <p:spPr bwMode="gray">
            <a:xfrm>
              <a:off x="457165" y="1700213"/>
              <a:ext cx="7337719" cy="3268060"/>
            </a:xfrm>
            <a:prstGeom prst="rect">
              <a:avLst/>
            </a:prstGeom>
            <a:solidFill>
              <a:schemeClr val="accent1">
                <a:lumMod val="20000"/>
                <a:lumOff val="80000"/>
              </a:schemeClr>
            </a:solidFill>
            <a:ln w="19050" algn="ctr">
              <a:noFill/>
              <a:prstDash val="sysDot"/>
              <a:miter lim="800000"/>
              <a:headEnd/>
              <a:tailEnd/>
            </a:ln>
            <a:effectLst/>
          </p:spPr>
          <p:txBody>
            <a:bodyPr wrap="square" lIns="88900" tIns="88900" rIns="88900" bIns="88900" rtlCol="0" anchor="t"/>
            <a:lstStyle/>
            <a:p>
              <a:pPr>
                <a:lnSpc>
                  <a:spcPct val="106000"/>
                </a:lnSpc>
                <a:buFont typeface="Wingdings 2" pitchFamily="18" charset="2"/>
                <a:buNone/>
              </a:pPr>
              <a:r>
                <a:rPr lang="en-US" sz="800" dirty="0"/>
                <a:t>Zone</a:t>
              </a:r>
            </a:p>
          </p:txBody>
        </p:sp>
        <p:sp>
          <p:nvSpPr>
            <p:cNvPr id="73" name="TextBox 72">
              <a:extLst>
                <a:ext uri="{FF2B5EF4-FFF2-40B4-BE49-F238E27FC236}">
                  <a16:creationId xmlns:a16="http://schemas.microsoft.com/office/drawing/2014/main" id="{AF6FC9D5-280E-4786-8EF1-466329FAF66A}"/>
                </a:ext>
              </a:extLst>
            </p:cNvPr>
            <p:cNvSpPr txBox="1"/>
            <p:nvPr/>
          </p:nvSpPr>
          <p:spPr bwMode="gray">
            <a:xfrm>
              <a:off x="804747" y="4970662"/>
              <a:ext cx="3164552" cy="256216"/>
            </a:xfrm>
            <a:prstGeom prst="rect">
              <a:avLst/>
            </a:prstGeom>
          </p:spPr>
          <p:txBody>
            <a:bodyPr wrap="none" lIns="0" rIns="0" rtlCol="0" anchor="b" anchorCtr="0">
              <a:normAutofit/>
            </a:bodyPr>
            <a:lstStyle/>
            <a:p>
              <a:pPr>
                <a:lnSpc>
                  <a:spcPts val="900"/>
                </a:lnSpc>
              </a:pPr>
              <a:r>
                <a:rPr lang="en-US" sz="800" dirty="0"/>
                <a:t>Border Protection: VPN/Privatelink/Proxy, etc.</a:t>
              </a:r>
              <a:endParaRPr lang="en-US" sz="800" dirty="0">
                <a:solidFill>
                  <a:schemeClr val="tx1"/>
                </a:solidFill>
              </a:endParaRPr>
            </a:p>
          </p:txBody>
        </p:sp>
        <p:sp>
          <p:nvSpPr>
            <p:cNvPr id="74" name="Oval 73">
              <a:extLst>
                <a:ext uri="{FF2B5EF4-FFF2-40B4-BE49-F238E27FC236}">
                  <a16:creationId xmlns:a16="http://schemas.microsoft.com/office/drawing/2014/main" id="{CCF19F3D-2DB4-4D56-B015-49618874C014}"/>
                </a:ext>
              </a:extLst>
            </p:cNvPr>
            <p:cNvSpPr/>
            <p:nvPr/>
          </p:nvSpPr>
          <p:spPr bwMode="gray">
            <a:xfrm>
              <a:off x="529234" y="4997457"/>
              <a:ext cx="233465" cy="214009"/>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C</a:t>
              </a:r>
            </a:p>
          </p:txBody>
        </p:sp>
        <p:sp>
          <p:nvSpPr>
            <p:cNvPr id="86" name="TextBox 85">
              <a:extLst>
                <a:ext uri="{FF2B5EF4-FFF2-40B4-BE49-F238E27FC236}">
                  <a16:creationId xmlns:a16="http://schemas.microsoft.com/office/drawing/2014/main" id="{7004A10D-D750-4D91-8FBF-11979B37CA4E}"/>
                </a:ext>
              </a:extLst>
            </p:cNvPr>
            <p:cNvSpPr txBox="1"/>
            <p:nvPr/>
          </p:nvSpPr>
          <p:spPr bwMode="gray">
            <a:xfrm>
              <a:off x="5197021" y="3844839"/>
              <a:ext cx="2718254" cy="256216"/>
            </a:xfrm>
            <a:prstGeom prst="rect">
              <a:avLst/>
            </a:prstGeom>
          </p:spPr>
          <p:txBody>
            <a:bodyPr wrap="none" lIns="0" rIns="0" rtlCol="0" anchor="b" anchorCtr="0">
              <a:normAutofit/>
            </a:bodyPr>
            <a:lstStyle/>
            <a:p>
              <a:pPr>
                <a:lnSpc>
                  <a:spcPts val="900"/>
                </a:lnSpc>
              </a:pPr>
              <a:r>
                <a:rPr lang="en-US" sz="800" dirty="0"/>
                <a:t>Identity and Access Management.</a:t>
              </a:r>
              <a:endParaRPr lang="en-US" sz="800" dirty="0">
                <a:solidFill>
                  <a:schemeClr val="tx1"/>
                </a:solidFill>
              </a:endParaRPr>
            </a:p>
          </p:txBody>
        </p:sp>
        <p:sp>
          <p:nvSpPr>
            <p:cNvPr id="89" name="Oval 88">
              <a:extLst>
                <a:ext uri="{FF2B5EF4-FFF2-40B4-BE49-F238E27FC236}">
                  <a16:creationId xmlns:a16="http://schemas.microsoft.com/office/drawing/2014/main" id="{53A418EA-3A26-473E-B22B-997EBECC2138}"/>
                </a:ext>
              </a:extLst>
            </p:cNvPr>
            <p:cNvSpPr/>
            <p:nvPr/>
          </p:nvSpPr>
          <p:spPr bwMode="gray">
            <a:xfrm>
              <a:off x="4941401" y="3846487"/>
              <a:ext cx="233465" cy="214009"/>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A</a:t>
              </a:r>
            </a:p>
          </p:txBody>
        </p:sp>
        <p:sp>
          <p:nvSpPr>
            <p:cNvPr id="91" name="TextBox 90">
              <a:extLst>
                <a:ext uri="{FF2B5EF4-FFF2-40B4-BE49-F238E27FC236}">
                  <a16:creationId xmlns:a16="http://schemas.microsoft.com/office/drawing/2014/main" id="{16502ADA-1384-437F-875D-081F9B927FE2}"/>
                </a:ext>
              </a:extLst>
            </p:cNvPr>
            <p:cNvSpPr txBox="1"/>
            <p:nvPr/>
          </p:nvSpPr>
          <p:spPr bwMode="gray">
            <a:xfrm>
              <a:off x="2249970" y="3635926"/>
              <a:ext cx="2037189" cy="282358"/>
            </a:xfrm>
            <a:prstGeom prst="rect">
              <a:avLst/>
            </a:prstGeom>
          </p:spPr>
          <p:txBody>
            <a:bodyPr wrap="none" lIns="0" rIns="0" rtlCol="0" anchor="b" anchorCtr="0">
              <a:normAutofit/>
            </a:bodyPr>
            <a:lstStyle/>
            <a:p>
              <a:pPr>
                <a:lnSpc>
                  <a:spcPts val="900"/>
                </a:lnSpc>
              </a:pPr>
              <a:r>
                <a:rPr lang="en-US" sz="800" dirty="0"/>
                <a:t>Encryption at Rest.</a:t>
              </a:r>
              <a:endParaRPr lang="en-US" sz="800" dirty="0">
                <a:solidFill>
                  <a:schemeClr val="tx1"/>
                </a:solidFill>
              </a:endParaRPr>
            </a:p>
          </p:txBody>
        </p:sp>
        <p:sp>
          <p:nvSpPr>
            <p:cNvPr id="93" name="Oval 92">
              <a:extLst>
                <a:ext uri="{FF2B5EF4-FFF2-40B4-BE49-F238E27FC236}">
                  <a16:creationId xmlns:a16="http://schemas.microsoft.com/office/drawing/2014/main" id="{BB31DF54-B8A1-4024-AF5D-F3FBAC605DD2}"/>
                </a:ext>
              </a:extLst>
            </p:cNvPr>
            <p:cNvSpPr/>
            <p:nvPr/>
          </p:nvSpPr>
          <p:spPr bwMode="gray">
            <a:xfrm>
              <a:off x="1985923" y="3683836"/>
              <a:ext cx="233465" cy="214009"/>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B</a:t>
              </a:r>
            </a:p>
          </p:txBody>
        </p:sp>
        <p:pic>
          <p:nvPicPr>
            <p:cNvPr id="90" name="Picture 89">
              <a:extLst>
                <a:ext uri="{FF2B5EF4-FFF2-40B4-BE49-F238E27FC236}">
                  <a16:creationId xmlns:a16="http://schemas.microsoft.com/office/drawing/2014/main" id="{CC3AA8BE-9088-42A3-84A0-A95FED958BFC}"/>
                </a:ext>
              </a:extLst>
            </p:cNvPr>
            <p:cNvPicPr>
              <a:picLocks noChangeAspect="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3616235" y="4289443"/>
              <a:ext cx="483891" cy="483891"/>
            </a:xfrm>
            <a:prstGeom prst="rect">
              <a:avLst/>
            </a:prstGeom>
          </p:spPr>
        </p:pic>
        <p:sp>
          <p:nvSpPr>
            <p:cNvPr id="98" name="TextBox 97">
              <a:extLst>
                <a:ext uri="{FF2B5EF4-FFF2-40B4-BE49-F238E27FC236}">
                  <a16:creationId xmlns:a16="http://schemas.microsoft.com/office/drawing/2014/main" id="{A058B5F0-DB19-495B-A062-AE001FD2B3A2}"/>
                </a:ext>
              </a:extLst>
            </p:cNvPr>
            <p:cNvSpPr txBox="1"/>
            <p:nvPr/>
          </p:nvSpPr>
          <p:spPr bwMode="gray">
            <a:xfrm>
              <a:off x="3143689" y="4692602"/>
              <a:ext cx="2718254" cy="256216"/>
            </a:xfrm>
            <a:prstGeom prst="rect">
              <a:avLst/>
            </a:prstGeom>
          </p:spPr>
          <p:txBody>
            <a:bodyPr wrap="none" lIns="0" rIns="0" rtlCol="0" anchor="b" anchorCtr="0">
              <a:normAutofit/>
            </a:bodyPr>
            <a:lstStyle/>
            <a:p>
              <a:pPr>
                <a:lnSpc>
                  <a:spcPts val="900"/>
                </a:lnSpc>
              </a:pPr>
              <a:r>
                <a:rPr lang="en-US" sz="800" dirty="0"/>
                <a:t>Security Scanner.</a:t>
              </a:r>
              <a:endParaRPr lang="en-US" sz="800" dirty="0">
                <a:solidFill>
                  <a:schemeClr val="tx1"/>
                </a:solidFill>
              </a:endParaRPr>
            </a:p>
          </p:txBody>
        </p:sp>
        <p:sp>
          <p:nvSpPr>
            <p:cNvPr id="99" name="Arrow: Right 98">
              <a:extLst>
                <a:ext uri="{FF2B5EF4-FFF2-40B4-BE49-F238E27FC236}">
                  <a16:creationId xmlns:a16="http://schemas.microsoft.com/office/drawing/2014/main" id="{12519915-A3B8-4ED3-A916-F2203E4EB918}"/>
                </a:ext>
              </a:extLst>
            </p:cNvPr>
            <p:cNvSpPr/>
            <p:nvPr/>
          </p:nvSpPr>
          <p:spPr bwMode="gray">
            <a:xfrm rot="16200000">
              <a:off x="3662213" y="3926082"/>
              <a:ext cx="382414" cy="243946"/>
            </a:xfrm>
            <a:prstGeom prst="rightArrow">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00" name="Arrow: Right 99">
              <a:extLst>
                <a:ext uri="{FF2B5EF4-FFF2-40B4-BE49-F238E27FC236}">
                  <a16:creationId xmlns:a16="http://schemas.microsoft.com/office/drawing/2014/main" id="{A2F7A805-0FF3-4637-B1B4-FB6D2F1B050F}"/>
                </a:ext>
              </a:extLst>
            </p:cNvPr>
            <p:cNvSpPr/>
            <p:nvPr/>
          </p:nvSpPr>
          <p:spPr bwMode="gray">
            <a:xfrm rot="12268583">
              <a:off x="3125146" y="4285644"/>
              <a:ext cx="382414" cy="243946"/>
            </a:xfrm>
            <a:prstGeom prst="rightArrow">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01" name="Arrow: Right 100">
              <a:extLst>
                <a:ext uri="{FF2B5EF4-FFF2-40B4-BE49-F238E27FC236}">
                  <a16:creationId xmlns:a16="http://schemas.microsoft.com/office/drawing/2014/main" id="{85B66F55-D6C8-48EE-9A4B-25BBA48AC35F}"/>
                </a:ext>
              </a:extLst>
            </p:cNvPr>
            <p:cNvSpPr/>
            <p:nvPr/>
          </p:nvSpPr>
          <p:spPr bwMode="gray">
            <a:xfrm rot="20342983">
              <a:off x="4202816" y="4325735"/>
              <a:ext cx="382414" cy="243946"/>
            </a:xfrm>
            <a:prstGeom prst="rightArrow">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08" name="Oval 107">
              <a:extLst>
                <a:ext uri="{FF2B5EF4-FFF2-40B4-BE49-F238E27FC236}">
                  <a16:creationId xmlns:a16="http://schemas.microsoft.com/office/drawing/2014/main" id="{E89D898D-7B45-48B8-BFCB-69FD7C5150B6}"/>
                </a:ext>
              </a:extLst>
            </p:cNvPr>
            <p:cNvSpPr/>
            <p:nvPr/>
          </p:nvSpPr>
          <p:spPr bwMode="gray">
            <a:xfrm>
              <a:off x="2864586" y="4682941"/>
              <a:ext cx="233465" cy="214009"/>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E</a:t>
              </a:r>
            </a:p>
          </p:txBody>
        </p:sp>
        <p:sp>
          <p:nvSpPr>
            <p:cNvPr id="6144" name="Rectangle 6143">
              <a:extLst>
                <a:ext uri="{FF2B5EF4-FFF2-40B4-BE49-F238E27FC236}">
                  <a16:creationId xmlns:a16="http://schemas.microsoft.com/office/drawing/2014/main" id="{57E290C4-4727-4BFA-85AF-A79B4C701E50}"/>
                </a:ext>
              </a:extLst>
            </p:cNvPr>
            <p:cNvSpPr/>
            <p:nvPr/>
          </p:nvSpPr>
          <p:spPr bwMode="gray">
            <a:xfrm>
              <a:off x="1008950" y="2260685"/>
              <a:ext cx="4248172" cy="282358"/>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dirty="0">
                  <a:solidFill>
                    <a:schemeClr val="bg1"/>
                  </a:solidFill>
                </a:rPr>
                <a:t>Auditing and Logging</a:t>
              </a:r>
            </a:p>
          </p:txBody>
        </p:sp>
        <p:sp>
          <p:nvSpPr>
            <p:cNvPr id="113" name="Arrow: Right 112">
              <a:extLst>
                <a:ext uri="{FF2B5EF4-FFF2-40B4-BE49-F238E27FC236}">
                  <a16:creationId xmlns:a16="http://schemas.microsoft.com/office/drawing/2014/main" id="{BEEFC1D9-D97D-41AE-ACEB-92E9858C717C}"/>
                </a:ext>
              </a:extLst>
            </p:cNvPr>
            <p:cNvSpPr/>
            <p:nvPr/>
          </p:nvSpPr>
          <p:spPr bwMode="gray">
            <a:xfrm rot="16200000">
              <a:off x="3250930" y="2521095"/>
              <a:ext cx="188949" cy="208712"/>
            </a:xfrm>
            <a:prstGeom prst="rightArrow">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114" name="Oval 113">
              <a:extLst>
                <a:ext uri="{FF2B5EF4-FFF2-40B4-BE49-F238E27FC236}">
                  <a16:creationId xmlns:a16="http://schemas.microsoft.com/office/drawing/2014/main" id="{79752836-8CDB-4E99-B1ED-B25D80479EC4}"/>
                </a:ext>
              </a:extLst>
            </p:cNvPr>
            <p:cNvSpPr/>
            <p:nvPr/>
          </p:nvSpPr>
          <p:spPr bwMode="gray">
            <a:xfrm>
              <a:off x="1869191" y="2279137"/>
              <a:ext cx="233465" cy="214009"/>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D</a:t>
              </a:r>
            </a:p>
          </p:txBody>
        </p:sp>
        <p:pic>
          <p:nvPicPr>
            <p:cNvPr id="6146" name="Picture 6145">
              <a:extLst>
                <a:ext uri="{FF2B5EF4-FFF2-40B4-BE49-F238E27FC236}">
                  <a16:creationId xmlns:a16="http://schemas.microsoft.com/office/drawing/2014/main" id="{3ADDEEAD-A0AD-45C2-B4DB-77601E8F2766}"/>
                </a:ext>
              </a:extLst>
            </p:cNvPr>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37294" y="4300138"/>
              <a:ext cx="649874" cy="649874"/>
            </a:xfrm>
            <a:prstGeom prst="rect">
              <a:avLst/>
            </a:prstGeom>
          </p:spPr>
        </p:pic>
        <p:grpSp>
          <p:nvGrpSpPr>
            <p:cNvPr id="6" name="Group 5">
              <a:extLst>
                <a:ext uri="{FF2B5EF4-FFF2-40B4-BE49-F238E27FC236}">
                  <a16:creationId xmlns:a16="http://schemas.microsoft.com/office/drawing/2014/main" id="{3C1D16C8-06D6-4F7E-82F4-1A683759F127}"/>
                </a:ext>
              </a:extLst>
            </p:cNvPr>
            <p:cNvGrpSpPr/>
            <p:nvPr/>
          </p:nvGrpSpPr>
          <p:grpSpPr>
            <a:xfrm>
              <a:off x="476621" y="2367690"/>
              <a:ext cx="7006087" cy="1320272"/>
              <a:chOff x="197245" y="1381328"/>
              <a:chExt cx="7006087" cy="1320272"/>
            </a:xfrm>
          </p:grpSpPr>
          <p:sp>
            <p:nvSpPr>
              <p:cNvPr id="83" name="Rectangle 82">
                <a:extLst>
                  <a:ext uri="{FF2B5EF4-FFF2-40B4-BE49-F238E27FC236}">
                    <a16:creationId xmlns:a16="http://schemas.microsoft.com/office/drawing/2014/main" id="{598C7DFC-53F5-4CEF-A0CA-6BFB59B6C0CE}"/>
                  </a:ext>
                </a:extLst>
              </p:cNvPr>
              <p:cNvSpPr/>
              <p:nvPr/>
            </p:nvSpPr>
            <p:spPr bwMode="gray">
              <a:xfrm>
                <a:off x="5350212" y="1381328"/>
                <a:ext cx="1853120" cy="1320272"/>
              </a:xfrm>
              <a:prstGeom prst="rect">
                <a:avLst/>
              </a:prstGeom>
              <a:solidFill>
                <a:schemeClr val="accent1">
                  <a:lumMod val="20000"/>
                  <a:lumOff val="80000"/>
                </a:schemeClr>
              </a:solidFill>
              <a:ln w="19050" algn="ctr">
                <a:solidFill>
                  <a:schemeClr val="accent1">
                    <a:shade val="50000"/>
                  </a:schemeClr>
                </a:solidFill>
                <a:prstDash val="sysDot"/>
                <a:miter lim="800000"/>
                <a:headEnd/>
                <a:tailEnd/>
              </a:ln>
            </p:spPr>
            <p:txBody>
              <a:bodyPr wrap="square" lIns="88900" tIns="88900" rIns="88900" bIns="88900" rtlCol="0" anchor="t"/>
              <a:lstStyle/>
              <a:p>
                <a:pPr>
                  <a:lnSpc>
                    <a:spcPct val="106000"/>
                  </a:lnSpc>
                  <a:buFont typeface="Wingdings 2" pitchFamily="18" charset="2"/>
                  <a:buNone/>
                </a:pPr>
                <a:r>
                  <a:rPr lang="en-US" sz="800" dirty="0"/>
                  <a:t>Zone</a:t>
                </a:r>
              </a:p>
            </p:txBody>
          </p:sp>
          <p:grpSp>
            <p:nvGrpSpPr>
              <p:cNvPr id="5" name="Group 4">
                <a:extLst>
                  <a:ext uri="{FF2B5EF4-FFF2-40B4-BE49-F238E27FC236}">
                    <a16:creationId xmlns:a16="http://schemas.microsoft.com/office/drawing/2014/main" id="{1D0C33F0-72B3-4572-AAD1-E109685642B4}"/>
                  </a:ext>
                </a:extLst>
              </p:cNvPr>
              <p:cNvGrpSpPr/>
              <p:nvPr/>
            </p:nvGrpSpPr>
            <p:grpSpPr>
              <a:xfrm>
                <a:off x="197245" y="1728184"/>
                <a:ext cx="6517400" cy="685021"/>
                <a:chOff x="285085" y="1919535"/>
                <a:chExt cx="6517400" cy="685021"/>
              </a:xfrm>
            </p:grpSpPr>
            <p:sp>
              <p:nvSpPr>
                <p:cNvPr id="2" name="Arrow: Chevron 1">
                  <a:extLst>
                    <a:ext uri="{FF2B5EF4-FFF2-40B4-BE49-F238E27FC236}">
                      <a16:creationId xmlns:a16="http://schemas.microsoft.com/office/drawing/2014/main" id="{A8A07C59-48A6-4E6C-AE0C-4349A534AAF9}"/>
                    </a:ext>
                  </a:extLst>
                </p:cNvPr>
                <p:cNvSpPr/>
                <p:nvPr/>
              </p:nvSpPr>
              <p:spPr bwMode="gray">
                <a:xfrm>
                  <a:off x="285085" y="1929313"/>
                  <a:ext cx="1528516" cy="674160"/>
                </a:xfrm>
                <a:prstGeom prst="chevr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dirty="0">
                      <a:solidFill>
                        <a:schemeClr val="bg1"/>
                      </a:solidFill>
                    </a:rPr>
                    <a:t>Data Acquisition</a:t>
                  </a:r>
                </a:p>
              </p:txBody>
            </p:sp>
            <p:sp>
              <p:nvSpPr>
                <p:cNvPr id="31" name="Arrow: Chevron 30">
                  <a:extLst>
                    <a:ext uri="{FF2B5EF4-FFF2-40B4-BE49-F238E27FC236}">
                      <a16:creationId xmlns:a16="http://schemas.microsoft.com/office/drawing/2014/main" id="{6C51D273-B5AC-4821-886F-5CABA9351FBC}"/>
                    </a:ext>
                  </a:extLst>
                </p:cNvPr>
                <p:cNvSpPr/>
                <p:nvPr/>
              </p:nvSpPr>
              <p:spPr bwMode="gray">
                <a:xfrm>
                  <a:off x="1526708" y="1930396"/>
                  <a:ext cx="1528516" cy="674160"/>
                </a:xfrm>
                <a:prstGeom prst="chevr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dirty="0">
                      <a:solidFill>
                        <a:schemeClr val="bg1"/>
                      </a:solidFill>
                    </a:rPr>
                    <a:t>Data Storage</a:t>
                  </a:r>
                </a:p>
              </p:txBody>
            </p:sp>
            <p:sp>
              <p:nvSpPr>
                <p:cNvPr id="32" name="Arrow: Chevron 31">
                  <a:extLst>
                    <a:ext uri="{FF2B5EF4-FFF2-40B4-BE49-F238E27FC236}">
                      <a16:creationId xmlns:a16="http://schemas.microsoft.com/office/drawing/2014/main" id="{A3DAF34A-060F-434A-B741-36A410B790D2}"/>
                    </a:ext>
                  </a:extLst>
                </p:cNvPr>
                <p:cNvSpPr/>
                <p:nvPr/>
              </p:nvSpPr>
              <p:spPr bwMode="gray">
                <a:xfrm>
                  <a:off x="2774003" y="1923146"/>
                  <a:ext cx="1528516" cy="674160"/>
                </a:xfrm>
                <a:prstGeom prst="chevr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dirty="0">
                      <a:solidFill>
                        <a:schemeClr val="bg1"/>
                      </a:solidFill>
                    </a:rPr>
                    <a:t>Data Transform</a:t>
                  </a:r>
                </a:p>
              </p:txBody>
            </p:sp>
            <p:sp>
              <p:nvSpPr>
                <p:cNvPr id="33" name="Arrow: Chevron 32">
                  <a:extLst>
                    <a:ext uri="{FF2B5EF4-FFF2-40B4-BE49-F238E27FC236}">
                      <a16:creationId xmlns:a16="http://schemas.microsoft.com/office/drawing/2014/main" id="{AAC4FF64-89E0-44A6-ADA9-0270F4F4DA31}"/>
                    </a:ext>
                  </a:extLst>
                </p:cNvPr>
                <p:cNvSpPr/>
                <p:nvPr/>
              </p:nvSpPr>
              <p:spPr bwMode="gray">
                <a:xfrm>
                  <a:off x="4026751" y="1925814"/>
                  <a:ext cx="1528516" cy="674160"/>
                </a:xfrm>
                <a:prstGeom prst="chevr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dirty="0">
                      <a:solidFill>
                        <a:schemeClr val="bg1"/>
                      </a:solidFill>
                    </a:rPr>
                    <a:t>Data Load</a:t>
                  </a:r>
                </a:p>
              </p:txBody>
            </p:sp>
            <p:sp>
              <p:nvSpPr>
                <p:cNvPr id="34" name="Arrow: Chevron 33">
                  <a:extLst>
                    <a:ext uri="{FF2B5EF4-FFF2-40B4-BE49-F238E27FC236}">
                      <a16:creationId xmlns:a16="http://schemas.microsoft.com/office/drawing/2014/main" id="{586951FA-1710-4741-987F-7CE2CE27C2FB}"/>
                    </a:ext>
                  </a:extLst>
                </p:cNvPr>
                <p:cNvSpPr/>
                <p:nvPr/>
              </p:nvSpPr>
              <p:spPr bwMode="gray">
                <a:xfrm>
                  <a:off x="5273969" y="1919535"/>
                  <a:ext cx="1528516" cy="674160"/>
                </a:xfrm>
                <a:prstGeom prst="chevr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dirty="0">
                      <a:solidFill>
                        <a:schemeClr val="bg1"/>
                      </a:solidFill>
                    </a:rPr>
                    <a:t>Consume. APIs and Reporting</a:t>
                  </a:r>
                </a:p>
              </p:txBody>
            </p:sp>
          </p:grpSp>
        </p:grpSp>
        <p:pic>
          <p:nvPicPr>
            <p:cNvPr id="6152" name="Picture 8" descr="Related image">
              <a:extLst>
                <a:ext uri="{FF2B5EF4-FFF2-40B4-BE49-F238E27FC236}">
                  <a16:creationId xmlns:a16="http://schemas.microsoft.com/office/drawing/2014/main" id="{62C08F07-9D42-4C78-B992-EE7FD9FD0E94}"/>
                </a:ext>
              </a:extLst>
            </p:cNvPr>
            <p:cNvPicPr>
              <a:picLocks noChangeAspect="1" noChangeArrowheads="1"/>
            </p:cNvPicPr>
            <p:nvPr/>
          </p:nvPicPr>
          <p:blipFill>
            <a:blip r:embed="rId4">
              <a:duotone>
                <a:prstClr val="black"/>
                <a:schemeClr val="accent6">
                  <a:tint val="45000"/>
                  <a:satMod val="400000"/>
                </a:schemeClr>
              </a:duotone>
              <a:extLst>
                <a:ext uri="{BEBA8EAE-BF5A-486C-A8C5-ECC9F3942E4B}">
                  <a14:imgProps xmlns:a14="http://schemas.microsoft.com/office/drawing/2010/main">
                    <a14:imgLayer r:embed="rId5">
                      <a14:imgEffect>
                        <a14:colorTemperature colorTemp="5405"/>
                      </a14:imgEffect>
                      <a14:imgEffect>
                        <a14:saturation sat="156000"/>
                      </a14:imgEffect>
                    </a14:imgLayer>
                  </a14:imgProps>
                </a:ext>
                <a:ext uri="{28A0092B-C50C-407E-A947-70E740481C1C}">
                  <a14:useLocalDpi xmlns:a14="http://schemas.microsoft.com/office/drawing/2010/main" val="0"/>
                </a:ext>
              </a:extLst>
            </a:blip>
            <a:srcRect/>
            <a:stretch>
              <a:fillRect/>
            </a:stretch>
          </p:blipFill>
          <p:spPr bwMode="auto">
            <a:xfrm>
              <a:off x="4013094" y="2982604"/>
              <a:ext cx="588995" cy="523551"/>
            </a:xfrm>
            <a:prstGeom prst="rect">
              <a:avLst/>
            </a:prstGeom>
            <a:noFill/>
            <a:extLst>
              <a:ext uri="{909E8E84-426E-40DD-AFC4-6F175D3DCCD1}">
                <a14:hiddenFill xmlns:a14="http://schemas.microsoft.com/office/drawing/2010/main">
                  <a:solidFill>
                    <a:srgbClr val="FFFFFF"/>
                  </a:solidFill>
                </a14:hiddenFill>
              </a:ext>
            </a:extLst>
          </p:spPr>
        </p:pic>
        <p:sp>
          <p:nvSpPr>
            <p:cNvPr id="111" name="Oval 110">
              <a:extLst>
                <a:ext uri="{FF2B5EF4-FFF2-40B4-BE49-F238E27FC236}">
                  <a16:creationId xmlns:a16="http://schemas.microsoft.com/office/drawing/2014/main" id="{8B3043F3-D353-425F-952B-BDB08B92E3A2}"/>
                </a:ext>
              </a:extLst>
            </p:cNvPr>
            <p:cNvSpPr/>
            <p:nvPr/>
          </p:nvSpPr>
          <p:spPr bwMode="gray">
            <a:xfrm>
              <a:off x="3983289" y="3429557"/>
              <a:ext cx="233465" cy="214009"/>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B</a:t>
              </a:r>
            </a:p>
          </p:txBody>
        </p:sp>
        <p:sp>
          <p:nvSpPr>
            <p:cNvPr id="109" name="TextBox 108">
              <a:extLst>
                <a:ext uri="{FF2B5EF4-FFF2-40B4-BE49-F238E27FC236}">
                  <a16:creationId xmlns:a16="http://schemas.microsoft.com/office/drawing/2014/main" id="{ACD426E8-7BF3-42A5-9CF2-825E0E900F37}"/>
                </a:ext>
              </a:extLst>
            </p:cNvPr>
            <p:cNvSpPr txBox="1"/>
            <p:nvPr/>
          </p:nvSpPr>
          <p:spPr bwMode="gray">
            <a:xfrm>
              <a:off x="4272353" y="3408272"/>
              <a:ext cx="2037189" cy="282358"/>
            </a:xfrm>
            <a:prstGeom prst="rect">
              <a:avLst/>
            </a:prstGeom>
          </p:spPr>
          <p:txBody>
            <a:bodyPr wrap="none" lIns="0" rIns="0" rtlCol="0" anchor="b" anchorCtr="0">
              <a:normAutofit/>
            </a:bodyPr>
            <a:lstStyle/>
            <a:p>
              <a:pPr>
                <a:lnSpc>
                  <a:spcPts val="900"/>
                </a:lnSpc>
              </a:pPr>
              <a:r>
                <a:rPr lang="en-US" sz="800" dirty="0"/>
                <a:t>Encryption in Motion</a:t>
              </a:r>
              <a:endParaRPr lang="en-US" sz="800" dirty="0">
                <a:solidFill>
                  <a:schemeClr val="tx1"/>
                </a:solidFill>
              </a:endParaRPr>
            </a:p>
          </p:txBody>
        </p:sp>
        <p:pic>
          <p:nvPicPr>
            <p:cNvPr id="84" name="Picture 83">
              <a:extLst>
                <a:ext uri="{FF2B5EF4-FFF2-40B4-BE49-F238E27FC236}">
                  <a16:creationId xmlns:a16="http://schemas.microsoft.com/office/drawing/2014/main" id="{E8C20B69-42FB-455A-8E15-3E9F682D0110}"/>
                </a:ext>
              </a:extLst>
            </p:cNvPr>
            <p:cNvPicPr>
              <a:picLocks noChangeAspect="1"/>
            </p:cNvPicPr>
            <p:nvPr/>
          </p:nvPicPr>
          <p:blipFill>
            <a:blip r:embed="rId6">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6222781" y="3474556"/>
              <a:ext cx="452695" cy="452695"/>
            </a:xfrm>
            <a:prstGeom prst="rect">
              <a:avLst/>
            </a:prstGeom>
          </p:spPr>
        </p:pic>
        <p:pic>
          <p:nvPicPr>
            <p:cNvPr id="5122" name="Picture 2" descr="Image result for database encryption">
              <a:extLst>
                <a:ext uri="{FF2B5EF4-FFF2-40B4-BE49-F238E27FC236}">
                  <a16:creationId xmlns:a16="http://schemas.microsoft.com/office/drawing/2014/main" id="{1F58B453-16BA-46B1-B263-09333267F6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8214" y="3237274"/>
              <a:ext cx="398652" cy="39865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20056473"/>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Technology vendor</a:t>
            </a:r>
            <a:r>
              <a:rPr lang="en-US" noProof="0" dirty="0"/>
              <a:t> specific architecture</a:t>
            </a:r>
          </a:p>
        </p:txBody>
      </p:sp>
    </p:spTree>
    <p:extLst>
      <p:ext uri="{BB962C8B-B14F-4D97-AF65-F5344CB8AC3E}">
        <p14:creationId xmlns:p14="http://schemas.microsoft.com/office/powerpoint/2010/main" val="3557559649"/>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6DA4DC-E950-4455-BBF0-70CA00658999}"/>
              </a:ext>
            </a:extLst>
          </p:cNvPr>
          <p:cNvSpPr>
            <a:spLocks noGrp="1"/>
          </p:cNvSpPr>
          <p:nvPr>
            <p:ph type="title"/>
          </p:nvPr>
        </p:nvSpPr>
        <p:spPr/>
        <p:txBody>
          <a:bodyPr/>
          <a:lstStyle/>
          <a:p>
            <a:r>
              <a:rPr lang="en-US" dirty="0"/>
              <a:t>Technology vendor architectures</a:t>
            </a:r>
          </a:p>
        </p:txBody>
      </p:sp>
      <p:sp>
        <p:nvSpPr>
          <p:cNvPr id="2" name="Text Placeholder 1">
            <a:extLst>
              <a:ext uri="{FF2B5EF4-FFF2-40B4-BE49-F238E27FC236}">
                <a16:creationId xmlns:a16="http://schemas.microsoft.com/office/drawing/2014/main" id="{41230350-031D-4420-B281-D05BC69E4CD2}"/>
              </a:ext>
            </a:extLst>
          </p:cNvPr>
          <p:cNvSpPr>
            <a:spLocks noGrp="1"/>
          </p:cNvSpPr>
          <p:nvPr>
            <p:ph sz="quarter" idx="4294967295"/>
          </p:nvPr>
        </p:nvSpPr>
        <p:spPr>
          <a:xfrm>
            <a:off x="8068469" y="2247900"/>
            <a:ext cx="3653631" cy="2872515"/>
          </a:xfrm>
        </p:spPr>
        <p:txBody>
          <a:bodyPr/>
          <a:lstStyle/>
          <a:p>
            <a:r>
              <a:rPr lang="en-US" sz="1100" dirty="0">
                <a:solidFill>
                  <a:schemeClr val="tx1"/>
                </a:solidFill>
              </a:rPr>
              <a:t>The On-demand software, platform and infrastructure services is an attractive proposition to customer from the cloud vendors namely— Amazon Web Services, Azure and Google Cloud Services. </a:t>
            </a:r>
          </a:p>
          <a:p>
            <a:r>
              <a:rPr lang="en-US" sz="1100" dirty="0">
                <a:solidFill>
                  <a:schemeClr val="tx1"/>
                </a:solidFill>
              </a:rPr>
              <a:t>On-demand SaaS and PaaS platforms provide elasticity to scale up and down reducing the platform and software costs. Cloud based data and analytics platform can be build as a hybrid cloud or cloud native platform.</a:t>
            </a:r>
          </a:p>
          <a:p>
            <a:r>
              <a:rPr lang="en-US" sz="1100" dirty="0">
                <a:solidFill>
                  <a:schemeClr val="tx1"/>
                </a:solidFill>
              </a:rPr>
              <a:t>Adoption of cloud poses Security, Integration and, Cost Management challenges. Additional security architecture patterns must be implemented to secure sensitive data. </a:t>
            </a:r>
          </a:p>
          <a:p>
            <a:endParaRPr lang="en-US" sz="1050" dirty="0"/>
          </a:p>
        </p:txBody>
      </p:sp>
      <p:grpSp>
        <p:nvGrpSpPr>
          <p:cNvPr id="39" name="Group 38">
            <a:extLst>
              <a:ext uri="{FF2B5EF4-FFF2-40B4-BE49-F238E27FC236}">
                <a16:creationId xmlns:a16="http://schemas.microsoft.com/office/drawing/2014/main" id="{5CF208B6-86C1-4D2F-BE8A-B0F4F2F3FC92}"/>
              </a:ext>
            </a:extLst>
          </p:cNvPr>
          <p:cNvGrpSpPr/>
          <p:nvPr/>
        </p:nvGrpSpPr>
        <p:grpSpPr>
          <a:xfrm>
            <a:off x="422734" y="1859154"/>
            <a:ext cx="7349207" cy="3704567"/>
            <a:chOff x="658101" y="2116061"/>
            <a:chExt cx="7349207" cy="3704567"/>
          </a:xfrm>
        </p:grpSpPr>
        <p:sp>
          <p:nvSpPr>
            <p:cNvPr id="6" name="Rectangle: Rounded Corners 5">
              <a:extLst>
                <a:ext uri="{FF2B5EF4-FFF2-40B4-BE49-F238E27FC236}">
                  <a16:creationId xmlns:a16="http://schemas.microsoft.com/office/drawing/2014/main" id="{EE847DB2-925A-4521-9DFD-35BDECEF4C33}"/>
                </a:ext>
              </a:extLst>
            </p:cNvPr>
            <p:cNvSpPr/>
            <p:nvPr/>
          </p:nvSpPr>
          <p:spPr bwMode="gray">
            <a:xfrm>
              <a:off x="2041078" y="2138282"/>
              <a:ext cx="4457000" cy="3682346"/>
            </a:xfrm>
            <a:prstGeom prst="roundRect">
              <a:avLst/>
            </a:prstGeom>
            <a:solidFill>
              <a:schemeClr val="bg1">
                <a:lumMod val="85000"/>
              </a:scheme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b="1" dirty="0">
                <a:solidFill>
                  <a:schemeClr val="bg1"/>
                </a:solidFill>
              </a:endParaRPr>
            </a:p>
          </p:txBody>
        </p:sp>
        <p:sp>
          <p:nvSpPr>
            <p:cNvPr id="34" name="Rectangle: Rounded Corners 33">
              <a:extLst>
                <a:ext uri="{FF2B5EF4-FFF2-40B4-BE49-F238E27FC236}">
                  <a16:creationId xmlns:a16="http://schemas.microsoft.com/office/drawing/2014/main" id="{D7806360-E526-4520-8779-5E07B7AA956C}"/>
                </a:ext>
              </a:extLst>
            </p:cNvPr>
            <p:cNvSpPr/>
            <p:nvPr/>
          </p:nvSpPr>
          <p:spPr bwMode="gray">
            <a:xfrm>
              <a:off x="2154893" y="2233522"/>
              <a:ext cx="2118422" cy="3508421"/>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 name="Rectangle: Rounded Corners 3">
              <a:extLst>
                <a:ext uri="{FF2B5EF4-FFF2-40B4-BE49-F238E27FC236}">
                  <a16:creationId xmlns:a16="http://schemas.microsoft.com/office/drawing/2014/main" id="{14E89AE4-F510-4F4F-9E65-77ECCBA8E50D}"/>
                </a:ext>
              </a:extLst>
            </p:cNvPr>
            <p:cNvSpPr/>
            <p:nvPr/>
          </p:nvSpPr>
          <p:spPr bwMode="gray">
            <a:xfrm>
              <a:off x="768485" y="2249064"/>
              <a:ext cx="1211038" cy="1035398"/>
            </a:xfrm>
            <a:prstGeom prst="round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t>Cloud Consumer</a:t>
              </a:r>
            </a:p>
          </p:txBody>
        </p:sp>
        <p:sp>
          <p:nvSpPr>
            <p:cNvPr id="5" name="Rectangle: Rounded Corners 4">
              <a:extLst>
                <a:ext uri="{FF2B5EF4-FFF2-40B4-BE49-F238E27FC236}">
                  <a16:creationId xmlns:a16="http://schemas.microsoft.com/office/drawing/2014/main" id="{33D2D9C9-0928-4E0C-B596-C8B40C2D0160}"/>
                </a:ext>
              </a:extLst>
            </p:cNvPr>
            <p:cNvSpPr/>
            <p:nvPr/>
          </p:nvSpPr>
          <p:spPr bwMode="gray">
            <a:xfrm>
              <a:off x="768485" y="3534628"/>
              <a:ext cx="1211038" cy="2285999"/>
            </a:xfrm>
            <a:prstGeom prst="round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b="1" dirty="0">
                <a:solidFill>
                  <a:schemeClr val="bg1"/>
                </a:solidFill>
              </a:endParaRPr>
            </a:p>
          </p:txBody>
        </p:sp>
        <p:sp>
          <p:nvSpPr>
            <p:cNvPr id="7" name="Rectangle: Rounded Corners 6">
              <a:extLst>
                <a:ext uri="{FF2B5EF4-FFF2-40B4-BE49-F238E27FC236}">
                  <a16:creationId xmlns:a16="http://schemas.microsoft.com/office/drawing/2014/main" id="{EBD70827-CA25-4167-93AB-890CBF31A066}"/>
                </a:ext>
              </a:extLst>
            </p:cNvPr>
            <p:cNvSpPr/>
            <p:nvPr/>
          </p:nvSpPr>
          <p:spPr bwMode="gray">
            <a:xfrm>
              <a:off x="2212321" y="2512396"/>
              <a:ext cx="2017479" cy="1561382"/>
            </a:xfrm>
            <a:prstGeom prst="round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8" name="Rectangle 7">
              <a:extLst>
                <a:ext uri="{FF2B5EF4-FFF2-40B4-BE49-F238E27FC236}">
                  <a16:creationId xmlns:a16="http://schemas.microsoft.com/office/drawing/2014/main" id="{6FD440CE-3803-4ED7-AB42-3B5829347BB2}"/>
                </a:ext>
              </a:extLst>
            </p:cNvPr>
            <p:cNvSpPr/>
            <p:nvPr/>
          </p:nvSpPr>
          <p:spPr bwMode="gray">
            <a:xfrm>
              <a:off x="2346297" y="2805696"/>
              <a:ext cx="1621766" cy="327804"/>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bg1"/>
                  </a:solidFill>
                </a:rPr>
                <a:t>SaaS</a:t>
              </a:r>
            </a:p>
          </p:txBody>
        </p:sp>
        <p:sp>
          <p:nvSpPr>
            <p:cNvPr id="9" name="Rectangle 8">
              <a:extLst>
                <a:ext uri="{FF2B5EF4-FFF2-40B4-BE49-F238E27FC236}">
                  <a16:creationId xmlns:a16="http://schemas.microsoft.com/office/drawing/2014/main" id="{FA0C973C-6E31-4297-87D3-418004E2011A}"/>
                </a:ext>
              </a:extLst>
            </p:cNvPr>
            <p:cNvSpPr/>
            <p:nvPr/>
          </p:nvSpPr>
          <p:spPr bwMode="gray">
            <a:xfrm>
              <a:off x="2346296" y="3206824"/>
              <a:ext cx="1345721" cy="327804"/>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000" b="1" dirty="0">
                  <a:solidFill>
                    <a:schemeClr val="bg1"/>
                  </a:solidFill>
                </a:rPr>
                <a:t>PaaS</a:t>
              </a:r>
            </a:p>
          </p:txBody>
        </p:sp>
        <p:sp>
          <p:nvSpPr>
            <p:cNvPr id="10" name="Rectangle 9">
              <a:extLst>
                <a:ext uri="{FF2B5EF4-FFF2-40B4-BE49-F238E27FC236}">
                  <a16:creationId xmlns:a16="http://schemas.microsoft.com/office/drawing/2014/main" id="{E384C6C6-D4D1-49A4-BF8C-FC0B453492B8}"/>
                </a:ext>
              </a:extLst>
            </p:cNvPr>
            <p:cNvSpPr/>
            <p:nvPr/>
          </p:nvSpPr>
          <p:spPr bwMode="gray">
            <a:xfrm>
              <a:off x="2346296" y="3624203"/>
              <a:ext cx="914401" cy="327804"/>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000" b="1" dirty="0">
                  <a:solidFill>
                    <a:schemeClr val="bg1"/>
                  </a:solidFill>
                </a:rPr>
                <a:t>IaaS</a:t>
              </a:r>
            </a:p>
          </p:txBody>
        </p:sp>
        <p:sp>
          <p:nvSpPr>
            <p:cNvPr id="11" name="Rectangle 10">
              <a:extLst>
                <a:ext uri="{FF2B5EF4-FFF2-40B4-BE49-F238E27FC236}">
                  <a16:creationId xmlns:a16="http://schemas.microsoft.com/office/drawing/2014/main" id="{B76C5DC8-02B7-4585-81F3-920E295AB247}"/>
                </a:ext>
              </a:extLst>
            </p:cNvPr>
            <p:cNvSpPr/>
            <p:nvPr/>
          </p:nvSpPr>
          <p:spPr bwMode="gray">
            <a:xfrm>
              <a:off x="3748089" y="2805696"/>
              <a:ext cx="362310" cy="1146311"/>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endParaRPr lang="en-US" sz="1000" b="1" dirty="0">
                <a:solidFill>
                  <a:schemeClr val="bg1"/>
                </a:solidFill>
              </a:endParaRPr>
            </a:p>
          </p:txBody>
        </p:sp>
        <p:sp>
          <p:nvSpPr>
            <p:cNvPr id="12" name="Rectangle 11">
              <a:extLst>
                <a:ext uri="{FF2B5EF4-FFF2-40B4-BE49-F238E27FC236}">
                  <a16:creationId xmlns:a16="http://schemas.microsoft.com/office/drawing/2014/main" id="{350031A7-8AFB-46B7-94D6-DC870AFACE66}"/>
                </a:ext>
              </a:extLst>
            </p:cNvPr>
            <p:cNvSpPr/>
            <p:nvPr/>
          </p:nvSpPr>
          <p:spPr bwMode="gray">
            <a:xfrm>
              <a:off x="3329708" y="3206824"/>
              <a:ext cx="362310" cy="745183"/>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endParaRPr lang="en-US" sz="1000" b="1" dirty="0">
                <a:solidFill>
                  <a:schemeClr val="bg1"/>
                </a:solidFill>
              </a:endParaRPr>
            </a:p>
          </p:txBody>
        </p:sp>
        <p:sp>
          <p:nvSpPr>
            <p:cNvPr id="13" name="Rectangle: Rounded Corners 12">
              <a:extLst>
                <a:ext uri="{FF2B5EF4-FFF2-40B4-BE49-F238E27FC236}">
                  <a16:creationId xmlns:a16="http://schemas.microsoft.com/office/drawing/2014/main" id="{985DF77B-D687-47BE-B85D-14D7E1D6B4C2}"/>
                </a:ext>
              </a:extLst>
            </p:cNvPr>
            <p:cNvSpPr/>
            <p:nvPr/>
          </p:nvSpPr>
          <p:spPr bwMode="gray">
            <a:xfrm>
              <a:off x="2212320" y="4614321"/>
              <a:ext cx="2017480" cy="1077040"/>
            </a:xfrm>
            <a:prstGeom prst="round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dirty="0">
                <a:solidFill>
                  <a:schemeClr val="bg1"/>
                </a:solidFill>
              </a:endParaRPr>
            </a:p>
          </p:txBody>
        </p:sp>
        <p:sp>
          <p:nvSpPr>
            <p:cNvPr id="14" name="Rectangle 13">
              <a:extLst>
                <a:ext uri="{FF2B5EF4-FFF2-40B4-BE49-F238E27FC236}">
                  <a16:creationId xmlns:a16="http://schemas.microsoft.com/office/drawing/2014/main" id="{4BC46071-A637-40C3-831C-A40CB9F34E13}"/>
                </a:ext>
              </a:extLst>
            </p:cNvPr>
            <p:cNvSpPr/>
            <p:nvPr/>
          </p:nvSpPr>
          <p:spPr bwMode="gray">
            <a:xfrm>
              <a:off x="2552513" y="4730818"/>
              <a:ext cx="1337094" cy="31917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000" dirty="0">
                  <a:solidFill>
                    <a:schemeClr val="bg1"/>
                  </a:solidFill>
                </a:rPr>
                <a:t>Hardware</a:t>
              </a:r>
            </a:p>
          </p:txBody>
        </p:sp>
        <p:sp>
          <p:nvSpPr>
            <p:cNvPr id="15" name="Rectangle 14">
              <a:extLst>
                <a:ext uri="{FF2B5EF4-FFF2-40B4-BE49-F238E27FC236}">
                  <a16:creationId xmlns:a16="http://schemas.microsoft.com/office/drawing/2014/main" id="{EA66588F-D18A-49D3-92BC-3FB013B90C7B}"/>
                </a:ext>
              </a:extLst>
            </p:cNvPr>
            <p:cNvSpPr/>
            <p:nvPr/>
          </p:nvSpPr>
          <p:spPr bwMode="gray">
            <a:xfrm>
              <a:off x="2552513" y="5198701"/>
              <a:ext cx="1337094" cy="31917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000" dirty="0">
                  <a:solidFill>
                    <a:schemeClr val="bg1"/>
                  </a:solidFill>
                </a:rPr>
                <a:t>Facility</a:t>
              </a:r>
            </a:p>
          </p:txBody>
        </p:sp>
        <p:sp>
          <p:nvSpPr>
            <p:cNvPr id="16" name="Rectangle: Rounded Corners 15">
              <a:extLst>
                <a:ext uri="{FF2B5EF4-FFF2-40B4-BE49-F238E27FC236}">
                  <a16:creationId xmlns:a16="http://schemas.microsoft.com/office/drawing/2014/main" id="{2AF4749D-9F1E-40BA-9944-B27740C8BE5D}"/>
                </a:ext>
              </a:extLst>
            </p:cNvPr>
            <p:cNvSpPr/>
            <p:nvPr/>
          </p:nvSpPr>
          <p:spPr bwMode="gray">
            <a:xfrm>
              <a:off x="2212321" y="4171277"/>
              <a:ext cx="2017480" cy="366102"/>
            </a:xfrm>
            <a:prstGeom prst="round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Resource Abstraction &amp; Control Layer</a:t>
              </a:r>
            </a:p>
          </p:txBody>
        </p:sp>
        <p:sp>
          <p:nvSpPr>
            <p:cNvPr id="17" name="Rectangle: Rounded Corners 16">
              <a:extLst>
                <a:ext uri="{FF2B5EF4-FFF2-40B4-BE49-F238E27FC236}">
                  <a16:creationId xmlns:a16="http://schemas.microsoft.com/office/drawing/2014/main" id="{14016793-EAA2-4B30-BF62-C3623E81CE98}"/>
                </a:ext>
              </a:extLst>
            </p:cNvPr>
            <p:cNvSpPr/>
            <p:nvPr/>
          </p:nvSpPr>
          <p:spPr bwMode="gray">
            <a:xfrm>
              <a:off x="4323851" y="2513913"/>
              <a:ext cx="1351256" cy="3178965"/>
            </a:xfrm>
            <a:prstGeom prst="round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dirty="0">
                <a:solidFill>
                  <a:schemeClr val="bg1"/>
                </a:solidFill>
              </a:endParaRPr>
            </a:p>
          </p:txBody>
        </p:sp>
        <p:sp>
          <p:nvSpPr>
            <p:cNvPr id="18" name="Rectangle 17">
              <a:extLst>
                <a:ext uri="{FF2B5EF4-FFF2-40B4-BE49-F238E27FC236}">
                  <a16:creationId xmlns:a16="http://schemas.microsoft.com/office/drawing/2014/main" id="{E231F645-563C-4FD4-B86F-A3CEB8F886FB}"/>
                </a:ext>
              </a:extLst>
            </p:cNvPr>
            <p:cNvSpPr/>
            <p:nvPr/>
          </p:nvSpPr>
          <p:spPr bwMode="gray">
            <a:xfrm>
              <a:off x="4407290" y="2995590"/>
              <a:ext cx="1185988"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Business Support</a:t>
              </a:r>
            </a:p>
          </p:txBody>
        </p:sp>
        <p:sp>
          <p:nvSpPr>
            <p:cNvPr id="19" name="Rectangle 18">
              <a:extLst>
                <a:ext uri="{FF2B5EF4-FFF2-40B4-BE49-F238E27FC236}">
                  <a16:creationId xmlns:a16="http://schemas.microsoft.com/office/drawing/2014/main" id="{FAD7AE63-AF95-4AAC-9B31-801DF93BAA22}"/>
                </a:ext>
              </a:extLst>
            </p:cNvPr>
            <p:cNvSpPr/>
            <p:nvPr/>
          </p:nvSpPr>
          <p:spPr bwMode="gray">
            <a:xfrm>
              <a:off x="4387924" y="3944832"/>
              <a:ext cx="1185988"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Provisioning/ Configuration</a:t>
              </a:r>
            </a:p>
          </p:txBody>
        </p:sp>
        <p:sp>
          <p:nvSpPr>
            <p:cNvPr id="20" name="Rectangle 19">
              <a:extLst>
                <a:ext uri="{FF2B5EF4-FFF2-40B4-BE49-F238E27FC236}">
                  <a16:creationId xmlns:a16="http://schemas.microsoft.com/office/drawing/2014/main" id="{F20A03E5-F23C-43D7-AB81-E6A93861B3B8}"/>
                </a:ext>
              </a:extLst>
            </p:cNvPr>
            <p:cNvSpPr/>
            <p:nvPr/>
          </p:nvSpPr>
          <p:spPr bwMode="gray">
            <a:xfrm>
              <a:off x="4387924" y="4790943"/>
              <a:ext cx="1185988"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Portability/ Interoperability</a:t>
              </a:r>
            </a:p>
          </p:txBody>
        </p:sp>
        <p:sp>
          <p:nvSpPr>
            <p:cNvPr id="21" name="Rectangle: Rounded Corners 20">
              <a:extLst>
                <a:ext uri="{FF2B5EF4-FFF2-40B4-BE49-F238E27FC236}">
                  <a16:creationId xmlns:a16="http://schemas.microsoft.com/office/drawing/2014/main" id="{E1DF2437-B611-40F3-BB04-926FA2048791}"/>
                </a:ext>
              </a:extLst>
            </p:cNvPr>
            <p:cNvSpPr/>
            <p:nvPr/>
          </p:nvSpPr>
          <p:spPr bwMode="gray">
            <a:xfrm>
              <a:off x="6092198" y="2474163"/>
              <a:ext cx="260631" cy="3178965"/>
            </a:xfrm>
            <a:prstGeom prst="roundRect">
              <a:avLst/>
            </a:prstGeom>
            <a:solidFill>
              <a:schemeClr val="accent1">
                <a:lumMod val="60000"/>
                <a:lumOff val="40000"/>
              </a:schemeClr>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000" dirty="0">
                  <a:solidFill>
                    <a:schemeClr val="bg1"/>
                  </a:solidFill>
                </a:rPr>
                <a:t>Privacy</a:t>
              </a:r>
            </a:p>
          </p:txBody>
        </p:sp>
        <p:sp>
          <p:nvSpPr>
            <p:cNvPr id="22" name="Rectangle: Rounded Corners 21">
              <a:extLst>
                <a:ext uri="{FF2B5EF4-FFF2-40B4-BE49-F238E27FC236}">
                  <a16:creationId xmlns:a16="http://schemas.microsoft.com/office/drawing/2014/main" id="{F7B27A69-907B-45B5-A3A9-DFFCC75178D7}"/>
                </a:ext>
              </a:extLst>
            </p:cNvPr>
            <p:cNvSpPr/>
            <p:nvPr/>
          </p:nvSpPr>
          <p:spPr bwMode="gray">
            <a:xfrm>
              <a:off x="5749636" y="2502263"/>
              <a:ext cx="253569" cy="3178965"/>
            </a:xfrm>
            <a:prstGeom prst="roundRect">
              <a:avLst/>
            </a:prstGeom>
            <a:solidFill>
              <a:schemeClr val="accent1">
                <a:lumMod val="60000"/>
                <a:lumOff val="40000"/>
              </a:schemeClr>
            </a:solid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000" dirty="0">
                  <a:solidFill>
                    <a:schemeClr val="bg1"/>
                  </a:solidFill>
                </a:rPr>
                <a:t>Security</a:t>
              </a:r>
            </a:p>
          </p:txBody>
        </p:sp>
        <p:sp>
          <p:nvSpPr>
            <p:cNvPr id="23" name="TextBox 22">
              <a:extLst>
                <a:ext uri="{FF2B5EF4-FFF2-40B4-BE49-F238E27FC236}">
                  <a16:creationId xmlns:a16="http://schemas.microsoft.com/office/drawing/2014/main" id="{30656436-1B38-4897-97C8-DB53F06B8BEB}"/>
                </a:ext>
              </a:extLst>
            </p:cNvPr>
            <p:cNvSpPr txBox="1"/>
            <p:nvPr/>
          </p:nvSpPr>
          <p:spPr bwMode="gray">
            <a:xfrm>
              <a:off x="3607251" y="2116061"/>
              <a:ext cx="2586548" cy="368234"/>
            </a:xfrm>
            <a:prstGeom prst="rect">
              <a:avLst/>
            </a:prstGeom>
          </p:spPr>
          <p:txBody>
            <a:bodyPr wrap="square" lIns="0" rIns="0" rtlCol="0" anchor="b" anchorCtr="0">
              <a:normAutofit/>
            </a:bodyPr>
            <a:lstStyle/>
            <a:p>
              <a:pPr algn="ctr">
                <a:lnSpc>
                  <a:spcPts val="900"/>
                </a:lnSpc>
              </a:pPr>
              <a:r>
                <a:rPr lang="en-US" sz="1000" b="1" dirty="0"/>
                <a:t>Cloud Provider</a:t>
              </a:r>
            </a:p>
          </p:txBody>
        </p:sp>
        <p:sp>
          <p:nvSpPr>
            <p:cNvPr id="24" name="Rectangle: Rounded Corners 23">
              <a:extLst>
                <a:ext uri="{FF2B5EF4-FFF2-40B4-BE49-F238E27FC236}">
                  <a16:creationId xmlns:a16="http://schemas.microsoft.com/office/drawing/2014/main" id="{7392B94A-1215-4EF1-99EC-0CB26D0410AC}"/>
                </a:ext>
              </a:extLst>
            </p:cNvPr>
            <p:cNvSpPr/>
            <p:nvPr/>
          </p:nvSpPr>
          <p:spPr bwMode="gray">
            <a:xfrm flipH="1">
              <a:off x="6524757" y="2138281"/>
              <a:ext cx="1449639" cy="3682347"/>
            </a:xfrm>
            <a:prstGeom prst="roundRect">
              <a:avLst/>
            </a:prstGeom>
            <a:solidFill>
              <a:schemeClr val="bg1">
                <a:lumMod val="85000"/>
              </a:schemeClr>
            </a:solidFill>
            <a:ln w="19050" algn="ctr">
              <a:noFill/>
              <a:miter lim="800000"/>
              <a:headEnd/>
              <a:tailEnd/>
            </a:ln>
          </p:spPr>
          <p:txBody>
            <a:bodyPr wrap="square" lIns="88900" tIns="88900" rIns="88900" bIns="88900" rtlCol="0" anchor="t"/>
            <a:lstStyle/>
            <a:p>
              <a:pPr algn="ctr">
                <a:lnSpc>
                  <a:spcPct val="106000"/>
                </a:lnSpc>
                <a:buFont typeface="Wingdings 2" pitchFamily="18" charset="2"/>
                <a:buNone/>
              </a:pPr>
              <a:endParaRPr lang="en-US" sz="1600" dirty="0">
                <a:solidFill>
                  <a:schemeClr val="bg1"/>
                </a:solidFill>
              </a:endParaRPr>
            </a:p>
          </p:txBody>
        </p:sp>
        <p:sp>
          <p:nvSpPr>
            <p:cNvPr id="25" name="Rectangle 24">
              <a:extLst>
                <a:ext uri="{FF2B5EF4-FFF2-40B4-BE49-F238E27FC236}">
                  <a16:creationId xmlns:a16="http://schemas.microsoft.com/office/drawing/2014/main" id="{C4B150B2-F578-43A2-993A-72EE8B4E155A}"/>
                </a:ext>
              </a:extLst>
            </p:cNvPr>
            <p:cNvSpPr/>
            <p:nvPr/>
          </p:nvSpPr>
          <p:spPr bwMode="gray">
            <a:xfrm>
              <a:off x="6582353" y="3796724"/>
              <a:ext cx="1292605"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Service Aggregation</a:t>
              </a:r>
            </a:p>
          </p:txBody>
        </p:sp>
        <p:sp>
          <p:nvSpPr>
            <p:cNvPr id="26" name="Rectangle 25">
              <a:extLst>
                <a:ext uri="{FF2B5EF4-FFF2-40B4-BE49-F238E27FC236}">
                  <a16:creationId xmlns:a16="http://schemas.microsoft.com/office/drawing/2014/main" id="{8BB17FA7-9397-42DA-8F0A-B838C3DD29B8}"/>
                </a:ext>
              </a:extLst>
            </p:cNvPr>
            <p:cNvSpPr/>
            <p:nvPr/>
          </p:nvSpPr>
          <p:spPr bwMode="gray">
            <a:xfrm>
              <a:off x="6594469" y="3202700"/>
              <a:ext cx="1292605"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Service Intermediation</a:t>
              </a:r>
            </a:p>
          </p:txBody>
        </p:sp>
        <p:sp>
          <p:nvSpPr>
            <p:cNvPr id="27" name="Rectangle 26">
              <a:extLst>
                <a:ext uri="{FF2B5EF4-FFF2-40B4-BE49-F238E27FC236}">
                  <a16:creationId xmlns:a16="http://schemas.microsoft.com/office/drawing/2014/main" id="{AE72481A-CDB6-424B-855A-C63BEDC63F24}"/>
                </a:ext>
              </a:extLst>
            </p:cNvPr>
            <p:cNvSpPr/>
            <p:nvPr/>
          </p:nvSpPr>
          <p:spPr bwMode="gray">
            <a:xfrm>
              <a:off x="6591383" y="4463053"/>
              <a:ext cx="1283576"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Service Arbitration</a:t>
              </a:r>
            </a:p>
          </p:txBody>
        </p:sp>
        <p:sp>
          <p:nvSpPr>
            <p:cNvPr id="28" name="TextBox 27">
              <a:extLst>
                <a:ext uri="{FF2B5EF4-FFF2-40B4-BE49-F238E27FC236}">
                  <a16:creationId xmlns:a16="http://schemas.microsoft.com/office/drawing/2014/main" id="{B17B0E26-D903-428A-BF1B-6112E201675C}"/>
                </a:ext>
              </a:extLst>
            </p:cNvPr>
            <p:cNvSpPr txBox="1"/>
            <p:nvPr/>
          </p:nvSpPr>
          <p:spPr bwMode="gray">
            <a:xfrm>
              <a:off x="6557668" y="2222224"/>
              <a:ext cx="1449640" cy="368234"/>
            </a:xfrm>
            <a:prstGeom prst="rect">
              <a:avLst/>
            </a:prstGeom>
          </p:spPr>
          <p:txBody>
            <a:bodyPr wrap="square" lIns="0" rIns="0" rtlCol="0" anchor="b" anchorCtr="0">
              <a:normAutofit/>
            </a:bodyPr>
            <a:lstStyle>
              <a:defPPr>
                <a:defRPr lang="en-US"/>
              </a:defPPr>
              <a:lvl1pPr algn="ctr">
                <a:lnSpc>
                  <a:spcPts val="900"/>
                </a:lnSpc>
                <a:defRPr sz="1000" b="1"/>
              </a:lvl1pPr>
            </a:lstStyle>
            <a:p>
              <a:r>
                <a:rPr lang="en-US" dirty="0"/>
                <a:t>Cloud Broker</a:t>
              </a:r>
            </a:p>
          </p:txBody>
        </p:sp>
        <p:sp>
          <p:nvSpPr>
            <p:cNvPr id="29" name="TextBox 28">
              <a:extLst>
                <a:ext uri="{FF2B5EF4-FFF2-40B4-BE49-F238E27FC236}">
                  <a16:creationId xmlns:a16="http://schemas.microsoft.com/office/drawing/2014/main" id="{60846C68-AE65-4886-8534-632943B33E66}"/>
                </a:ext>
              </a:extLst>
            </p:cNvPr>
            <p:cNvSpPr txBox="1"/>
            <p:nvPr/>
          </p:nvSpPr>
          <p:spPr bwMode="gray">
            <a:xfrm>
              <a:off x="658101" y="3477905"/>
              <a:ext cx="1479432" cy="368234"/>
            </a:xfrm>
            <a:prstGeom prst="rect">
              <a:avLst/>
            </a:prstGeom>
          </p:spPr>
          <p:txBody>
            <a:bodyPr wrap="square" lIns="0" rIns="0" rtlCol="0" anchor="b" anchorCtr="0">
              <a:normAutofit/>
            </a:bodyPr>
            <a:lstStyle/>
            <a:p>
              <a:pPr algn="ctr">
                <a:lnSpc>
                  <a:spcPts val="900"/>
                </a:lnSpc>
              </a:pPr>
              <a:r>
                <a:rPr lang="en-US" sz="1000" b="1" dirty="0"/>
                <a:t>Cloud Auditor</a:t>
              </a:r>
            </a:p>
          </p:txBody>
        </p:sp>
        <p:sp>
          <p:nvSpPr>
            <p:cNvPr id="30" name="Rectangle 29">
              <a:extLst>
                <a:ext uri="{FF2B5EF4-FFF2-40B4-BE49-F238E27FC236}">
                  <a16:creationId xmlns:a16="http://schemas.microsoft.com/office/drawing/2014/main" id="{753DAB3A-BAD2-4593-81EF-C8C15A9A2A8C}"/>
                </a:ext>
              </a:extLst>
            </p:cNvPr>
            <p:cNvSpPr/>
            <p:nvPr/>
          </p:nvSpPr>
          <p:spPr bwMode="gray">
            <a:xfrm>
              <a:off x="846306" y="3944833"/>
              <a:ext cx="1103023"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000" dirty="0">
                  <a:solidFill>
                    <a:schemeClr val="bg1"/>
                  </a:solidFill>
                </a:rPr>
                <a:t>Security Audit</a:t>
              </a:r>
            </a:p>
          </p:txBody>
        </p:sp>
        <p:sp>
          <p:nvSpPr>
            <p:cNvPr id="31" name="Rectangle 30">
              <a:extLst>
                <a:ext uri="{FF2B5EF4-FFF2-40B4-BE49-F238E27FC236}">
                  <a16:creationId xmlns:a16="http://schemas.microsoft.com/office/drawing/2014/main" id="{C6553561-2F4A-407A-9000-9B755DE0B8A2}"/>
                </a:ext>
              </a:extLst>
            </p:cNvPr>
            <p:cNvSpPr/>
            <p:nvPr/>
          </p:nvSpPr>
          <p:spPr bwMode="gray">
            <a:xfrm>
              <a:off x="845670" y="5152841"/>
              <a:ext cx="1073467"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Performance Audit</a:t>
              </a:r>
            </a:p>
          </p:txBody>
        </p:sp>
        <p:sp>
          <p:nvSpPr>
            <p:cNvPr id="32" name="Rectangle 31">
              <a:extLst>
                <a:ext uri="{FF2B5EF4-FFF2-40B4-BE49-F238E27FC236}">
                  <a16:creationId xmlns:a16="http://schemas.microsoft.com/office/drawing/2014/main" id="{D02F78CE-6659-4F7A-A61E-C9EC88785668}"/>
                </a:ext>
              </a:extLst>
            </p:cNvPr>
            <p:cNvSpPr/>
            <p:nvPr/>
          </p:nvSpPr>
          <p:spPr bwMode="gray">
            <a:xfrm>
              <a:off x="846306" y="4548837"/>
              <a:ext cx="1073467" cy="452887"/>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en-US" sz="1000" dirty="0">
                  <a:solidFill>
                    <a:schemeClr val="bg1"/>
                  </a:solidFill>
                </a:rPr>
                <a:t>Privacy Impact Audit</a:t>
              </a:r>
            </a:p>
          </p:txBody>
        </p:sp>
        <p:sp>
          <p:nvSpPr>
            <p:cNvPr id="33" name="TextBox 32">
              <a:extLst>
                <a:ext uri="{FF2B5EF4-FFF2-40B4-BE49-F238E27FC236}">
                  <a16:creationId xmlns:a16="http://schemas.microsoft.com/office/drawing/2014/main" id="{423A61CF-E547-4D2A-BC26-88C7101CEF69}"/>
                </a:ext>
              </a:extLst>
            </p:cNvPr>
            <p:cNvSpPr txBox="1"/>
            <p:nvPr/>
          </p:nvSpPr>
          <p:spPr bwMode="gray">
            <a:xfrm>
              <a:off x="2329947" y="2591525"/>
              <a:ext cx="1040860" cy="309260"/>
            </a:xfrm>
            <a:prstGeom prst="rect">
              <a:avLst/>
            </a:prstGeom>
          </p:spPr>
          <p:txBody>
            <a:bodyPr wrap="square" lIns="0" rIns="0" rtlCol="0" anchor="ctr" anchorCtr="0">
              <a:normAutofit/>
            </a:bodyPr>
            <a:lstStyle/>
            <a:p>
              <a:pPr algn="ctr">
                <a:lnSpc>
                  <a:spcPts val="900"/>
                </a:lnSpc>
              </a:pPr>
              <a:r>
                <a:rPr lang="en-US" sz="1000" b="1" dirty="0">
                  <a:solidFill>
                    <a:schemeClr val="tx1"/>
                  </a:solidFill>
                </a:rPr>
                <a:t>Service Layer</a:t>
              </a:r>
            </a:p>
          </p:txBody>
        </p:sp>
        <p:sp>
          <p:nvSpPr>
            <p:cNvPr id="35" name="TextBox 34">
              <a:extLst>
                <a:ext uri="{FF2B5EF4-FFF2-40B4-BE49-F238E27FC236}">
                  <a16:creationId xmlns:a16="http://schemas.microsoft.com/office/drawing/2014/main" id="{C8E6AEC5-3D42-434E-9DDE-AA759FA31B5D}"/>
                </a:ext>
              </a:extLst>
            </p:cNvPr>
            <p:cNvSpPr txBox="1"/>
            <p:nvPr/>
          </p:nvSpPr>
          <p:spPr bwMode="gray">
            <a:xfrm>
              <a:off x="2498949" y="2200749"/>
              <a:ext cx="1603190" cy="364466"/>
            </a:xfrm>
            <a:prstGeom prst="rect">
              <a:avLst/>
            </a:prstGeom>
          </p:spPr>
          <p:txBody>
            <a:bodyPr wrap="square" lIns="0" rIns="0" rtlCol="0" anchor="ctr" anchorCtr="0">
              <a:normAutofit/>
            </a:bodyPr>
            <a:lstStyle/>
            <a:p>
              <a:pPr>
                <a:lnSpc>
                  <a:spcPts val="900"/>
                </a:lnSpc>
              </a:pPr>
              <a:r>
                <a:rPr lang="en-US" sz="1000" b="1" dirty="0">
                  <a:solidFill>
                    <a:schemeClr val="tx1"/>
                  </a:solidFill>
                </a:rPr>
                <a:t>Service Orchestration</a:t>
              </a:r>
            </a:p>
          </p:txBody>
        </p:sp>
        <p:sp>
          <p:nvSpPr>
            <p:cNvPr id="36" name="TextBox 35">
              <a:extLst>
                <a:ext uri="{FF2B5EF4-FFF2-40B4-BE49-F238E27FC236}">
                  <a16:creationId xmlns:a16="http://schemas.microsoft.com/office/drawing/2014/main" id="{DDEB52A7-17F1-45A4-922E-8ADA92A14048}"/>
                </a:ext>
              </a:extLst>
            </p:cNvPr>
            <p:cNvSpPr txBox="1"/>
            <p:nvPr/>
          </p:nvSpPr>
          <p:spPr bwMode="gray">
            <a:xfrm>
              <a:off x="4235983" y="2587658"/>
              <a:ext cx="1603190" cy="364466"/>
            </a:xfrm>
            <a:prstGeom prst="rect">
              <a:avLst/>
            </a:prstGeom>
          </p:spPr>
          <p:txBody>
            <a:bodyPr wrap="square" lIns="0" rIns="0" rtlCol="0" anchor="ctr" anchorCtr="0">
              <a:normAutofit/>
            </a:bodyPr>
            <a:lstStyle/>
            <a:p>
              <a:pPr algn="ctr">
                <a:lnSpc>
                  <a:spcPts val="900"/>
                </a:lnSpc>
              </a:pPr>
              <a:r>
                <a:rPr lang="en-US" sz="1000" b="1" dirty="0"/>
                <a:t>Cloud Service Management</a:t>
              </a:r>
              <a:endParaRPr lang="en-US" sz="1000" b="1" dirty="0">
                <a:solidFill>
                  <a:schemeClr val="tx1"/>
                </a:solidFill>
              </a:endParaRPr>
            </a:p>
          </p:txBody>
        </p:sp>
      </p:grpSp>
      <p:sp>
        <p:nvSpPr>
          <p:cNvPr id="40" name="TextBox 39">
            <a:extLst>
              <a:ext uri="{FF2B5EF4-FFF2-40B4-BE49-F238E27FC236}">
                <a16:creationId xmlns:a16="http://schemas.microsoft.com/office/drawing/2014/main" id="{20F98228-772B-4D81-A1F9-4E5C58993A17}"/>
              </a:ext>
            </a:extLst>
          </p:cNvPr>
          <p:cNvSpPr txBox="1"/>
          <p:nvPr/>
        </p:nvSpPr>
        <p:spPr bwMode="gray">
          <a:xfrm>
            <a:off x="588193" y="5955440"/>
            <a:ext cx="7128727" cy="240917"/>
          </a:xfrm>
          <a:prstGeom prst="rect">
            <a:avLst/>
          </a:prstGeom>
        </p:spPr>
        <p:txBody>
          <a:bodyPr wrap="square" lIns="0" rIns="0" rtlCol="0" anchor="b" anchorCtr="0">
            <a:normAutofit/>
          </a:bodyPr>
          <a:lstStyle/>
          <a:p>
            <a:pPr>
              <a:lnSpc>
                <a:spcPts val="900"/>
              </a:lnSpc>
            </a:pPr>
            <a:r>
              <a:rPr lang="en-US" sz="800" dirty="0">
                <a:solidFill>
                  <a:schemeClr val="tx1"/>
                </a:solidFill>
              </a:rPr>
              <a:t>Adopted from NIST Cloud Computing Reference Architecture</a:t>
            </a:r>
          </a:p>
        </p:txBody>
      </p:sp>
      <p:sp>
        <p:nvSpPr>
          <p:cNvPr id="41" name="Rectangle: Rounded Corners 40">
            <a:extLst>
              <a:ext uri="{FF2B5EF4-FFF2-40B4-BE49-F238E27FC236}">
                <a16:creationId xmlns:a16="http://schemas.microsoft.com/office/drawing/2014/main" id="{2CF223CC-0065-4901-BC1F-6241F096ADF6}"/>
              </a:ext>
            </a:extLst>
          </p:cNvPr>
          <p:cNvSpPr/>
          <p:nvPr/>
        </p:nvSpPr>
        <p:spPr bwMode="gray">
          <a:xfrm>
            <a:off x="591104" y="5600232"/>
            <a:ext cx="7161638" cy="364632"/>
          </a:xfrm>
          <a:prstGeom prst="roundRect">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dirty="0"/>
              <a:t>Cloud Carrier</a:t>
            </a:r>
          </a:p>
        </p:txBody>
      </p:sp>
      <p:sp>
        <p:nvSpPr>
          <p:cNvPr id="42" name="TextBox 41">
            <a:extLst>
              <a:ext uri="{FF2B5EF4-FFF2-40B4-BE49-F238E27FC236}">
                <a16:creationId xmlns:a16="http://schemas.microsoft.com/office/drawing/2014/main" id="{CAC6DF83-F2BE-4E67-ACCA-63D4B4325435}"/>
              </a:ext>
            </a:extLst>
          </p:cNvPr>
          <p:cNvSpPr txBox="1"/>
          <p:nvPr/>
        </p:nvSpPr>
        <p:spPr bwMode="gray">
          <a:xfrm>
            <a:off x="2226511" y="1563558"/>
            <a:ext cx="3504255" cy="240917"/>
          </a:xfrm>
          <a:prstGeom prst="rect">
            <a:avLst/>
          </a:prstGeom>
        </p:spPr>
        <p:txBody>
          <a:bodyPr wrap="square" lIns="0" rIns="0" rtlCol="0" anchor="b" anchorCtr="0">
            <a:noAutofit/>
          </a:bodyPr>
          <a:lstStyle/>
          <a:p>
            <a:pPr algn="ctr">
              <a:lnSpc>
                <a:spcPts val="900"/>
              </a:lnSpc>
            </a:pPr>
            <a:r>
              <a:rPr lang="en-US" sz="1050" b="1" dirty="0">
                <a:solidFill>
                  <a:schemeClr val="tx1"/>
                </a:solidFill>
              </a:rPr>
              <a:t>Cloud Computing Reference Architecture</a:t>
            </a:r>
          </a:p>
        </p:txBody>
      </p:sp>
    </p:spTree>
    <p:extLst>
      <p:ext uri="{BB962C8B-B14F-4D97-AF65-F5344CB8AC3E}">
        <p14:creationId xmlns:p14="http://schemas.microsoft.com/office/powerpoint/2010/main" val="1429317202"/>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226A29F-459B-4499-8C51-6ECA1544394F}"/>
              </a:ext>
            </a:extLst>
          </p:cNvPr>
          <p:cNvSpPr>
            <a:spLocks noGrp="1"/>
          </p:cNvSpPr>
          <p:nvPr>
            <p:ph type="title"/>
          </p:nvPr>
        </p:nvSpPr>
        <p:spPr/>
        <p:txBody>
          <a:bodyPr/>
          <a:lstStyle/>
          <a:p>
            <a:r>
              <a:rPr lang="en-US" dirty="0"/>
              <a:t>AWS reference architecture</a:t>
            </a:r>
          </a:p>
        </p:txBody>
      </p:sp>
    </p:spTree>
    <p:extLst>
      <p:ext uri="{BB962C8B-B14F-4D97-AF65-F5344CB8AC3E}">
        <p14:creationId xmlns:p14="http://schemas.microsoft.com/office/powerpoint/2010/main" val="56908574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 Placeholder 121">
            <a:extLst>
              <a:ext uri="{FF2B5EF4-FFF2-40B4-BE49-F238E27FC236}">
                <a16:creationId xmlns:a16="http://schemas.microsoft.com/office/drawing/2014/main" id="{17EADCF4-20DE-4C00-A6B8-FA313F502D48}"/>
              </a:ext>
            </a:extLst>
          </p:cNvPr>
          <p:cNvSpPr>
            <a:spLocks noGrp="1"/>
          </p:cNvSpPr>
          <p:nvPr>
            <p:ph idx="1"/>
          </p:nvPr>
        </p:nvSpPr>
        <p:spPr>
          <a:xfrm>
            <a:off x="469900" y="1029945"/>
            <a:ext cx="11252200" cy="4633911"/>
          </a:xfrm>
          <a:noFill/>
          <a:ln w="12700">
            <a:noFill/>
            <a:prstDash val="solid"/>
          </a:ln>
        </p:spPr>
        <p:txBody>
          <a:bodyPr lIns="45720" rIns="45720" anchor="t"/>
          <a:lstStyle/>
          <a:p>
            <a:pPr algn="ctr">
              <a:spcBef>
                <a:spcPct val="50000"/>
              </a:spcBef>
            </a:pPr>
            <a:r>
              <a:rPr lang="en-US" sz="1600" b="1" kern="0" dirty="0">
                <a:latin typeface="+mj-lt"/>
                <a:ea typeface="Open Sans" panose="020B0606030504020204" pitchFamily="34" charset="0"/>
                <a:cs typeface="Open Sans" panose="020B0606030504020204" pitchFamily="34" charset="0"/>
              </a:rPr>
              <a:t>BI/Analytics/IOT Workloads</a:t>
            </a:r>
          </a:p>
        </p:txBody>
      </p:sp>
      <p:sp>
        <p:nvSpPr>
          <p:cNvPr id="4" name="Rubrik 3"/>
          <p:cNvSpPr>
            <a:spLocks noGrp="1"/>
          </p:cNvSpPr>
          <p:nvPr>
            <p:ph type="title"/>
          </p:nvPr>
        </p:nvSpPr>
        <p:spPr/>
        <p:txBody>
          <a:bodyPr/>
          <a:lstStyle/>
          <a:p>
            <a:r>
              <a:rPr lang="sv-SE" dirty="0"/>
              <a:t>AWS reference architecture</a:t>
            </a:r>
          </a:p>
        </p:txBody>
      </p:sp>
      <p:grpSp>
        <p:nvGrpSpPr>
          <p:cNvPr id="15" name="Group 14">
            <a:extLst>
              <a:ext uri="{FF2B5EF4-FFF2-40B4-BE49-F238E27FC236}">
                <a16:creationId xmlns:a16="http://schemas.microsoft.com/office/drawing/2014/main" id="{FC926D99-DC83-4CA8-A868-306151180FEA}"/>
              </a:ext>
            </a:extLst>
          </p:cNvPr>
          <p:cNvGrpSpPr/>
          <p:nvPr/>
        </p:nvGrpSpPr>
        <p:grpSpPr>
          <a:xfrm>
            <a:off x="469900" y="1302485"/>
            <a:ext cx="11252200" cy="4996715"/>
            <a:chOff x="914400" y="1208622"/>
            <a:chExt cx="10247776" cy="4996715"/>
          </a:xfrm>
        </p:grpSpPr>
        <p:sp>
          <p:nvSpPr>
            <p:cNvPr id="269" name="Rectangle 6">
              <a:extLst>
                <a:ext uri="{FF2B5EF4-FFF2-40B4-BE49-F238E27FC236}">
                  <a16:creationId xmlns:a16="http://schemas.microsoft.com/office/drawing/2014/main" id="{5C5FD9D6-45D5-49DF-9237-0D18E499D315}"/>
                </a:ext>
              </a:extLst>
            </p:cNvPr>
            <p:cNvSpPr>
              <a:spLocks noChangeArrowheads="1"/>
            </p:cNvSpPr>
            <p:nvPr/>
          </p:nvSpPr>
          <p:spPr bwMode="auto">
            <a:xfrm>
              <a:off x="9912281" y="3636738"/>
              <a:ext cx="1114138" cy="1434322"/>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Information Access Channels</a:t>
              </a:r>
            </a:p>
          </p:txBody>
        </p:sp>
        <p:sp>
          <p:nvSpPr>
            <p:cNvPr id="270" name="Rectangle 6">
              <a:extLst>
                <a:ext uri="{FF2B5EF4-FFF2-40B4-BE49-F238E27FC236}">
                  <a16:creationId xmlns:a16="http://schemas.microsoft.com/office/drawing/2014/main" id="{B6DF5379-CE1F-48AA-A464-852770E8C964}"/>
                </a:ext>
              </a:extLst>
            </p:cNvPr>
            <p:cNvSpPr>
              <a:spLocks noChangeArrowheads="1"/>
            </p:cNvSpPr>
            <p:nvPr/>
          </p:nvSpPr>
          <p:spPr bwMode="auto">
            <a:xfrm>
              <a:off x="9913851" y="1931243"/>
              <a:ext cx="1122115" cy="1627910"/>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Functional Users</a:t>
              </a:r>
            </a:p>
          </p:txBody>
        </p:sp>
        <p:sp>
          <p:nvSpPr>
            <p:cNvPr id="271" name="Rectangle 270">
              <a:extLst>
                <a:ext uri="{FF2B5EF4-FFF2-40B4-BE49-F238E27FC236}">
                  <a16:creationId xmlns:a16="http://schemas.microsoft.com/office/drawing/2014/main" id="{B9D41C05-5C5C-48FE-B94B-9F1B028B02BF}"/>
                </a:ext>
              </a:extLst>
            </p:cNvPr>
            <p:cNvSpPr>
              <a:spLocks noChangeArrowheads="1"/>
            </p:cNvSpPr>
            <p:nvPr/>
          </p:nvSpPr>
          <p:spPr bwMode="auto">
            <a:xfrm>
              <a:off x="7290555" y="5989853"/>
              <a:ext cx="1156862" cy="21548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Business Rules Management</a:t>
              </a:r>
            </a:p>
          </p:txBody>
        </p:sp>
        <p:sp>
          <p:nvSpPr>
            <p:cNvPr id="272" name="Rectangle 6">
              <a:extLst>
                <a:ext uri="{FF2B5EF4-FFF2-40B4-BE49-F238E27FC236}">
                  <a16:creationId xmlns:a16="http://schemas.microsoft.com/office/drawing/2014/main" id="{25AFB4EA-3061-479A-B7DC-814606E51F8B}"/>
                </a:ext>
              </a:extLst>
            </p:cNvPr>
            <p:cNvSpPr>
              <a:spLocks noChangeArrowheads="1"/>
            </p:cNvSpPr>
            <p:nvPr/>
          </p:nvSpPr>
          <p:spPr bwMode="auto">
            <a:xfrm rot="16200000">
              <a:off x="5906285" y="819388"/>
              <a:ext cx="121276" cy="10105046"/>
            </a:xfrm>
            <a:prstGeom prst="rect">
              <a:avLst/>
            </a:prstGeom>
            <a:noFill/>
            <a:ln w="28575">
              <a:solidFill>
                <a:schemeClr val="bg1">
                  <a:lumMod val="50000"/>
                </a:schemeClr>
              </a:solidFill>
              <a:prstDash val="solid"/>
            </a:ln>
          </p:spPr>
          <p:txBody>
            <a:bodyPr vert="vert" lIns="45720" rIns="45720" anchor="ctr"/>
            <a:lstStyle/>
            <a:p>
              <a:pPr marL="0" lvl="1" algn="ctr" eaLnBrk="0" fontAlgn="base" hangingPunct="0">
                <a:spcBef>
                  <a:spcPts val="300"/>
                </a:spcBef>
                <a:spcAft>
                  <a:spcPct val="0"/>
                </a:spcAft>
                <a:buClr>
                  <a:prstClr val="black"/>
                </a:buClr>
              </a:pPr>
              <a:r>
                <a:rPr lang="en-US" sz="600" b="1" dirty="0">
                  <a:latin typeface="+mj-lt"/>
                  <a:ea typeface="Open Sans" panose="020B0606030504020204" pitchFamily="34" charset="0"/>
                  <a:cs typeface="Open Sans" panose="020B0606030504020204" pitchFamily="34" charset="0"/>
                </a:rPr>
                <a:t>Enterprise Data Governance</a:t>
              </a:r>
            </a:p>
          </p:txBody>
        </p:sp>
        <p:sp>
          <p:nvSpPr>
            <p:cNvPr id="273" name="Rectangle 6">
              <a:extLst>
                <a:ext uri="{FF2B5EF4-FFF2-40B4-BE49-F238E27FC236}">
                  <a16:creationId xmlns:a16="http://schemas.microsoft.com/office/drawing/2014/main" id="{A5900EED-D4E9-404E-9D58-4E20461875E4}"/>
                </a:ext>
              </a:extLst>
            </p:cNvPr>
            <p:cNvSpPr>
              <a:spLocks noChangeArrowheads="1"/>
            </p:cNvSpPr>
            <p:nvPr/>
          </p:nvSpPr>
          <p:spPr bwMode="auto">
            <a:xfrm>
              <a:off x="914400" y="5989853"/>
              <a:ext cx="1156862" cy="21548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Enterprise Content Management</a:t>
              </a:r>
            </a:p>
          </p:txBody>
        </p:sp>
        <p:sp>
          <p:nvSpPr>
            <p:cNvPr id="274" name="Rectangle 6">
              <a:extLst>
                <a:ext uri="{FF2B5EF4-FFF2-40B4-BE49-F238E27FC236}">
                  <a16:creationId xmlns:a16="http://schemas.microsoft.com/office/drawing/2014/main" id="{AEA18F37-06B7-4499-8950-3AAD3309436D}"/>
                </a:ext>
              </a:extLst>
            </p:cNvPr>
            <p:cNvSpPr>
              <a:spLocks noChangeArrowheads="1"/>
            </p:cNvSpPr>
            <p:nvPr/>
          </p:nvSpPr>
          <p:spPr bwMode="auto">
            <a:xfrm>
              <a:off x="2189631" y="5989853"/>
              <a:ext cx="1156862" cy="21548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Data Quality Management</a:t>
              </a:r>
            </a:p>
          </p:txBody>
        </p:sp>
        <p:sp>
          <p:nvSpPr>
            <p:cNvPr id="275" name="Rectangle 6">
              <a:extLst>
                <a:ext uri="{FF2B5EF4-FFF2-40B4-BE49-F238E27FC236}">
                  <a16:creationId xmlns:a16="http://schemas.microsoft.com/office/drawing/2014/main" id="{74A596DA-D7BD-4A63-9C75-5D7506DFD23C}"/>
                </a:ext>
              </a:extLst>
            </p:cNvPr>
            <p:cNvSpPr>
              <a:spLocks noChangeArrowheads="1"/>
            </p:cNvSpPr>
            <p:nvPr/>
          </p:nvSpPr>
          <p:spPr bwMode="auto">
            <a:xfrm>
              <a:off x="3464861" y="5989853"/>
              <a:ext cx="1156862" cy="21548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Metadata Management</a:t>
              </a:r>
            </a:p>
          </p:txBody>
        </p:sp>
        <p:sp>
          <p:nvSpPr>
            <p:cNvPr id="276" name="Rectangle 6">
              <a:extLst>
                <a:ext uri="{FF2B5EF4-FFF2-40B4-BE49-F238E27FC236}">
                  <a16:creationId xmlns:a16="http://schemas.microsoft.com/office/drawing/2014/main" id="{EE3A32E2-3143-4FE2-B3FA-D2A0828F58C2}"/>
                </a:ext>
              </a:extLst>
            </p:cNvPr>
            <p:cNvSpPr>
              <a:spLocks noChangeArrowheads="1"/>
            </p:cNvSpPr>
            <p:nvPr/>
          </p:nvSpPr>
          <p:spPr bwMode="auto">
            <a:xfrm>
              <a:off x="4740093" y="5989853"/>
              <a:ext cx="1156862" cy="21548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Data Security &amp; Privacy</a:t>
              </a:r>
            </a:p>
          </p:txBody>
        </p:sp>
        <p:sp>
          <p:nvSpPr>
            <p:cNvPr id="277" name="Rectangle 6">
              <a:extLst>
                <a:ext uri="{FF2B5EF4-FFF2-40B4-BE49-F238E27FC236}">
                  <a16:creationId xmlns:a16="http://schemas.microsoft.com/office/drawing/2014/main" id="{730CFA01-A143-4F95-99E1-1D27AD449FFB}"/>
                </a:ext>
              </a:extLst>
            </p:cNvPr>
            <p:cNvSpPr>
              <a:spLocks noChangeArrowheads="1"/>
            </p:cNvSpPr>
            <p:nvPr/>
          </p:nvSpPr>
          <p:spPr bwMode="auto">
            <a:xfrm>
              <a:off x="6015323" y="5989853"/>
              <a:ext cx="1156862" cy="21548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Master and Reference Data Management</a:t>
              </a:r>
            </a:p>
          </p:txBody>
        </p:sp>
        <p:sp>
          <p:nvSpPr>
            <p:cNvPr id="278" name="Rectangle 6">
              <a:extLst>
                <a:ext uri="{FF2B5EF4-FFF2-40B4-BE49-F238E27FC236}">
                  <a16:creationId xmlns:a16="http://schemas.microsoft.com/office/drawing/2014/main" id="{4C509B6A-F873-48D1-B8C2-87CE2DFCC490}"/>
                </a:ext>
              </a:extLst>
            </p:cNvPr>
            <p:cNvSpPr>
              <a:spLocks noChangeArrowheads="1"/>
            </p:cNvSpPr>
            <p:nvPr/>
          </p:nvSpPr>
          <p:spPr bwMode="auto">
            <a:xfrm>
              <a:off x="8571411" y="5989853"/>
              <a:ext cx="1156862" cy="21548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Audit, Balance and Control</a:t>
              </a:r>
            </a:p>
          </p:txBody>
        </p:sp>
        <p:sp>
          <p:nvSpPr>
            <p:cNvPr id="279" name="Rectangle 6">
              <a:extLst>
                <a:ext uri="{FF2B5EF4-FFF2-40B4-BE49-F238E27FC236}">
                  <a16:creationId xmlns:a16="http://schemas.microsoft.com/office/drawing/2014/main" id="{9003A25A-B21E-4CC3-9AF9-02DA69D93906}"/>
                </a:ext>
              </a:extLst>
            </p:cNvPr>
            <p:cNvSpPr>
              <a:spLocks noChangeArrowheads="1"/>
            </p:cNvSpPr>
            <p:nvPr/>
          </p:nvSpPr>
          <p:spPr bwMode="auto">
            <a:xfrm>
              <a:off x="9863521" y="5989853"/>
              <a:ext cx="1156862" cy="21548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Data Catalog and Discovery</a:t>
              </a:r>
            </a:p>
          </p:txBody>
        </p:sp>
        <p:sp>
          <p:nvSpPr>
            <p:cNvPr id="281" name="Rectangle 280">
              <a:extLst>
                <a:ext uri="{FF2B5EF4-FFF2-40B4-BE49-F238E27FC236}">
                  <a16:creationId xmlns:a16="http://schemas.microsoft.com/office/drawing/2014/main" id="{9D8CBA19-34A4-49DE-896D-523E1B695D50}"/>
                </a:ext>
              </a:extLst>
            </p:cNvPr>
            <p:cNvSpPr/>
            <p:nvPr/>
          </p:nvSpPr>
          <p:spPr bwMode="auto">
            <a:xfrm>
              <a:off x="914402" y="1668681"/>
              <a:ext cx="1428931" cy="218392"/>
            </a:xfrm>
            <a:prstGeom prst="rect">
              <a:avLst/>
            </a:prstGeom>
            <a:noFill/>
            <a:ln w="12700" cap="flat" cmpd="sng" algn="ctr">
              <a:solidFill>
                <a:schemeClr val="bg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noAutofit/>
            </a:bodyPr>
            <a:lstStyle/>
            <a:p>
              <a:pPr algn="ctr" fontAlgn="base">
                <a:spcBef>
                  <a:spcPct val="50000"/>
                </a:spcBef>
                <a:spcAft>
                  <a:spcPct val="0"/>
                </a:spcAft>
              </a:pPr>
              <a:r>
                <a:rPr lang="en-US" sz="600" b="1" dirty="0">
                  <a:latin typeface="+mj-lt"/>
                  <a:ea typeface="Open Sans" panose="020B0606030504020204" pitchFamily="34" charset="0"/>
                  <a:cs typeface="Open Sans" panose="020B0606030504020204" pitchFamily="34" charset="0"/>
                </a:rPr>
                <a:t>DATA SOURCES</a:t>
              </a:r>
            </a:p>
          </p:txBody>
        </p:sp>
        <p:sp>
          <p:nvSpPr>
            <p:cNvPr id="283" name="Rectangle 6">
              <a:extLst>
                <a:ext uri="{FF2B5EF4-FFF2-40B4-BE49-F238E27FC236}">
                  <a16:creationId xmlns:a16="http://schemas.microsoft.com/office/drawing/2014/main" id="{C16F28ED-D22D-4F5F-B79E-F6A8E99B4DB2}"/>
                </a:ext>
              </a:extLst>
            </p:cNvPr>
            <p:cNvSpPr>
              <a:spLocks noChangeArrowheads="1"/>
            </p:cNvSpPr>
            <p:nvPr/>
          </p:nvSpPr>
          <p:spPr bwMode="auto">
            <a:xfrm>
              <a:off x="914403" y="1968102"/>
              <a:ext cx="1406703" cy="2342655"/>
            </a:xfrm>
            <a:prstGeom prst="rect">
              <a:avLst/>
            </a:prstGeom>
            <a:noFill/>
            <a:ln w="12700">
              <a:solidFill>
                <a:schemeClr val="bg1">
                  <a:lumMod val="50000"/>
                </a:schemeClr>
              </a:solidFill>
              <a:prstDash val="solid"/>
            </a:ln>
          </p:spPr>
          <p:txBody>
            <a:bodyPr lIns="45720" rIns="45720" anchor="t"/>
            <a:lstStyle/>
            <a:p>
              <a:pPr algn="ctr">
                <a:spcBef>
                  <a:spcPct val="50000"/>
                </a:spcBef>
                <a:defRPr/>
              </a:pPr>
              <a:r>
                <a:rPr lang="en-US" sz="600" b="1" kern="0" dirty="0">
                  <a:latin typeface="+mj-lt"/>
                  <a:ea typeface="Open Sans" panose="020B0606030504020204" pitchFamily="34" charset="0"/>
                  <a:cs typeface="Open Sans" panose="020B0606030504020204" pitchFamily="34" charset="0"/>
                </a:rPr>
                <a:t>Business Applications</a:t>
              </a:r>
            </a:p>
          </p:txBody>
        </p:sp>
        <p:sp>
          <p:nvSpPr>
            <p:cNvPr id="284" name="Rectangle 6">
              <a:extLst>
                <a:ext uri="{FF2B5EF4-FFF2-40B4-BE49-F238E27FC236}">
                  <a16:creationId xmlns:a16="http://schemas.microsoft.com/office/drawing/2014/main" id="{F84A3391-0206-4657-9452-8F5B3B6CDD41}"/>
                </a:ext>
              </a:extLst>
            </p:cNvPr>
            <p:cNvSpPr>
              <a:spLocks noChangeArrowheads="1"/>
            </p:cNvSpPr>
            <p:nvPr/>
          </p:nvSpPr>
          <p:spPr bwMode="auto">
            <a:xfrm>
              <a:off x="914401" y="4384076"/>
              <a:ext cx="1407744" cy="1373937"/>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Other Data Sources</a:t>
              </a:r>
            </a:p>
          </p:txBody>
        </p:sp>
        <p:sp>
          <p:nvSpPr>
            <p:cNvPr id="285" name="Rectangle 6">
              <a:extLst>
                <a:ext uri="{FF2B5EF4-FFF2-40B4-BE49-F238E27FC236}">
                  <a16:creationId xmlns:a16="http://schemas.microsoft.com/office/drawing/2014/main" id="{178EC943-8DC6-4859-9F7D-1EA1660214B4}"/>
                </a:ext>
              </a:extLst>
            </p:cNvPr>
            <p:cNvSpPr>
              <a:spLocks noChangeArrowheads="1"/>
            </p:cNvSpPr>
            <p:nvPr/>
          </p:nvSpPr>
          <p:spPr bwMode="auto">
            <a:xfrm>
              <a:off x="1041715" y="5254329"/>
              <a:ext cx="1144821" cy="169891"/>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fontAlgn="base">
                <a:spcBef>
                  <a:spcPct val="50000"/>
                </a:spcBef>
                <a:spcAft>
                  <a:spcPct val="0"/>
                </a:spcAft>
                <a:defRPr/>
              </a:pPr>
              <a:r>
                <a:rPr lang="en-US" sz="600" kern="0" dirty="0">
                  <a:latin typeface="+mj-lt"/>
                  <a:ea typeface="Open Sans" panose="020B0606030504020204" pitchFamily="34" charset="0"/>
                  <a:cs typeface="Open Sans" panose="020B0606030504020204" pitchFamily="34" charset="0"/>
                </a:rPr>
                <a:t>External Data</a:t>
              </a:r>
              <a:endParaRPr lang="en-US" sz="600" i="1" kern="0" dirty="0">
                <a:latin typeface="+mj-lt"/>
                <a:ea typeface="Open Sans" panose="020B0606030504020204" pitchFamily="34" charset="0"/>
                <a:cs typeface="Open Sans" panose="020B0606030504020204" pitchFamily="34" charset="0"/>
              </a:endParaRPr>
            </a:p>
          </p:txBody>
        </p:sp>
        <p:sp>
          <p:nvSpPr>
            <p:cNvPr id="286" name="Rectangle 6">
              <a:extLst>
                <a:ext uri="{FF2B5EF4-FFF2-40B4-BE49-F238E27FC236}">
                  <a16:creationId xmlns:a16="http://schemas.microsoft.com/office/drawing/2014/main" id="{39748BDD-C13A-456F-8C76-95B1CCC1C825}"/>
                </a:ext>
              </a:extLst>
            </p:cNvPr>
            <p:cNvSpPr>
              <a:spLocks noChangeArrowheads="1"/>
            </p:cNvSpPr>
            <p:nvPr/>
          </p:nvSpPr>
          <p:spPr bwMode="auto">
            <a:xfrm>
              <a:off x="1041715" y="4856119"/>
              <a:ext cx="1144821" cy="169891"/>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fontAlgn="base">
                <a:spcAft>
                  <a:spcPct val="0"/>
                </a:spcAft>
                <a:defRPr/>
              </a:pPr>
              <a:r>
                <a:rPr lang="en-US" sz="600" kern="0" dirty="0">
                  <a:latin typeface="+mj-lt"/>
                  <a:ea typeface="Open Sans" panose="020B0606030504020204" pitchFamily="34" charset="0"/>
                  <a:cs typeface="Open Sans" panose="020B0606030504020204" pitchFamily="34" charset="0"/>
                </a:rPr>
                <a:t>Unstructured Data</a:t>
              </a:r>
            </a:p>
          </p:txBody>
        </p:sp>
        <p:sp>
          <p:nvSpPr>
            <p:cNvPr id="288" name="Rectangle 287">
              <a:extLst>
                <a:ext uri="{FF2B5EF4-FFF2-40B4-BE49-F238E27FC236}">
                  <a16:creationId xmlns:a16="http://schemas.microsoft.com/office/drawing/2014/main" id="{C3EF8256-87A1-45E8-ADF7-E2C031E15DA1}"/>
                </a:ext>
              </a:extLst>
            </p:cNvPr>
            <p:cNvSpPr/>
            <p:nvPr/>
          </p:nvSpPr>
          <p:spPr bwMode="auto">
            <a:xfrm>
              <a:off x="8580036" y="1668681"/>
              <a:ext cx="1224565" cy="218392"/>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INFORMATION DELIVERY</a:t>
              </a:r>
            </a:p>
          </p:txBody>
        </p:sp>
        <p:sp>
          <p:nvSpPr>
            <p:cNvPr id="289" name="Rectangle 6">
              <a:extLst>
                <a:ext uri="{FF2B5EF4-FFF2-40B4-BE49-F238E27FC236}">
                  <a16:creationId xmlns:a16="http://schemas.microsoft.com/office/drawing/2014/main" id="{D86221FD-3AE9-4D00-84DA-FEF192B9C4C1}"/>
                </a:ext>
              </a:extLst>
            </p:cNvPr>
            <p:cNvSpPr>
              <a:spLocks noChangeArrowheads="1"/>
            </p:cNvSpPr>
            <p:nvPr/>
          </p:nvSpPr>
          <p:spPr bwMode="auto">
            <a:xfrm>
              <a:off x="8583419" y="1910089"/>
              <a:ext cx="1221182" cy="3160972"/>
            </a:xfrm>
            <a:prstGeom prst="rect">
              <a:avLst/>
            </a:prstGeom>
            <a:noFill/>
            <a:ln w="12700">
              <a:solidFill>
                <a:schemeClr val="bg1">
                  <a:lumMod val="50000"/>
                </a:schemeClr>
              </a:solidFill>
              <a:prstDash val="solid"/>
            </a:ln>
          </p:spPr>
          <p:txBody>
            <a:bodyPr lIns="45720" rIns="45720" anchor="t"/>
            <a:lstStyle/>
            <a:p>
              <a:pPr algn="ctr">
                <a:spcBef>
                  <a:spcPct val="50000"/>
                </a:spcBef>
              </a:pPr>
              <a:endParaRPr lang="en-US" sz="600" b="1" kern="0" dirty="0">
                <a:latin typeface="+mj-lt"/>
                <a:ea typeface="Open Sans" panose="020B0606030504020204" pitchFamily="34" charset="0"/>
                <a:cs typeface="Open Sans" panose="020B0606030504020204" pitchFamily="34" charset="0"/>
              </a:endParaRPr>
            </a:p>
          </p:txBody>
        </p:sp>
        <p:sp>
          <p:nvSpPr>
            <p:cNvPr id="290" name="Rectangle 6">
              <a:extLst>
                <a:ext uri="{FF2B5EF4-FFF2-40B4-BE49-F238E27FC236}">
                  <a16:creationId xmlns:a16="http://schemas.microsoft.com/office/drawing/2014/main" id="{0D7E63ED-0B10-411E-8DC4-9E02EFDB5D54}"/>
                </a:ext>
              </a:extLst>
            </p:cNvPr>
            <p:cNvSpPr>
              <a:spLocks noChangeArrowheads="1"/>
            </p:cNvSpPr>
            <p:nvPr/>
          </p:nvSpPr>
          <p:spPr bwMode="auto">
            <a:xfrm>
              <a:off x="8631050" y="1956477"/>
              <a:ext cx="1128756" cy="441970"/>
            </a:xfrm>
            <a:prstGeom prst="rect">
              <a:avLst/>
            </a:prstGeom>
            <a:noFill/>
            <a:ln w="12700">
              <a:solidFill>
                <a:schemeClr val="bg1">
                  <a:lumMod val="50000"/>
                </a:schemeClr>
              </a:solidFill>
              <a:prstDash val="solid"/>
            </a:ln>
          </p:spPr>
          <p:txBody>
            <a:bodyPr lIns="45720" rIns="45720" anchor="ctr"/>
            <a:lstStyle/>
            <a:p>
              <a:pPr algn="ctr" fontAlgn="base">
                <a:spcBef>
                  <a:spcPct val="50000"/>
                </a:spcBef>
                <a:spcAft>
                  <a:spcPct val="0"/>
                </a:spcAft>
              </a:pPr>
              <a:r>
                <a:rPr lang="en-US" sz="600" b="1" dirty="0">
                  <a:latin typeface="+mj-lt"/>
                  <a:ea typeface="Open Sans" panose="020B0606030504020204" pitchFamily="34" charset="0"/>
                  <a:cs typeface="Open Sans" panose="020B0606030504020204" pitchFamily="34" charset="0"/>
                </a:rPr>
                <a:t>Business Intelligence Platform—</a:t>
              </a:r>
              <a:r>
                <a:rPr lang="en-US" sz="600" b="1" dirty="0" err="1">
                  <a:latin typeface="+mj-lt"/>
                  <a:ea typeface="Open Sans" panose="020B0606030504020204" pitchFamily="34" charset="0"/>
                  <a:cs typeface="Open Sans" panose="020B0606030504020204" pitchFamily="34" charset="0"/>
                </a:rPr>
                <a:t>QuickSight</a:t>
              </a:r>
              <a:r>
                <a:rPr lang="en-US" sz="600" b="1" dirty="0">
                  <a:latin typeface="+mj-lt"/>
                  <a:ea typeface="Open Sans" panose="020B0606030504020204" pitchFamily="34" charset="0"/>
                  <a:cs typeface="Open Sans" panose="020B0606030504020204" pitchFamily="34" charset="0"/>
                </a:rPr>
                <a:t> </a:t>
              </a:r>
              <a:r>
                <a:rPr lang="en-US" sz="600" i="1" dirty="0">
                  <a:latin typeface="+mj-lt"/>
                  <a:ea typeface="Open Sans" panose="020B0606030504020204" pitchFamily="34" charset="0"/>
                  <a:cs typeface="Open Sans" panose="020B0606030504020204" pitchFamily="34" charset="0"/>
                </a:rPr>
                <a:t>(AtScale, Cognos, MicroStrategy, etc.)</a:t>
              </a:r>
            </a:p>
          </p:txBody>
        </p:sp>
        <p:sp>
          <p:nvSpPr>
            <p:cNvPr id="291" name="Rectangle 6">
              <a:extLst>
                <a:ext uri="{FF2B5EF4-FFF2-40B4-BE49-F238E27FC236}">
                  <a16:creationId xmlns:a16="http://schemas.microsoft.com/office/drawing/2014/main" id="{4DA03A18-B32A-45C6-832A-D9B521600529}"/>
                </a:ext>
              </a:extLst>
            </p:cNvPr>
            <p:cNvSpPr>
              <a:spLocks noChangeArrowheads="1"/>
            </p:cNvSpPr>
            <p:nvPr/>
          </p:nvSpPr>
          <p:spPr bwMode="auto">
            <a:xfrm>
              <a:off x="8649234" y="3907253"/>
              <a:ext cx="1120452" cy="365265"/>
            </a:xfrm>
            <a:prstGeom prst="rect">
              <a:avLst/>
            </a:prstGeom>
            <a:noFill/>
            <a:ln w="12700">
              <a:solidFill>
                <a:schemeClr val="bg1">
                  <a:lumMod val="50000"/>
                </a:schemeClr>
              </a:solidFill>
              <a:prstDash val="solid"/>
            </a:ln>
          </p:spPr>
          <p:txBody>
            <a:bodyPr lIns="45720" rIns="45720" anchor="ctr"/>
            <a:lstStyle/>
            <a:p>
              <a:pPr algn="ctr" fontAlgn="base">
                <a:spcBef>
                  <a:spcPct val="50000"/>
                </a:spcBef>
                <a:spcAft>
                  <a:spcPct val="0"/>
                </a:spcAft>
              </a:pPr>
              <a:r>
                <a:rPr lang="en-US" sz="600" b="1" dirty="0">
                  <a:latin typeface="+mj-lt"/>
                  <a:ea typeface="Open Sans" panose="020B0606030504020204" pitchFamily="34" charset="0"/>
                  <a:cs typeface="Open Sans" panose="020B0606030504020204" pitchFamily="34" charset="0"/>
                </a:rPr>
                <a:t>Streaming Analytics </a:t>
              </a:r>
              <a:r>
                <a:rPr lang="en-US" sz="600" i="1" dirty="0">
                  <a:latin typeface="+mj-lt"/>
                  <a:ea typeface="Open Sans" panose="020B0606030504020204" pitchFamily="34" charset="0"/>
                  <a:cs typeface="Open Sans" panose="020B0606030504020204" pitchFamily="34" charset="0"/>
                </a:rPr>
                <a:t>(Kibana)</a:t>
              </a:r>
            </a:p>
          </p:txBody>
        </p:sp>
        <p:sp>
          <p:nvSpPr>
            <p:cNvPr id="292" name="Rectangle 6">
              <a:extLst>
                <a:ext uri="{FF2B5EF4-FFF2-40B4-BE49-F238E27FC236}">
                  <a16:creationId xmlns:a16="http://schemas.microsoft.com/office/drawing/2014/main" id="{2CB47547-F99C-4A2C-B523-DF232FBC95DA}"/>
                </a:ext>
              </a:extLst>
            </p:cNvPr>
            <p:cNvSpPr>
              <a:spLocks noChangeArrowheads="1"/>
            </p:cNvSpPr>
            <p:nvPr/>
          </p:nvSpPr>
          <p:spPr bwMode="auto">
            <a:xfrm>
              <a:off x="8649235" y="2674559"/>
              <a:ext cx="1120459" cy="365265"/>
            </a:xfrm>
            <a:prstGeom prst="rect">
              <a:avLst/>
            </a:prstGeom>
            <a:noFill/>
            <a:ln w="12700">
              <a:solidFill>
                <a:schemeClr val="bg1">
                  <a:lumMod val="50000"/>
                </a:schemeClr>
              </a:solidFill>
              <a:prstDash val="solid"/>
            </a:ln>
          </p:spPr>
          <p:txBody>
            <a:bodyPr lIns="45720" rIns="45720" anchor="ctr"/>
            <a:lstStyle/>
            <a:p>
              <a:pPr algn="ctr" fontAlgn="base">
                <a:spcBef>
                  <a:spcPct val="50000"/>
                </a:spcBef>
                <a:spcAft>
                  <a:spcPct val="0"/>
                </a:spcAft>
              </a:pPr>
              <a:r>
                <a:rPr lang="en-US" sz="600" b="1" dirty="0">
                  <a:latin typeface="+mj-lt"/>
                  <a:ea typeface="Open Sans" panose="020B0606030504020204" pitchFamily="34" charset="0"/>
                  <a:cs typeface="Open Sans" panose="020B0606030504020204" pitchFamily="34" charset="0"/>
                </a:rPr>
                <a:t>Advanced Analytics/ ML—</a:t>
              </a:r>
              <a:r>
                <a:rPr lang="en-US" sz="600" b="1" dirty="0" err="1">
                  <a:latin typeface="+mj-lt"/>
                  <a:ea typeface="Open Sans" panose="020B0606030504020204" pitchFamily="34" charset="0"/>
                  <a:cs typeface="Open Sans" panose="020B0606030504020204" pitchFamily="34" charset="0"/>
                </a:rPr>
                <a:t>SageMaker</a:t>
              </a:r>
              <a:r>
                <a:rPr lang="en-US" sz="600" b="1" dirty="0">
                  <a:latin typeface="+mj-lt"/>
                  <a:ea typeface="Open Sans" panose="020B0606030504020204" pitchFamily="34" charset="0"/>
                  <a:cs typeface="Open Sans" panose="020B0606030504020204" pitchFamily="34" charset="0"/>
                </a:rPr>
                <a:t>, AWS ML, Rekognition, etc.</a:t>
              </a:r>
            </a:p>
          </p:txBody>
        </p:sp>
        <p:sp>
          <p:nvSpPr>
            <p:cNvPr id="293" name="TextBox 292">
              <a:extLst>
                <a:ext uri="{FF2B5EF4-FFF2-40B4-BE49-F238E27FC236}">
                  <a16:creationId xmlns:a16="http://schemas.microsoft.com/office/drawing/2014/main" id="{439F70EB-F53E-4D7E-9AD0-E93C1BEF377C}"/>
                </a:ext>
              </a:extLst>
            </p:cNvPr>
            <p:cNvSpPr txBox="1"/>
            <p:nvPr/>
          </p:nvSpPr>
          <p:spPr bwMode="gray">
            <a:xfrm>
              <a:off x="8632356" y="2443139"/>
              <a:ext cx="1187056" cy="184666"/>
            </a:xfrm>
            <a:prstGeom prst="rect">
              <a:avLst/>
            </a:prstGeom>
            <a:noFill/>
            <a:ln w="9525">
              <a:solidFill>
                <a:schemeClr val="bg1">
                  <a:lumMod val="50000"/>
                </a:schemeClr>
              </a:solidFill>
              <a:miter lim="800000"/>
              <a:headEnd/>
              <a:tailEnd/>
            </a:ln>
          </p:spPr>
          <p:txBody>
            <a:bodyPr wrap="square" lIns="0" tIns="0" rIns="0" bIns="0" rtlCol="0">
              <a:spAutoFit/>
            </a:bodyPr>
            <a:lstStyle/>
            <a:p>
              <a:pPr algn="ctr"/>
              <a:r>
                <a:rPr lang="en-US" sz="600" i="1" dirty="0">
                  <a:latin typeface="+mj-lt"/>
                  <a:ea typeface="Open Sans" panose="020B0606030504020204" pitchFamily="34" charset="0"/>
                  <a:cs typeface="Open Sans" panose="020B0606030504020204" pitchFamily="34" charset="0"/>
                </a:rPr>
                <a:t>(Visualization, Dashboards, Transactional Analytics)</a:t>
              </a:r>
            </a:p>
          </p:txBody>
        </p:sp>
        <p:sp>
          <p:nvSpPr>
            <p:cNvPr id="294" name="TextBox 293">
              <a:extLst>
                <a:ext uri="{FF2B5EF4-FFF2-40B4-BE49-F238E27FC236}">
                  <a16:creationId xmlns:a16="http://schemas.microsoft.com/office/drawing/2014/main" id="{98E3149D-8DF6-4AEE-9D63-9CA0463E37DD}"/>
                </a:ext>
              </a:extLst>
            </p:cNvPr>
            <p:cNvSpPr txBox="1"/>
            <p:nvPr/>
          </p:nvSpPr>
          <p:spPr bwMode="gray">
            <a:xfrm>
              <a:off x="8754725" y="4309550"/>
              <a:ext cx="942305" cy="276999"/>
            </a:xfrm>
            <a:prstGeom prst="rect">
              <a:avLst/>
            </a:prstGeom>
            <a:noFill/>
            <a:ln w="9525">
              <a:solidFill>
                <a:schemeClr val="bg1">
                  <a:lumMod val="50000"/>
                </a:schemeClr>
              </a:solidFill>
              <a:miter lim="800000"/>
              <a:headEnd/>
              <a:tailEnd/>
            </a:ln>
          </p:spPr>
          <p:txBody>
            <a:bodyPr wrap="square" lIns="0" tIns="0" rIns="0" bIns="0" rtlCol="0">
              <a:spAutoFit/>
            </a:bodyPr>
            <a:lstStyle/>
            <a:p>
              <a:pPr algn="ctr"/>
              <a:r>
                <a:rPr lang="en-US" sz="600" i="1" dirty="0">
                  <a:latin typeface="+mj-lt"/>
                  <a:ea typeface="Open Sans" panose="020B0606030504020204" pitchFamily="34" charset="0"/>
                  <a:cs typeface="Open Sans" panose="020B0606030504020204" pitchFamily="34" charset="0"/>
                </a:rPr>
                <a:t>(Real-time dashboards and transactional applications)</a:t>
              </a:r>
            </a:p>
          </p:txBody>
        </p:sp>
        <p:sp>
          <p:nvSpPr>
            <p:cNvPr id="295" name="TextBox 294">
              <a:extLst>
                <a:ext uri="{FF2B5EF4-FFF2-40B4-BE49-F238E27FC236}">
                  <a16:creationId xmlns:a16="http://schemas.microsoft.com/office/drawing/2014/main" id="{EC2E28EB-D0E8-4899-A231-A82F48462CF4}"/>
                </a:ext>
              </a:extLst>
            </p:cNvPr>
            <p:cNvSpPr txBox="1"/>
            <p:nvPr/>
          </p:nvSpPr>
          <p:spPr bwMode="gray">
            <a:xfrm>
              <a:off x="8686315" y="3073064"/>
              <a:ext cx="1079142" cy="184666"/>
            </a:xfrm>
            <a:prstGeom prst="rect">
              <a:avLst/>
            </a:prstGeom>
            <a:noFill/>
            <a:ln w="9525">
              <a:solidFill>
                <a:schemeClr val="bg1">
                  <a:lumMod val="50000"/>
                </a:schemeClr>
              </a:solidFill>
              <a:miter lim="800000"/>
              <a:headEnd/>
              <a:tailEnd/>
            </a:ln>
          </p:spPr>
          <p:txBody>
            <a:bodyPr wrap="square" lIns="0" tIns="0" rIns="0" bIns="0" rtlCol="0">
              <a:spAutoFit/>
            </a:bodyPr>
            <a:lstStyle/>
            <a:p>
              <a:pPr algn="ctr"/>
              <a:r>
                <a:rPr lang="en-US" sz="600" i="1" dirty="0">
                  <a:latin typeface="+mj-lt"/>
                  <a:ea typeface="Open Sans" panose="020B0606030504020204" pitchFamily="34" charset="0"/>
                  <a:cs typeface="Open Sans" panose="020B0606030504020204" pitchFamily="34" charset="0"/>
                </a:rPr>
                <a:t>(Text Analytics, Predictive Modeling, Data Mashup)</a:t>
              </a:r>
            </a:p>
          </p:txBody>
        </p:sp>
        <p:sp>
          <p:nvSpPr>
            <p:cNvPr id="297" name="Rectangle 296">
              <a:extLst>
                <a:ext uri="{FF2B5EF4-FFF2-40B4-BE49-F238E27FC236}">
                  <a16:creationId xmlns:a16="http://schemas.microsoft.com/office/drawing/2014/main" id="{0E05D990-BBA4-4518-8E93-D404182C6C20}"/>
                </a:ext>
              </a:extLst>
            </p:cNvPr>
            <p:cNvSpPr/>
            <p:nvPr/>
          </p:nvSpPr>
          <p:spPr bwMode="auto">
            <a:xfrm>
              <a:off x="2461177" y="1668681"/>
              <a:ext cx="2137327" cy="218392"/>
            </a:xfrm>
            <a:prstGeom prst="rect">
              <a:avLst/>
            </a:prstGeom>
            <a:no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base">
                <a:spcAft>
                  <a:spcPct val="0"/>
                </a:spcAft>
              </a:pPr>
              <a:r>
                <a:rPr lang="en-US" sz="600" b="1" dirty="0">
                  <a:latin typeface="+mj-lt"/>
                  <a:ea typeface="Open Sans" panose="020B0606030504020204" pitchFamily="34" charset="0"/>
                  <a:cs typeface="Open Sans" panose="020B0606030504020204" pitchFamily="34" charset="0"/>
                </a:rPr>
                <a:t>INGEST</a:t>
              </a:r>
            </a:p>
          </p:txBody>
        </p:sp>
        <p:sp>
          <p:nvSpPr>
            <p:cNvPr id="298" name="Rectangle 297">
              <a:extLst>
                <a:ext uri="{FF2B5EF4-FFF2-40B4-BE49-F238E27FC236}">
                  <a16:creationId xmlns:a16="http://schemas.microsoft.com/office/drawing/2014/main" id="{4523C1EB-3D6A-4833-8757-A4D941790561}"/>
                </a:ext>
              </a:extLst>
            </p:cNvPr>
            <p:cNvSpPr/>
            <p:nvPr/>
          </p:nvSpPr>
          <p:spPr bwMode="auto">
            <a:xfrm>
              <a:off x="9912280" y="1668682"/>
              <a:ext cx="1107166" cy="215302"/>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INFORMATION CONSUMERS</a:t>
              </a:r>
            </a:p>
          </p:txBody>
        </p:sp>
        <p:sp>
          <p:nvSpPr>
            <p:cNvPr id="299" name="Rectangle 298">
              <a:extLst>
                <a:ext uri="{FF2B5EF4-FFF2-40B4-BE49-F238E27FC236}">
                  <a16:creationId xmlns:a16="http://schemas.microsoft.com/office/drawing/2014/main" id="{FCE900AF-566C-4195-826C-8C36934BEBEE}"/>
                </a:ext>
              </a:extLst>
            </p:cNvPr>
            <p:cNvSpPr/>
            <p:nvPr/>
          </p:nvSpPr>
          <p:spPr bwMode="auto">
            <a:xfrm>
              <a:off x="9975327" y="2143731"/>
              <a:ext cx="1002318" cy="225723"/>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Business Consumers/ Analytics</a:t>
              </a:r>
            </a:p>
          </p:txBody>
        </p:sp>
        <p:sp>
          <p:nvSpPr>
            <p:cNvPr id="300" name="Rectangle 299">
              <a:extLst>
                <a:ext uri="{FF2B5EF4-FFF2-40B4-BE49-F238E27FC236}">
                  <a16:creationId xmlns:a16="http://schemas.microsoft.com/office/drawing/2014/main" id="{441683D7-3CAD-45B5-9203-8430D4DFFF9C}"/>
                </a:ext>
              </a:extLst>
            </p:cNvPr>
            <p:cNvSpPr/>
            <p:nvPr/>
          </p:nvSpPr>
          <p:spPr bwMode="auto">
            <a:xfrm>
              <a:off x="9975327" y="2701178"/>
              <a:ext cx="1002318" cy="225723"/>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Corporate Business Functions and HR</a:t>
              </a:r>
            </a:p>
          </p:txBody>
        </p:sp>
        <p:sp>
          <p:nvSpPr>
            <p:cNvPr id="301" name="Rectangle 300">
              <a:extLst>
                <a:ext uri="{FF2B5EF4-FFF2-40B4-BE49-F238E27FC236}">
                  <a16:creationId xmlns:a16="http://schemas.microsoft.com/office/drawing/2014/main" id="{AD66C82A-53F6-4A5B-80C0-6B68AAB278D5}"/>
                </a:ext>
              </a:extLst>
            </p:cNvPr>
            <p:cNvSpPr/>
            <p:nvPr/>
          </p:nvSpPr>
          <p:spPr bwMode="auto">
            <a:xfrm>
              <a:off x="9975327" y="2985527"/>
              <a:ext cx="1002318" cy="225723"/>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Data Scientist Community</a:t>
              </a:r>
            </a:p>
          </p:txBody>
        </p:sp>
        <p:sp>
          <p:nvSpPr>
            <p:cNvPr id="302" name="Rectangle 301">
              <a:extLst>
                <a:ext uri="{FF2B5EF4-FFF2-40B4-BE49-F238E27FC236}">
                  <a16:creationId xmlns:a16="http://schemas.microsoft.com/office/drawing/2014/main" id="{D140E472-FA92-4DBC-B28D-0E59BBA49242}"/>
                </a:ext>
              </a:extLst>
            </p:cNvPr>
            <p:cNvSpPr/>
            <p:nvPr/>
          </p:nvSpPr>
          <p:spPr bwMode="auto">
            <a:xfrm>
              <a:off x="10026941" y="3973314"/>
              <a:ext cx="922931" cy="214429"/>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b="1" dirty="0">
                  <a:latin typeface="+mj-lt"/>
                  <a:ea typeface="Open Sans" panose="020B0606030504020204" pitchFamily="34" charset="0"/>
                  <a:cs typeface="Open Sans" panose="020B0606030504020204" pitchFamily="34" charset="0"/>
                </a:rPr>
                <a:t>Portals</a:t>
              </a:r>
            </a:p>
          </p:txBody>
        </p:sp>
        <p:sp>
          <p:nvSpPr>
            <p:cNvPr id="303" name="Rectangle 302">
              <a:extLst>
                <a:ext uri="{FF2B5EF4-FFF2-40B4-BE49-F238E27FC236}">
                  <a16:creationId xmlns:a16="http://schemas.microsoft.com/office/drawing/2014/main" id="{16C5D28F-A025-4E95-B609-269AC76CF4CD}"/>
                </a:ext>
              </a:extLst>
            </p:cNvPr>
            <p:cNvSpPr/>
            <p:nvPr/>
          </p:nvSpPr>
          <p:spPr bwMode="auto">
            <a:xfrm>
              <a:off x="9975327" y="2416829"/>
              <a:ext cx="1002318" cy="225723"/>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Finance and Accounting</a:t>
              </a:r>
            </a:p>
          </p:txBody>
        </p:sp>
        <p:sp>
          <p:nvSpPr>
            <p:cNvPr id="304" name="Rectangle 6">
              <a:extLst>
                <a:ext uri="{FF2B5EF4-FFF2-40B4-BE49-F238E27FC236}">
                  <a16:creationId xmlns:a16="http://schemas.microsoft.com/office/drawing/2014/main" id="{A3F8848D-DABB-47AC-88B6-CF27CEC6517A}"/>
                </a:ext>
              </a:extLst>
            </p:cNvPr>
            <p:cNvSpPr>
              <a:spLocks noChangeArrowheads="1"/>
            </p:cNvSpPr>
            <p:nvPr/>
          </p:nvSpPr>
          <p:spPr bwMode="auto">
            <a:xfrm>
              <a:off x="3479620" y="2004636"/>
              <a:ext cx="1079215" cy="1846073"/>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Ingestion Methods</a:t>
              </a:r>
            </a:p>
          </p:txBody>
        </p:sp>
        <p:sp>
          <p:nvSpPr>
            <p:cNvPr id="307" name="Rectangle 6">
              <a:extLst>
                <a:ext uri="{FF2B5EF4-FFF2-40B4-BE49-F238E27FC236}">
                  <a16:creationId xmlns:a16="http://schemas.microsoft.com/office/drawing/2014/main" id="{592BC2C9-6C74-404F-8885-8A7546A349CF}"/>
                </a:ext>
              </a:extLst>
            </p:cNvPr>
            <p:cNvSpPr>
              <a:spLocks noChangeArrowheads="1"/>
            </p:cNvSpPr>
            <p:nvPr/>
          </p:nvSpPr>
          <p:spPr bwMode="auto">
            <a:xfrm>
              <a:off x="3593740" y="3088049"/>
              <a:ext cx="854987" cy="308351"/>
            </a:xfrm>
            <a:prstGeom prst="rect">
              <a:avLst/>
            </a:prstGeom>
            <a:noFill/>
            <a:ln w="12700">
              <a:solidFill>
                <a:schemeClr val="bg1">
                  <a:lumMod val="50000"/>
                </a:schemeClr>
              </a:solidFill>
              <a:prstDash val="solid"/>
            </a:ln>
          </p:spPr>
          <p:txBody>
            <a:bodyPr lIns="45720" rIns="45720" anchor="ctr"/>
            <a:lstStyle/>
            <a:p>
              <a:pPr algn="ctr" fontAlgn="base">
                <a:spcBef>
                  <a:spcPct val="50000"/>
                </a:spcBef>
                <a:spcAft>
                  <a:spcPct val="0"/>
                </a:spcAft>
              </a:pPr>
              <a:r>
                <a:rPr lang="en-US" sz="600" dirty="0">
                  <a:latin typeface="+mj-lt"/>
                  <a:ea typeface="Open Sans" panose="020B0606030504020204" pitchFamily="34" charset="0"/>
                  <a:cs typeface="Open Sans" panose="020B0606030504020204" pitchFamily="34" charset="0"/>
                </a:rPr>
                <a:t>Messaging Batch—AWS Kinesis Firehose</a:t>
              </a:r>
            </a:p>
          </p:txBody>
        </p:sp>
        <p:sp>
          <p:nvSpPr>
            <p:cNvPr id="308" name="Rectangle 6">
              <a:extLst>
                <a:ext uri="{FF2B5EF4-FFF2-40B4-BE49-F238E27FC236}">
                  <a16:creationId xmlns:a16="http://schemas.microsoft.com/office/drawing/2014/main" id="{BD48699A-F1C6-424A-908C-0FE69B6D825B}"/>
                </a:ext>
              </a:extLst>
            </p:cNvPr>
            <p:cNvSpPr>
              <a:spLocks noChangeArrowheads="1"/>
            </p:cNvSpPr>
            <p:nvPr/>
          </p:nvSpPr>
          <p:spPr bwMode="auto">
            <a:xfrm>
              <a:off x="3583544" y="3444124"/>
              <a:ext cx="854987" cy="316381"/>
            </a:xfrm>
            <a:prstGeom prst="rect">
              <a:avLst/>
            </a:prstGeom>
            <a:noFill/>
            <a:ln w="12700">
              <a:solidFill>
                <a:schemeClr val="bg1">
                  <a:lumMod val="50000"/>
                </a:schemeClr>
              </a:solidFill>
              <a:prstDash val="solid"/>
            </a:ln>
          </p:spPr>
          <p:txBody>
            <a:bodyPr lIns="45720" rIns="45720" anchor="ctr"/>
            <a:lstStyle/>
            <a:p>
              <a:pPr algn="ctr" fontAlgn="base">
                <a:spcBef>
                  <a:spcPct val="50000"/>
                </a:spcBef>
                <a:spcAft>
                  <a:spcPct val="0"/>
                </a:spcAft>
              </a:pPr>
              <a:r>
                <a:rPr lang="en-US" sz="600" dirty="0">
                  <a:latin typeface="+mj-lt"/>
                  <a:ea typeface="Open Sans" panose="020B0606030504020204" pitchFamily="34" charset="0"/>
                  <a:cs typeface="Open Sans" panose="020B0606030504020204" pitchFamily="34" charset="0"/>
                </a:rPr>
                <a:t>Web Services—</a:t>
              </a:r>
              <a:r>
                <a:rPr lang="en-US" sz="600" i="1" dirty="0">
                  <a:latin typeface="+mj-lt"/>
                  <a:ea typeface="Open Sans" panose="020B0606030504020204" pitchFamily="34" charset="0"/>
                  <a:cs typeface="Open Sans" panose="020B0606030504020204" pitchFamily="34" charset="0"/>
                </a:rPr>
                <a:t>NiFi</a:t>
              </a:r>
            </a:p>
          </p:txBody>
        </p:sp>
        <p:sp>
          <p:nvSpPr>
            <p:cNvPr id="310" name="Rectangle 6">
              <a:extLst>
                <a:ext uri="{FF2B5EF4-FFF2-40B4-BE49-F238E27FC236}">
                  <a16:creationId xmlns:a16="http://schemas.microsoft.com/office/drawing/2014/main" id="{329604AF-47C5-4317-96AE-82C373D465F9}"/>
                </a:ext>
              </a:extLst>
            </p:cNvPr>
            <p:cNvSpPr>
              <a:spLocks noChangeArrowheads="1"/>
            </p:cNvSpPr>
            <p:nvPr/>
          </p:nvSpPr>
          <p:spPr bwMode="auto">
            <a:xfrm>
              <a:off x="3590512" y="2280092"/>
              <a:ext cx="863691" cy="749842"/>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dirty="0">
                  <a:latin typeface="+mj-lt"/>
                  <a:ea typeface="Open Sans" panose="020B0606030504020204" pitchFamily="34" charset="0"/>
                  <a:cs typeface="Open Sans" panose="020B0606030504020204" pitchFamily="34" charset="0"/>
                </a:rPr>
                <a:t>Batch ETL &amp; ELT—AWS Glue</a:t>
              </a:r>
            </a:p>
            <a:p>
              <a:pPr algn="ctr">
                <a:spcBef>
                  <a:spcPct val="50000"/>
                </a:spcBef>
              </a:pPr>
              <a:endParaRPr lang="en-US" sz="600" b="1" dirty="0">
                <a:latin typeface="+mj-lt"/>
                <a:ea typeface="Open Sans" panose="020B0606030504020204" pitchFamily="34" charset="0"/>
                <a:cs typeface="Open Sans" panose="020B0606030504020204" pitchFamily="34" charset="0"/>
              </a:endParaRPr>
            </a:p>
            <a:p>
              <a:pPr algn="ctr">
                <a:spcBef>
                  <a:spcPct val="50000"/>
                </a:spcBef>
              </a:pPr>
              <a:endParaRPr lang="en-US" sz="600" b="1" dirty="0">
                <a:latin typeface="+mj-lt"/>
                <a:ea typeface="Open Sans" panose="020B0606030504020204" pitchFamily="34" charset="0"/>
                <a:cs typeface="Open Sans" panose="020B0606030504020204" pitchFamily="34" charset="0"/>
              </a:endParaRPr>
            </a:p>
            <a:p>
              <a:pPr algn="ctr">
                <a:spcBef>
                  <a:spcPct val="50000"/>
                </a:spcBef>
              </a:pPr>
              <a:r>
                <a:rPr lang="en-US" sz="600" i="1" dirty="0">
                  <a:latin typeface="+mj-lt"/>
                  <a:ea typeface="Open Sans" panose="020B0606030504020204" pitchFamily="34" charset="0"/>
                  <a:cs typeface="Open Sans" panose="020B0606030504020204" pitchFamily="34" charset="0"/>
                </a:rPr>
                <a:t>(Informatica, Talend)</a:t>
              </a:r>
            </a:p>
          </p:txBody>
        </p:sp>
        <p:sp>
          <p:nvSpPr>
            <p:cNvPr id="311" name="Rectangle 6">
              <a:extLst>
                <a:ext uri="{FF2B5EF4-FFF2-40B4-BE49-F238E27FC236}">
                  <a16:creationId xmlns:a16="http://schemas.microsoft.com/office/drawing/2014/main" id="{C3DF9AE0-365A-4D9E-A860-169CA0D6CD7C}"/>
                </a:ext>
              </a:extLst>
            </p:cNvPr>
            <p:cNvSpPr>
              <a:spLocks noChangeArrowheads="1"/>
            </p:cNvSpPr>
            <p:nvPr/>
          </p:nvSpPr>
          <p:spPr bwMode="auto">
            <a:xfrm>
              <a:off x="3633727" y="2541382"/>
              <a:ext cx="777261" cy="307685"/>
            </a:xfrm>
            <a:prstGeom prst="rect">
              <a:avLst/>
            </a:prstGeom>
            <a:noFill/>
            <a:ln w="12700">
              <a:solidFill>
                <a:schemeClr val="bg1">
                  <a:lumMod val="50000"/>
                </a:schemeClr>
              </a:solidFill>
              <a:prstDash val="solid"/>
            </a:ln>
          </p:spPr>
          <p:txBody>
            <a:bodyPr lIns="9144" tIns="9144" rIns="9144" bIns="0" anchor="ctr"/>
            <a:lstStyle/>
            <a:p>
              <a:pPr algn="ctr" fontAlgn="base">
                <a:spcBef>
                  <a:spcPct val="50000"/>
                </a:spcBef>
                <a:spcAft>
                  <a:spcPct val="0"/>
                </a:spcAft>
                <a:defRPr/>
              </a:pPr>
              <a:r>
                <a:rPr lang="en-US" sz="600" kern="0" dirty="0">
                  <a:latin typeface="+mj-lt"/>
                  <a:ea typeface="Open Sans" panose="020B0606030504020204" pitchFamily="34" charset="0"/>
                  <a:cs typeface="Open Sans" panose="020B0606030504020204" pitchFamily="34" charset="0"/>
                </a:rPr>
                <a:t>File (Batch, Intra-day batch, mini-batch) </a:t>
              </a:r>
            </a:p>
          </p:txBody>
        </p:sp>
        <p:sp>
          <p:nvSpPr>
            <p:cNvPr id="312" name="Rectangle 311">
              <a:extLst>
                <a:ext uri="{FF2B5EF4-FFF2-40B4-BE49-F238E27FC236}">
                  <a16:creationId xmlns:a16="http://schemas.microsoft.com/office/drawing/2014/main" id="{3F21D987-C770-4EF2-A574-AF5BE461A1EA}"/>
                </a:ext>
              </a:extLst>
            </p:cNvPr>
            <p:cNvSpPr/>
            <p:nvPr/>
          </p:nvSpPr>
          <p:spPr bwMode="auto">
            <a:xfrm>
              <a:off x="4646735" y="1668682"/>
              <a:ext cx="3885069" cy="221806"/>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DATA STORAGE AND PROCESSING</a:t>
              </a:r>
            </a:p>
          </p:txBody>
        </p:sp>
        <p:sp>
          <p:nvSpPr>
            <p:cNvPr id="317" name="AutoShape 21">
              <a:extLst>
                <a:ext uri="{FF2B5EF4-FFF2-40B4-BE49-F238E27FC236}">
                  <a16:creationId xmlns:a16="http://schemas.microsoft.com/office/drawing/2014/main" id="{69D0CE64-8178-4050-8569-FF9DD870E869}"/>
                </a:ext>
              </a:extLst>
            </p:cNvPr>
            <p:cNvSpPr>
              <a:spLocks noChangeArrowheads="1"/>
            </p:cNvSpPr>
            <p:nvPr/>
          </p:nvSpPr>
          <p:spPr bwMode="auto">
            <a:xfrm>
              <a:off x="1057132" y="2216704"/>
              <a:ext cx="1113494" cy="310505"/>
            </a:xfrm>
            <a:prstGeom prst="can">
              <a:avLst>
                <a:gd name="adj" fmla="val 25000"/>
              </a:avLst>
            </a:prstGeom>
            <a:solidFill>
              <a:sysClr val="window" lastClr="FFFFFF"/>
            </a:solidFill>
            <a:ln w="3175">
              <a:solidFill>
                <a:schemeClr val="bg1">
                  <a:lumMod val="50000"/>
                </a:schemeClr>
              </a:solidFill>
              <a:round/>
              <a:headEnd/>
              <a:tailEnd/>
            </a:ln>
          </p:spPr>
          <p:txBody>
            <a:bodyPr lIns="91440" tIns="0" rIns="91440" bIns="0" anchor="ctr" anchorCtr="1"/>
            <a:lstStyle/>
            <a:p>
              <a:pPr algn="ctr">
                <a:defRPr/>
              </a:pPr>
              <a:r>
                <a:rPr lang="en-US" sz="600" kern="0" dirty="0">
                  <a:latin typeface="+mj-lt"/>
                  <a:ea typeface="Open Sans" panose="020B0606030504020204" pitchFamily="34" charset="0"/>
                  <a:cs typeface="Open Sans" panose="020B0606030504020204" pitchFamily="34" charset="0"/>
                </a:rPr>
                <a:t>Customer &amp; Distribution</a:t>
              </a:r>
            </a:p>
          </p:txBody>
        </p:sp>
        <p:sp>
          <p:nvSpPr>
            <p:cNvPr id="318" name="Rectangle 6">
              <a:extLst>
                <a:ext uri="{FF2B5EF4-FFF2-40B4-BE49-F238E27FC236}">
                  <a16:creationId xmlns:a16="http://schemas.microsoft.com/office/drawing/2014/main" id="{C047F3F8-EC33-477F-94E3-CCC03DD9AC42}"/>
                </a:ext>
              </a:extLst>
            </p:cNvPr>
            <p:cNvSpPr>
              <a:spLocks noChangeArrowheads="1"/>
            </p:cNvSpPr>
            <p:nvPr/>
          </p:nvSpPr>
          <p:spPr bwMode="auto">
            <a:xfrm>
              <a:off x="4743623" y="1963512"/>
              <a:ext cx="2586343" cy="1843141"/>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Landing Zone and Data Lake (AWS S3)</a:t>
              </a:r>
            </a:p>
          </p:txBody>
        </p:sp>
        <p:sp>
          <p:nvSpPr>
            <p:cNvPr id="320" name="Rectangle 6">
              <a:extLst>
                <a:ext uri="{FF2B5EF4-FFF2-40B4-BE49-F238E27FC236}">
                  <a16:creationId xmlns:a16="http://schemas.microsoft.com/office/drawing/2014/main" id="{A9BB3460-CF66-4D46-AEEA-3100B17722C4}"/>
                </a:ext>
              </a:extLst>
            </p:cNvPr>
            <p:cNvSpPr>
              <a:spLocks noChangeArrowheads="1"/>
            </p:cNvSpPr>
            <p:nvPr/>
          </p:nvSpPr>
          <p:spPr bwMode="auto">
            <a:xfrm>
              <a:off x="4750565" y="3865919"/>
              <a:ext cx="2579401" cy="1182639"/>
            </a:xfrm>
            <a:prstGeom prst="rect">
              <a:avLst/>
            </a:prstGeom>
            <a:noFill/>
            <a:ln w="12700">
              <a:solidFill>
                <a:schemeClr val="bg1">
                  <a:lumMod val="50000"/>
                </a:schemeClr>
              </a:solidFill>
              <a:prstDash val="solid"/>
            </a:ln>
          </p:spPr>
          <p:txBody>
            <a:bodyPr lIns="45720" rIns="45720" anchor="t"/>
            <a:lstStyle/>
            <a:p>
              <a:pPr algn="ctr">
                <a:spcBef>
                  <a:spcPct val="50000"/>
                </a:spcBef>
                <a:defRPr/>
              </a:pPr>
              <a:r>
                <a:rPr lang="en-US" sz="600" b="1" kern="0" dirty="0">
                  <a:latin typeface="+mj-lt"/>
                  <a:ea typeface="Open Sans" panose="020B0606030504020204" pitchFamily="34" charset="0"/>
                  <a:cs typeface="Open Sans" panose="020B0606030504020204" pitchFamily="34" charset="0"/>
                </a:rPr>
                <a:t>Analytical Processing</a:t>
              </a:r>
            </a:p>
          </p:txBody>
        </p:sp>
        <p:sp>
          <p:nvSpPr>
            <p:cNvPr id="321" name="Rectangle 6">
              <a:extLst>
                <a:ext uri="{FF2B5EF4-FFF2-40B4-BE49-F238E27FC236}">
                  <a16:creationId xmlns:a16="http://schemas.microsoft.com/office/drawing/2014/main" id="{5CDC8C64-7784-4B6B-8BBE-842D395D3F3B}"/>
                </a:ext>
              </a:extLst>
            </p:cNvPr>
            <p:cNvSpPr>
              <a:spLocks noChangeArrowheads="1"/>
            </p:cNvSpPr>
            <p:nvPr/>
          </p:nvSpPr>
          <p:spPr bwMode="auto">
            <a:xfrm>
              <a:off x="4759009" y="2112972"/>
              <a:ext cx="2509431" cy="1373659"/>
            </a:xfrm>
            <a:prstGeom prst="rect">
              <a:avLst/>
            </a:prstGeom>
            <a:noFill/>
            <a:ln w="12700">
              <a:solidFill>
                <a:schemeClr val="bg1">
                  <a:lumMod val="50000"/>
                </a:schemeClr>
              </a:solidFill>
              <a:prstDash val="solid"/>
            </a:ln>
          </p:spPr>
          <p:txBody>
            <a:bodyPr lIns="45720" rIns="45720" anchor="t"/>
            <a:lstStyle/>
            <a:p>
              <a:pPr algn="ctr" fontAlgn="base">
                <a:spcBef>
                  <a:spcPct val="50000"/>
                </a:spcBef>
                <a:spcAft>
                  <a:spcPct val="0"/>
                </a:spcAft>
                <a:defRPr/>
              </a:pPr>
              <a:r>
                <a:rPr lang="en-US" sz="600" kern="0" dirty="0">
                  <a:latin typeface="+mj-lt"/>
                  <a:ea typeface="Open Sans" panose="020B0606030504020204" pitchFamily="34" charset="0"/>
                  <a:cs typeface="Open Sans" panose="020B0606030504020204" pitchFamily="34" charset="0"/>
                </a:rPr>
                <a:t>Production Data Lake</a:t>
              </a:r>
            </a:p>
          </p:txBody>
        </p:sp>
        <p:sp>
          <p:nvSpPr>
            <p:cNvPr id="334" name="AutoShape 21">
              <a:extLst>
                <a:ext uri="{FF2B5EF4-FFF2-40B4-BE49-F238E27FC236}">
                  <a16:creationId xmlns:a16="http://schemas.microsoft.com/office/drawing/2014/main" id="{C3C049D1-80BD-4467-8680-6CF1DCD40EEF}"/>
                </a:ext>
              </a:extLst>
            </p:cNvPr>
            <p:cNvSpPr>
              <a:spLocks noChangeArrowheads="1"/>
            </p:cNvSpPr>
            <p:nvPr/>
          </p:nvSpPr>
          <p:spPr bwMode="auto">
            <a:xfrm>
              <a:off x="1057132" y="2551575"/>
              <a:ext cx="1113494" cy="310505"/>
            </a:xfrm>
            <a:prstGeom prst="can">
              <a:avLst>
                <a:gd name="adj" fmla="val 25000"/>
              </a:avLst>
            </a:prstGeom>
            <a:solidFill>
              <a:sysClr val="window" lastClr="FFFFFF"/>
            </a:solidFill>
            <a:ln w="3175">
              <a:solidFill>
                <a:schemeClr val="bg1">
                  <a:lumMod val="50000"/>
                </a:schemeClr>
              </a:solidFill>
              <a:round/>
              <a:headEnd/>
              <a:tailEnd/>
            </a:ln>
          </p:spPr>
          <p:txBody>
            <a:bodyPr lIns="91440" tIns="0" rIns="91440" bIns="0" anchor="ctr" anchorCtr="1"/>
            <a:lstStyle/>
            <a:p>
              <a:pPr algn="ctr"/>
              <a:r>
                <a:rPr lang="en-US" sz="600" kern="0" dirty="0">
                  <a:latin typeface="+mj-lt"/>
                  <a:ea typeface="Open Sans" panose="020B0606030504020204" pitchFamily="34" charset="0"/>
                  <a:cs typeface="Open Sans" panose="020B0606030504020204" pitchFamily="34" charset="0"/>
                </a:rPr>
                <a:t>Marketing, Sales &amp; Distribution</a:t>
              </a:r>
            </a:p>
          </p:txBody>
        </p:sp>
        <p:sp>
          <p:nvSpPr>
            <p:cNvPr id="335" name="AutoShape 21">
              <a:extLst>
                <a:ext uri="{FF2B5EF4-FFF2-40B4-BE49-F238E27FC236}">
                  <a16:creationId xmlns:a16="http://schemas.microsoft.com/office/drawing/2014/main" id="{43CEA5F8-CD79-46D9-A861-5973CB9BC900}"/>
                </a:ext>
              </a:extLst>
            </p:cNvPr>
            <p:cNvSpPr>
              <a:spLocks noChangeArrowheads="1"/>
            </p:cNvSpPr>
            <p:nvPr/>
          </p:nvSpPr>
          <p:spPr bwMode="auto">
            <a:xfrm>
              <a:off x="1057132" y="2886447"/>
              <a:ext cx="1113494" cy="310505"/>
            </a:xfrm>
            <a:prstGeom prst="can">
              <a:avLst>
                <a:gd name="adj" fmla="val 25000"/>
              </a:avLst>
            </a:prstGeom>
            <a:solidFill>
              <a:sysClr val="window" lastClr="FFFFFF"/>
            </a:solidFill>
            <a:ln w="3175">
              <a:solidFill>
                <a:schemeClr val="bg1">
                  <a:lumMod val="50000"/>
                </a:schemeClr>
              </a:solidFill>
              <a:round/>
              <a:headEnd/>
              <a:tailEnd/>
            </a:ln>
          </p:spPr>
          <p:txBody>
            <a:bodyPr lIns="91440" tIns="0" rIns="91440" bIns="0" anchor="ctr" anchorCtr="1"/>
            <a:lstStyle/>
            <a:p>
              <a:pPr algn="ctr"/>
              <a:r>
                <a:rPr lang="en-US" sz="600" kern="0" dirty="0">
                  <a:latin typeface="+mj-lt"/>
                  <a:ea typeface="Open Sans" panose="020B0606030504020204" pitchFamily="34" charset="0"/>
                  <a:cs typeface="Open Sans" panose="020B0606030504020204" pitchFamily="34" charset="0"/>
                </a:rPr>
                <a:t>ERP</a:t>
              </a:r>
            </a:p>
          </p:txBody>
        </p:sp>
        <p:sp>
          <p:nvSpPr>
            <p:cNvPr id="336" name="AutoShape 21">
              <a:extLst>
                <a:ext uri="{FF2B5EF4-FFF2-40B4-BE49-F238E27FC236}">
                  <a16:creationId xmlns:a16="http://schemas.microsoft.com/office/drawing/2014/main" id="{61EA126D-670B-4C8C-A4FE-9738ACF5F7DD}"/>
                </a:ext>
              </a:extLst>
            </p:cNvPr>
            <p:cNvSpPr>
              <a:spLocks noChangeArrowheads="1"/>
            </p:cNvSpPr>
            <p:nvPr/>
          </p:nvSpPr>
          <p:spPr bwMode="auto">
            <a:xfrm>
              <a:off x="1057132" y="3221318"/>
              <a:ext cx="1113494" cy="310505"/>
            </a:xfrm>
            <a:prstGeom prst="can">
              <a:avLst>
                <a:gd name="adj" fmla="val 25000"/>
              </a:avLst>
            </a:prstGeom>
            <a:solidFill>
              <a:sysClr val="window" lastClr="FFFFFF"/>
            </a:solidFill>
            <a:ln w="3175">
              <a:solidFill>
                <a:schemeClr val="bg1">
                  <a:lumMod val="50000"/>
                </a:schemeClr>
              </a:solidFill>
              <a:round/>
              <a:headEnd/>
              <a:tailEnd/>
            </a:ln>
          </p:spPr>
          <p:txBody>
            <a:bodyPr lIns="91440" tIns="0" rIns="91440" bIns="0" anchor="ctr" anchorCtr="1"/>
            <a:lstStyle/>
            <a:p>
              <a:pPr algn="ctr">
                <a:lnSpc>
                  <a:spcPct val="150000"/>
                </a:lnSpc>
              </a:pPr>
              <a:r>
                <a:rPr lang="en-US" sz="600" kern="0" dirty="0">
                  <a:latin typeface="+mj-lt"/>
                  <a:ea typeface="Open Sans" panose="020B0606030504020204" pitchFamily="34" charset="0"/>
                  <a:cs typeface="Open Sans" panose="020B0606030504020204" pitchFamily="34" charset="0"/>
                </a:rPr>
                <a:t>HR &amp; Finance</a:t>
              </a:r>
            </a:p>
          </p:txBody>
        </p:sp>
        <p:sp>
          <p:nvSpPr>
            <p:cNvPr id="337" name="Parallelogram 336">
              <a:extLst>
                <a:ext uri="{FF2B5EF4-FFF2-40B4-BE49-F238E27FC236}">
                  <a16:creationId xmlns:a16="http://schemas.microsoft.com/office/drawing/2014/main" id="{9CDF7FC2-BC86-4429-8451-337C17FC6EF3}"/>
                </a:ext>
              </a:extLst>
            </p:cNvPr>
            <p:cNvSpPr/>
            <p:nvPr/>
          </p:nvSpPr>
          <p:spPr bwMode="gray">
            <a:xfrm>
              <a:off x="1040743" y="4657014"/>
              <a:ext cx="1146762" cy="169891"/>
            </a:xfrm>
            <a:prstGeom prst="parallelogram">
              <a:avLst>
                <a:gd name="adj" fmla="val 81833"/>
              </a:avLst>
            </a:prstGeom>
            <a:solidFill>
              <a:sysClr val="window" lastClr="FFFFFF"/>
            </a:solidFill>
            <a:ln w="12700" cap="rnd" algn="ctr">
              <a:solidFill>
                <a:schemeClr val="bg1">
                  <a:lumMod val="50000"/>
                </a:schemeClr>
              </a:solidFill>
              <a:miter lim="800000"/>
              <a:headEnd/>
              <a:tailEnd/>
            </a:ln>
          </p:spPr>
          <p:txBody>
            <a:bodyPr lIns="182880" rtlCol="0" anchor="ctr" anchorCtr="1"/>
            <a:lstStyle/>
            <a:p>
              <a:pPr algn="ctr" eaLnBrk="0" hangingPunct="0">
                <a:lnSpc>
                  <a:spcPct val="106000"/>
                </a:lnSpc>
                <a:defRPr/>
              </a:pPr>
              <a:r>
                <a:rPr lang="en-US" sz="600" kern="0" dirty="0">
                  <a:latin typeface="+mj-lt"/>
                  <a:ea typeface="Open Sans" panose="020B0606030504020204" pitchFamily="34" charset="0"/>
                  <a:cs typeface="Open Sans" panose="020B0606030504020204" pitchFamily="34" charset="0"/>
                </a:rPr>
                <a:t>IOT Data</a:t>
              </a:r>
            </a:p>
          </p:txBody>
        </p:sp>
        <p:sp>
          <p:nvSpPr>
            <p:cNvPr id="339" name="AutoShape 21">
              <a:extLst>
                <a:ext uri="{FF2B5EF4-FFF2-40B4-BE49-F238E27FC236}">
                  <a16:creationId xmlns:a16="http://schemas.microsoft.com/office/drawing/2014/main" id="{799CD18D-68BF-4E62-90EC-9A3075A12E27}"/>
                </a:ext>
              </a:extLst>
            </p:cNvPr>
            <p:cNvSpPr>
              <a:spLocks noChangeArrowheads="1"/>
            </p:cNvSpPr>
            <p:nvPr/>
          </p:nvSpPr>
          <p:spPr bwMode="auto">
            <a:xfrm>
              <a:off x="8754731" y="4531637"/>
              <a:ext cx="942305" cy="454611"/>
            </a:xfrm>
            <a:prstGeom prst="can">
              <a:avLst>
                <a:gd name="adj" fmla="val 25000"/>
              </a:avLst>
            </a:prstGeom>
            <a:noFill/>
            <a:ln w="9525">
              <a:solidFill>
                <a:schemeClr val="bg1">
                  <a:lumMod val="50000"/>
                </a:schemeClr>
              </a:solidFill>
              <a:round/>
              <a:headEnd/>
              <a:tailEnd/>
            </a:ln>
          </p:spPr>
          <p:txBody>
            <a:bodyPr lIns="0" tIns="0" rIns="0" bIns="0" anchor="ctr" anchorCtr="1"/>
            <a:lstStyle/>
            <a:p>
              <a:pPr algn="ctr">
                <a:defRPr/>
              </a:pPr>
              <a:r>
                <a:rPr lang="en-US" sz="600" b="1" kern="0" dirty="0">
                  <a:latin typeface="+mj-lt"/>
                  <a:ea typeface="Open Sans" panose="020B0606030504020204" pitchFamily="34" charset="0"/>
                  <a:cs typeface="Open Sans" panose="020B0606030504020204" pitchFamily="34" charset="0"/>
                </a:rPr>
                <a:t>Analytics/ML </a:t>
              </a:r>
            </a:p>
            <a:p>
              <a:pPr algn="ctr">
                <a:defRPr/>
              </a:pPr>
              <a:r>
                <a:rPr lang="en-US" sz="600" b="1" kern="0" dirty="0">
                  <a:latin typeface="+mj-lt"/>
                  <a:ea typeface="Open Sans" panose="020B0606030504020204" pitchFamily="34" charset="0"/>
                  <a:cs typeface="Open Sans" panose="020B0606030504020204" pitchFamily="34" charset="0"/>
                </a:rPr>
                <a:t>Model Repository</a:t>
              </a:r>
            </a:p>
          </p:txBody>
        </p:sp>
        <p:sp>
          <p:nvSpPr>
            <p:cNvPr id="340" name="Rectangle 339">
              <a:extLst>
                <a:ext uri="{FF2B5EF4-FFF2-40B4-BE49-F238E27FC236}">
                  <a16:creationId xmlns:a16="http://schemas.microsoft.com/office/drawing/2014/main" id="{BE355503-EE6F-4BA2-BB15-A316E77DF2A6}"/>
                </a:ext>
              </a:extLst>
            </p:cNvPr>
            <p:cNvSpPr/>
            <p:nvPr/>
          </p:nvSpPr>
          <p:spPr bwMode="auto">
            <a:xfrm>
              <a:off x="10019756" y="4232648"/>
              <a:ext cx="922931" cy="214429"/>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b="1" dirty="0">
                  <a:latin typeface="+mj-lt"/>
                  <a:ea typeface="Open Sans" panose="020B0606030504020204" pitchFamily="34" charset="0"/>
                  <a:cs typeface="Open Sans" panose="020B0606030504020204" pitchFamily="34" charset="0"/>
                </a:rPr>
                <a:t>Mobile</a:t>
              </a:r>
            </a:p>
          </p:txBody>
        </p:sp>
        <p:sp>
          <p:nvSpPr>
            <p:cNvPr id="341" name="Rectangle 340">
              <a:extLst>
                <a:ext uri="{FF2B5EF4-FFF2-40B4-BE49-F238E27FC236}">
                  <a16:creationId xmlns:a16="http://schemas.microsoft.com/office/drawing/2014/main" id="{BE1865B7-AAC0-4A51-A983-774D67FFEC7E}"/>
                </a:ext>
              </a:extLst>
            </p:cNvPr>
            <p:cNvSpPr/>
            <p:nvPr/>
          </p:nvSpPr>
          <p:spPr bwMode="auto">
            <a:xfrm>
              <a:off x="10019756" y="4745241"/>
              <a:ext cx="922931" cy="214429"/>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b="1" dirty="0">
                  <a:latin typeface="+mj-lt"/>
                  <a:ea typeface="Open Sans" panose="020B0606030504020204" pitchFamily="34" charset="0"/>
                  <a:cs typeface="Open Sans" panose="020B0606030504020204" pitchFamily="34" charset="0"/>
                </a:rPr>
                <a:t>Enterprise Applications</a:t>
              </a:r>
            </a:p>
          </p:txBody>
        </p:sp>
        <p:sp>
          <p:nvSpPr>
            <p:cNvPr id="342" name="AutoShape 21">
              <a:extLst>
                <a:ext uri="{FF2B5EF4-FFF2-40B4-BE49-F238E27FC236}">
                  <a16:creationId xmlns:a16="http://schemas.microsoft.com/office/drawing/2014/main" id="{29454F85-D730-4E38-BA06-2CF596D1451E}"/>
                </a:ext>
              </a:extLst>
            </p:cNvPr>
            <p:cNvSpPr>
              <a:spLocks noChangeArrowheads="1"/>
            </p:cNvSpPr>
            <p:nvPr/>
          </p:nvSpPr>
          <p:spPr bwMode="auto">
            <a:xfrm>
              <a:off x="1057132" y="3556189"/>
              <a:ext cx="1113494" cy="310505"/>
            </a:xfrm>
            <a:prstGeom prst="can">
              <a:avLst>
                <a:gd name="adj" fmla="val 25000"/>
              </a:avLst>
            </a:prstGeom>
            <a:solidFill>
              <a:sysClr val="window" lastClr="FFFFFF"/>
            </a:solidFill>
            <a:ln w="3175">
              <a:solidFill>
                <a:schemeClr val="bg1">
                  <a:lumMod val="50000"/>
                </a:schemeClr>
              </a:solidFill>
              <a:round/>
              <a:headEnd/>
              <a:tailEnd/>
            </a:ln>
          </p:spPr>
          <p:txBody>
            <a:bodyPr lIns="91440" tIns="0" rIns="91440" bIns="0" anchor="ctr" anchorCtr="1"/>
            <a:lstStyle/>
            <a:p>
              <a:pPr algn="ctr">
                <a:lnSpc>
                  <a:spcPct val="150000"/>
                </a:lnSpc>
              </a:pPr>
              <a:r>
                <a:rPr lang="en-US" sz="600" kern="0" dirty="0">
                  <a:latin typeface="+mj-lt"/>
                  <a:ea typeface="Open Sans" panose="020B0606030504020204" pitchFamily="34" charset="0"/>
                  <a:cs typeface="Open Sans" panose="020B0606030504020204" pitchFamily="34" charset="0"/>
                </a:rPr>
                <a:t>Master Data Mgmt.</a:t>
              </a:r>
            </a:p>
          </p:txBody>
        </p:sp>
        <p:sp>
          <p:nvSpPr>
            <p:cNvPr id="343" name="Rectangle 6">
              <a:extLst>
                <a:ext uri="{FF2B5EF4-FFF2-40B4-BE49-F238E27FC236}">
                  <a16:creationId xmlns:a16="http://schemas.microsoft.com/office/drawing/2014/main" id="{A1699163-D16B-4CD3-AF9F-AF85B7CD7493}"/>
                </a:ext>
              </a:extLst>
            </p:cNvPr>
            <p:cNvSpPr>
              <a:spLocks noChangeArrowheads="1"/>
            </p:cNvSpPr>
            <p:nvPr/>
          </p:nvSpPr>
          <p:spPr bwMode="auto">
            <a:xfrm>
              <a:off x="1041715" y="5055224"/>
              <a:ext cx="1144821" cy="169891"/>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fontAlgn="base">
                <a:spcAft>
                  <a:spcPct val="0"/>
                </a:spcAft>
                <a:defRPr/>
              </a:pPr>
              <a:r>
                <a:rPr lang="en-US" sz="600" kern="0" dirty="0">
                  <a:latin typeface="+mj-lt"/>
                  <a:ea typeface="Open Sans" panose="020B0606030504020204" pitchFamily="34" charset="0"/>
                  <a:cs typeface="Open Sans" panose="020B0606030504020204" pitchFamily="34" charset="0"/>
                </a:rPr>
                <a:t>Geospatial Data</a:t>
              </a:r>
            </a:p>
          </p:txBody>
        </p:sp>
        <p:sp>
          <p:nvSpPr>
            <p:cNvPr id="344" name="Rectangle 6">
              <a:extLst>
                <a:ext uri="{FF2B5EF4-FFF2-40B4-BE49-F238E27FC236}">
                  <a16:creationId xmlns:a16="http://schemas.microsoft.com/office/drawing/2014/main" id="{63424F7E-59AB-451B-B814-CAD9768DB103}"/>
                </a:ext>
              </a:extLst>
            </p:cNvPr>
            <p:cNvSpPr>
              <a:spLocks noChangeArrowheads="1"/>
            </p:cNvSpPr>
            <p:nvPr/>
          </p:nvSpPr>
          <p:spPr bwMode="auto">
            <a:xfrm>
              <a:off x="1041715" y="5453435"/>
              <a:ext cx="1144821" cy="169891"/>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fontAlgn="base">
                <a:spcBef>
                  <a:spcPct val="50000"/>
                </a:spcBef>
                <a:spcAft>
                  <a:spcPct val="0"/>
                </a:spcAft>
                <a:defRPr/>
              </a:pPr>
              <a:r>
                <a:rPr lang="en-US" sz="600" kern="0" dirty="0">
                  <a:latin typeface="+mj-lt"/>
                  <a:ea typeface="Open Sans" panose="020B0606030504020204" pitchFamily="34" charset="0"/>
                  <a:cs typeface="Open Sans" panose="020B0606030504020204" pitchFamily="34" charset="0"/>
                </a:rPr>
                <a:t>Live Streams</a:t>
              </a:r>
              <a:endParaRPr lang="en-US" sz="600" i="1" kern="0" dirty="0">
                <a:latin typeface="+mj-lt"/>
                <a:ea typeface="Open Sans" panose="020B0606030504020204" pitchFamily="34" charset="0"/>
                <a:cs typeface="Open Sans" panose="020B0606030504020204" pitchFamily="34" charset="0"/>
              </a:endParaRPr>
            </a:p>
          </p:txBody>
        </p:sp>
        <p:sp>
          <p:nvSpPr>
            <p:cNvPr id="346" name="Rectangle 6">
              <a:extLst>
                <a:ext uri="{FF2B5EF4-FFF2-40B4-BE49-F238E27FC236}">
                  <a16:creationId xmlns:a16="http://schemas.microsoft.com/office/drawing/2014/main" id="{1B6D9ACD-F166-4A16-A5A3-6CDEFFA329DB}"/>
                </a:ext>
              </a:extLst>
            </p:cNvPr>
            <p:cNvSpPr>
              <a:spLocks noChangeArrowheads="1"/>
            </p:cNvSpPr>
            <p:nvPr/>
          </p:nvSpPr>
          <p:spPr bwMode="auto">
            <a:xfrm>
              <a:off x="8649234" y="3289617"/>
              <a:ext cx="1120452" cy="365265"/>
            </a:xfrm>
            <a:prstGeom prst="rect">
              <a:avLst/>
            </a:prstGeom>
            <a:noFill/>
            <a:ln w="12700">
              <a:solidFill>
                <a:schemeClr val="bg1">
                  <a:lumMod val="50000"/>
                </a:schemeClr>
              </a:solidFill>
              <a:prstDash val="solid"/>
            </a:ln>
          </p:spPr>
          <p:txBody>
            <a:bodyPr lIns="45720" rIns="45720" anchor="ctr"/>
            <a:lstStyle/>
            <a:p>
              <a:pPr algn="ctr" fontAlgn="base">
                <a:spcBef>
                  <a:spcPct val="50000"/>
                </a:spcBef>
                <a:spcAft>
                  <a:spcPct val="0"/>
                </a:spcAft>
              </a:pPr>
              <a:r>
                <a:rPr lang="en-US" sz="600" b="1" dirty="0">
                  <a:latin typeface="+mj-lt"/>
                  <a:ea typeface="Open Sans" panose="020B0606030504020204" pitchFamily="34" charset="0"/>
                  <a:cs typeface="Open Sans" panose="020B0606030504020204" pitchFamily="34" charset="0"/>
                </a:rPr>
                <a:t>Analytics and Visualization—</a:t>
              </a:r>
              <a:r>
                <a:rPr lang="en-US" sz="600" b="1" dirty="0" err="1">
                  <a:latin typeface="+mj-lt"/>
                  <a:ea typeface="Open Sans" panose="020B0606030504020204" pitchFamily="34" charset="0"/>
                  <a:cs typeface="Open Sans" panose="020B0606030504020204" pitchFamily="34" charset="0"/>
                </a:rPr>
                <a:t>QuickSight</a:t>
              </a:r>
              <a:r>
                <a:rPr lang="en-US" sz="600" b="1" dirty="0">
                  <a:latin typeface="+mj-lt"/>
                  <a:ea typeface="Open Sans" panose="020B0606030504020204" pitchFamily="34" charset="0"/>
                  <a:cs typeface="Open Sans" panose="020B0606030504020204" pitchFamily="34" charset="0"/>
                </a:rPr>
                <a:t> </a:t>
              </a:r>
              <a:r>
                <a:rPr lang="en-US" sz="600" i="1" dirty="0">
                  <a:latin typeface="+mj-lt"/>
                  <a:ea typeface="Open Sans" panose="020B0606030504020204" pitchFamily="34" charset="0"/>
                  <a:cs typeface="Open Sans" panose="020B0606030504020204" pitchFamily="34" charset="0"/>
                </a:rPr>
                <a:t>(Tableau, Qlik)</a:t>
              </a:r>
            </a:p>
          </p:txBody>
        </p:sp>
        <p:sp>
          <p:nvSpPr>
            <p:cNvPr id="347" name="TextBox 346">
              <a:extLst>
                <a:ext uri="{FF2B5EF4-FFF2-40B4-BE49-F238E27FC236}">
                  <a16:creationId xmlns:a16="http://schemas.microsoft.com/office/drawing/2014/main" id="{CA27DBC3-854C-4CC6-9B64-5A6B55FE084E}"/>
                </a:ext>
              </a:extLst>
            </p:cNvPr>
            <p:cNvSpPr txBox="1"/>
            <p:nvPr/>
          </p:nvSpPr>
          <p:spPr bwMode="gray">
            <a:xfrm>
              <a:off x="8680686" y="3688286"/>
              <a:ext cx="1079142" cy="184666"/>
            </a:xfrm>
            <a:prstGeom prst="rect">
              <a:avLst/>
            </a:prstGeom>
            <a:noFill/>
            <a:ln w="9525">
              <a:solidFill>
                <a:schemeClr val="bg1">
                  <a:lumMod val="50000"/>
                </a:schemeClr>
              </a:solidFill>
              <a:miter lim="800000"/>
              <a:headEnd/>
              <a:tailEnd/>
            </a:ln>
          </p:spPr>
          <p:txBody>
            <a:bodyPr wrap="square" lIns="0" tIns="0" rIns="0" bIns="0" rtlCol="0">
              <a:spAutoFit/>
            </a:bodyPr>
            <a:lstStyle/>
            <a:p>
              <a:pPr algn="ctr"/>
              <a:r>
                <a:rPr lang="en-US" sz="600" i="1" dirty="0">
                  <a:latin typeface="+mj-lt"/>
                  <a:ea typeface="Open Sans" panose="020B0606030504020204" pitchFamily="34" charset="0"/>
                  <a:cs typeface="Open Sans" panose="020B0606030504020204" pitchFamily="34" charset="0"/>
                </a:rPr>
                <a:t>(Processing, Analysis, Visualization)</a:t>
              </a:r>
            </a:p>
          </p:txBody>
        </p:sp>
        <p:sp>
          <p:nvSpPr>
            <p:cNvPr id="348" name="Rectangle 347">
              <a:extLst>
                <a:ext uri="{FF2B5EF4-FFF2-40B4-BE49-F238E27FC236}">
                  <a16:creationId xmlns:a16="http://schemas.microsoft.com/office/drawing/2014/main" id="{54F546EA-3AB9-4A11-9B72-2905FD30FFDA}"/>
                </a:ext>
              </a:extLst>
            </p:cNvPr>
            <p:cNvSpPr/>
            <p:nvPr/>
          </p:nvSpPr>
          <p:spPr bwMode="auto">
            <a:xfrm>
              <a:off x="10019756" y="4485907"/>
              <a:ext cx="922931" cy="214429"/>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b="1" dirty="0">
                  <a:latin typeface="+mj-lt"/>
                  <a:ea typeface="Open Sans" panose="020B0606030504020204" pitchFamily="34" charset="0"/>
                  <a:cs typeface="Open Sans" panose="020B0606030504020204" pitchFamily="34" charset="0"/>
                </a:rPr>
                <a:t>Enterprise Search</a:t>
              </a:r>
            </a:p>
          </p:txBody>
        </p:sp>
        <p:sp>
          <p:nvSpPr>
            <p:cNvPr id="357" name="Rectangle 356">
              <a:extLst>
                <a:ext uri="{FF2B5EF4-FFF2-40B4-BE49-F238E27FC236}">
                  <a16:creationId xmlns:a16="http://schemas.microsoft.com/office/drawing/2014/main" id="{9CB8284D-03C9-4359-A6C6-7640244DC462}"/>
                </a:ext>
              </a:extLst>
            </p:cNvPr>
            <p:cNvSpPr/>
            <p:nvPr/>
          </p:nvSpPr>
          <p:spPr bwMode="auto">
            <a:xfrm>
              <a:off x="9971310" y="3264251"/>
              <a:ext cx="1002318" cy="225723"/>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External Consumers</a:t>
              </a:r>
            </a:p>
          </p:txBody>
        </p:sp>
        <p:sp>
          <p:nvSpPr>
            <p:cNvPr id="358" name="Rectangle 6">
              <a:extLst>
                <a:ext uri="{FF2B5EF4-FFF2-40B4-BE49-F238E27FC236}">
                  <a16:creationId xmlns:a16="http://schemas.microsoft.com/office/drawing/2014/main" id="{0B072D75-AFB4-46E3-A3D5-963303A24DDA}"/>
                </a:ext>
              </a:extLst>
            </p:cNvPr>
            <p:cNvSpPr>
              <a:spLocks noChangeArrowheads="1"/>
            </p:cNvSpPr>
            <p:nvPr/>
          </p:nvSpPr>
          <p:spPr bwMode="auto">
            <a:xfrm>
              <a:off x="4781172" y="3512465"/>
              <a:ext cx="2491233" cy="229461"/>
            </a:xfrm>
            <a:prstGeom prst="rect">
              <a:avLst/>
            </a:prstGeom>
            <a:noFill/>
            <a:ln w="12700">
              <a:solidFill>
                <a:schemeClr val="bg1">
                  <a:lumMod val="50000"/>
                </a:schemeClr>
              </a:solidFill>
              <a:prstDash val="solid"/>
            </a:ln>
          </p:spPr>
          <p:txBody>
            <a:bodyPr lIns="45720" rIns="45720" anchor="ctr"/>
            <a:lstStyle/>
            <a:p>
              <a:pPr algn="ctr" fontAlgn="base">
                <a:spcBef>
                  <a:spcPct val="50000"/>
                </a:spcBef>
                <a:spcAft>
                  <a:spcPct val="0"/>
                </a:spcAft>
                <a:defRPr/>
              </a:pPr>
              <a:r>
                <a:rPr lang="en-US" sz="600" b="1" kern="0" dirty="0">
                  <a:latin typeface="+mj-lt"/>
                  <a:ea typeface="Open Sans" panose="020B0606030504020204" pitchFamily="34" charset="0"/>
                  <a:cs typeface="Open Sans" panose="020B0606030504020204" pitchFamily="34" charset="0"/>
                </a:rPr>
                <a:t>Research Data Lake</a:t>
              </a:r>
            </a:p>
          </p:txBody>
        </p:sp>
        <p:sp>
          <p:nvSpPr>
            <p:cNvPr id="360" name="Rectangle 6">
              <a:extLst>
                <a:ext uri="{FF2B5EF4-FFF2-40B4-BE49-F238E27FC236}">
                  <a16:creationId xmlns:a16="http://schemas.microsoft.com/office/drawing/2014/main" id="{C3ED4122-A5AB-4805-A3D5-69F2FC78D20F}"/>
                </a:ext>
              </a:extLst>
            </p:cNvPr>
            <p:cNvSpPr>
              <a:spLocks noChangeArrowheads="1"/>
            </p:cNvSpPr>
            <p:nvPr/>
          </p:nvSpPr>
          <p:spPr bwMode="auto">
            <a:xfrm>
              <a:off x="2535634" y="2003636"/>
              <a:ext cx="863691" cy="3067425"/>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Data Movement</a:t>
              </a:r>
            </a:p>
          </p:txBody>
        </p:sp>
        <p:sp>
          <p:nvSpPr>
            <p:cNvPr id="366" name="Rectangle 6">
              <a:extLst>
                <a:ext uri="{FF2B5EF4-FFF2-40B4-BE49-F238E27FC236}">
                  <a16:creationId xmlns:a16="http://schemas.microsoft.com/office/drawing/2014/main" id="{9FF379DF-E6B7-47F8-B73E-192801CEA279}"/>
                </a:ext>
              </a:extLst>
            </p:cNvPr>
            <p:cNvSpPr>
              <a:spLocks noChangeArrowheads="1"/>
            </p:cNvSpPr>
            <p:nvPr/>
          </p:nvSpPr>
          <p:spPr bwMode="auto">
            <a:xfrm>
              <a:off x="3488513" y="3934532"/>
              <a:ext cx="1059570" cy="1136530"/>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Stream Ingestion</a:t>
              </a:r>
            </a:p>
          </p:txBody>
        </p:sp>
        <p:sp>
          <p:nvSpPr>
            <p:cNvPr id="306" name="Rectangle 6">
              <a:extLst>
                <a:ext uri="{FF2B5EF4-FFF2-40B4-BE49-F238E27FC236}">
                  <a16:creationId xmlns:a16="http://schemas.microsoft.com/office/drawing/2014/main" id="{277EE480-2EB9-4E3C-90BD-D6412F0BB016}"/>
                </a:ext>
              </a:extLst>
            </p:cNvPr>
            <p:cNvSpPr>
              <a:spLocks noChangeArrowheads="1"/>
            </p:cNvSpPr>
            <p:nvPr/>
          </p:nvSpPr>
          <p:spPr bwMode="auto">
            <a:xfrm>
              <a:off x="3572313" y="4166126"/>
              <a:ext cx="854987" cy="829854"/>
            </a:xfrm>
            <a:prstGeom prst="rect">
              <a:avLst/>
            </a:prstGeom>
            <a:noFill/>
            <a:ln w="12700">
              <a:solidFill>
                <a:schemeClr val="bg1">
                  <a:lumMod val="50000"/>
                </a:schemeClr>
              </a:solidFill>
              <a:prstDash val="solid"/>
            </a:ln>
          </p:spPr>
          <p:txBody>
            <a:bodyPr lIns="45720" rIns="45720" anchor="ctr"/>
            <a:lstStyle/>
            <a:p>
              <a:pPr algn="ctr">
                <a:spcBef>
                  <a:spcPct val="50000"/>
                </a:spcBef>
              </a:pPr>
              <a:r>
                <a:rPr lang="en-US" sz="600" dirty="0">
                  <a:latin typeface="+mj-lt"/>
                  <a:ea typeface="Open Sans" panose="020B0606030504020204" pitchFamily="34" charset="0"/>
                  <a:cs typeface="Open Sans" panose="020B0606030504020204" pitchFamily="34" charset="0"/>
                </a:rPr>
                <a:t>Data Streams/Sync Messaging—AWS Kinesis</a:t>
              </a:r>
            </a:p>
            <a:p>
              <a:pPr algn="ctr">
                <a:spcBef>
                  <a:spcPct val="50000"/>
                </a:spcBef>
              </a:pPr>
              <a:r>
                <a:rPr lang="en-US" sz="600" i="1" dirty="0">
                  <a:latin typeface="+mj-lt"/>
                  <a:ea typeface="Open Sans" panose="020B0606030504020204" pitchFamily="34" charset="0"/>
                  <a:cs typeface="Open Sans" panose="020B0606030504020204" pitchFamily="34" charset="0"/>
                </a:rPr>
                <a:t>(Confluent Kafka/ NiFi)</a:t>
              </a:r>
            </a:p>
          </p:txBody>
        </p:sp>
        <p:sp>
          <p:nvSpPr>
            <p:cNvPr id="368" name="Rectangle 6">
              <a:extLst>
                <a:ext uri="{FF2B5EF4-FFF2-40B4-BE49-F238E27FC236}">
                  <a16:creationId xmlns:a16="http://schemas.microsoft.com/office/drawing/2014/main" id="{D9618E3A-7581-4CAE-9EC8-F8BD04E1E4E6}"/>
                </a:ext>
              </a:extLst>
            </p:cNvPr>
            <p:cNvSpPr>
              <a:spLocks noChangeArrowheads="1"/>
            </p:cNvSpPr>
            <p:nvPr/>
          </p:nvSpPr>
          <p:spPr bwMode="auto">
            <a:xfrm>
              <a:off x="7421181" y="1967902"/>
              <a:ext cx="1061921" cy="3103159"/>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Data Storage and Provisioning</a:t>
              </a:r>
            </a:p>
          </p:txBody>
        </p:sp>
        <p:sp>
          <p:nvSpPr>
            <p:cNvPr id="369" name="Rectangle 6">
              <a:extLst>
                <a:ext uri="{FF2B5EF4-FFF2-40B4-BE49-F238E27FC236}">
                  <a16:creationId xmlns:a16="http://schemas.microsoft.com/office/drawing/2014/main" id="{8B200F59-16B0-4CAA-91C9-3C7CC5F403CB}"/>
                </a:ext>
              </a:extLst>
            </p:cNvPr>
            <p:cNvSpPr>
              <a:spLocks noChangeArrowheads="1"/>
            </p:cNvSpPr>
            <p:nvPr/>
          </p:nvSpPr>
          <p:spPr bwMode="auto">
            <a:xfrm>
              <a:off x="4786139" y="2340087"/>
              <a:ext cx="813122" cy="1143813"/>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dirty="0">
                  <a:latin typeface="+mj-lt"/>
                  <a:ea typeface="Open Sans" panose="020B0606030504020204" pitchFamily="34" charset="0"/>
                  <a:cs typeface="Open Sans" panose="020B0606030504020204" pitchFamily="34" charset="0"/>
                </a:rPr>
                <a:t>Raw Layer</a:t>
              </a:r>
            </a:p>
          </p:txBody>
        </p:sp>
        <p:sp>
          <p:nvSpPr>
            <p:cNvPr id="374" name="Rectangle 6">
              <a:extLst>
                <a:ext uri="{FF2B5EF4-FFF2-40B4-BE49-F238E27FC236}">
                  <a16:creationId xmlns:a16="http://schemas.microsoft.com/office/drawing/2014/main" id="{932DF9C2-4D31-4E7E-B527-A4C825B934D6}"/>
                </a:ext>
              </a:extLst>
            </p:cNvPr>
            <p:cNvSpPr>
              <a:spLocks noChangeArrowheads="1"/>
            </p:cNvSpPr>
            <p:nvPr/>
          </p:nvSpPr>
          <p:spPr bwMode="auto">
            <a:xfrm>
              <a:off x="5624785" y="2340088"/>
              <a:ext cx="820095" cy="1143812"/>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dirty="0">
                  <a:latin typeface="+mj-lt"/>
                  <a:ea typeface="Open Sans" panose="020B0606030504020204" pitchFamily="34" charset="0"/>
                  <a:cs typeface="Open Sans" panose="020B0606030504020204" pitchFamily="34" charset="0"/>
                </a:rPr>
                <a:t>Processed Layer</a:t>
              </a:r>
            </a:p>
          </p:txBody>
        </p:sp>
        <p:sp>
          <p:nvSpPr>
            <p:cNvPr id="375" name="Rectangle 6">
              <a:extLst>
                <a:ext uri="{FF2B5EF4-FFF2-40B4-BE49-F238E27FC236}">
                  <a16:creationId xmlns:a16="http://schemas.microsoft.com/office/drawing/2014/main" id="{F87752D1-DEE2-4AC8-B2B8-6F7E6CD24F9B}"/>
                </a:ext>
              </a:extLst>
            </p:cNvPr>
            <p:cNvSpPr>
              <a:spLocks noChangeArrowheads="1"/>
            </p:cNvSpPr>
            <p:nvPr/>
          </p:nvSpPr>
          <p:spPr bwMode="auto">
            <a:xfrm>
              <a:off x="6478899" y="2340087"/>
              <a:ext cx="798471" cy="114381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dirty="0">
                  <a:latin typeface="+mj-lt"/>
                  <a:ea typeface="Open Sans" panose="020B0606030504020204" pitchFamily="34" charset="0"/>
                  <a:cs typeface="Open Sans" panose="020B0606030504020204" pitchFamily="34" charset="0"/>
                </a:rPr>
                <a:t>Consumption Layer</a:t>
              </a:r>
            </a:p>
          </p:txBody>
        </p:sp>
        <p:sp>
          <p:nvSpPr>
            <p:cNvPr id="376" name="Rectangle 6">
              <a:extLst>
                <a:ext uri="{FF2B5EF4-FFF2-40B4-BE49-F238E27FC236}">
                  <a16:creationId xmlns:a16="http://schemas.microsoft.com/office/drawing/2014/main" id="{7F6C48CE-63BA-4863-BB2F-536A33327F9D}"/>
                </a:ext>
              </a:extLst>
            </p:cNvPr>
            <p:cNvSpPr>
              <a:spLocks noChangeArrowheads="1"/>
            </p:cNvSpPr>
            <p:nvPr/>
          </p:nvSpPr>
          <p:spPr bwMode="auto">
            <a:xfrm>
              <a:off x="6523132" y="2623463"/>
              <a:ext cx="696785" cy="162427"/>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spcBef>
                  <a:spcPct val="50000"/>
                </a:spcBef>
                <a:defRPr/>
              </a:pPr>
              <a:r>
                <a:rPr lang="en-US" sz="600" kern="0" dirty="0">
                  <a:latin typeface="+mj-lt"/>
                  <a:ea typeface="Open Sans" panose="020B0606030504020204" pitchFamily="34" charset="0"/>
                  <a:cs typeface="Open Sans" panose="020B0606030504020204" pitchFamily="34" charset="0"/>
                </a:rPr>
                <a:t>Structured Data by Domains</a:t>
              </a:r>
            </a:p>
          </p:txBody>
        </p:sp>
        <p:sp>
          <p:nvSpPr>
            <p:cNvPr id="356" name="Rectangle 6">
              <a:extLst>
                <a:ext uri="{FF2B5EF4-FFF2-40B4-BE49-F238E27FC236}">
                  <a16:creationId xmlns:a16="http://schemas.microsoft.com/office/drawing/2014/main" id="{266ADDAE-76E0-416E-BFB7-6AA812A655E3}"/>
                </a:ext>
              </a:extLst>
            </p:cNvPr>
            <p:cNvSpPr>
              <a:spLocks noChangeArrowheads="1"/>
            </p:cNvSpPr>
            <p:nvPr/>
          </p:nvSpPr>
          <p:spPr bwMode="auto">
            <a:xfrm>
              <a:off x="6524346" y="3048140"/>
              <a:ext cx="701922" cy="150221"/>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spcBef>
                  <a:spcPct val="50000"/>
                </a:spcBef>
                <a:defRPr/>
              </a:pPr>
              <a:r>
                <a:rPr lang="en-US" sz="600" kern="0" dirty="0">
                  <a:latin typeface="+mj-lt"/>
                  <a:ea typeface="Open Sans" panose="020B0606030504020204" pitchFamily="34" charset="0"/>
                  <a:cs typeface="Open Sans" panose="020B0606030504020204" pitchFamily="34" charset="0"/>
                </a:rPr>
                <a:t>Unstructured Data</a:t>
              </a:r>
            </a:p>
          </p:txBody>
        </p:sp>
        <p:sp>
          <p:nvSpPr>
            <p:cNvPr id="353" name="Rectangle 6">
              <a:extLst>
                <a:ext uri="{FF2B5EF4-FFF2-40B4-BE49-F238E27FC236}">
                  <a16:creationId xmlns:a16="http://schemas.microsoft.com/office/drawing/2014/main" id="{E46224C9-9517-4F46-A21F-A3771A93D5D9}"/>
                </a:ext>
              </a:extLst>
            </p:cNvPr>
            <p:cNvSpPr>
              <a:spLocks noChangeArrowheads="1"/>
            </p:cNvSpPr>
            <p:nvPr/>
          </p:nvSpPr>
          <p:spPr bwMode="auto">
            <a:xfrm>
              <a:off x="4838332" y="2568179"/>
              <a:ext cx="710830" cy="197732"/>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Data based on Applications</a:t>
              </a:r>
            </a:p>
          </p:txBody>
        </p:sp>
        <p:sp>
          <p:nvSpPr>
            <p:cNvPr id="377" name="Rectangle 6">
              <a:extLst>
                <a:ext uri="{FF2B5EF4-FFF2-40B4-BE49-F238E27FC236}">
                  <a16:creationId xmlns:a16="http://schemas.microsoft.com/office/drawing/2014/main" id="{3316A81E-543E-40F5-A409-32257F952F8C}"/>
                </a:ext>
              </a:extLst>
            </p:cNvPr>
            <p:cNvSpPr>
              <a:spLocks noChangeArrowheads="1"/>
            </p:cNvSpPr>
            <p:nvPr/>
          </p:nvSpPr>
          <p:spPr bwMode="auto">
            <a:xfrm>
              <a:off x="4832610" y="2827660"/>
              <a:ext cx="710830" cy="148559"/>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Raw Files</a:t>
              </a:r>
            </a:p>
          </p:txBody>
        </p:sp>
        <p:sp>
          <p:nvSpPr>
            <p:cNvPr id="379" name="Rectangle 6">
              <a:extLst>
                <a:ext uri="{FF2B5EF4-FFF2-40B4-BE49-F238E27FC236}">
                  <a16:creationId xmlns:a16="http://schemas.microsoft.com/office/drawing/2014/main" id="{FD13396F-3AD8-47CF-AEBD-E2A9E3268C34}"/>
                </a:ext>
              </a:extLst>
            </p:cNvPr>
            <p:cNvSpPr>
              <a:spLocks noChangeArrowheads="1"/>
            </p:cNvSpPr>
            <p:nvPr/>
          </p:nvSpPr>
          <p:spPr bwMode="auto">
            <a:xfrm>
              <a:off x="4832609" y="3037968"/>
              <a:ext cx="710830" cy="148559"/>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External data</a:t>
              </a:r>
            </a:p>
          </p:txBody>
        </p:sp>
        <p:sp>
          <p:nvSpPr>
            <p:cNvPr id="380" name="Rectangle 6">
              <a:extLst>
                <a:ext uri="{FF2B5EF4-FFF2-40B4-BE49-F238E27FC236}">
                  <a16:creationId xmlns:a16="http://schemas.microsoft.com/office/drawing/2014/main" id="{6B84D5D5-F99F-4EE5-A9CB-711A8D8FD682}"/>
                </a:ext>
              </a:extLst>
            </p:cNvPr>
            <p:cNvSpPr>
              <a:spLocks noChangeArrowheads="1"/>
            </p:cNvSpPr>
            <p:nvPr/>
          </p:nvSpPr>
          <p:spPr bwMode="auto">
            <a:xfrm>
              <a:off x="4833874" y="3248274"/>
              <a:ext cx="710830" cy="149935"/>
            </a:xfrm>
            <a:prstGeom prst="rect">
              <a:avLst/>
            </a:prstGeom>
            <a:solidFill>
              <a:sysClr val="window" lastClr="FFFFFF"/>
            </a:solidFill>
            <a:ln w="12700">
              <a:solidFill>
                <a:schemeClr val="bg1">
                  <a:lumMod val="50000"/>
                </a:schemeClr>
              </a:solidFill>
              <a:prstDash val="solid"/>
            </a:ln>
          </p:spPr>
          <p:txBody>
            <a:bodyPr lIns="0" tIns="0" rIns="0" bIns="0" anchor="ctr"/>
            <a:lstStyle/>
            <a:p>
              <a:pPr>
                <a:defRPr/>
              </a:pPr>
              <a:r>
                <a:rPr lang="en-US" sz="600" kern="0" dirty="0">
                  <a:latin typeface="+mj-lt"/>
                  <a:ea typeface="Open Sans" panose="020B0606030504020204" pitchFamily="34" charset="0"/>
                  <a:cs typeface="Open Sans" panose="020B0606030504020204" pitchFamily="34" charset="0"/>
                </a:rPr>
                <a:t>…</a:t>
              </a:r>
            </a:p>
          </p:txBody>
        </p:sp>
        <p:sp>
          <p:nvSpPr>
            <p:cNvPr id="382" name="Rectangle 6">
              <a:extLst>
                <a:ext uri="{FF2B5EF4-FFF2-40B4-BE49-F238E27FC236}">
                  <a16:creationId xmlns:a16="http://schemas.microsoft.com/office/drawing/2014/main" id="{7131F49D-3D0F-4DE4-A887-4C9FA26A133D}"/>
                </a:ext>
              </a:extLst>
            </p:cNvPr>
            <p:cNvSpPr>
              <a:spLocks noChangeArrowheads="1"/>
            </p:cNvSpPr>
            <p:nvPr/>
          </p:nvSpPr>
          <p:spPr bwMode="auto">
            <a:xfrm>
              <a:off x="6523132" y="2835801"/>
              <a:ext cx="696785" cy="162427"/>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spcBef>
                  <a:spcPct val="50000"/>
                </a:spcBef>
                <a:defRPr/>
              </a:pPr>
              <a:r>
                <a:rPr lang="en-US" sz="600" kern="0" dirty="0">
                  <a:latin typeface="+mj-lt"/>
                  <a:ea typeface="Open Sans" panose="020B0606030504020204" pitchFamily="34" charset="0"/>
                  <a:cs typeface="Open Sans" panose="020B0606030504020204" pitchFamily="34" charset="0"/>
                </a:rPr>
                <a:t>Analytical Datasets</a:t>
              </a:r>
            </a:p>
          </p:txBody>
        </p:sp>
        <p:sp>
          <p:nvSpPr>
            <p:cNvPr id="386" name="Rectangle 6">
              <a:extLst>
                <a:ext uri="{FF2B5EF4-FFF2-40B4-BE49-F238E27FC236}">
                  <a16:creationId xmlns:a16="http://schemas.microsoft.com/office/drawing/2014/main" id="{3527AD0C-AE99-4737-AAF1-3D141BB60B0B}"/>
                </a:ext>
              </a:extLst>
            </p:cNvPr>
            <p:cNvSpPr>
              <a:spLocks noChangeArrowheads="1"/>
            </p:cNvSpPr>
            <p:nvPr/>
          </p:nvSpPr>
          <p:spPr bwMode="auto">
            <a:xfrm>
              <a:off x="6524346" y="3248273"/>
              <a:ext cx="701922" cy="150221"/>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spcBef>
                  <a:spcPct val="50000"/>
                </a:spcBef>
                <a:defRPr/>
              </a:pPr>
              <a:r>
                <a:rPr lang="en-US" sz="600" kern="0" dirty="0">
                  <a:latin typeface="+mj-lt"/>
                  <a:ea typeface="Open Sans" panose="020B0606030504020204" pitchFamily="34" charset="0"/>
                  <a:cs typeface="Open Sans" panose="020B0606030504020204" pitchFamily="34" charset="0"/>
                </a:rPr>
                <a:t>External Data</a:t>
              </a:r>
            </a:p>
          </p:txBody>
        </p:sp>
        <p:sp>
          <p:nvSpPr>
            <p:cNvPr id="387" name="Rectangle 6">
              <a:extLst>
                <a:ext uri="{FF2B5EF4-FFF2-40B4-BE49-F238E27FC236}">
                  <a16:creationId xmlns:a16="http://schemas.microsoft.com/office/drawing/2014/main" id="{5AA934B1-15D6-4504-A2EE-26B6A26CFA67}"/>
                </a:ext>
              </a:extLst>
            </p:cNvPr>
            <p:cNvSpPr>
              <a:spLocks noChangeArrowheads="1"/>
            </p:cNvSpPr>
            <p:nvPr/>
          </p:nvSpPr>
          <p:spPr bwMode="auto">
            <a:xfrm>
              <a:off x="5677512" y="2550258"/>
              <a:ext cx="719241" cy="163415"/>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Cleansed Data from Applications</a:t>
              </a:r>
            </a:p>
          </p:txBody>
        </p:sp>
        <p:sp>
          <p:nvSpPr>
            <p:cNvPr id="390" name="Rectangle 6">
              <a:extLst>
                <a:ext uri="{FF2B5EF4-FFF2-40B4-BE49-F238E27FC236}">
                  <a16:creationId xmlns:a16="http://schemas.microsoft.com/office/drawing/2014/main" id="{EB9B7A59-65C6-4ACA-8447-7888A0CFF9E7}"/>
                </a:ext>
              </a:extLst>
            </p:cNvPr>
            <p:cNvSpPr>
              <a:spLocks noChangeArrowheads="1"/>
            </p:cNvSpPr>
            <p:nvPr/>
          </p:nvSpPr>
          <p:spPr bwMode="auto">
            <a:xfrm>
              <a:off x="5677512" y="2782930"/>
              <a:ext cx="719241" cy="163415"/>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DQ Applied Files</a:t>
              </a:r>
            </a:p>
          </p:txBody>
        </p:sp>
        <p:sp>
          <p:nvSpPr>
            <p:cNvPr id="391" name="Rectangle 6">
              <a:extLst>
                <a:ext uri="{FF2B5EF4-FFF2-40B4-BE49-F238E27FC236}">
                  <a16:creationId xmlns:a16="http://schemas.microsoft.com/office/drawing/2014/main" id="{18EA82D5-2565-490A-9FF7-0CD0324C94D2}"/>
                </a:ext>
              </a:extLst>
            </p:cNvPr>
            <p:cNvSpPr>
              <a:spLocks noChangeArrowheads="1"/>
            </p:cNvSpPr>
            <p:nvPr/>
          </p:nvSpPr>
          <p:spPr bwMode="auto">
            <a:xfrm>
              <a:off x="5677512" y="3015603"/>
              <a:ext cx="719241" cy="163415"/>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500" kern="0" dirty="0">
                  <a:latin typeface="+mj-lt"/>
                  <a:ea typeface="Open Sans" panose="020B0606030504020204" pitchFamily="34" charset="0"/>
                  <a:cs typeface="Open Sans" panose="020B0606030504020204" pitchFamily="34" charset="0"/>
                </a:rPr>
                <a:t>Consumption Ready External Data </a:t>
              </a:r>
            </a:p>
          </p:txBody>
        </p:sp>
        <p:sp>
          <p:nvSpPr>
            <p:cNvPr id="392" name="Rectangle 6">
              <a:extLst>
                <a:ext uri="{FF2B5EF4-FFF2-40B4-BE49-F238E27FC236}">
                  <a16:creationId xmlns:a16="http://schemas.microsoft.com/office/drawing/2014/main" id="{31E5CCCC-C4A6-48C5-A498-1933FDA9DF59}"/>
                </a:ext>
              </a:extLst>
            </p:cNvPr>
            <p:cNvSpPr>
              <a:spLocks noChangeArrowheads="1"/>
            </p:cNvSpPr>
            <p:nvPr/>
          </p:nvSpPr>
          <p:spPr bwMode="auto">
            <a:xfrm>
              <a:off x="5677512" y="3248273"/>
              <a:ext cx="719241" cy="155376"/>
            </a:xfrm>
            <a:prstGeom prst="rect">
              <a:avLst/>
            </a:prstGeom>
            <a:solidFill>
              <a:sysClr val="window" lastClr="FFFFFF"/>
            </a:solidFill>
            <a:ln w="12700">
              <a:solidFill>
                <a:schemeClr val="bg1">
                  <a:lumMod val="50000"/>
                </a:schemeClr>
              </a:solidFill>
              <a:prstDash val="solid"/>
            </a:ln>
          </p:spPr>
          <p:txBody>
            <a:bodyPr lIns="0" tIns="0" rIns="0" bIns="0" anchor="ctr"/>
            <a:lstStyle/>
            <a:p>
              <a:pPr>
                <a:defRPr/>
              </a:pPr>
              <a:r>
                <a:rPr lang="en-US" sz="600" kern="0" dirty="0">
                  <a:latin typeface="+mj-lt"/>
                  <a:ea typeface="Open Sans" panose="020B0606030504020204" pitchFamily="34" charset="0"/>
                  <a:cs typeface="Open Sans" panose="020B0606030504020204" pitchFamily="34" charset="0"/>
                </a:rPr>
                <a:t>…</a:t>
              </a:r>
            </a:p>
          </p:txBody>
        </p:sp>
        <p:sp>
          <p:nvSpPr>
            <p:cNvPr id="396" name="Rectangle 6">
              <a:extLst>
                <a:ext uri="{FF2B5EF4-FFF2-40B4-BE49-F238E27FC236}">
                  <a16:creationId xmlns:a16="http://schemas.microsoft.com/office/drawing/2014/main" id="{CD925DB4-B949-4183-91C6-634C2D1366BA}"/>
                </a:ext>
              </a:extLst>
            </p:cNvPr>
            <p:cNvSpPr>
              <a:spLocks noChangeArrowheads="1"/>
            </p:cNvSpPr>
            <p:nvPr/>
          </p:nvSpPr>
          <p:spPr bwMode="auto">
            <a:xfrm>
              <a:off x="4786056" y="4055948"/>
              <a:ext cx="2470317" cy="462670"/>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Batch/Micro-Batch Processing (AWS EMR, Data Bricks)</a:t>
              </a:r>
            </a:p>
          </p:txBody>
        </p:sp>
        <p:sp>
          <p:nvSpPr>
            <p:cNvPr id="402" name="Rectangle 6">
              <a:extLst>
                <a:ext uri="{FF2B5EF4-FFF2-40B4-BE49-F238E27FC236}">
                  <a16:creationId xmlns:a16="http://schemas.microsoft.com/office/drawing/2014/main" id="{C2C1F806-D9B3-45DE-B4EA-5544B35862E3}"/>
                </a:ext>
              </a:extLst>
            </p:cNvPr>
            <p:cNvSpPr>
              <a:spLocks noChangeArrowheads="1"/>
            </p:cNvSpPr>
            <p:nvPr/>
          </p:nvSpPr>
          <p:spPr bwMode="auto">
            <a:xfrm>
              <a:off x="4798123" y="4572906"/>
              <a:ext cx="1243099" cy="493307"/>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Stream Processing (AWS MR, Kinesis)</a:t>
              </a:r>
            </a:p>
          </p:txBody>
        </p:sp>
        <p:sp>
          <p:nvSpPr>
            <p:cNvPr id="325" name="Rectangle 6">
              <a:extLst>
                <a:ext uri="{FF2B5EF4-FFF2-40B4-BE49-F238E27FC236}">
                  <a16:creationId xmlns:a16="http://schemas.microsoft.com/office/drawing/2014/main" id="{259C0EFD-996A-4FCD-BE9E-3B15D1B2F0AE}"/>
                </a:ext>
              </a:extLst>
            </p:cNvPr>
            <p:cNvSpPr>
              <a:spLocks noChangeArrowheads="1"/>
            </p:cNvSpPr>
            <p:nvPr/>
          </p:nvSpPr>
          <p:spPr bwMode="auto">
            <a:xfrm>
              <a:off x="7499433" y="2285430"/>
              <a:ext cx="902378" cy="55154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dirty="0">
                  <a:latin typeface="+mj-lt"/>
                  <a:ea typeface="Open Sans" panose="020B0606030504020204" pitchFamily="34" charset="0"/>
                  <a:cs typeface="Open Sans" panose="020B0606030504020204" pitchFamily="34" charset="0"/>
                </a:rPr>
                <a:t>Analytics Marts—AWS Redshift</a:t>
              </a:r>
            </a:p>
          </p:txBody>
        </p:sp>
        <p:sp>
          <p:nvSpPr>
            <p:cNvPr id="326" name="AutoShape 21">
              <a:extLst>
                <a:ext uri="{FF2B5EF4-FFF2-40B4-BE49-F238E27FC236}">
                  <a16:creationId xmlns:a16="http://schemas.microsoft.com/office/drawing/2014/main" id="{8A5909FA-C4EB-42D1-8679-4664FE95D0A8}"/>
                </a:ext>
              </a:extLst>
            </p:cNvPr>
            <p:cNvSpPr>
              <a:spLocks noChangeArrowheads="1"/>
            </p:cNvSpPr>
            <p:nvPr/>
          </p:nvSpPr>
          <p:spPr bwMode="auto">
            <a:xfrm>
              <a:off x="7669124" y="2551721"/>
              <a:ext cx="440903" cy="200263"/>
            </a:xfrm>
            <a:prstGeom prst="can">
              <a:avLst>
                <a:gd name="adj" fmla="val 25000"/>
              </a:avLst>
            </a:prstGeom>
            <a:solidFill>
              <a:schemeClr val="bg1"/>
            </a:solidFill>
            <a:ln w="9525">
              <a:solidFill>
                <a:schemeClr val="bg1">
                  <a:lumMod val="50000"/>
                </a:schemeClr>
              </a:solidFill>
              <a:round/>
              <a:headEnd/>
              <a:tailEnd/>
            </a:ln>
          </p:spPr>
          <p:txBody>
            <a:bodyPr lIns="0" tIns="0" rIns="0" bIns="0" anchorCtr="1"/>
            <a:lstStyle/>
            <a:p>
              <a:pPr>
                <a:defRPr/>
              </a:pPr>
              <a:endParaRPr lang="en-US" sz="600" b="1" kern="0" dirty="0">
                <a:latin typeface="+mj-lt"/>
                <a:ea typeface="Open Sans" panose="020B0606030504020204" pitchFamily="34" charset="0"/>
                <a:cs typeface="Open Sans" panose="020B0606030504020204" pitchFamily="34" charset="0"/>
              </a:endParaRPr>
            </a:p>
          </p:txBody>
        </p:sp>
        <p:sp>
          <p:nvSpPr>
            <p:cNvPr id="327" name="AutoShape 21">
              <a:extLst>
                <a:ext uri="{FF2B5EF4-FFF2-40B4-BE49-F238E27FC236}">
                  <a16:creationId xmlns:a16="http://schemas.microsoft.com/office/drawing/2014/main" id="{ADE8A7F5-84A0-4D1C-AC08-2FEF3B5AEAC4}"/>
                </a:ext>
              </a:extLst>
            </p:cNvPr>
            <p:cNvSpPr>
              <a:spLocks noChangeArrowheads="1"/>
            </p:cNvSpPr>
            <p:nvPr/>
          </p:nvSpPr>
          <p:spPr bwMode="auto">
            <a:xfrm>
              <a:off x="7735376" y="2598325"/>
              <a:ext cx="440903" cy="200263"/>
            </a:xfrm>
            <a:prstGeom prst="can">
              <a:avLst>
                <a:gd name="adj" fmla="val 25000"/>
              </a:avLst>
            </a:prstGeom>
            <a:solidFill>
              <a:schemeClr val="bg1"/>
            </a:solidFill>
            <a:ln w="9525">
              <a:solidFill>
                <a:schemeClr val="bg1">
                  <a:lumMod val="50000"/>
                </a:schemeClr>
              </a:solidFill>
              <a:round/>
              <a:headEnd/>
              <a:tailEnd/>
            </a:ln>
          </p:spPr>
          <p:txBody>
            <a:bodyPr lIns="0" tIns="0" rIns="0" bIns="0" anchorCtr="1"/>
            <a:lstStyle/>
            <a:p>
              <a:pPr>
                <a:defRPr/>
              </a:pPr>
              <a:endParaRPr lang="en-US" sz="600" b="1" kern="0" dirty="0">
                <a:latin typeface="+mj-lt"/>
                <a:ea typeface="Open Sans" panose="020B0606030504020204" pitchFamily="34" charset="0"/>
                <a:cs typeface="Open Sans" panose="020B0606030504020204" pitchFamily="34" charset="0"/>
              </a:endParaRPr>
            </a:p>
          </p:txBody>
        </p:sp>
        <p:sp>
          <p:nvSpPr>
            <p:cNvPr id="328" name="Rectangle 6">
              <a:extLst>
                <a:ext uri="{FF2B5EF4-FFF2-40B4-BE49-F238E27FC236}">
                  <a16:creationId xmlns:a16="http://schemas.microsoft.com/office/drawing/2014/main" id="{0E0E6355-3238-472E-BBA2-4C0503C4DCCC}"/>
                </a:ext>
              </a:extLst>
            </p:cNvPr>
            <p:cNvSpPr>
              <a:spLocks noChangeArrowheads="1"/>
            </p:cNvSpPr>
            <p:nvPr/>
          </p:nvSpPr>
          <p:spPr bwMode="auto">
            <a:xfrm>
              <a:off x="7499433" y="3520508"/>
              <a:ext cx="902378" cy="452596"/>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dirty="0">
                  <a:latin typeface="+mj-lt"/>
                  <a:ea typeface="Open Sans" panose="020B0606030504020204" pitchFamily="34" charset="0"/>
                  <a:cs typeface="Open Sans" panose="020B0606030504020204" pitchFamily="34" charset="0"/>
                </a:rPr>
                <a:t>In-Memory Processing —Presto on EMR</a:t>
              </a:r>
            </a:p>
          </p:txBody>
        </p:sp>
        <p:sp>
          <p:nvSpPr>
            <p:cNvPr id="345" name="Rectangle 6">
              <a:extLst>
                <a:ext uri="{FF2B5EF4-FFF2-40B4-BE49-F238E27FC236}">
                  <a16:creationId xmlns:a16="http://schemas.microsoft.com/office/drawing/2014/main" id="{A2A22480-B345-4715-9492-DA442946A5C8}"/>
                </a:ext>
              </a:extLst>
            </p:cNvPr>
            <p:cNvSpPr>
              <a:spLocks noChangeArrowheads="1"/>
            </p:cNvSpPr>
            <p:nvPr/>
          </p:nvSpPr>
          <p:spPr bwMode="auto">
            <a:xfrm>
              <a:off x="7508620" y="4054044"/>
              <a:ext cx="893192" cy="382389"/>
            </a:xfrm>
            <a:prstGeom prst="rect">
              <a:avLst/>
            </a:prstGeom>
            <a:noFill/>
            <a:ln w="12700">
              <a:solidFill>
                <a:schemeClr val="bg1">
                  <a:lumMod val="50000"/>
                </a:schemeClr>
              </a:solidFill>
              <a:prstDash val="solid"/>
            </a:ln>
          </p:spPr>
          <p:txBody>
            <a:bodyPr lIns="45720" rIns="45720" anchor="ctr"/>
            <a:lstStyle/>
            <a:p>
              <a:pPr algn="ctr" fontAlgn="base">
                <a:spcBef>
                  <a:spcPct val="50000"/>
                </a:spcBef>
                <a:spcAft>
                  <a:spcPct val="0"/>
                </a:spcAft>
              </a:pPr>
              <a:r>
                <a:rPr lang="en-US" sz="600" dirty="0">
                  <a:latin typeface="+mj-lt"/>
                  <a:ea typeface="Open Sans" panose="020B0606030504020204" pitchFamily="34" charset="0"/>
                  <a:cs typeface="Open Sans" panose="020B0606030504020204" pitchFamily="34" charset="0"/>
                </a:rPr>
                <a:t>Interactive Querying —AWS Athena</a:t>
              </a:r>
            </a:p>
          </p:txBody>
        </p:sp>
        <p:sp>
          <p:nvSpPr>
            <p:cNvPr id="406" name="Arrow: Right 405">
              <a:extLst>
                <a:ext uri="{FF2B5EF4-FFF2-40B4-BE49-F238E27FC236}">
                  <a16:creationId xmlns:a16="http://schemas.microsoft.com/office/drawing/2014/main" id="{E98B26A5-2BD0-4615-9DB5-FDDC239A8820}"/>
                </a:ext>
              </a:extLst>
            </p:cNvPr>
            <p:cNvSpPr/>
            <p:nvPr/>
          </p:nvSpPr>
          <p:spPr>
            <a:xfrm>
              <a:off x="3398653" y="2687023"/>
              <a:ext cx="163626" cy="221803"/>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latin typeface="+mj-lt"/>
                <a:ea typeface="Open Sans" panose="020B0606030504020204" pitchFamily="34" charset="0"/>
                <a:cs typeface="Open Sans" panose="020B0606030504020204" pitchFamily="34" charset="0"/>
              </a:endParaRPr>
            </a:p>
          </p:txBody>
        </p:sp>
        <p:sp>
          <p:nvSpPr>
            <p:cNvPr id="407" name="Arrow: Right 406">
              <a:extLst>
                <a:ext uri="{FF2B5EF4-FFF2-40B4-BE49-F238E27FC236}">
                  <a16:creationId xmlns:a16="http://schemas.microsoft.com/office/drawing/2014/main" id="{770668C6-E555-4304-A31E-1007F494DD12}"/>
                </a:ext>
              </a:extLst>
            </p:cNvPr>
            <p:cNvSpPr/>
            <p:nvPr/>
          </p:nvSpPr>
          <p:spPr>
            <a:xfrm>
              <a:off x="3396093" y="4396693"/>
              <a:ext cx="163626" cy="221803"/>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latin typeface="+mj-lt"/>
                <a:ea typeface="Open Sans" panose="020B0606030504020204" pitchFamily="34" charset="0"/>
                <a:cs typeface="Open Sans" panose="020B0606030504020204" pitchFamily="34" charset="0"/>
              </a:endParaRPr>
            </a:p>
          </p:txBody>
        </p:sp>
        <p:sp>
          <p:nvSpPr>
            <p:cNvPr id="408" name="Arrow: Right 407">
              <a:extLst>
                <a:ext uri="{FF2B5EF4-FFF2-40B4-BE49-F238E27FC236}">
                  <a16:creationId xmlns:a16="http://schemas.microsoft.com/office/drawing/2014/main" id="{32355DD8-B652-4AE5-9483-119EEAE11D9E}"/>
                </a:ext>
              </a:extLst>
            </p:cNvPr>
            <p:cNvSpPr/>
            <p:nvPr/>
          </p:nvSpPr>
          <p:spPr>
            <a:xfrm>
              <a:off x="4546628" y="2682720"/>
              <a:ext cx="163626" cy="221803"/>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latin typeface="+mj-lt"/>
                <a:ea typeface="Open Sans" panose="020B0606030504020204" pitchFamily="34" charset="0"/>
                <a:cs typeface="Open Sans" panose="020B0606030504020204" pitchFamily="34" charset="0"/>
              </a:endParaRPr>
            </a:p>
          </p:txBody>
        </p:sp>
        <p:sp>
          <p:nvSpPr>
            <p:cNvPr id="409" name="Arrow: Right 408">
              <a:extLst>
                <a:ext uri="{FF2B5EF4-FFF2-40B4-BE49-F238E27FC236}">
                  <a16:creationId xmlns:a16="http://schemas.microsoft.com/office/drawing/2014/main" id="{D02B3388-C5F7-4761-8118-679096DA13AB}"/>
                </a:ext>
              </a:extLst>
            </p:cNvPr>
            <p:cNvSpPr/>
            <p:nvPr/>
          </p:nvSpPr>
          <p:spPr>
            <a:xfrm>
              <a:off x="4553789" y="4404563"/>
              <a:ext cx="163626" cy="221803"/>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latin typeface="+mj-lt"/>
                <a:ea typeface="Open Sans" panose="020B0606030504020204" pitchFamily="34" charset="0"/>
                <a:cs typeface="Open Sans" panose="020B0606030504020204" pitchFamily="34" charset="0"/>
              </a:endParaRPr>
            </a:p>
          </p:txBody>
        </p:sp>
        <p:sp>
          <p:nvSpPr>
            <p:cNvPr id="410" name="Arrow: Right 409">
              <a:extLst>
                <a:ext uri="{FF2B5EF4-FFF2-40B4-BE49-F238E27FC236}">
                  <a16:creationId xmlns:a16="http://schemas.microsoft.com/office/drawing/2014/main" id="{7B6D8950-66F0-4CD8-BA5D-FB8313E361DF}"/>
                </a:ext>
              </a:extLst>
            </p:cNvPr>
            <p:cNvSpPr/>
            <p:nvPr/>
          </p:nvSpPr>
          <p:spPr>
            <a:xfrm rot="16200000">
              <a:off x="6711106" y="3854548"/>
              <a:ext cx="163626" cy="221803"/>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latin typeface="+mj-lt"/>
                <a:ea typeface="Open Sans" panose="020B0606030504020204" pitchFamily="34" charset="0"/>
                <a:cs typeface="Open Sans" panose="020B0606030504020204" pitchFamily="34" charset="0"/>
              </a:endParaRPr>
            </a:p>
          </p:txBody>
        </p:sp>
        <p:sp>
          <p:nvSpPr>
            <p:cNvPr id="411" name="Arrow: Right 410">
              <a:extLst>
                <a:ext uri="{FF2B5EF4-FFF2-40B4-BE49-F238E27FC236}">
                  <a16:creationId xmlns:a16="http://schemas.microsoft.com/office/drawing/2014/main" id="{4D9C4EF9-EC12-4937-9827-A000DAB687DE}"/>
                </a:ext>
              </a:extLst>
            </p:cNvPr>
            <p:cNvSpPr/>
            <p:nvPr/>
          </p:nvSpPr>
          <p:spPr>
            <a:xfrm rot="5400000">
              <a:off x="5263068" y="3770037"/>
              <a:ext cx="163626" cy="221803"/>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latin typeface="+mj-lt"/>
                <a:ea typeface="Open Sans" panose="020B0606030504020204" pitchFamily="34" charset="0"/>
                <a:cs typeface="Open Sans" panose="020B0606030504020204" pitchFamily="34" charset="0"/>
              </a:endParaRPr>
            </a:p>
          </p:txBody>
        </p:sp>
        <p:sp>
          <p:nvSpPr>
            <p:cNvPr id="412" name="Rectangle 6">
              <a:extLst>
                <a:ext uri="{FF2B5EF4-FFF2-40B4-BE49-F238E27FC236}">
                  <a16:creationId xmlns:a16="http://schemas.microsoft.com/office/drawing/2014/main" id="{4C413ED7-D112-4C0E-8B03-2C4ADA145CDE}"/>
                </a:ext>
              </a:extLst>
            </p:cNvPr>
            <p:cNvSpPr>
              <a:spLocks noChangeArrowheads="1"/>
            </p:cNvSpPr>
            <p:nvPr/>
          </p:nvSpPr>
          <p:spPr bwMode="auto">
            <a:xfrm rot="16200000">
              <a:off x="6478690" y="1217256"/>
              <a:ext cx="597702" cy="8483813"/>
            </a:xfrm>
            <a:prstGeom prst="rect">
              <a:avLst/>
            </a:prstGeom>
            <a:noFill/>
            <a:ln w="28575">
              <a:solidFill>
                <a:schemeClr val="bg1">
                  <a:lumMod val="50000"/>
                </a:schemeClr>
              </a:solidFill>
              <a:prstDash val="solid"/>
            </a:ln>
          </p:spPr>
          <p:txBody>
            <a:bodyPr vert="vert" lIns="45720" rIns="45720" anchor="t"/>
            <a:lstStyle/>
            <a:p>
              <a:pPr lvl="1" algn="ctr"/>
              <a:r>
                <a:rPr lang="en-US" sz="600" b="1" dirty="0">
                  <a:latin typeface="+mj-lt"/>
                  <a:ea typeface="Open Sans" panose="020B0606030504020204" pitchFamily="34" charset="0"/>
                  <a:cs typeface="Open Sans" panose="020B0606030504020204" pitchFamily="34" charset="0"/>
                </a:rPr>
                <a:t>Developer and Management Tools</a:t>
              </a:r>
            </a:p>
            <a:p>
              <a:pPr lvl="1" algn="ctr"/>
              <a:endParaRPr lang="en-US" sz="600" b="1" dirty="0">
                <a:latin typeface="+mj-lt"/>
                <a:ea typeface="Open Sans" panose="020B0606030504020204" pitchFamily="34" charset="0"/>
                <a:cs typeface="Open Sans" panose="020B0606030504020204" pitchFamily="34" charset="0"/>
              </a:endParaRPr>
            </a:p>
            <a:p>
              <a:pPr lvl="1"/>
              <a:endParaRPr lang="en-US" sz="600" b="1" dirty="0">
                <a:latin typeface="+mj-lt"/>
                <a:ea typeface="Open Sans" panose="020B0606030504020204" pitchFamily="34" charset="0"/>
                <a:cs typeface="Open Sans" panose="020B0606030504020204" pitchFamily="34" charset="0"/>
              </a:endParaRPr>
            </a:p>
          </p:txBody>
        </p:sp>
        <p:sp>
          <p:nvSpPr>
            <p:cNvPr id="413" name="Rectangle 6">
              <a:extLst>
                <a:ext uri="{FF2B5EF4-FFF2-40B4-BE49-F238E27FC236}">
                  <a16:creationId xmlns:a16="http://schemas.microsoft.com/office/drawing/2014/main" id="{1398FAB3-0ADA-4246-A7BD-50A5EFC818CF}"/>
                </a:ext>
              </a:extLst>
            </p:cNvPr>
            <p:cNvSpPr>
              <a:spLocks noChangeArrowheads="1"/>
            </p:cNvSpPr>
            <p:nvPr/>
          </p:nvSpPr>
          <p:spPr bwMode="auto">
            <a:xfrm>
              <a:off x="2668969" y="5347512"/>
              <a:ext cx="784834" cy="354325"/>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AWS Identity &amp; Access Management </a:t>
              </a:r>
            </a:p>
          </p:txBody>
        </p:sp>
        <p:sp>
          <p:nvSpPr>
            <p:cNvPr id="414" name="Rectangle 6">
              <a:extLst>
                <a:ext uri="{FF2B5EF4-FFF2-40B4-BE49-F238E27FC236}">
                  <a16:creationId xmlns:a16="http://schemas.microsoft.com/office/drawing/2014/main" id="{5239E61E-9683-4657-ACF4-3298416AB69A}"/>
                </a:ext>
              </a:extLst>
            </p:cNvPr>
            <p:cNvSpPr>
              <a:spLocks noChangeArrowheads="1"/>
            </p:cNvSpPr>
            <p:nvPr/>
          </p:nvSpPr>
          <p:spPr bwMode="auto">
            <a:xfrm>
              <a:off x="3562940" y="5347512"/>
              <a:ext cx="784834" cy="372042"/>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AWS Key Management Service</a:t>
              </a:r>
            </a:p>
          </p:txBody>
        </p:sp>
        <p:sp>
          <p:nvSpPr>
            <p:cNvPr id="415" name="Rectangle 6">
              <a:extLst>
                <a:ext uri="{FF2B5EF4-FFF2-40B4-BE49-F238E27FC236}">
                  <a16:creationId xmlns:a16="http://schemas.microsoft.com/office/drawing/2014/main" id="{FFCB3626-8B26-4F82-A270-99E8B9E09FCD}"/>
                </a:ext>
              </a:extLst>
            </p:cNvPr>
            <p:cNvSpPr>
              <a:spLocks noChangeArrowheads="1"/>
            </p:cNvSpPr>
            <p:nvPr/>
          </p:nvSpPr>
          <p:spPr bwMode="auto">
            <a:xfrm>
              <a:off x="4456912" y="5347512"/>
              <a:ext cx="784834" cy="363090"/>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AWS CloudTrail</a:t>
              </a:r>
            </a:p>
          </p:txBody>
        </p:sp>
        <p:sp>
          <p:nvSpPr>
            <p:cNvPr id="416" name="Rectangle 6">
              <a:extLst>
                <a:ext uri="{FF2B5EF4-FFF2-40B4-BE49-F238E27FC236}">
                  <a16:creationId xmlns:a16="http://schemas.microsoft.com/office/drawing/2014/main" id="{607901C1-318B-4F13-9F6C-F67A051622FE}"/>
                </a:ext>
              </a:extLst>
            </p:cNvPr>
            <p:cNvSpPr>
              <a:spLocks noChangeArrowheads="1"/>
            </p:cNvSpPr>
            <p:nvPr/>
          </p:nvSpPr>
          <p:spPr bwMode="auto">
            <a:xfrm>
              <a:off x="5350883" y="5329581"/>
              <a:ext cx="784834" cy="381021"/>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AWS CloudWatch (Data Dog)</a:t>
              </a:r>
            </a:p>
          </p:txBody>
        </p:sp>
        <p:sp>
          <p:nvSpPr>
            <p:cNvPr id="417" name="Rectangle 6">
              <a:extLst>
                <a:ext uri="{FF2B5EF4-FFF2-40B4-BE49-F238E27FC236}">
                  <a16:creationId xmlns:a16="http://schemas.microsoft.com/office/drawing/2014/main" id="{6E682C9E-751C-4494-8CD6-B6CFC9C2EEF5}"/>
                </a:ext>
              </a:extLst>
            </p:cNvPr>
            <p:cNvSpPr>
              <a:spLocks noChangeArrowheads="1"/>
            </p:cNvSpPr>
            <p:nvPr/>
          </p:nvSpPr>
          <p:spPr bwMode="auto">
            <a:xfrm>
              <a:off x="6244854" y="5329581"/>
              <a:ext cx="784834" cy="381021"/>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AWS Management Console</a:t>
              </a:r>
            </a:p>
          </p:txBody>
        </p:sp>
        <p:sp>
          <p:nvSpPr>
            <p:cNvPr id="418" name="Rectangle 6">
              <a:extLst>
                <a:ext uri="{FF2B5EF4-FFF2-40B4-BE49-F238E27FC236}">
                  <a16:creationId xmlns:a16="http://schemas.microsoft.com/office/drawing/2014/main" id="{B0110D7D-8702-4E1B-9DDA-CED638994218}"/>
                </a:ext>
              </a:extLst>
            </p:cNvPr>
            <p:cNvSpPr>
              <a:spLocks noChangeArrowheads="1"/>
            </p:cNvSpPr>
            <p:nvPr/>
          </p:nvSpPr>
          <p:spPr bwMode="auto">
            <a:xfrm>
              <a:off x="7138825" y="5329581"/>
              <a:ext cx="784834" cy="381021"/>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AWS Directory Service</a:t>
              </a:r>
            </a:p>
          </p:txBody>
        </p:sp>
        <p:sp>
          <p:nvSpPr>
            <p:cNvPr id="419" name="Rectangle 6">
              <a:extLst>
                <a:ext uri="{FF2B5EF4-FFF2-40B4-BE49-F238E27FC236}">
                  <a16:creationId xmlns:a16="http://schemas.microsoft.com/office/drawing/2014/main" id="{846573DC-4B6E-44EE-8C98-1FF8C6524E58}"/>
                </a:ext>
              </a:extLst>
            </p:cNvPr>
            <p:cNvSpPr>
              <a:spLocks noChangeArrowheads="1"/>
            </p:cNvSpPr>
            <p:nvPr/>
          </p:nvSpPr>
          <p:spPr bwMode="auto">
            <a:xfrm>
              <a:off x="8032797" y="5321295"/>
              <a:ext cx="863317" cy="389307"/>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AWS CloudFormation </a:t>
              </a:r>
              <a:r>
                <a:rPr lang="en-US" sz="600" i="1" dirty="0">
                  <a:latin typeface="+mj-lt"/>
                  <a:ea typeface="Open Sans" panose="020B0606030504020204" pitchFamily="34" charset="0"/>
                  <a:cs typeface="Open Sans" panose="020B0606030504020204" pitchFamily="34" charset="0"/>
                </a:rPr>
                <a:t>(Ansible)</a:t>
              </a:r>
              <a:r>
                <a:rPr lang="en-US" sz="600" dirty="0">
                  <a:latin typeface="+mj-lt"/>
                  <a:ea typeface="Open Sans" panose="020B0606030504020204" pitchFamily="34" charset="0"/>
                  <a:cs typeface="Open Sans" panose="020B0606030504020204" pitchFamily="34" charset="0"/>
                </a:rPr>
                <a:t> </a:t>
              </a:r>
            </a:p>
          </p:txBody>
        </p:sp>
        <p:sp>
          <p:nvSpPr>
            <p:cNvPr id="420" name="Rectangle 6">
              <a:extLst>
                <a:ext uri="{FF2B5EF4-FFF2-40B4-BE49-F238E27FC236}">
                  <a16:creationId xmlns:a16="http://schemas.microsoft.com/office/drawing/2014/main" id="{74FC484E-9E67-4E80-9EB6-191AE2B91161}"/>
                </a:ext>
              </a:extLst>
            </p:cNvPr>
            <p:cNvSpPr>
              <a:spLocks noChangeArrowheads="1"/>
            </p:cNvSpPr>
            <p:nvPr/>
          </p:nvSpPr>
          <p:spPr bwMode="auto">
            <a:xfrm>
              <a:off x="9005252" y="5307702"/>
              <a:ext cx="826520" cy="402900"/>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Code Repository  </a:t>
              </a:r>
              <a:r>
                <a:rPr lang="en-US" sz="600" i="1" dirty="0">
                  <a:latin typeface="+mj-lt"/>
                  <a:ea typeface="Open Sans" panose="020B0606030504020204" pitchFamily="34" charset="0"/>
                  <a:cs typeface="Open Sans" panose="020B0606030504020204" pitchFamily="34" charset="0"/>
                </a:rPr>
                <a:t>(Git, Bit Bucket)</a:t>
              </a:r>
            </a:p>
          </p:txBody>
        </p:sp>
        <p:sp>
          <p:nvSpPr>
            <p:cNvPr id="421" name="Rectangle 6">
              <a:extLst>
                <a:ext uri="{FF2B5EF4-FFF2-40B4-BE49-F238E27FC236}">
                  <a16:creationId xmlns:a16="http://schemas.microsoft.com/office/drawing/2014/main" id="{AA714435-F698-496A-9A64-946AF2DEB849}"/>
                </a:ext>
              </a:extLst>
            </p:cNvPr>
            <p:cNvSpPr>
              <a:spLocks noChangeArrowheads="1"/>
            </p:cNvSpPr>
            <p:nvPr/>
          </p:nvSpPr>
          <p:spPr bwMode="auto">
            <a:xfrm>
              <a:off x="9940910" y="5307702"/>
              <a:ext cx="949648" cy="402900"/>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noAutofit/>
            </a:bodyPr>
            <a:lstStyle/>
            <a:p>
              <a:pPr algn="ctr">
                <a:spcBef>
                  <a:spcPct val="50000"/>
                </a:spcBef>
              </a:pPr>
              <a:r>
                <a:rPr lang="en-US" sz="600" dirty="0">
                  <a:latin typeface="+mj-lt"/>
                  <a:ea typeface="Open Sans" panose="020B0606030504020204" pitchFamily="34" charset="0"/>
                  <a:cs typeface="Open Sans" panose="020B0606030504020204" pitchFamily="34" charset="0"/>
                </a:rPr>
                <a:t>AWS Code Deploy </a:t>
              </a:r>
              <a:r>
                <a:rPr lang="en-US" sz="600" i="1" dirty="0">
                  <a:latin typeface="+mj-lt"/>
                  <a:ea typeface="Open Sans" panose="020B0606030504020204" pitchFamily="34" charset="0"/>
                  <a:cs typeface="Open Sans" panose="020B0606030504020204" pitchFamily="34" charset="0"/>
                </a:rPr>
                <a:t>(Jenkins/Circle CI)</a:t>
              </a:r>
            </a:p>
          </p:txBody>
        </p:sp>
        <p:sp>
          <p:nvSpPr>
            <p:cNvPr id="2" name="Rectangle: Rounded Corners 1">
              <a:extLst>
                <a:ext uri="{FF2B5EF4-FFF2-40B4-BE49-F238E27FC236}">
                  <a16:creationId xmlns:a16="http://schemas.microsoft.com/office/drawing/2014/main" id="{3C5987A2-75D1-4DBA-B6FD-FBDFE91EBA42}"/>
                </a:ext>
              </a:extLst>
            </p:cNvPr>
            <p:cNvSpPr/>
            <p:nvPr/>
          </p:nvSpPr>
          <p:spPr>
            <a:xfrm>
              <a:off x="2383443" y="1535109"/>
              <a:ext cx="8778733" cy="4430884"/>
            </a:xfrm>
            <a:prstGeom prst="round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latin typeface="+mj-lt"/>
                <a:ea typeface="Open Sans" panose="020B0606030504020204" pitchFamily="34" charset="0"/>
                <a:cs typeface="Open Sans" panose="020B0606030504020204" pitchFamily="34" charset="0"/>
              </a:endParaRPr>
            </a:p>
          </p:txBody>
        </p:sp>
        <p:sp>
          <p:nvSpPr>
            <p:cNvPr id="422" name="Rectangle 6">
              <a:extLst>
                <a:ext uri="{FF2B5EF4-FFF2-40B4-BE49-F238E27FC236}">
                  <a16:creationId xmlns:a16="http://schemas.microsoft.com/office/drawing/2014/main" id="{7927EE0D-47D1-4EC6-8A4C-16D131B2AAA2}"/>
                </a:ext>
              </a:extLst>
            </p:cNvPr>
            <p:cNvSpPr>
              <a:spLocks noChangeArrowheads="1"/>
            </p:cNvSpPr>
            <p:nvPr/>
          </p:nvSpPr>
          <p:spPr bwMode="auto">
            <a:xfrm>
              <a:off x="7501708" y="4510533"/>
              <a:ext cx="900103" cy="426623"/>
            </a:xfrm>
            <a:prstGeom prst="rect">
              <a:avLst/>
            </a:prstGeom>
            <a:noFill/>
            <a:ln w="12700">
              <a:solidFill>
                <a:schemeClr val="bg1">
                  <a:lumMod val="50000"/>
                </a:schemeClr>
              </a:solidFill>
              <a:prstDash val="solid"/>
            </a:ln>
          </p:spPr>
          <p:txBody>
            <a:bodyPr lIns="45720" rIns="45720" anchor="ctr"/>
            <a:lstStyle/>
            <a:p>
              <a:pPr algn="ctr">
                <a:spcBef>
                  <a:spcPct val="50000"/>
                </a:spcBef>
              </a:pPr>
              <a:r>
                <a:rPr lang="en-US" sz="600" dirty="0">
                  <a:latin typeface="+mj-lt"/>
                  <a:ea typeface="Open Sans" panose="020B0606030504020204" pitchFamily="34" charset="0"/>
                  <a:cs typeface="Open Sans" panose="020B0606030504020204" pitchFamily="34" charset="0"/>
                </a:rPr>
                <a:t>Real-time Search—AWS Elastic Search</a:t>
              </a:r>
            </a:p>
          </p:txBody>
        </p:sp>
        <p:sp>
          <p:nvSpPr>
            <p:cNvPr id="129" name="Rectangle 6">
              <a:extLst>
                <a:ext uri="{FF2B5EF4-FFF2-40B4-BE49-F238E27FC236}">
                  <a16:creationId xmlns:a16="http://schemas.microsoft.com/office/drawing/2014/main" id="{53B3B493-BEDA-4B96-8559-3A1F5D0B2FC7}"/>
                </a:ext>
              </a:extLst>
            </p:cNvPr>
            <p:cNvSpPr>
              <a:spLocks noChangeArrowheads="1"/>
            </p:cNvSpPr>
            <p:nvPr/>
          </p:nvSpPr>
          <p:spPr bwMode="auto">
            <a:xfrm>
              <a:off x="7493807" y="2907189"/>
              <a:ext cx="902378" cy="551544"/>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dirty="0">
                  <a:latin typeface="+mj-lt"/>
                  <a:ea typeface="Open Sans" panose="020B0606030504020204" pitchFamily="34" charset="0"/>
                  <a:cs typeface="Open Sans" panose="020B0606030504020204" pitchFamily="34" charset="0"/>
                </a:rPr>
                <a:t>Atomic Data Marts/ODS—AWS RDS</a:t>
              </a:r>
            </a:p>
          </p:txBody>
        </p:sp>
        <p:sp>
          <p:nvSpPr>
            <p:cNvPr id="130" name="AutoShape 21">
              <a:extLst>
                <a:ext uri="{FF2B5EF4-FFF2-40B4-BE49-F238E27FC236}">
                  <a16:creationId xmlns:a16="http://schemas.microsoft.com/office/drawing/2014/main" id="{C631010A-AB25-425D-96D7-6C3B5E379357}"/>
                </a:ext>
              </a:extLst>
            </p:cNvPr>
            <p:cNvSpPr>
              <a:spLocks noChangeArrowheads="1"/>
            </p:cNvSpPr>
            <p:nvPr/>
          </p:nvSpPr>
          <p:spPr bwMode="auto">
            <a:xfrm>
              <a:off x="7697253" y="3173480"/>
              <a:ext cx="440903" cy="200263"/>
            </a:xfrm>
            <a:prstGeom prst="can">
              <a:avLst>
                <a:gd name="adj" fmla="val 25000"/>
              </a:avLst>
            </a:prstGeom>
            <a:solidFill>
              <a:schemeClr val="bg1"/>
            </a:solidFill>
            <a:ln w="9525">
              <a:solidFill>
                <a:schemeClr val="bg1">
                  <a:lumMod val="50000"/>
                </a:schemeClr>
              </a:solidFill>
              <a:round/>
              <a:headEnd/>
              <a:tailEnd/>
            </a:ln>
          </p:spPr>
          <p:txBody>
            <a:bodyPr lIns="0" tIns="0" rIns="0" bIns="0" anchorCtr="1"/>
            <a:lstStyle/>
            <a:p>
              <a:pPr>
                <a:defRPr/>
              </a:pPr>
              <a:endParaRPr lang="en-US" sz="600" b="1" kern="0" dirty="0">
                <a:latin typeface="+mj-lt"/>
                <a:ea typeface="Open Sans" panose="020B0606030504020204" pitchFamily="34" charset="0"/>
                <a:cs typeface="Open Sans" panose="020B0606030504020204" pitchFamily="34" charset="0"/>
              </a:endParaRPr>
            </a:p>
          </p:txBody>
        </p:sp>
        <p:sp>
          <p:nvSpPr>
            <p:cNvPr id="131" name="AutoShape 21">
              <a:extLst>
                <a:ext uri="{FF2B5EF4-FFF2-40B4-BE49-F238E27FC236}">
                  <a16:creationId xmlns:a16="http://schemas.microsoft.com/office/drawing/2014/main" id="{0C9D1C0A-D80A-48EE-A3F1-DD3D8034A383}"/>
                </a:ext>
              </a:extLst>
            </p:cNvPr>
            <p:cNvSpPr>
              <a:spLocks noChangeArrowheads="1"/>
            </p:cNvSpPr>
            <p:nvPr/>
          </p:nvSpPr>
          <p:spPr bwMode="auto">
            <a:xfrm>
              <a:off x="7763506" y="3220085"/>
              <a:ext cx="440903" cy="200263"/>
            </a:xfrm>
            <a:prstGeom prst="can">
              <a:avLst>
                <a:gd name="adj" fmla="val 25000"/>
              </a:avLst>
            </a:prstGeom>
            <a:solidFill>
              <a:schemeClr val="bg1"/>
            </a:solidFill>
            <a:ln w="9525">
              <a:solidFill>
                <a:schemeClr val="bg1">
                  <a:lumMod val="50000"/>
                </a:schemeClr>
              </a:solidFill>
              <a:round/>
              <a:headEnd/>
              <a:tailEnd/>
            </a:ln>
          </p:spPr>
          <p:txBody>
            <a:bodyPr lIns="0" tIns="0" rIns="0" bIns="0" anchorCtr="1"/>
            <a:lstStyle/>
            <a:p>
              <a:pPr>
                <a:defRPr/>
              </a:pPr>
              <a:endParaRPr lang="en-US" sz="600" b="1" kern="0" dirty="0">
                <a:latin typeface="+mj-lt"/>
                <a:ea typeface="Open Sans" panose="020B0606030504020204" pitchFamily="34" charset="0"/>
                <a:cs typeface="Open Sans" panose="020B0606030504020204" pitchFamily="34" charset="0"/>
              </a:endParaRPr>
            </a:p>
          </p:txBody>
        </p:sp>
        <p:sp>
          <p:nvSpPr>
            <p:cNvPr id="133" name="Rectangle 6">
              <a:extLst>
                <a:ext uri="{FF2B5EF4-FFF2-40B4-BE49-F238E27FC236}">
                  <a16:creationId xmlns:a16="http://schemas.microsoft.com/office/drawing/2014/main" id="{A02A18CA-F59A-41C4-9782-1C5DA5FB58B5}"/>
                </a:ext>
              </a:extLst>
            </p:cNvPr>
            <p:cNvSpPr>
              <a:spLocks noChangeArrowheads="1"/>
            </p:cNvSpPr>
            <p:nvPr/>
          </p:nvSpPr>
          <p:spPr bwMode="auto">
            <a:xfrm>
              <a:off x="2601786" y="2328694"/>
              <a:ext cx="736243" cy="318449"/>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AWS Direct Connect</a:t>
              </a:r>
            </a:p>
          </p:txBody>
        </p:sp>
        <p:sp>
          <p:nvSpPr>
            <p:cNvPr id="134" name="Rectangle 6">
              <a:extLst>
                <a:ext uri="{FF2B5EF4-FFF2-40B4-BE49-F238E27FC236}">
                  <a16:creationId xmlns:a16="http://schemas.microsoft.com/office/drawing/2014/main" id="{A2D88058-9626-4835-B35F-BFFC380D3D51}"/>
                </a:ext>
              </a:extLst>
            </p:cNvPr>
            <p:cNvSpPr>
              <a:spLocks noChangeArrowheads="1"/>
            </p:cNvSpPr>
            <p:nvPr/>
          </p:nvSpPr>
          <p:spPr bwMode="auto">
            <a:xfrm>
              <a:off x="2595590" y="2807697"/>
              <a:ext cx="736243" cy="385324"/>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AWS Storage Gateway</a:t>
              </a:r>
            </a:p>
          </p:txBody>
        </p:sp>
        <p:sp>
          <p:nvSpPr>
            <p:cNvPr id="135" name="Rectangle 6">
              <a:extLst>
                <a:ext uri="{FF2B5EF4-FFF2-40B4-BE49-F238E27FC236}">
                  <a16:creationId xmlns:a16="http://schemas.microsoft.com/office/drawing/2014/main" id="{764FFADA-3677-4566-AB9E-C123E8A624F4}"/>
                </a:ext>
              </a:extLst>
            </p:cNvPr>
            <p:cNvSpPr>
              <a:spLocks noChangeArrowheads="1"/>
            </p:cNvSpPr>
            <p:nvPr/>
          </p:nvSpPr>
          <p:spPr bwMode="auto">
            <a:xfrm>
              <a:off x="2608460" y="3368832"/>
              <a:ext cx="736243" cy="423857"/>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AWS Database Migration </a:t>
              </a:r>
            </a:p>
            <a:p>
              <a:pPr algn="ctr">
                <a:defRPr/>
              </a:pPr>
              <a:r>
                <a:rPr lang="en-US" sz="600" kern="0" dirty="0">
                  <a:latin typeface="+mj-lt"/>
                  <a:ea typeface="Open Sans" panose="020B0606030504020204" pitchFamily="34" charset="0"/>
                  <a:cs typeface="Open Sans" panose="020B0606030504020204" pitchFamily="34" charset="0"/>
                </a:rPr>
                <a:t>Service</a:t>
              </a:r>
            </a:p>
          </p:txBody>
        </p:sp>
        <p:sp>
          <p:nvSpPr>
            <p:cNvPr id="136" name="Rectangle 6">
              <a:extLst>
                <a:ext uri="{FF2B5EF4-FFF2-40B4-BE49-F238E27FC236}">
                  <a16:creationId xmlns:a16="http://schemas.microsoft.com/office/drawing/2014/main" id="{35D98E9C-7459-4BC2-8B1E-3026562F0F73}"/>
                </a:ext>
              </a:extLst>
            </p:cNvPr>
            <p:cNvSpPr>
              <a:spLocks noChangeArrowheads="1"/>
            </p:cNvSpPr>
            <p:nvPr/>
          </p:nvSpPr>
          <p:spPr bwMode="auto">
            <a:xfrm>
              <a:off x="2601786" y="3981660"/>
              <a:ext cx="736243" cy="385324"/>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AWS CLI S3</a:t>
              </a:r>
            </a:p>
          </p:txBody>
        </p:sp>
        <p:sp>
          <p:nvSpPr>
            <p:cNvPr id="137" name="Rectangle 6">
              <a:extLst>
                <a:ext uri="{FF2B5EF4-FFF2-40B4-BE49-F238E27FC236}">
                  <a16:creationId xmlns:a16="http://schemas.microsoft.com/office/drawing/2014/main" id="{CE13E259-45C0-450A-A3CC-81CF9676DBDD}"/>
                </a:ext>
              </a:extLst>
            </p:cNvPr>
            <p:cNvSpPr>
              <a:spLocks noChangeArrowheads="1"/>
            </p:cNvSpPr>
            <p:nvPr/>
          </p:nvSpPr>
          <p:spPr bwMode="auto">
            <a:xfrm>
              <a:off x="2595590" y="4537209"/>
              <a:ext cx="736243" cy="385324"/>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a:defRPr/>
              </a:pPr>
              <a:r>
                <a:rPr lang="en-US" sz="600" kern="0" dirty="0">
                  <a:latin typeface="+mj-lt"/>
                  <a:ea typeface="Open Sans" panose="020B0606030504020204" pitchFamily="34" charset="0"/>
                  <a:cs typeface="Open Sans" panose="020B0606030504020204" pitchFamily="34" charset="0"/>
                </a:rPr>
                <a:t>AWS S3 Transfer Acceleration</a:t>
              </a:r>
            </a:p>
          </p:txBody>
        </p:sp>
        <p:pic>
          <p:nvPicPr>
            <p:cNvPr id="138" name="Picture 42" descr="Image result for apache spark ml">
              <a:extLst>
                <a:ext uri="{FF2B5EF4-FFF2-40B4-BE49-F238E27FC236}">
                  <a16:creationId xmlns:a16="http://schemas.microsoft.com/office/drawing/2014/main" id="{F8943E47-68FB-4195-8F0E-B9C650C5D2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798" y="4239147"/>
              <a:ext cx="441436" cy="181493"/>
            </a:xfrm>
            <a:prstGeom prst="rect">
              <a:avLst/>
            </a:prstGeom>
            <a:noFill/>
            <a:ln w="12700">
              <a:solidFill>
                <a:schemeClr val="bg1">
                  <a:lumMod val="50000"/>
                </a:schemeClr>
              </a:solidFill>
              <a:prstDash val="solid"/>
            </a:ln>
          </p:spPr>
        </p:pic>
        <p:pic>
          <p:nvPicPr>
            <p:cNvPr id="139" name="Picture 36" descr="Image result for Apache spark SQL">
              <a:extLst>
                <a:ext uri="{FF2B5EF4-FFF2-40B4-BE49-F238E27FC236}">
                  <a16:creationId xmlns:a16="http://schemas.microsoft.com/office/drawing/2014/main" id="{07A17F84-91E0-477B-8BAE-8F047F12A44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088209" y="4250872"/>
              <a:ext cx="430453" cy="158008"/>
            </a:xfrm>
            <a:prstGeom prst="rect">
              <a:avLst/>
            </a:prstGeom>
            <a:noFill/>
            <a:ln w="12700">
              <a:solidFill>
                <a:schemeClr val="bg1">
                  <a:lumMod val="50000"/>
                </a:schemeClr>
              </a:solidFill>
              <a:prstDash val="solid"/>
            </a:ln>
          </p:spPr>
        </p:pic>
        <p:pic>
          <p:nvPicPr>
            <p:cNvPr id="140" name="Picture 40" descr="Image result for r Python">
              <a:extLst>
                <a:ext uri="{FF2B5EF4-FFF2-40B4-BE49-F238E27FC236}">
                  <a16:creationId xmlns:a16="http://schemas.microsoft.com/office/drawing/2014/main" id="{E7C99EA8-0367-4895-B120-88BF2BFBD97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5829687" y="4239393"/>
              <a:ext cx="471457" cy="184992"/>
            </a:xfrm>
            <a:prstGeom prst="rect">
              <a:avLst/>
            </a:prstGeom>
            <a:noFill/>
            <a:ln w="12700">
              <a:solidFill>
                <a:schemeClr val="bg1">
                  <a:lumMod val="50000"/>
                </a:schemeClr>
              </a:solidFill>
              <a:prstDash val="solid"/>
            </a:ln>
          </p:spPr>
        </p:pic>
        <p:pic>
          <p:nvPicPr>
            <p:cNvPr id="141" name="Picture 4" descr="Image result for Spark Streaming">
              <a:extLst>
                <a:ext uri="{FF2B5EF4-FFF2-40B4-BE49-F238E27FC236}">
                  <a16:creationId xmlns:a16="http://schemas.microsoft.com/office/drawing/2014/main" id="{881FD697-7389-430B-BA77-D88D8C85417F}"/>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678" t="11684" r="6763" b="17006"/>
            <a:stretch/>
          </p:blipFill>
          <p:spPr bwMode="auto">
            <a:xfrm>
              <a:off x="5212697" y="4806092"/>
              <a:ext cx="424726" cy="207317"/>
            </a:xfrm>
            <a:prstGeom prst="rect">
              <a:avLst/>
            </a:prstGeom>
            <a:noFill/>
            <a:ln w="12700">
              <a:solidFill>
                <a:schemeClr val="bg1">
                  <a:lumMod val="50000"/>
                </a:schemeClr>
              </a:solidFill>
              <a:prstDash val="solid"/>
            </a:ln>
          </p:spPr>
        </p:pic>
        <p:sp>
          <p:nvSpPr>
            <p:cNvPr id="142" name="AutoShape 21">
              <a:extLst>
                <a:ext uri="{FF2B5EF4-FFF2-40B4-BE49-F238E27FC236}">
                  <a16:creationId xmlns:a16="http://schemas.microsoft.com/office/drawing/2014/main" id="{D124E644-AA0A-4A41-8DD4-EE6AFDDD4FA2}"/>
                </a:ext>
              </a:extLst>
            </p:cNvPr>
            <p:cNvSpPr>
              <a:spLocks noChangeArrowheads="1"/>
            </p:cNvSpPr>
            <p:nvPr/>
          </p:nvSpPr>
          <p:spPr bwMode="auto">
            <a:xfrm>
              <a:off x="1047749" y="3896007"/>
              <a:ext cx="1113494" cy="310505"/>
            </a:xfrm>
            <a:prstGeom prst="can">
              <a:avLst>
                <a:gd name="adj" fmla="val 25000"/>
              </a:avLst>
            </a:prstGeom>
            <a:solidFill>
              <a:sysClr val="window" lastClr="FFFFFF"/>
            </a:solidFill>
            <a:ln w="3175">
              <a:solidFill>
                <a:schemeClr val="bg1">
                  <a:lumMod val="50000"/>
                </a:schemeClr>
              </a:solidFill>
              <a:round/>
              <a:headEnd/>
              <a:tailEnd/>
            </a:ln>
          </p:spPr>
          <p:txBody>
            <a:bodyPr lIns="91440" tIns="0" rIns="91440" bIns="0" anchor="ctr" anchorCtr="1"/>
            <a:lstStyle/>
            <a:p>
              <a:pPr algn="ctr">
                <a:lnSpc>
                  <a:spcPct val="150000"/>
                </a:lnSpc>
              </a:pPr>
              <a:r>
                <a:rPr lang="en-US" sz="600" kern="0" dirty="0">
                  <a:latin typeface="+mj-lt"/>
                  <a:ea typeface="Open Sans" panose="020B0606030504020204" pitchFamily="34" charset="0"/>
                  <a:cs typeface="Open Sans" panose="020B0606030504020204" pitchFamily="34" charset="0"/>
                </a:rPr>
                <a:t>Other RDBMS</a:t>
              </a:r>
            </a:p>
          </p:txBody>
        </p:sp>
        <p:sp>
          <p:nvSpPr>
            <p:cNvPr id="126" name="Rectangle 6">
              <a:extLst>
                <a:ext uri="{FF2B5EF4-FFF2-40B4-BE49-F238E27FC236}">
                  <a16:creationId xmlns:a16="http://schemas.microsoft.com/office/drawing/2014/main" id="{49FC2B07-4BC6-43C6-B666-DF0CDC2D4EC2}"/>
                </a:ext>
              </a:extLst>
            </p:cNvPr>
            <p:cNvSpPr>
              <a:spLocks noChangeArrowheads="1"/>
            </p:cNvSpPr>
            <p:nvPr/>
          </p:nvSpPr>
          <p:spPr bwMode="auto">
            <a:xfrm>
              <a:off x="6112650" y="4570464"/>
              <a:ext cx="1160300" cy="493307"/>
            </a:xfrm>
            <a:prstGeom prst="rect">
              <a:avLst/>
            </a:prstGeom>
            <a:noFill/>
            <a:ln w="12700">
              <a:solidFill>
                <a:schemeClr val="bg1">
                  <a:lumMod val="50000"/>
                </a:schemeClr>
              </a:solidFill>
              <a:prstDash val="solid"/>
            </a:ln>
          </p:spPr>
          <p:txBody>
            <a:bodyPr lIns="45720" rIns="45720" anchor="t"/>
            <a:lstStyle/>
            <a:p>
              <a:pPr algn="ctr">
                <a:spcBef>
                  <a:spcPct val="50000"/>
                </a:spcBef>
              </a:pPr>
              <a:r>
                <a:rPr lang="en-US" sz="600" b="1" kern="0" dirty="0">
                  <a:latin typeface="+mj-lt"/>
                  <a:ea typeface="Open Sans" panose="020B0606030504020204" pitchFamily="34" charset="0"/>
                  <a:cs typeface="Open Sans" panose="020B0606030504020204" pitchFamily="34" charset="0"/>
                </a:rPr>
                <a:t>IOT Processing (AWS IoT Analytics)</a:t>
              </a:r>
            </a:p>
          </p:txBody>
        </p:sp>
        <p:sp>
          <p:nvSpPr>
            <p:cNvPr id="23" name="Arrow: Right 22">
              <a:extLst>
                <a:ext uri="{FF2B5EF4-FFF2-40B4-BE49-F238E27FC236}">
                  <a16:creationId xmlns:a16="http://schemas.microsoft.com/office/drawing/2014/main" id="{B5A18B32-9EB2-44EC-B599-FA43B8630660}"/>
                </a:ext>
              </a:extLst>
            </p:cNvPr>
            <p:cNvSpPr/>
            <p:nvPr/>
          </p:nvSpPr>
          <p:spPr>
            <a:xfrm>
              <a:off x="2326558" y="3366221"/>
              <a:ext cx="163626" cy="221803"/>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solidFill>
                  <a:schemeClr val="tx1"/>
                </a:solidFill>
                <a:latin typeface="+mj-lt"/>
                <a:ea typeface="Open Sans" panose="020B0606030504020204" pitchFamily="34" charset="0"/>
                <a:cs typeface="Open Sans" panose="020B0606030504020204" pitchFamily="34" charset="0"/>
              </a:endParaRPr>
            </a:p>
          </p:txBody>
        </p:sp>
        <p:pic>
          <p:nvPicPr>
            <p:cNvPr id="3" name="Picture 2">
              <a:extLst>
                <a:ext uri="{FF2B5EF4-FFF2-40B4-BE49-F238E27FC236}">
                  <a16:creationId xmlns:a16="http://schemas.microsoft.com/office/drawing/2014/main" id="{D1EFAE0F-3789-4ED4-8EAB-4D845028A66C}"/>
                </a:ext>
              </a:extLst>
            </p:cNvPr>
            <p:cNvPicPr>
              <a:picLocks noChangeAspect="1"/>
            </p:cNvPicPr>
            <p:nvPr/>
          </p:nvPicPr>
          <p:blipFill>
            <a:blip r:embed="rId6"/>
            <a:stretch>
              <a:fillRect/>
            </a:stretch>
          </p:blipFill>
          <p:spPr>
            <a:xfrm>
              <a:off x="10488407" y="1208622"/>
              <a:ext cx="578130" cy="430648"/>
            </a:xfrm>
            <a:prstGeom prst="rect">
              <a:avLst/>
            </a:prstGeom>
            <a:noFill/>
            <a:ln w="12700">
              <a:solidFill>
                <a:schemeClr val="bg1">
                  <a:lumMod val="50000"/>
                </a:schemeClr>
              </a:solidFill>
              <a:prstDash val="solid"/>
            </a:ln>
          </p:spPr>
        </p:pic>
      </p:grpSp>
    </p:spTree>
    <p:extLst>
      <p:ext uri="{BB962C8B-B14F-4D97-AF65-F5344CB8AC3E}">
        <p14:creationId xmlns:p14="http://schemas.microsoft.com/office/powerpoint/2010/main" val="4196133759"/>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AWS data and analytics component details</a:t>
            </a:r>
          </a:p>
        </p:txBody>
      </p:sp>
      <p:graphicFrame>
        <p:nvGraphicFramePr>
          <p:cNvPr id="40" name="Content Placeholder 3">
            <a:extLst>
              <a:ext uri="{FF2B5EF4-FFF2-40B4-BE49-F238E27FC236}">
                <a16:creationId xmlns:a16="http://schemas.microsoft.com/office/drawing/2014/main" id="{8916F278-989B-4F55-BCCF-F7E7D1C896F9}"/>
              </a:ext>
            </a:extLst>
          </p:cNvPr>
          <p:cNvGraphicFramePr>
            <a:graphicFrameLocks noGrp="1"/>
          </p:cNvGraphicFramePr>
          <p:nvPr>
            <p:ph idx="4294967295"/>
            <p:extLst>
              <p:ext uri="{D42A27DB-BD31-4B8C-83A1-F6EECF244321}">
                <p14:modId xmlns:p14="http://schemas.microsoft.com/office/powerpoint/2010/main" val="3091485539"/>
              </p:ext>
            </p:extLst>
          </p:nvPr>
        </p:nvGraphicFramePr>
        <p:xfrm>
          <a:off x="473953" y="1022350"/>
          <a:ext cx="11235447" cy="5303520"/>
        </p:xfrm>
        <a:graphic>
          <a:graphicData uri="http://schemas.openxmlformats.org/drawingml/2006/table">
            <a:tbl>
              <a:tblPr firstRow="1" bandRow="1">
                <a:effectLst/>
              </a:tblPr>
              <a:tblGrid>
                <a:gridCol w="1066844">
                  <a:extLst>
                    <a:ext uri="{9D8B030D-6E8A-4147-A177-3AD203B41FA5}">
                      <a16:colId xmlns:a16="http://schemas.microsoft.com/office/drawing/2014/main" val="20000"/>
                    </a:ext>
                  </a:extLst>
                </a:gridCol>
                <a:gridCol w="1612490">
                  <a:extLst>
                    <a:ext uri="{9D8B030D-6E8A-4147-A177-3AD203B41FA5}">
                      <a16:colId xmlns:a16="http://schemas.microsoft.com/office/drawing/2014/main" val="20001"/>
                    </a:ext>
                  </a:extLst>
                </a:gridCol>
                <a:gridCol w="8556113">
                  <a:extLst>
                    <a:ext uri="{9D8B030D-6E8A-4147-A177-3AD203B41FA5}">
                      <a16:colId xmlns:a16="http://schemas.microsoft.com/office/drawing/2014/main" val="20002"/>
                    </a:ext>
                  </a:extLst>
                </a:gridCol>
              </a:tblGrid>
              <a:tr h="0">
                <a:tc>
                  <a:txBody>
                    <a:bodyPr/>
                    <a:lstStyle/>
                    <a:p>
                      <a:pPr algn="l"/>
                      <a:r>
                        <a:rPr lang="en-US" sz="900" b="1" cap="none" spc="0" dirty="0">
                          <a:ln>
                            <a:noFill/>
                          </a:ln>
                          <a:solidFill>
                            <a:schemeClr val="bg1"/>
                          </a:solidFill>
                          <a:effectLst/>
                        </a:rPr>
                        <a:t>Function</a:t>
                      </a:r>
                      <a:endParaRPr lang="en-US" sz="9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900" b="1" cap="none" spc="0" dirty="0">
                          <a:ln>
                            <a:noFill/>
                          </a:ln>
                          <a:solidFill>
                            <a:schemeClr val="bg1"/>
                          </a:solidFill>
                          <a:effectLst/>
                        </a:rPr>
                        <a:t>AWS component</a:t>
                      </a:r>
                      <a:endParaRPr lang="en-US" sz="9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900" b="1" cap="none" spc="0" dirty="0">
                          <a:ln>
                            <a:noFill/>
                          </a:ln>
                          <a:solidFill>
                            <a:schemeClr val="bg1"/>
                          </a:solidFill>
                          <a:effectLst/>
                        </a:rPr>
                        <a:t>Description</a:t>
                      </a:r>
                      <a:endParaRPr lang="en-US" sz="9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cap="none" spc="0" dirty="0">
                          <a:ln>
                            <a:noFill/>
                          </a:ln>
                          <a:solidFill>
                            <a:sysClr val="windowText" lastClr="000000"/>
                          </a:solidFill>
                          <a:effectLst/>
                        </a:rPr>
                        <a:t>Data movement</a:t>
                      </a:r>
                    </a:p>
                    <a:p>
                      <a:pPr algn="l"/>
                      <a:endParaRPr lang="en-US" sz="900" b="1" cap="none" spc="0" dirty="0">
                        <a:ln>
                          <a:noFill/>
                        </a:ln>
                        <a:solidFill>
                          <a:sysClr val="windowText" lastClr="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Direct Connect</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Provides an easy to establish dedicated network connection from client’s premises (data center, office, or colocation environment) to AWS, resulting in reduced network costs, increased bandwidth throughput and more consistent network.</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4686390"/>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Storage Gateway</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hybrid storage service that enable client’s on-premises applications to seamlessly use AWS cloud storage, utilizing it for backup and archiving, disaster recovery, storage tiering, and migration.</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675804"/>
                  </a:ext>
                </a:extLst>
              </a:tr>
              <a:tr h="121045">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Database Migration Service</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service that provides seamless and secure integration between client’s on-premises IT environment and AWS’s storage infrastructure for scalable and cost effective storage (e.g. Oracle to Oracle, Heterogeneous migrations—Oracle to Amazon Aurora or Microsoft SQL Server to MySQL). It also enables streaming data to Amazon Redshift, Amazon DynamoDB, and Amazon S3 from any of the supported sources including Amazon Aurora, PostgreSQL, etc.</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3167350"/>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S3 Transfer Acceleration</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Utilizes the CloudFront Edge Network to accelerate uploads to S3 by providing capability to upload the data directly to edge locations, which in turn will transfer the files to S3. This reduces the latency for transfers across the regions.</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7484892"/>
                  </a:ext>
                </a:extLst>
              </a:tr>
              <a:tr h="0">
                <a:tc rowSpan="6">
                  <a:txBody>
                    <a:bodyPr/>
                    <a:lstStyle/>
                    <a:p>
                      <a:pPr marL="0" algn="l" defTabSz="914400" rtl="0" eaLnBrk="1" latinLnBrk="0" hangingPunct="1"/>
                      <a:r>
                        <a:rPr lang="en-US" sz="900" b="1" kern="1200" cap="none" spc="0" dirty="0">
                          <a:ln>
                            <a:noFill/>
                          </a:ln>
                          <a:solidFill>
                            <a:sysClr val="windowText" lastClr="000000"/>
                          </a:solidFill>
                          <a:effectLst/>
                        </a:rPr>
                        <a:t>Data ingestion and integration (batch and streaming)</a:t>
                      </a:r>
                      <a:endParaRPr lang="en-US" sz="900" b="1" kern="1200" cap="none" spc="0" dirty="0">
                        <a:ln>
                          <a:noFill/>
                        </a:ln>
                        <a:solidFill>
                          <a:sysClr val="windowText" lastClr="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Glue</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 managed serverless ETL (extract, transform and load) service that makes it simple and cost-effective to categorize, clean, enrich and move data between various data stores. It provides automatic generation of Python or Scala code, a flexible scheduler that handles dependency resolution, job monitoring, and retries.</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vMerge="1">
                  <a:txBody>
                    <a:bodyPr/>
                    <a:lstStyle/>
                    <a:p>
                      <a:endParaRPr lang="en-US" sz="10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Kinesis Data Firehose</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 managed service for delivering real-time streaming data to destinations such as Amazon S3, Amazon Redshift, and Amazon Elasticsearch Service.</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vMerge="1">
                  <a:txBody>
                    <a:bodyPr/>
                    <a:lstStyle/>
                    <a:p>
                      <a:endParaRPr lang="en-US" sz="10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Kinesis</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cap="none" spc="0" dirty="0">
                          <a:ln>
                            <a:noFill/>
                          </a:ln>
                          <a:solidFill>
                            <a:schemeClr val="tx1"/>
                          </a:solidFill>
                          <a:effectLst/>
                        </a:rPr>
                        <a:t>A Platform to consume and process big and streaming data into AWS. Kinesis makes it easy to load and analyze the streaming data and provides ability to build custom applications as per the business needs.</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0">
                <a:tc vMerge="1">
                  <a:txBody>
                    <a:bodyPr/>
                    <a:lstStyle/>
                    <a:p>
                      <a:endParaRPr lang="en-US" sz="1000" b="1" dirty="0">
                        <a:solidFill>
                          <a:srgbClr val="0078D7"/>
                        </a:solidFill>
                      </a:endParaRP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AWS Data Pipeline</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cap="none" spc="0" dirty="0">
                          <a:ln>
                            <a:noFill/>
                          </a:ln>
                          <a:solidFill>
                            <a:schemeClr val="tx1"/>
                          </a:solidFill>
                          <a:effectLst/>
                        </a:rPr>
                        <a:t>A web service that helps to move, integrate, and process data across AWS compute and storage resources, as well as the on-premises data sources. It enables regular access to the data where it’s stored, transform and process it at scale, and efficiently transfer the results to AWS services such as Amazon S3, Amazon RDS, Amazon DynamoDB, and Amazon EMR.</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0155087"/>
                  </a:ext>
                </a:extLst>
              </a:tr>
              <a:tr h="0">
                <a:tc vMerge="1">
                  <a:txBody>
                    <a:bodyPr/>
                    <a:lstStyle/>
                    <a:p>
                      <a:endParaRPr lang="en-US" sz="1000" b="1" dirty="0">
                        <a:solidFill>
                          <a:srgbClr val="0078D7"/>
                        </a:solidFill>
                      </a:endParaRP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AWS Simple Notification Service (SNS)</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cap="none" spc="0" dirty="0">
                          <a:ln>
                            <a:noFill/>
                          </a:ln>
                          <a:solidFill>
                            <a:schemeClr val="tx1"/>
                          </a:solidFill>
                          <a:effectLst/>
                        </a:rPr>
                        <a:t>A web service that coordinates and manages the delivery or sending of messages to subscribing endpoints or clients. It provides developers with a highly scalable, flexible, and cost-effective capability to publish messages from an application and immediately deliver them to subscribers or other applications.</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6198630"/>
                  </a:ext>
                </a:extLst>
              </a:tr>
              <a:tr h="0">
                <a:tc vMerge="1">
                  <a:txBody>
                    <a:bodyPr/>
                    <a:lstStyle/>
                    <a:p>
                      <a:endParaRPr lang="en-US" sz="1000" b="1" dirty="0">
                        <a:solidFill>
                          <a:srgbClr val="0078D7"/>
                        </a:solidFill>
                      </a:endParaRPr>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AWS Simple Queue Service (SQS)</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cap="none" spc="0" dirty="0">
                          <a:ln>
                            <a:noFill/>
                          </a:ln>
                          <a:solidFill>
                            <a:schemeClr val="tx1"/>
                          </a:solidFill>
                          <a:effectLst/>
                        </a:rPr>
                        <a:t>A fully managed message queuing service that makes it easy to decouple and scale microservices, distributed systems, and serverless applications. SQS makes it simple and cost-effective to decouple and coordinate the components of cloud application.</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9766241"/>
                  </a:ext>
                </a:extLst>
              </a:tr>
              <a:tr h="0">
                <a:tc rowSpan="2">
                  <a:txBody>
                    <a:bodyPr/>
                    <a:lstStyle/>
                    <a:p>
                      <a:pPr algn="l"/>
                      <a:r>
                        <a:rPr lang="en-US" sz="900" b="1" cap="none" spc="0" dirty="0">
                          <a:ln>
                            <a:noFill/>
                          </a:ln>
                          <a:solidFill>
                            <a:sysClr val="windowText" lastClr="000000"/>
                          </a:solidFill>
                          <a:effectLst/>
                        </a:rPr>
                        <a:t>Storage</a:t>
                      </a:r>
                      <a:endParaRPr lang="en-US" sz="900" b="1" cap="none" spc="0" dirty="0">
                        <a:ln>
                          <a:noFill/>
                        </a:ln>
                        <a:solidFill>
                          <a:sysClr val="windowText" lastClr="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S3</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An enterprise-wide data lake storage repository for big data analytic workloads. S3 standards for Simple storage service(S3) and provides a highly secure, durable, scalable object storage with an easy to use simple web service interface to store and retrieve any amount of data from anywhere on the web.</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Glacier</a:t>
                      </a:r>
                      <a:endParaRPr lang="en-US" sz="9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An extremely low-cost storage service that provides secure, durable, and flexible storage for data backup and archival to ensure low-cost storage.</a:t>
                      </a:r>
                      <a:endParaRPr lang="en-US" sz="9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9925124"/>
                  </a:ext>
                </a:extLst>
              </a:tr>
            </a:tbl>
          </a:graphicData>
        </a:graphic>
      </p:graphicFrame>
    </p:spTree>
    <p:extLst>
      <p:ext uri="{BB962C8B-B14F-4D97-AF65-F5344CB8AC3E}">
        <p14:creationId xmlns:p14="http://schemas.microsoft.com/office/powerpoint/2010/main" val="2037447152"/>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AWS data and analytics component details (cont.)</a:t>
            </a:r>
          </a:p>
        </p:txBody>
      </p:sp>
      <p:graphicFrame>
        <p:nvGraphicFramePr>
          <p:cNvPr id="5" name="Content Placeholder 3">
            <a:extLst>
              <a:ext uri="{FF2B5EF4-FFF2-40B4-BE49-F238E27FC236}">
                <a16:creationId xmlns:a16="http://schemas.microsoft.com/office/drawing/2014/main" id="{C07A6369-8AA9-41FF-A47B-FF6346009886}"/>
              </a:ext>
            </a:extLst>
          </p:cNvPr>
          <p:cNvGraphicFramePr>
            <a:graphicFrameLocks/>
          </p:cNvGraphicFramePr>
          <p:nvPr>
            <p:extLst>
              <p:ext uri="{D42A27DB-BD31-4B8C-83A1-F6EECF244321}">
                <p14:modId xmlns:p14="http://schemas.microsoft.com/office/powerpoint/2010/main" val="1960922853"/>
              </p:ext>
            </p:extLst>
          </p:nvPr>
        </p:nvGraphicFramePr>
        <p:xfrm>
          <a:off x="469900" y="1017588"/>
          <a:ext cx="11237976" cy="5074920"/>
        </p:xfrm>
        <a:graphic>
          <a:graphicData uri="http://schemas.openxmlformats.org/drawingml/2006/table">
            <a:tbl>
              <a:tblPr firstRow="1" bandRow="1">
                <a:effectLst/>
              </a:tblPr>
              <a:tblGrid>
                <a:gridCol w="1069848">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gridCol w="8558784">
                  <a:extLst>
                    <a:ext uri="{9D8B030D-6E8A-4147-A177-3AD203B41FA5}">
                      <a16:colId xmlns:a16="http://schemas.microsoft.com/office/drawing/2014/main" val="20002"/>
                    </a:ext>
                  </a:extLst>
                </a:gridCol>
              </a:tblGrid>
              <a:tr h="0">
                <a:tc>
                  <a:txBody>
                    <a:bodyPr/>
                    <a:lstStyle/>
                    <a:p>
                      <a:pPr algn="l"/>
                      <a:r>
                        <a:rPr lang="en-US" sz="900" b="1" cap="none" spc="0" dirty="0">
                          <a:ln>
                            <a:noFill/>
                          </a:ln>
                          <a:solidFill>
                            <a:schemeClr val="bg1"/>
                          </a:solidFill>
                          <a:effectLst/>
                        </a:rPr>
                        <a:t>Function</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900" b="1" cap="none" spc="0" dirty="0">
                          <a:ln>
                            <a:noFill/>
                          </a:ln>
                          <a:solidFill>
                            <a:schemeClr val="bg1"/>
                          </a:solidFill>
                          <a:effectLst/>
                        </a:rPr>
                        <a:t>AWS component</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900" b="1" cap="none" spc="0" dirty="0">
                          <a:ln>
                            <a:noFill/>
                          </a:ln>
                          <a:solidFill>
                            <a:schemeClr val="bg1"/>
                          </a:solidFill>
                          <a:effectLst/>
                        </a:rPr>
                        <a:t>Description</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0">
                <a:tc rowSpan="5">
                  <a:txBody>
                    <a:bodyPr/>
                    <a:lstStyle/>
                    <a:p>
                      <a:pPr algn="l"/>
                      <a:r>
                        <a:rPr lang="en-US" sz="900" b="1" cap="none" spc="0" dirty="0">
                          <a:ln>
                            <a:noFill/>
                          </a:ln>
                          <a:solidFill>
                            <a:sysClr val="windowText" lastClr="000000"/>
                          </a:solidFill>
                          <a:effectLst/>
                        </a:rPr>
                        <a:t>Databases and data management</a:t>
                      </a:r>
                      <a:endParaRPr lang="en-US" sz="9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cap="none" spc="0" dirty="0">
                          <a:ln>
                            <a:noFill/>
                          </a:ln>
                          <a:solidFill>
                            <a:schemeClr val="tx1"/>
                          </a:solidFill>
                          <a:effectLst/>
                        </a:rPr>
                        <a:t>AWS RDS</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Amazon RDS service provides six different DB engines (Postgres, MySQL, Oracle, etc.) and makes it easy to set up, operate, and scale relational database for OLTP in cloud. It provides cost-efficient, and resizable capacity while managing time-consuming database administration tasks and available on several database instance types—optimized for memory, performance or I/O.</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0">
                <a:tc vMerge="1">
                  <a:txBody>
                    <a:bodyPr/>
                    <a:lstStyle/>
                    <a:p>
                      <a:endParaRPr lang="en-US" sz="1000" dirty="0"/>
                    </a:p>
                  </a:txBody>
                  <a:tcPr/>
                </a:tc>
                <a:tc>
                  <a:txBody>
                    <a:bodyPr/>
                    <a:lstStyle/>
                    <a:p>
                      <a:pPr algn="l"/>
                      <a:r>
                        <a:rPr lang="en-US" sz="900" b="0" cap="none" spc="0" dirty="0">
                          <a:ln>
                            <a:noFill/>
                          </a:ln>
                          <a:solidFill>
                            <a:schemeClr val="tx1"/>
                          </a:solidFill>
                          <a:effectLst/>
                        </a:rPr>
                        <a:t>AWS Redshift</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 managed, columnar storage, petabyte-scale data warehouse solution (OLAP) that makes it simple and cost-effective to efficiently analyze data using SQL standards and existing business intelligence tools. It enables the execution of complex analytical queries against petabytes of structured data, using sophisticated query optimization, columnar storage on high-performance local disks, and massively parallel query execution.</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0">
                <a:tc vMerge="1">
                  <a:txBody>
                    <a:bodyPr/>
                    <a:lstStyle/>
                    <a:p>
                      <a:endParaRPr lang="en-US" sz="1000" dirty="0"/>
                    </a:p>
                  </a:txBody>
                  <a:tcPr/>
                </a:tc>
                <a:tc>
                  <a:txBody>
                    <a:bodyPr/>
                    <a:lstStyle/>
                    <a:p>
                      <a:pPr algn="l"/>
                      <a:r>
                        <a:rPr lang="en-US" sz="900" b="0" cap="none" spc="0" dirty="0">
                          <a:ln>
                            <a:noFill/>
                          </a:ln>
                          <a:solidFill>
                            <a:schemeClr val="tx1"/>
                          </a:solidFill>
                          <a:effectLst/>
                        </a:rPr>
                        <a:t>AWS Aurora</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MySQL and PostgreSQL compatible relational database built for the cloud, that combines the performance and availability of high-end commercial databases with the simplicity and cost-effectiveness of open source databases.</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0">
                <a:tc vMerge="1">
                  <a:txBody>
                    <a:bodyPr/>
                    <a:lstStyle/>
                    <a:p>
                      <a:endParaRPr lang="en-US" sz="1000" b="1" dirty="0"/>
                    </a:p>
                  </a:txBody>
                  <a:tcPr anchor="ctr"/>
                </a:tc>
                <a:tc>
                  <a:txBody>
                    <a:bodyPr/>
                    <a:lstStyle/>
                    <a:p>
                      <a:pPr algn="l"/>
                      <a:r>
                        <a:rPr lang="en-US" sz="900" b="0" cap="none" spc="0" dirty="0">
                          <a:ln>
                            <a:noFill/>
                          </a:ln>
                          <a:solidFill>
                            <a:schemeClr val="tx1"/>
                          </a:solidFill>
                          <a:effectLst/>
                        </a:rPr>
                        <a:t>AWS Dynamo DB</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 managed cloud NoSQL database that supports both document and key-value store models for all applications that need consistent, single-digit millisecond latency at any scale. </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514176"/>
                  </a:ext>
                </a:extLst>
              </a:tr>
              <a:tr h="0">
                <a:tc vMerge="1">
                  <a:txBody>
                    <a:bodyPr/>
                    <a:lstStyle/>
                    <a:p>
                      <a:endParaRPr lang="en-US" sz="1000" b="1" dirty="0"/>
                    </a:p>
                  </a:txBody>
                  <a:tcPr anchor="ctr"/>
                </a:tc>
                <a:tc>
                  <a:txBody>
                    <a:bodyPr/>
                    <a:lstStyle/>
                    <a:p>
                      <a:pPr algn="l"/>
                      <a:r>
                        <a:rPr lang="en-US" sz="900" b="0" cap="none" spc="0" dirty="0">
                          <a:ln>
                            <a:noFill/>
                          </a:ln>
                          <a:solidFill>
                            <a:schemeClr val="tx1"/>
                          </a:solidFill>
                          <a:effectLst/>
                        </a:rPr>
                        <a:t>AWS ElasticCache</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 managed, in-memory data store service through Redis or Memcached for various data-intensive apps or to improve the performance of existing apps by retrieving data from high throughput and low latency in-memory data stores.</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5985144"/>
                  </a:ext>
                </a:extLst>
              </a:tr>
              <a:tr h="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cap="none" spc="0" dirty="0">
                          <a:ln>
                            <a:noFill/>
                          </a:ln>
                          <a:solidFill>
                            <a:sysClr val="windowText" lastClr="000000"/>
                          </a:solidFill>
                          <a:effectLst/>
                        </a:rPr>
                        <a:t>Data processing </a:t>
                      </a:r>
                      <a:br>
                        <a:rPr lang="en-US" sz="900" b="1" cap="none" spc="0" dirty="0">
                          <a:ln>
                            <a:noFill/>
                          </a:ln>
                          <a:solidFill>
                            <a:sysClr val="windowText" lastClr="000000"/>
                          </a:solidFill>
                          <a:effectLst/>
                        </a:rPr>
                      </a:br>
                      <a:r>
                        <a:rPr lang="en-US" sz="900" b="1" cap="none" spc="0" dirty="0">
                          <a:ln>
                            <a:noFill/>
                          </a:ln>
                          <a:solidFill>
                            <a:sysClr val="windowText" lastClr="000000"/>
                          </a:solidFill>
                          <a:effectLst/>
                        </a:rPr>
                        <a:t>and compute</a:t>
                      </a:r>
                      <a:endParaRPr lang="en-US" sz="9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cap="none" spc="0" dirty="0">
                          <a:ln>
                            <a:noFill/>
                          </a:ln>
                          <a:solidFill>
                            <a:schemeClr val="tx1"/>
                          </a:solidFill>
                          <a:effectLst/>
                        </a:rPr>
                        <a:t>AWS EMR</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managed Hadoop framework that makes it easy, fast, and cost-effective to process vast amounts of data across dynamically scalable Amazon EC2 instances. EMR provides the capability to run other distributed frameworks, e.g. Spark, Presto, Flink, etc. and interact with data in other AWS data stores such as Amazon S3.</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2835919"/>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algn="l"/>
                      <a:r>
                        <a:rPr lang="en-US" sz="900" b="0" cap="none" spc="0" dirty="0">
                          <a:ln>
                            <a:noFill/>
                          </a:ln>
                          <a:solidFill>
                            <a:schemeClr val="tx1"/>
                          </a:solidFill>
                          <a:effectLst/>
                        </a:rPr>
                        <a:t>AWS Lambda</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serverless event-driven compute service that allows to run code without provisioning or managing of servers. The code can be run for virtually any type of application or backend service, with zero administration. </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0705469"/>
                  </a:ext>
                </a:extLst>
              </a:tr>
              <a:tr h="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cap="none" spc="0" dirty="0">
                          <a:ln>
                            <a:noFill/>
                          </a:ln>
                          <a:solidFill>
                            <a:sysClr val="windowText" lastClr="000000"/>
                          </a:solidFill>
                          <a:effectLst/>
                        </a:rPr>
                        <a:t>Interactive querying and analytics</a:t>
                      </a:r>
                      <a:endParaRPr lang="en-US" sz="9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900" b="0" cap="none" spc="0" dirty="0">
                          <a:ln>
                            <a:noFill/>
                          </a:ln>
                          <a:solidFill>
                            <a:schemeClr val="tx1"/>
                          </a:solidFill>
                          <a:effectLst/>
                        </a:rPr>
                        <a:t>AWS Athena</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serverless, interactive query service that makes it easy to analyze petabytes of data in Amazon S3 with no data warehouses or clusters to manage. </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443219"/>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algn="l"/>
                      <a:r>
                        <a:rPr lang="en-US" sz="900" b="0" cap="none" spc="0" dirty="0">
                          <a:ln>
                            <a:noFill/>
                          </a:ln>
                          <a:solidFill>
                            <a:schemeClr val="tx1"/>
                          </a:solidFill>
                          <a:effectLst/>
                        </a:rPr>
                        <a:t>AWS Elastic Search</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 managed service that delivers Elasticsearch’s easy-to-use APIs and real-time analytics capabilities alongside the availability, scalability, and security for production workloads. It integrates with Kibana, Logstash, and AWS services including Amazon Kinesis Data Firehose and AWS Lambda for real-time analytics, log monitoring, and clickstream analytics. </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79645345"/>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solidFill>
                          <a:srgbClr val="0078D7"/>
                        </a:solidFill>
                      </a:endParaRPr>
                    </a:p>
                  </a:txBody>
                  <a:tcPr anchor="ctr"/>
                </a:tc>
                <a:tc>
                  <a:txBody>
                    <a:bodyPr/>
                    <a:lstStyle/>
                    <a:p>
                      <a:pPr algn="l"/>
                      <a:r>
                        <a:rPr lang="en-US" sz="900" b="0" cap="none" spc="0" dirty="0">
                          <a:ln>
                            <a:noFill/>
                          </a:ln>
                          <a:solidFill>
                            <a:schemeClr val="tx1"/>
                          </a:solidFill>
                          <a:effectLst/>
                        </a:rPr>
                        <a:t>AWS QuickSight</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fast, cloud-powered business analytics service that makes it easy to build visualizations, perform ad-hoc analysis, and quickly get business insights from the data.</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992197"/>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dirty="0">
                        <a:solidFill>
                          <a:srgbClr val="0078D7"/>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Presto on EMR</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An open-source distributed SQL query engine optimized for low-latency, ad-hoc analysis, and interactive querying on large volumes of data. It supports the ANSI SQL standard, including complex queries, aggregations, joins, and window functions. Presto on EMR can enable interactive analytics to the speed of commercial data warehouses while scaling to the size of large organization with petabyte scale data in Amazon S3.</a:t>
                      </a:r>
                      <a:endParaRPr lang="en-US" sz="900" b="0" kern="1200" cap="none" spc="0" dirty="0">
                        <a:ln>
                          <a:noFill/>
                        </a:ln>
                        <a:solidFill>
                          <a:schemeClr val="tx1"/>
                        </a:solidFill>
                        <a:effectLst/>
                        <a:latin typeface="+mn-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2928440"/>
                  </a:ext>
                </a:extLst>
              </a:tr>
            </a:tbl>
          </a:graphicData>
        </a:graphic>
      </p:graphicFrame>
    </p:spTree>
    <p:extLst>
      <p:ext uri="{BB962C8B-B14F-4D97-AF65-F5344CB8AC3E}">
        <p14:creationId xmlns:p14="http://schemas.microsoft.com/office/powerpoint/2010/main" val="1794265951"/>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AWS data and analytics component details (cont.)</a:t>
            </a:r>
          </a:p>
        </p:txBody>
      </p:sp>
      <p:graphicFrame>
        <p:nvGraphicFramePr>
          <p:cNvPr id="40" name="Content Placeholder 3">
            <a:extLst>
              <a:ext uri="{FF2B5EF4-FFF2-40B4-BE49-F238E27FC236}">
                <a16:creationId xmlns:a16="http://schemas.microsoft.com/office/drawing/2014/main" id="{8916F278-989B-4F55-BCCF-F7E7D1C896F9}"/>
              </a:ext>
            </a:extLst>
          </p:cNvPr>
          <p:cNvGraphicFramePr>
            <a:graphicFrameLocks noGrp="1"/>
          </p:cNvGraphicFramePr>
          <p:nvPr>
            <p:ph idx="4294967295"/>
            <p:extLst>
              <p:ext uri="{D42A27DB-BD31-4B8C-83A1-F6EECF244321}">
                <p14:modId xmlns:p14="http://schemas.microsoft.com/office/powerpoint/2010/main" val="2464822860"/>
              </p:ext>
            </p:extLst>
          </p:nvPr>
        </p:nvGraphicFramePr>
        <p:xfrm>
          <a:off x="469900" y="1017588"/>
          <a:ext cx="11237976" cy="5312664"/>
        </p:xfrm>
        <a:graphic>
          <a:graphicData uri="http://schemas.openxmlformats.org/drawingml/2006/table">
            <a:tbl>
              <a:tblPr firstRow="1" bandRow="1">
                <a:effectLst/>
              </a:tblPr>
              <a:tblGrid>
                <a:gridCol w="1069848">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gridCol w="8558784">
                  <a:extLst>
                    <a:ext uri="{9D8B030D-6E8A-4147-A177-3AD203B41FA5}">
                      <a16:colId xmlns:a16="http://schemas.microsoft.com/office/drawing/2014/main" val="20002"/>
                    </a:ext>
                  </a:extLst>
                </a:gridCol>
              </a:tblGrid>
              <a:tr h="0">
                <a:tc>
                  <a:txBody>
                    <a:bodyPr/>
                    <a:lstStyle/>
                    <a:p>
                      <a:pPr algn="l"/>
                      <a:r>
                        <a:rPr lang="en-US" sz="900" b="1" cap="none" spc="0" dirty="0">
                          <a:ln>
                            <a:noFill/>
                          </a:ln>
                          <a:solidFill>
                            <a:schemeClr val="bg1"/>
                          </a:solidFill>
                          <a:effectLst/>
                        </a:rPr>
                        <a:t>Function</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900" b="1" cap="none" spc="0" dirty="0">
                          <a:ln>
                            <a:noFill/>
                          </a:ln>
                          <a:solidFill>
                            <a:schemeClr val="bg1"/>
                          </a:solidFill>
                          <a:effectLst/>
                        </a:rPr>
                        <a:t>AWS component</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900" b="1" cap="none" spc="0" dirty="0">
                          <a:ln>
                            <a:noFill/>
                          </a:ln>
                          <a:solidFill>
                            <a:schemeClr val="bg1"/>
                          </a:solidFill>
                          <a:effectLst/>
                        </a:rPr>
                        <a:t>Description</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0">
                <a:tc row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cap="none" spc="0" dirty="0">
                          <a:ln>
                            <a:noFill/>
                          </a:ln>
                          <a:solidFill>
                            <a:sysClr val="windowText" lastClr="000000"/>
                          </a:solidFill>
                          <a:effectLst/>
                        </a:rPr>
                        <a:t>Advanced analytics, ML, and IOT</a:t>
                      </a:r>
                      <a:endParaRPr lang="en-US" sz="9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SageMaker</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fully-managed platform that enables developers and data scientists to quickly and easily build, train, and deploy machine learning models at any scale. It includes hosted Jupyter notebooks that make it easy to explore and visualize the training data stored in Amazon S3. </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4838835"/>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Comprehend</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continuously-trained Natural Language Processing (NLP) service that uses machine learning to find insights and relationships across unstructured text like customer reviews and news articles.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0687986"/>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Lex</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service for building conversational interfaces into any application using voice and text, enabling developers to bring sophisticated, natural language chatbots to applications.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4939265"/>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Machine Learning</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managed service for building ML models and generating predictions that enable the development of robust, scalable smart applications.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9420450"/>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IoT Analytics </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fully-managed service that makes it easy to run sophisticated analytics on massive volumes of IoT data. It simplifies running analytics on IoT data to get insights for better and more accurate decisions for IoT applications and machine learning use cases.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67833262"/>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Greengrass</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Amazon’s IOT service that lets devices process the data they generate locally, while still taking advantage of AWS services when an internet connection is available.</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5393972"/>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TensorFlow on AWS</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Framework that enables developers to quickly and easily get started with deep learning in cloud.</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780988"/>
                  </a:ext>
                </a:extLst>
              </a:tr>
              <a:tr h="0">
                <a:tc row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cap="none" spc="0" dirty="0">
                          <a:ln>
                            <a:noFill/>
                          </a:ln>
                          <a:solidFill>
                            <a:sysClr val="windowText" lastClr="000000"/>
                          </a:solidFill>
                          <a:effectLst/>
                        </a:rPr>
                        <a:t>DevOps and operations management</a:t>
                      </a:r>
                      <a:endParaRPr lang="en-US" sz="9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Identity Access and Management (IAM)</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Service that allows to manage users and their level of access to the AWS console and integrates with many different AWS services. It provides centralized control and shared access of AWS accounts, granular permissions, identity federation, multifactor authentication and password rotation policy.</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4686390"/>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Key Management Service</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managed service to create and control the encryption keys used to encrypt data, and uses FIPS 140-2 validated hardware security modules to protect the security of the keys.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675804"/>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CloudFormation</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Service that allows to quickly and easily model and provision infrastructure resources and applications in an automated and secure manner on AWS. </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6438905"/>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CodeCommiit</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fully-managed source control service that makes it easy for clients to host secure and highly scalable private Git repositories.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110441"/>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CodeDeploy</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service that automates software deployments to a variety of compute services including Amazon EC2, AWS Lambda, and instances running on-premises.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70033497"/>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CloudTrail</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service that enables governance, compliance, operational auditing—log, continuously monitor, and retain account activity related to your AWS infrastructure.</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3167350"/>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CloudWatch</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monitoring service for AWS cloud resources and the applications that runs on AWS. CloudWatch can be used to collect and track metrics, collect and monitor log files, set alarms, and automatically react to changes in your AWS resources.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7753471"/>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cap="none" spc="0" dirty="0">
                          <a:ln>
                            <a:noFill/>
                          </a:ln>
                          <a:solidFill>
                            <a:schemeClr val="tx1"/>
                          </a:solidFill>
                          <a:effectLst/>
                        </a:rPr>
                        <a:t>AWS Directory Service</a:t>
                      </a:r>
                      <a:endParaRPr lang="en-US" sz="900" b="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Directory Service for Microsoft AD, enables your directory-aware workloads and AWS resources to use managed Active Directory in the AWS Cloud.</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B="36576">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1101396"/>
                  </a:ext>
                </a:extLst>
              </a:tr>
            </a:tbl>
          </a:graphicData>
        </a:graphic>
      </p:graphicFrame>
    </p:spTree>
    <p:extLst>
      <p:ext uri="{BB962C8B-B14F-4D97-AF65-F5344CB8AC3E}">
        <p14:creationId xmlns:p14="http://schemas.microsoft.com/office/powerpoint/2010/main" val="2581207755"/>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0A41D3C-F151-4D9E-9FCD-82636A75824E}"/>
              </a:ext>
            </a:extLst>
          </p:cNvPr>
          <p:cNvSpPr>
            <a:spLocks noGrp="1"/>
          </p:cNvSpPr>
          <p:nvPr>
            <p:ph type="title"/>
          </p:nvPr>
        </p:nvSpPr>
        <p:spPr>
          <a:xfrm>
            <a:off x="469900" y="1665288"/>
            <a:ext cx="10418233" cy="1592403"/>
          </a:xfrm>
        </p:spPr>
        <p:txBody>
          <a:bodyPr/>
          <a:lstStyle/>
          <a:p>
            <a:r>
              <a:rPr lang="en-US" dirty="0"/>
              <a:t>Azure reference architecture</a:t>
            </a:r>
          </a:p>
        </p:txBody>
      </p:sp>
    </p:spTree>
    <p:extLst>
      <p:ext uri="{BB962C8B-B14F-4D97-AF65-F5344CB8AC3E}">
        <p14:creationId xmlns:p14="http://schemas.microsoft.com/office/powerpoint/2010/main" val="3033768455"/>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 Placeholder 121">
            <a:extLst>
              <a:ext uri="{FF2B5EF4-FFF2-40B4-BE49-F238E27FC236}">
                <a16:creationId xmlns:a16="http://schemas.microsoft.com/office/drawing/2014/main" id="{17EADCF4-20DE-4C00-A6B8-FA313F502D48}"/>
              </a:ext>
            </a:extLst>
          </p:cNvPr>
          <p:cNvSpPr>
            <a:spLocks noGrp="1"/>
          </p:cNvSpPr>
          <p:nvPr>
            <p:ph idx="1"/>
          </p:nvPr>
        </p:nvSpPr>
        <p:spPr>
          <a:xfrm>
            <a:off x="469900" y="1029945"/>
            <a:ext cx="11252200" cy="4633911"/>
          </a:xfrm>
        </p:spPr>
        <p:txBody>
          <a:bodyPr/>
          <a:lstStyle/>
          <a:p>
            <a:r>
              <a:rPr lang="en-US" b="1"/>
              <a:t>BI/Analytics/IOT Workloads</a:t>
            </a:r>
            <a:endParaRPr lang="en-US" b="1" dirty="0"/>
          </a:p>
        </p:txBody>
      </p:sp>
      <p:sp>
        <p:nvSpPr>
          <p:cNvPr id="4" name="Rubrik 3"/>
          <p:cNvSpPr>
            <a:spLocks noGrp="1"/>
          </p:cNvSpPr>
          <p:nvPr>
            <p:ph type="title"/>
          </p:nvPr>
        </p:nvSpPr>
        <p:spPr/>
        <p:txBody>
          <a:bodyPr/>
          <a:lstStyle/>
          <a:p>
            <a:r>
              <a:rPr lang="sv-SE" dirty="0"/>
              <a:t>Azure reference architecture</a:t>
            </a:r>
          </a:p>
        </p:txBody>
      </p:sp>
      <p:grpSp>
        <p:nvGrpSpPr>
          <p:cNvPr id="17" name="Group 16">
            <a:extLst>
              <a:ext uri="{FF2B5EF4-FFF2-40B4-BE49-F238E27FC236}">
                <a16:creationId xmlns:a16="http://schemas.microsoft.com/office/drawing/2014/main" id="{D16BC801-2250-4193-B4BA-4F1C0554774A}"/>
              </a:ext>
            </a:extLst>
          </p:cNvPr>
          <p:cNvGrpSpPr/>
          <p:nvPr/>
        </p:nvGrpSpPr>
        <p:grpSpPr>
          <a:xfrm>
            <a:off x="469900" y="1615294"/>
            <a:ext cx="11252200" cy="4683906"/>
            <a:chOff x="1200065" y="1295986"/>
            <a:chExt cx="9811095" cy="4683906"/>
          </a:xfrm>
        </p:grpSpPr>
        <p:sp>
          <p:nvSpPr>
            <p:cNvPr id="269" name="Rectangle 6">
              <a:extLst>
                <a:ext uri="{FF2B5EF4-FFF2-40B4-BE49-F238E27FC236}">
                  <a16:creationId xmlns:a16="http://schemas.microsoft.com/office/drawing/2014/main" id="{5C5FD9D6-45D5-49DF-9237-0D18E499D315}"/>
                </a:ext>
              </a:extLst>
            </p:cNvPr>
            <p:cNvSpPr>
              <a:spLocks noChangeArrowheads="1"/>
            </p:cNvSpPr>
            <p:nvPr/>
          </p:nvSpPr>
          <p:spPr bwMode="auto">
            <a:xfrm>
              <a:off x="9632735" y="3384515"/>
              <a:ext cx="1029993" cy="1300425"/>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Information Access Channels</a:t>
              </a:r>
            </a:p>
          </p:txBody>
        </p:sp>
        <p:sp>
          <p:nvSpPr>
            <p:cNvPr id="271" name="Rectangle 270">
              <a:extLst>
                <a:ext uri="{FF2B5EF4-FFF2-40B4-BE49-F238E27FC236}">
                  <a16:creationId xmlns:a16="http://schemas.microsoft.com/office/drawing/2014/main" id="{B9D41C05-5C5C-48FE-B94B-9F1B028B02BF}"/>
                </a:ext>
              </a:extLst>
            </p:cNvPr>
            <p:cNvSpPr>
              <a:spLocks noChangeArrowheads="1"/>
            </p:cNvSpPr>
            <p:nvPr/>
          </p:nvSpPr>
          <p:spPr bwMode="auto">
            <a:xfrm>
              <a:off x="7294932" y="5705572"/>
              <a:ext cx="1033376" cy="27432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Business Rules Management</a:t>
              </a:r>
            </a:p>
          </p:txBody>
        </p:sp>
        <p:sp>
          <p:nvSpPr>
            <p:cNvPr id="272" name="Rectangle 6">
              <a:extLst>
                <a:ext uri="{FF2B5EF4-FFF2-40B4-BE49-F238E27FC236}">
                  <a16:creationId xmlns:a16="http://schemas.microsoft.com/office/drawing/2014/main" id="{25AFB4EA-3061-479A-B7DC-814606E51F8B}"/>
                </a:ext>
              </a:extLst>
            </p:cNvPr>
            <p:cNvSpPr>
              <a:spLocks noChangeArrowheads="1"/>
            </p:cNvSpPr>
            <p:nvPr/>
          </p:nvSpPr>
          <p:spPr bwMode="auto">
            <a:xfrm rot="16200000">
              <a:off x="5891727" y="827256"/>
              <a:ext cx="209120" cy="9494052"/>
            </a:xfrm>
            <a:prstGeom prst="rect">
              <a:avLst/>
            </a:prstGeom>
            <a:noFill/>
            <a:ln w="12700">
              <a:solidFill>
                <a:schemeClr val="bg1">
                  <a:lumMod val="50000"/>
                </a:schemeClr>
              </a:solidFill>
              <a:prstDash val="solid"/>
            </a:ln>
          </p:spPr>
          <p:txBody>
            <a:bodyPr vert="vert" lIns="39745" rIns="39745" anchor="ctr"/>
            <a:lstStyle/>
            <a:p>
              <a:pPr marL="0" lvl="1" eaLnBrk="0" hangingPunct="0">
                <a:spcBef>
                  <a:spcPts val="261"/>
                </a:spcBef>
                <a:buClr>
                  <a:prstClr val="black"/>
                </a:buClr>
              </a:pPr>
              <a:r>
                <a:rPr lang="en-US" sz="695" dirty="0"/>
                <a:t>Enterprise Data Governance</a:t>
              </a:r>
            </a:p>
          </p:txBody>
        </p:sp>
        <p:sp>
          <p:nvSpPr>
            <p:cNvPr id="273" name="Rectangle 6">
              <a:extLst>
                <a:ext uri="{FF2B5EF4-FFF2-40B4-BE49-F238E27FC236}">
                  <a16:creationId xmlns:a16="http://schemas.microsoft.com/office/drawing/2014/main" id="{A5900EED-D4E9-404E-9D58-4E20461875E4}"/>
                </a:ext>
              </a:extLst>
            </p:cNvPr>
            <p:cNvSpPr>
              <a:spLocks noChangeArrowheads="1"/>
            </p:cNvSpPr>
            <p:nvPr/>
          </p:nvSpPr>
          <p:spPr bwMode="auto">
            <a:xfrm>
              <a:off x="1249259" y="5705572"/>
              <a:ext cx="1033376" cy="27432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Enterprise Content Management</a:t>
              </a:r>
            </a:p>
          </p:txBody>
        </p:sp>
        <p:sp>
          <p:nvSpPr>
            <p:cNvPr id="274" name="Rectangle 6">
              <a:extLst>
                <a:ext uri="{FF2B5EF4-FFF2-40B4-BE49-F238E27FC236}">
                  <a16:creationId xmlns:a16="http://schemas.microsoft.com/office/drawing/2014/main" id="{AEA18F37-06B7-4499-8950-3AAD3309436D}"/>
                </a:ext>
              </a:extLst>
            </p:cNvPr>
            <p:cNvSpPr>
              <a:spLocks noChangeArrowheads="1"/>
            </p:cNvSpPr>
            <p:nvPr/>
          </p:nvSpPr>
          <p:spPr bwMode="auto">
            <a:xfrm>
              <a:off x="2458394" y="5705572"/>
              <a:ext cx="1033376" cy="27432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Data Quality Management</a:t>
              </a:r>
            </a:p>
          </p:txBody>
        </p:sp>
        <p:sp>
          <p:nvSpPr>
            <p:cNvPr id="275" name="Rectangle 6">
              <a:extLst>
                <a:ext uri="{FF2B5EF4-FFF2-40B4-BE49-F238E27FC236}">
                  <a16:creationId xmlns:a16="http://schemas.microsoft.com/office/drawing/2014/main" id="{74A596DA-D7BD-4A63-9C75-5D7506DFD23C}"/>
                </a:ext>
              </a:extLst>
            </p:cNvPr>
            <p:cNvSpPr>
              <a:spLocks noChangeArrowheads="1"/>
            </p:cNvSpPr>
            <p:nvPr/>
          </p:nvSpPr>
          <p:spPr bwMode="auto">
            <a:xfrm>
              <a:off x="3667529" y="5705572"/>
              <a:ext cx="1033376" cy="27432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Metadata Management</a:t>
              </a:r>
            </a:p>
          </p:txBody>
        </p:sp>
        <p:sp>
          <p:nvSpPr>
            <p:cNvPr id="276" name="Rectangle 6">
              <a:extLst>
                <a:ext uri="{FF2B5EF4-FFF2-40B4-BE49-F238E27FC236}">
                  <a16:creationId xmlns:a16="http://schemas.microsoft.com/office/drawing/2014/main" id="{EE3A32E2-3143-4FE2-B3FA-D2A0828F58C2}"/>
                </a:ext>
              </a:extLst>
            </p:cNvPr>
            <p:cNvSpPr>
              <a:spLocks noChangeArrowheads="1"/>
            </p:cNvSpPr>
            <p:nvPr/>
          </p:nvSpPr>
          <p:spPr bwMode="auto">
            <a:xfrm>
              <a:off x="4876663" y="5705572"/>
              <a:ext cx="1033376" cy="27432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Data Security &amp; Privacy</a:t>
              </a:r>
            </a:p>
          </p:txBody>
        </p:sp>
        <p:sp>
          <p:nvSpPr>
            <p:cNvPr id="277" name="Rectangle 6">
              <a:extLst>
                <a:ext uri="{FF2B5EF4-FFF2-40B4-BE49-F238E27FC236}">
                  <a16:creationId xmlns:a16="http://schemas.microsoft.com/office/drawing/2014/main" id="{730CFA01-A143-4F95-99E1-1D27AD449FFB}"/>
                </a:ext>
              </a:extLst>
            </p:cNvPr>
            <p:cNvSpPr>
              <a:spLocks noChangeArrowheads="1"/>
            </p:cNvSpPr>
            <p:nvPr/>
          </p:nvSpPr>
          <p:spPr bwMode="auto">
            <a:xfrm>
              <a:off x="6085798" y="5705572"/>
              <a:ext cx="1033376" cy="27432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Master and Reference Data Management</a:t>
              </a:r>
            </a:p>
          </p:txBody>
        </p:sp>
        <p:sp>
          <p:nvSpPr>
            <p:cNvPr id="278" name="Rectangle 6">
              <a:extLst>
                <a:ext uri="{FF2B5EF4-FFF2-40B4-BE49-F238E27FC236}">
                  <a16:creationId xmlns:a16="http://schemas.microsoft.com/office/drawing/2014/main" id="{4C509B6A-F873-48D1-B8C2-87CE2DFCC490}"/>
                </a:ext>
              </a:extLst>
            </p:cNvPr>
            <p:cNvSpPr>
              <a:spLocks noChangeArrowheads="1"/>
            </p:cNvSpPr>
            <p:nvPr/>
          </p:nvSpPr>
          <p:spPr bwMode="auto">
            <a:xfrm>
              <a:off x="8504067" y="5705572"/>
              <a:ext cx="1033376" cy="27432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Audit, Balance and Control</a:t>
              </a:r>
            </a:p>
          </p:txBody>
        </p:sp>
        <p:sp>
          <p:nvSpPr>
            <p:cNvPr id="279" name="Rectangle 6">
              <a:extLst>
                <a:ext uri="{FF2B5EF4-FFF2-40B4-BE49-F238E27FC236}">
                  <a16:creationId xmlns:a16="http://schemas.microsoft.com/office/drawing/2014/main" id="{9003A25A-B21E-4CC3-9AF9-02DA69D93906}"/>
                </a:ext>
              </a:extLst>
            </p:cNvPr>
            <p:cNvSpPr>
              <a:spLocks noChangeArrowheads="1"/>
            </p:cNvSpPr>
            <p:nvPr/>
          </p:nvSpPr>
          <p:spPr bwMode="auto">
            <a:xfrm>
              <a:off x="9713202" y="5705572"/>
              <a:ext cx="1033376" cy="27432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Data Catalog and Discovery</a:t>
              </a:r>
            </a:p>
          </p:txBody>
        </p:sp>
        <p:sp>
          <p:nvSpPr>
            <p:cNvPr id="281" name="Rectangle 280">
              <a:extLst>
                <a:ext uri="{FF2B5EF4-FFF2-40B4-BE49-F238E27FC236}">
                  <a16:creationId xmlns:a16="http://schemas.microsoft.com/office/drawing/2014/main" id="{9D8CBA19-34A4-49DE-896D-523E1B695D50}"/>
                </a:ext>
              </a:extLst>
            </p:cNvPr>
            <p:cNvSpPr/>
            <p:nvPr/>
          </p:nvSpPr>
          <p:spPr bwMode="auto">
            <a:xfrm>
              <a:off x="1200065" y="1401965"/>
              <a:ext cx="1337170" cy="317962"/>
            </a:xfrm>
            <a:prstGeom prst="rect">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base">
                <a:spcAft>
                  <a:spcPct val="0"/>
                </a:spcAft>
              </a:pPr>
              <a:r>
                <a:rPr lang="en-US" sz="600" dirty="0">
                  <a:ea typeface="Open Sans" panose="020B0606030504020204" pitchFamily="34" charset="0"/>
                  <a:cs typeface="Open Sans" panose="020B0606030504020204" pitchFamily="34" charset="0"/>
                </a:rPr>
                <a:t>DATA SOURCES</a:t>
              </a:r>
            </a:p>
          </p:txBody>
        </p:sp>
        <p:sp>
          <p:nvSpPr>
            <p:cNvPr id="282" name="Rectangle 6">
              <a:extLst>
                <a:ext uri="{FF2B5EF4-FFF2-40B4-BE49-F238E27FC236}">
                  <a16:creationId xmlns:a16="http://schemas.microsoft.com/office/drawing/2014/main" id="{3B3BEC1B-4B00-4536-AB20-4E6A15D70BE4}"/>
                </a:ext>
              </a:extLst>
            </p:cNvPr>
            <p:cNvSpPr>
              <a:spLocks noChangeArrowheads="1"/>
            </p:cNvSpPr>
            <p:nvPr/>
          </p:nvSpPr>
          <p:spPr bwMode="auto">
            <a:xfrm>
              <a:off x="1217463" y="1788539"/>
              <a:ext cx="1337170" cy="3581032"/>
            </a:xfrm>
            <a:prstGeom prst="rect">
              <a:avLst/>
            </a:prstGeom>
            <a:solidFill>
              <a:sysClr val="window" lastClr="FFFFFF">
                <a:lumMod val="95000"/>
              </a:sysClr>
            </a:solidFill>
            <a:ln w="12700">
              <a:solidFill>
                <a:schemeClr val="bg1">
                  <a:lumMod val="50000"/>
                </a:schemeClr>
              </a:solidFill>
              <a:prstDash val="sysDash"/>
            </a:ln>
          </p:spPr>
          <p:txBody>
            <a:bodyPr lIns="39745" rIns="39745" anchor="t"/>
            <a:lstStyle/>
            <a:p>
              <a:pPr defTabSz="794883">
                <a:spcBef>
                  <a:spcPct val="50000"/>
                </a:spcBef>
                <a:defRPr/>
              </a:pPr>
              <a:endParaRPr lang="en-US" sz="695" kern="0" dirty="0">
                <a:solidFill>
                  <a:srgbClr val="2A54A8">
                    <a:lumMod val="75000"/>
                  </a:srgbClr>
                </a:solidFill>
              </a:endParaRPr>
            </a:p>
          </p:txBody>
        </p:sp>
        <p:sp>
          <p:nvSpPr>
            <p:cNvPr id="283" name="Rectangle 6">
              <a:extLst>
                <a:ext uri="{FF2B5EF4-FFF2-40B4-BE49-F238E27FC236}">
                  <a16:creationId xmlns:a16="http://schemas.microsoft.com/office/drawing/2014/main" id="{C16F28ED-D22D-4F5F-B79E-F6A8E99B4DB2}"/>
                </a:ext>
              </a:extLst>
            </p:cNvPr>
            <p:cNvSpPr>
              <a:spLocks noChangeArrowheads="1"/>
            </p:cNvSpPr>
            <p:nvPr/>
          </p:nvSpPr>
          <p:spPr bwMode="auto">
            <a:xfrm>
              <a:off x="1254996" y="1823031"/>
              <a:ext cx="1224748" cy="219221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Business Applications</a:t>
              </a:r>
            </a:p>
          </p:txBody>
        </p:sp>
        <p:sp>
          <p:nvSpPr>
            <p:cNvPr id="284" name="Rectangle 6">
              <a:extLst>
                <a:ext uri="{FF2B5EF4-FFF2-40B4-BE49-F238E27FC236}">
                  <a16:creationId xmlns:a16="http://schemas.microsoft.com/office/drawing/2014/main" id="{F84A3391-0206-4657-9452-8F5B3B6CDD41}"/>
                </a:ext>
              </a:extLst>
            </p:cNvPr>
            <p:cNvSpPr>
              <a:spLocks noChangeArrowheads="1"/>
            </p:cNvSpPr>
            <p:nvPr/>
          </p:nvSpPr>
          <p:spPr bwMode="auto">
            <a:xfrm>
              <a:off x="1254996" y="4083862"/>
              <a:ext cx="1224748" cy="1225505"/>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Other Data Sources</a:t>
              </a:r>
            </a:p>
          </p:txBody>
        </p:sp>
        <p:sp>
          <p:nvSpPr>
            <p:cNvPr id="285" name="Rectangle 6">
              <a:extLst>
                <a:ext uri="{FF2B5EF4-FFF2-40B4-BE49-F238E27FC236}">
                  <a16:creationId xmlns:a16="http://schemas.microsoft.com/office/drawing/2014/main" id="{178EC943-8DC6-4859-9F7D-1EA1660214B4}"/>
                </a:ext>
              </a:extLst>
            </p:cNvPr>
            <p:cNvSpPr>
              <a:spLocks noChangeArrowheads="1"/>
            </p:cNvSpPr>
            <p:nvPr/>
          </p:nvSpPr>
          <p:spPr bwMode="auto">
            <a:xfrm>
              <a:off x="1319201" y="4812758"/>
              <a:ext cx="1071305" cy="158981"/>
            </a:xfrm>
            <a:prstGeom prst="rect">
              <a:avLst/>
            </a:prstGeom>
            <a:solidFill>
              <a:sysClr val="window" lastClr="FFFFFF"/>
            </a:solidFill>
            <a:ln w="12700">
              <a:solidFill>
                <a:schemeClr val="bg1">
                  <a:lumMod val="50000"/>
                </a:schemeClr>
              </a:solidFill>
              <a:prstDash val="solid"/>
            </a:ln>
          </p:spPr>
          <p:txBody>
            <a:bodyPr lIns="0" tIns="0" rIns="0" bIns="0" anchor="ctr"/>
            <a:lstStyle/>
            <a:p>
              <a:pPr defTabSz="794883">
                <a:spcBef>
                  <a:spcPct val="50000"/>
                </a:spcBef>
                <a:defRPr/>
              </a:pPr>
              <a:r>
                <a:rPr lang="en-US" sz="600" kern="0" dirty="0">
                  <a:ea typeface="Open Sans" panose="020B0606030504020204" pitchFamily="34" charset="0"/>
                  <a:cs typeface="Open Sans" panose="020B0606030504020204" pitchFamily="34" charset="0"/>
                </a:rPr>
                <a:t>External Data</a:t>
              </a:r>
              <a:endParaRPr lang="en-US" sz="600" i="1" kern="0" dirty="0">
                <a:ea typeface="Open Sans" panose="020B0606030504020204" pitchFamily="34" charset="0"/>
                <a:cs typeface="Open Sans" panose="020B0606030504020204" pitchFamily="34" charset="0"/>
              </a:endParaRPr>
            </a:p>
          </p:txBody>
        </p:sp>
        <p:sp>
          <p:nvSpPr>
            <p:cNvPr id="286" name="Rectangle 6">
              <a:extLst>
                <a:ext uri="{FF2B5EF4-FFF2-40B4-BE49-F238E27FC236}">
                  <a16:creationId xmlns:a16="http://schemas.microsoft.com/office/drawing/2014/main" id="{39748BDD-C13A-456F-8C76-95B1CCC1C825}"/>
                </a:ext>
              </a:extLst>
            </p:cNvPr>
            <p:cNvSpPr>
              <a:spLocks noChangeArrowheads="1"/>
            </p:cNvSpPr>
            <p:nvPr/>
          </p:nvSpPr>
          <p:spPr bwMode="auto">
            <a:xfrm>
              <a:off x="1319201" y="4440120"/>
              <a:ext cx="1071305" cy="158981"/>
            </a:xfrm>
            <a:prstGeom prst="rect">
              <a:avLst/>
            </a:prstGeom>
            <a:solidFill>
              <a:sysClr val="window" lastClr="FFFFFF"/>
            </a:solidFill>
            <a:ln w="12700">
              <a:solidFill>
                <a:schemeClr val="bg1">
                  <a:lumMod val="50000"/>
                </a:schemeClr>
              </a:solidFill>
              <a:prstDash val="solid"/>
            </a:ln>
          </p:spPr>
          <p:txBody>
            <a:bodyPr lIns="0" tIns="0" rIns="0" bIns="0" anchor="ctr"/>
            <a:lstStyle/>
            <a:p>
              <a:pPr defTabSz="794883">
                <a:defRPr/>
              </a:pPr>
              <a:r>
                <a:rPr lang="en-US" sz="600" kern="0" dirty="0">
                  <a:ea typeface="Open Sans" panose="020B0606030504020204" pitchFamily="34" charset="0"/>
                  <a:cs typeface="Open Sans" panose="020B0606030504020204" pitchFamily="34" charset="0"/>
                </a:rPr>
                <a:t>Unstructured Data</a:t>
              </a:r>
            </a:p>
          </p:txBody>
        </p:sp>
        <p:sp>
          <p:nvSpPr>
            <p:cNvPr id="287" name="Freeform 120">
              <a:extLst>
                <a:ext uri="{FF2B5EF4-FFF2-40B4-BE49-F238E27FC236}">
                  <a16:creationId xmlns:a16="http://schemas.microsoft.com/office/drawing/2014/main" id="{05BDF828-5C3C-442F-B521-22D74CD6353E}"/>
                </a:ext>
              </a:extLst>
            </p:cNvPr>
            <p:cNvSpPr/>
            <p:nvPr/>
          </p:nvSpPr>
          <p:spPr bwMode="gray">
            <a:xfrm>
              <a:off x="6102255" y="1725317"/>
              <a:ext cx="261416" cy="488999"/>
            </a:xfrm>
            <a:custGeom>
              <a:avLst/>
              <a:gdLst>
                <a:gd name="connsiteX0" fmla="*/ 21997 w 250597"/>
                <a:gd name="connsiteY0" fmla="*/ 145143 h 564250"/>
                <a:gd name="connsiteX1" fmla="*/ 21997 w 250597"/>
                <a:gd name="connsiteY1" fmla="*/ 562428 h 564250"/>
                <a:gd name="connsiteX2" fmla="*/ 250597 w 250597"/>
                <a:gd name="connsiteY2" fmla="*/ 0 h 564250"/>
              </a:gdLst>
              <a:ahLst/>
              <a:cxnLst>
                <a:cxn ang="0">
                  <a:pos x="connsiteX0" y="connsiteY0"/>
                </a:cxn>
                <a:cxn ang="0">
                  <a:pos x="connsiteX1" y="connsiteY1"/>
                </a:cxn>
                <a:cxn ang="0">
                  <a:pos x="connsiteX2" y="connsiteY2"/>
                </a:cxn>
              </a:cxnLst>
              <a:rect l="l" t="t" r="r" b="b"/>
              <a:pathLst>
                <a:path w="250597" h="564250">
                  <a:moveTo>
                    <a:pt x="21997" y="145143"/>
                  </a:moveTo>
                  <a:cubicBezTo>
                    <a:pt x="2947" y="365881"/>
                    <a:pt x="-16103" y="586619"/>
                    <a:pt x="21997" y="562428"/>
                  </a:cubicBezTo>
                  <a:cubicBezTo>
                    <a:pt x="60097" y="538238"/>
                    <a:pt x="214311" y="93133"/>
                    <a:pt x="250597" y="0"/>
                  </a:cubicBezTo>
                </a:path>
              </a:pathLst>
            </a:custGeom>
            <a:noFill/>
            <a:ln w="12700" cap="rnd" algn="ctr">
              <a:solidFill>
                <a:schemeClr val="bg1">
                  <a:lumMod val="50000"/>
                </a:schemeClr>
              </a:solidFill>
              <a:miter lim="800000"/>
              <a:headEnd/>
              <a:tailEnd/>
            </a:ln>
          </p:spPr>
          <p:txBody>
            <a:bodyPr vert="horz" wrap="square" lIns="63592" tIns="63592" rIns="63592" bIns="63592" numCol="1" rtlCol="0" anchor="t" anchorCtr="0" compatLnSpc="1">
              <a:prstTxWarp prst="textNoShape">
                <a:avLst/>
              </a:prstTxWarp>
            </a:bodyPr>
            <a:lstStyle/>
            <a:p>
              <a:pPr eaLnBrk="0" fontAlgn="base" hangingPunct="0">
                <a:lnSpc>
                  <a:spcPct val="106000"/>
                </a:lnSpc>
                <a:spcBef>
                  <a:spcPct val="50000"/>
                </a:spcBef>
                <a:spcAft>
                  <a:spcPct val="0"/>
                </a:spcAft>
                <a:buSzPct val="100000"/>
                <a:buFont typeface="Wingdings 2" pitchFamily="18" charset="2"/>
                <a:buNone/>
              </a:pPr>
              <a:endParaRPr lang="en-US" sz="695" dirty="0">
                <a:solidFill>
                  <a:srgbClr val="000066"/>
                </a:solidFill>
              </a:endParaRPr>
            </a:p>
          </p:txBody>
        </p:sp>
        <p:sp>
          <p:nvSpPr>
            <p:cNvPr id="288" name="Rectangle 287">
              <a:extLst>
                <a:ext uri="{FF2B5EF4-FFF2-40B4-BE49-F238E27FC236}">
                  <a16:creationId xmlns:a16="http://schemas.microsoft.com/office/drawing/2014/main" id="{C3EF8256-87A1-45E8-ADF7-E2C031E15DA1}"/>
                </a:ext>
              </a:extLst>
            </p:cNvPr>
            <p:cNvSpPr/>
            <p:nvPr/>
          </p:nvSpPr>
          <p:spPr bwMode="auto">
            <a:xfrm>
              <a:off x="8394618" y="1401965"/>
              <a:ext cx="1124753" cy="317962"/>
            </a:xfrm>
            <a:prstGeom prst="rect">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base">
                <a:spcAft>
                  <a:spcPct val="0"/>
                </a:spcAft>
              </a:pPr>
              <a:r>
                <a:rPr lang="en-US" sz="600" dirty="0">
                  <a:ea typeface="Open Sans" panose="020B0606030504020204" pitchFamily="34" charset="0"/>
                  <a:cs typeface="Open Sans" panose="020B0606030504020204" pitchFamily="34" charset="0"/>
                </a:rPr>
                <a:t>INFORMATION DELIVERY</a:t>
              </a:r>
            </a:p>
          </p:txBody>
        </p:sp>
        <p:sp>
          <p:nvSpPr>
            <p:cNvPr id="289" name="Rectangle 6">
              <a:extLst>
                <a:ext uri="{FF2B5EF4-FFF2-40B4-BE49-F238E27FC236}">
                  <a16:creationId xmlns:a16="http://schemas.microsoft.com/office/drawing/2014/main" id="{D86221FD-3AE9-4D00-84DA-FEF192B9C4C1}"/>
                </a:ext>
              </a:extLst>
            </p:cNvPr>
            <p:cNvSpPr>
              <a:spLocks noChangeArrowheads="1"/>
            </p:cNvSpPr>
            <p:nvPr/>
          </p:nvSpPr>
          <p:spPr bwMode="auto">
            <a:xfrm>
              <a:off x="8394618" y="1768744"/>
              <a:ext cx="1124753" cy="296223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endParaRPr lang="en-US" sz="600" b="1" kern="0" dirty="0">
                <a:ea typeface="Open Sans" panose="020B0606030504020204" pitchFamily="34" charset="0"/>
                <a:cs typeface="Open Sans" panose="020B0606030504020204" pitchFamily="34" charset="0"/>
              </a:endParaRPr>
            </a:p>
          </p:txBody>
        </p:sp>
        <p:sp>
          <p:nvSpPr>
            <p:cNvPr id="290" name="Rectangle 6">
              <a:extLst>
                <a:ext uri="{FF2B5EF4-FFF2-40B4-BE49-F238E27FC236}">
                  <a16:creationId xmlns:a16="http://schemas.microsoft.com/office/drawing/2014/main" id="{0D7E63ED-0B10-411E-8DC4-9E02EFDB5D54}"/>
                </a:ext>
              </a:extLst>
            </p:cNvPr>
            <p:cNvSpPr>
              <a:spLocks noChangeArrowheads="1"/>
            </p:cNvSpPr>
            <p:nvPr/>
          </p:nvSpPr>
          <p:spPr bwMode="auto">
            <a:xfrm>
              <a:off x="8454288" y="1823031"/>
              <a:ext cx="1005840" cy="34180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BI Platform—PBI, SSAS,SSRS, </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AtScale, MicroStrategy</a:t>
              </a:r>
            </a:p>
          </p:txBody>
        </p:sp>
        <p:sp>
          <p:nvSpPr>
            <p:cNvPr id="291" name="Rectangle 6">
              <a:extLst>
                <a:ext uri="{FF2B5EF4-FFF2-40B4-BE49-F238E27FC236}">
                  <a16:creationId xmlns:a16="http://schemas.microsoft.com/office/drawing/2014/main" id="{4DA03A18-B32A-45C6-832A-D9B521600529}"/>
                </a:ext>
              </a:extLst>
            </p:cNvPr>
            <p:cNvSpPr>
              <a:spLocks noChangeArrowheads="1"/>
            </p:cNvSpPr>
            <p:nvPr/>
          </p:nvSpPr>
          <p:spPr bwMode="auto">
            <a:xfrm>
              <a:off x="8454111" y="3519068"/>
              <a:ext cx="1005840" cy="34180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Streaming Analytics (Kibana, Spark Streaming)</a:t>
              </a:r>
            </a:p>
          </p:txBody>
        </p:sp>
        <p:sp>
          <p:nvSpPr>
            <p:cNvPr id="292" name="Rectangle 6">
              <a:extLst>
                <a:ext uri="{FF2B5EF4-FFF2-40B4-BE49-F238E27FC236}">
                  <a16:creationId xmlns:a16="http://schemas.microsoft.com/office/drawing/2014/main" id="{2CB47547-F99C-4A2C-B523-DF232FBC95DA}"/>
                </a:ext>
              </a:extLst>
            </p:cNvPr>
            <p:cNvSpPr>
              <a:spLocks noChangeArrowheads="1"/>
            </p:cNvSpPr>
            <p:nvPr/>
          </p:nvSpPr>
          <p:spPr bwMode="auto">
            <a:xfrm>
              <a:off x="8459538" y="2365534"/>
              <a:ext cx="1005840" cy="34180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Adv Analytics/ML</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Azure ML SparkML, R, SciPy, Alteryx</a:t>
              </a:r>
            </a:p>
          </p:txBody>
        </p:sp>
        <p:sp>
          <p:nvSpPr>
            <p:cNvPr id="293" name="TextBox 292">
              <a:extLst>
                <a:ext uri="{FF2B5EF4-FFF2-40B4-BE49-F238E27FC236}">
                  <a16:creationId xmlns:a16="http://schemas.microsoft.com/office/drawing/2014/main" id="{439F70EB-F53E-4D7E-9AD0-E93C1BEF377C}"/>
                </a:ext>
              </a:extLst>
            </p:cNvPr>
            <p:cNvSpPr txBox="1"/>
            <p:nvPr/>
          </p:nvSpPr>
          <p:spPr bwMode="gray">
            <a:xfrm>
              <a:off x="8422403" y="2191393"/>
              <a:ext cx="1110828" cy="153888"/>
            </a:xfrm>
            <a:prstGeom prst="rect">
              <a:avLst/>
            </a:prstGeom>
            <a:noFill/>
            <a:ln w="12700">
              <a:solidFill>
                <a:schemeClr val="bg1">
                  <a:lumMod val="50000"/>
                </a:schemeClr>
              </a:solidFill>
              <a:miter lim="800000"/>
              <a:headEnd/>
              <a:tailEnd/>
            </a:ln>
          </p:spPr>
          <p:txBody>
            <a:bodyPr wrap="square" lIns="0" tIns="0" rIns="0" bIns="0" rtlCol="0">
              <a:spAutoFit/>
            </a:bodyPr>
            <a:lstStyle/>
            <a:p>
              <a:pPr algn="ctr"/>
              <a:r>
                <a:rPr lang="en-US" sz="500" i="1" dirty="0">
                  <a:ea typeface="Open Sans" panose="020B0606030504020204" pitchFamily="34" charset="0"/>
                  <a:cs typeface="Open Sans" panose="020B0606030504020204" pitchFamily="34" charset="0"/>
                </a:rPr>
                <a:t>(Visualization, Dashboards, Transactional Analytics)</a:t>
              </a:r>
            </a:p>
          </p:txBody>
        </p:sp>
        <p:sp>
          <p:nvSpPr>
            <p:cNvPr id="294" name="TextBox 293">
              <a:extLst>
                <a:ext uri="{FF2B5EF4-FFF2-40B4-BE49-F238E27FC236}">
                  <a16:creationId xmlns:a16="http://schemas.microsoft.com/office/drawing/2014/main" id="{98E3149D-8DF6-4AEE-9D63-9CA0463E37DD}"/>
                </a:ext>
              </a:extLst>
            </p:cNvPr>
            <p:cNvSpPr txBox="1"/>
            <p:nvPr/>
          </p:nvSpPr>
          <p:spPr bwMode="gray">
            <a:xfrm>
              <a:off x="8536913" y="3913219"/>
              <a:ext cx="881794" cy="153888"/>
            </a:xfrm>
            <a:prstGeom prst="rect">
              <a:avLst/>
            </a:prstGeom>
            <a:noFill/>
            <a:ln w="12700">
              <a:solidFill>
                <a:schemeClr val="bg1">
                  <a:lumMod val="50000"/>
                </a:schemeClr>
              </a:solidFill>
              <a:miter lim="800000"/>
              <a:headEnd/>
              <a:tailEnd/>
            </a:ln>
          </p:spPr>
          <p:txBody>
            <a:bodyPr wrap="square" lIns="0" tIns="0" rIns="0" bIns="0" rtlCol="0">
              <a:spAutoFit/>
            </a:bodyPr>
            <a:lstStyle/>
            <a:p>
              <a:pPr algn="ctr"/>
              <a:r>
                <a:rPr lang="en-US" sz="500" i="1" dirty="0">
                  <a:ea typeface="Open Sans" panose="020B0606030504020204" pitchFamily="34" charset="0"/>
                  <a:cs typeface="Open Sans" panose="020B0606030504020204" pitchFamily="34" charset="0"/>
                </a:rPr>
                <a:t>(Real-time dashboards and transactional applications)</a:t>
              </a:r>
            </a:p>
          </p:txBody>
        </p:sp>
        <p:sp>
          <p:nvSpPr>
            <p:cNvPr id="295" name="TextBox 294">
              <a:extLst>
                <a:ext uri="{FF2B5EF4-FFF2-40B4-BE49-F238E27FC236}">
                  <a16:creationId xmlns:a16="http://schemas.microsoft.com/office/drawing/2014/main" id="{EC2E28EB-D0E8-4899-A231-A82F48462CF4}"/>
                </a:ext>
              </a:extLst>
            </p:cNvPr>
            <p:cNvSpPr txBox="1"/>
            <p:nvPr/>
          </p:nvSpPr>
          <p:spPr bwMode="gray">
            <a:xfrm>
              <a:off x="8472897" y="2751244"/>
              <a:ext cx="1009844" cy="163891"/>
            </a:xfrm>
            <a:prstGeom prst="rect">
              <a:avLst/>
            </a:prstGeom>
            <a:noFill/>
            <a:ln w="12700">
              <a:solidFill>
                <a:schemeClr val="bg1">
                  <a:lumMod val="50000"/>
                </a:schemeClr>
              </a:solidFill>
              <a:miter lim="800000"/>
              <a:headEnd/>
              <a:tailEnd/>
            </a:ln>
          </p:spPr>
          <p:txBody>
            <a:bodyPr wrap="square" lIns="0" tIns="0" rIns="0" bIns="0" rtlCol="0">
              <a:spAutoFit/>
            </a:bodyPr>
            <a:lstStyle/>
            <a:p>
              <a:pPr algn="ctr"/>
              <a:r>
                <a:rPr lang="en-US" sz="565" i="1" dirty="0">
                  <a:solidFill>
                    <a:srgbClr val="003399"/>
                  </a:solidFill>
                </a:rPr>
                <a:t>(</a:t>
              </a:r>
              <a:r>
                <a:rPr lang="en-US" sz="500" i="1" dirty="0">
                  <a:ea typeface="Open Sans" panose="020B0606030504020204" pitchFamily="34" charset="0"/>
                  <a:cs typeface="Open Sans" panose="020B0606030504020204" pitchFamily="34" charset="0"/>
                </a:rPr>
                <a:t>Text Analytics, Predictive Modeling, Data Mashup)</a:t>
              </a:r>
            </a:p>
          </p:txBody>
        </p:sp>
        <p:sp>
          <p:nvSpPr>
            <p:cNvPr id="296" name="Rectangle 6">
              <a:extLst>
                <a:ext uri="{FF2B5EF4-FFF2-40B4-BE49-F238E27FC236}">
                  <a16:creationId xmlns:a16="http://schemas.microsoft.com/office/drawing/2014/main" id="{02EBFA14-625F-4F2D-B238-219CAEBDA0AA}"/>
                </a:ext>
              </a:extLst>
            </p:cNvPr>
            <p:cNvSpPr>
              <a:spLocks noChangeArrowheads="1"/>
            </p:cNvSpPr>
            <p:nvPr/>
          </p:nvSpPr>
          <p:spPr bwMode="auto">
            <a:xfrm>
              <a:off x="3595964" y="1797250"/>
              <a:ext cx="1051625" cy="2994818"/>
            </a:xfrm>
            <a:prstGeom prst="rect">
              <a:avLst/>
            </a:prstGeom>
            <a:solidFill>
              <a:sysClr val="window" lastClr="FFFFFF">
                <a:lumMod val="95000"/>
              </a:sysClr>
            </a:solidFill>
            <a:ln w="12700">
              <a:solidFill>
                <a:schemeClr val="bg1">
                  <a:lumMod val="50000"/>
                </a:schemeClr>
              </a:solidFill>
              <a:prstDash val="sysDash"/>
            </a:ln>
          </p:spPr>
          <p:txBody>
            <a:bodyPr lIns="39745" rIns="39745" anchor="t"/>
            <a:lstStyle/>
            <a:p>
              <a:pPr defTabSz="794883">
                <a:spcBef>
                  <a:spcPct val="50000"/>
                </a:spcBef>
                <a:defRPr/>
              </a:pPr>
              <a:endParaRPr lang="en-US" sz="695" kern="0" dirty="0">
                <a:solidFill>
                  <a:srgbClr val="2A54A8">
                    <a:lumMod val="75000"/>
                  </a:srgbClr>
                </a:solidFill>
              </a:endParaRPr>
            </a:p>
          </p:txBody>
        </p:sp>
        <p:sp>
          <p:nvSpPr>
            <p:cNvPr id="297" name="Rectangle 296">
              <a:extLst>
                <a:ext uri="{FF2B5EF4-FFF2-40B4-BE49-F238E27FC236}">
                  <a16:creationId xmlns:a16="http://schemas.microsoft.com/office/drawing/2014/main" id="{0E05D990-BBA4-4518-8E93-D404182C6C20}"/>
                </a:ext>
              </a:extLst>
            </p:cNvPr>
            <p:cNvSpPr/>
            <p:nvPr/>
          </p:nvSpPr>
          <p:spPr bwMode="auto">
            <a:xfrm>
              <a:off x="2647512" y="1401965"/>
              <a:ext cx="2000077" cy="317962"/>
            </a:xfrm>
            <a:prstGeom prst="rect">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base">
                <a:spcAft>
                  <a:spcPct val="0"/>
                </a:spcAft>
              </a:pPr>
              <a:r>
                <a:rPr lang="en-US" sz="600" dirty="0">
                  <a:ea typeface="Open Sans" panose="020B0606030504020204" pitchFamily="34" charset="0"/>
                  <a:cs typeface="Open Sans" panose="020B0606030504020204" pitchFamily="34" charset="0"/>
                </a:rPr>
                <a:t>INGEST</a:t>
              </a:r>
            </a:p>
          </p:txBody>
        </p:sp>
        <p:sp>
          <p:nvSpPr>
            <p:cNvPr id="298" name="Rectangle 297">
              <a:extLst>
                <a:ext uri="{FF2B5EF4-FFF2-40B4-BE49-F238E27FC236}">
                  <a16:creationId xmlns:a16="http://schemas.microsoft.com/office/drawing/2014/main" id="{4523C1EB-3D6A-4833-8757-A4D941790561}"/>
                </a:ext>
              </a:extLst>
            </p:cNvPr>
            <p:cNvSpPr/>
            <p:nvPr/>
          </p:nvSpPr>
          <p:spPr bwMode="auto">
            <a:xfrm>
              <a:off x="9620136" y="1401966"/>
              <a:ext cx="1036068" cy="313461"/>
            </a:xfrm>
            <a:prstGeom prst="rect">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base">
                <a:spcAft>
                  <a:spcPct val="0"/>
                </a:spcAft>
              </a:pPr>
              <a:r>
                <a:rPr lang="en-US" sz="600" dirty="0">
                  <a:ea typeface="Open Sans" panose="020B0606030504020204" pitchFamily="34" charset="0"/>
                  <a:cs typeface="Open Sans" panose="020B0606030504020204" pitchFamily="34" charset="0"/>
                </a:rPr>
                <a:t>INFORMATION </a:t>
              </a:r>
            </a:p>
            <a:p>
              <a:pPr algn="ctr" fontAlgn="base">
                <a:spcAft>
                  <a:spcPct val="0"/>
                </a:spcAft>
              </a:pPr>
              <a:r>
                <a:rPr lang="en-US" sz="600" dirty="0">
                  <a:ea typeface="Open Sans" panose="020B0606030504020204" pitchFamily="34" charset="0"/>
                  <a:cs typeface="Open Sans" panose="020B0606030504020204" pitchFamily="34" charset="0"/>
                </a:rPr>
                <a:t>CONSUMERS</a:t>
              </a:r>
            </a:p>
          </p:txBody>
        </p:sp>
        <p:sp>
          <p:nvSpPr>
            <p:cNvPr id="299" name="Rectangle 298">
              <a:extLst>
                <a:ext uri="{FF2B5EF4-FFF2-40B4-BE49-F238E27FC236}">
                  <a16:creationId xmlns:a16="http://schemas.microsoft.com/office/drawing/2014/main" id="{FCE900AF-566C-4195-826C-8C36934BEBEE}"/>
                </a:ext>
              </a:extLst>
            </p:cNvPr>
            <p:cNvSpPr/>
            <p:nvPr/>
          </p:nvSpPr>
          <p:spPr bwMode="auto">
            <a:xfrm>
              <a:off x="9625343" y="1968966"/>
              <a:ext cx="1005840" cy="25513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Business Consumers/ Analytics</a:t>
              </a:r>
            </a:p>
          </p:txBody>
        </p:sp>
        <p:sp>
          <p:nvSpPr>
            <p:cNvPr id="300" name="Rectangle 299">
              <a:extLst>
                <a:ext uri="{FF2B5EF4-FFF2-40B4-BE49-F238E27FC236}">
                  <a16:creationId xmlns:a16="http://schemas.microsoft.com/office/drawing/2014/main" id="{441683D7-3CAD-45B5-9203-8430D4DFFF9C}"/>
                </a:ext>
              </a:extLst>
            </p:cNvPr>
            <p:cNvSpPr/>
            <p:nvPr/>
          </p:nvSpPr>
          <p:spPr bwMode="auto">
            <a:xfrm>
              <a:off x="9625343" y="2518063"/>
              <a:ext cx="1005840" cy="254498"/>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Corporate Business Functions and HR</a:t>
              </a:r>
            </a:p>
          </p:txBody>
        </p:sp>
        <p:sp>
          <p:nvSpPr>
            <p:cNvPr id="301" name="Rectangle 300">
              <a:extLst>
                <a:ext uri="{FF2B5EF4-FFF2-40B4-BE49-F238E27FC236}">
                  <a16:creationId xmlns:a16="http://schemas.microsoft.com/office/drawing/2014/main" id="{AD66C82A-53F6-4A5B-80C0-6B68AAB278D5}"/>
                </a:ext>
              </a:extLst>
            </p:cNvPr>
            <p:cNvSpPr/>
            <p:nvPr/>
          </p:nvSpPr>
          <p:spPr bwMode="auto">
            <a:xfrm>
              <a:off x="9625343" y="2809726"/>
              <a:ext cx="1005840" cy="211228"/>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Data Scientist Community</a:t>
              </a:r>
            </a:p>
          </p:txBody>
        </p:sp>
        <p:sp>
          <p:nvSpPr>
            <p:cNvPr id="302" name="Rectangle 301">
              <a:extLst>
                <a:ext uri="{FF2B5EF4-FFF2-40B4-BE49-F238E27FC236}">
                  <a16:creationId xmlns:a16="http://schemas.microsoft.com/office/drawing/2014/main" id="{D140E472-FA92-4DBC-B28D-0E59BBA49242}"/>
                </a:ext>
              </a:extLst>
            </p:cNvPr>
            <p:cNvSpPr/>
            <p:nvPr/>
          </p:nvSpPr>
          <p:spPr bwMode="auto">
            <a:xfrm>
              <a:off x="9727433" y="3699476"/>
              <a:ext cx="863664" cy="17456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Portals</a:t>
              </a:r>
            </a:p>
          </p:txBody>
        </p:sp>
        <p:sp>
          <p:nvSpPr>
            <p:cNvPr id="303" name="Rectangle 302">
              <a:extLst>
                <a:ext uri="{FF2B5EF4-FFF2-40B4-BE49-F238E27FC236}">
                  <a16:creationId xmlns:a16="http://schemas.microsoft.com/office/drawing/2014/main" id="{16C5D28F-A025-4E95-B609-269AC76CF4CD}"/>
                </a:ext>
              </a:extLst>
            </p:cNvPr>
            <p:cNvSpPr/>
            <p:nvPr/>
          </p:nvSpPr>
          <p:spPr bwMode="auto">
            <a:xfrm>
              <a:off x="9625343" y="2265519"/>
              <a:ext cx="1005840" cy="211228"/>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Finance and Accounting</a:t>
              </a:r>
            </a:p>
          </p:txBody>
        </p:sp>
        <p:sp>
          <p:nvSpPr>
            <p:cNvPr id="304" name="Rectangle 6">
              <a:extLst>
                <a:ext uri="{FF2B5EF4-FFF2-40B4-BE49-F238E27FC236}">
                  <a16:creationId xmlns:a16="http://schemas.microsoft.com/office/drawing/2014/main" id="{A3F8848D-DABB-47AC-88B6-CF27CEC6517A}"/>
                </a:ext>
              </a:extLst>
            </p:cNvPr>
            <p:cNvSpPr>
              <a:spLocks noChangeArrowheads="1"/>
            </p:cNvSpPr>
            <p:nvPr/>
          </p:nvSpPr>
          <p:spPr bwMode="auto">
            <a:xfrm>
              <a:off x="3627310" y="1857219"/>
              <a:ext cx="961129" cy="1727525"/>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Ingestion Methods</a:t>
              </a:r>
            </a:p>
          </p:txBody>
        </p:sp>
        <p:sp>
          <p:nvSpPr>
            <p:cNvPr id="307" name="Rectangle 6">
              <a:extLst>
                <a:ext uri="{FF2B5EF4-FFF2-40B4-BE49-F238E27FC236}">
                  <a16:creationId xmlns:a16="http://schemas.microsoft.com/office/drawing/2014/main" id="{592BC2C9-6C74-404F-8885-8A7546A349CF}"/>
                </a:ext>
              </a:extLst>
            </p:cNvPr>
            <p:cNvSpPr>
              <a:spLocks noChangeArrowheads="1"/>
            </p:cNvSpPr>
            <p:nvPr/>
          </p:nvSpPr>
          <p:spPr bwMode="auto">
            <a:xfrm>
              <a:off x="3691554" y="2899728"/>
              <a:ext cx="800083" cy="262319"/>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r>
                <a:rPr lang="en-US" sz="600" kern="0" dirty="0">
                  <a:ea typeface="Open Sans" panose="020B0606030504020204" pitchFamily="34" charset="0"/>
                  <a:cs typeface="Open Sans" panose="020B0606030504020204" pitchFamily="34" charset="0"/>
                </a:rPr>
                <a:t>Async Messaging Azure Event Hub</a:t>
              </a:r>
            </a:p>
          </p:txBody>
        </p:sp>
        <p:sp>
          <p:nvSpPr>
            <p:cNvPr id="308" name="Rectangle 6">
              <a:extLst>
                <a:ext uri="{FF2B5EF4-FFF2-40B4-BE49-F238E27FC236}">
                  <a16:creationId xmlns:a16="http://schemas.microsoft.com/office/drawing/2014/main" id="{BD48699A-F1C6-424A-908C-0FE69B6D825B}"/>
                </a:ext>
              </a:extLst>
            </p:cNvPr>
            <p:cNvSpPr>
              <a:spLocks noChangeArrowheads="1"/>
            </p:cNvSpPr>
            <p:nvPr/>
          </p:nvSpPr>
          <p:spPr bwMode="auto">
            <a:xfrm>
              <a:off x="3682012" y="3227306"/>
              <a:ext cx="800083" cy="288744"/>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r>
                <a:rPr lang="en-US" sz="600" kern="0" dirty="0">
                  <a:ea typeface="Open Sans" panose="020B0606030504020204" pitchFamily="34" charset="0"/>
                  <a:cs typeface="Open Sans" panose="020B0606030504020204" pitchFamily="34" charset="0"/>
                </a:rPr>
                <a:t>Web Services</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Azure Logic Apps</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Apache NiFi</a:t>
              </a:r>
            </a:p>
          </p:txBody>
        </p:sp>
        <p:sp>
          <p:nvSpPr>
            <p:cNvPr id="310" name="Rectangle 6">
              <a:extLst>
                <a:ext uri="{FF2B5EF4-FFF2-40B4-BE49-F238E27FC236}">
                  <a16:creationId xmlns:a16="http://schemas.microsoft.com/office/drawing/2014/main" id="{329604AF-47C5-4317-96AE-82C373D465F9}"/>
                </a:ext>
              </a:extLst>
            </p:cNvPr>
            <p:cNvSpPr>
              <a:spLocks noChangeArrowheads="1"/>
            </p:cNvSpPr>
            <p:nvPr/>
          </p:nvSpPr>
          <p:spPr bwMode="auto">
            <a:xfrm>
              <a:off x="3688532" y="2141636"/>
              <a:ext cx="808229" cy="701690"/>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r>
                <a:rPr lang="en-US" sz="600" kern="0" dirty="0">
                  <a:ea typeface="Open Sans" panose="020B0606030504020204" pitchFamily="34" charset="0"/>
                  <a:cs typeface="Open Sans" panose="020B0606030504020204" pitchFamily="34" charset="0"/>
                </a:rPr>
                <a:t>Batch ETL &amp; ELT</a:t>
              </a:r>
            </a:p>
            <a:p>
              <a:pPr algn="ctr" defTabSz="794883"/>
              <a:r>
                <a:rPr lang="en-US" sz="600" kern="0" dirty="0">
                  <a:ea typeface="Open Sans" panose="020B0606030504020204" pitchFamily="34" charset="0"/>
                  <a:cs typeface="Open Sans" panose="020B0606030504020204" pitchFamily="34" charset="0"/>
                </a:rPr>
                <a:t>Azure ADF, Polybase</a:t>
              </a:r>
            </a:p>
            <a:p>
              <a:pPr algn="ctr" defTabSz="794883"/>
              <a:r>
                <a:rPr lang="en-US" sz="600" kern="0" dirty="0">
                  <a:ea typeface="Open Sans" panose="020B0606030504020204" pitchFamily="34" charset="0"/>
                  <a:cs typeface="Open Sans" panose="020B0606030504020204" pitchFamily="34" charset="0"/>
                </a:rPr>
                <a:t>Informatica, Talend, </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Apache NiFi, MFT</a:t>
              </a:r>
            </a:p>
          </p:txBody>
        </p:sp>
        <p:sp>
          <p:nvSpPr>
            <p:cNvPr id="312" name="Rectangle 311">
              <a:extLst>
                <a:ext uri="{FF2B5EF4-FFF2-40B4-BE49-F238E27FC236}">
                  <a16:creationId xmlns:a16="http://schemas.microsoft.com/office/drawing/2014/main" id="{3F21D987-C770-4EF2-A574-AF5BE461A1EA}"/>
                </a:ext>
              </a:extLst>
            </p:cNvPr>
            <p:cNvSpPr/>
            <p:nvPr/>
          </p:nvSpPr>
          <p:spPr bwMode="auto">
            <a:xfrm>
              <a:off x="4692722" y="1401965"/>
              <a:ext cx="3635586" cy="322932"/>
            </a:xfrm>
            <a:prstGeom prst="rect">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base">
                <a:spcAft>
                  <a:spcPct val="0"/>
                </a:spcAft>
              </a:pPr>
              <a:r>
                <a:rPr lang="en-US" sz="600" dirty="0">
                  <a:ea typeface="Open Sans" panose="020B0606030504020204" pitchFamily="34" charset="0"/>
                  <a:cs typeface="Open Sans" panose="020B0606030504020204" pitchFamily="34" charset="0"/>
                </a:rPr>
                <a:t>DATA STORAGE AND PROCESSING</a:t>
              </a:r>
            </a:p>
          </p:txBody>
        </p:sp>
        <p:sp>
          <p:nvSpPr>
            <p:cNvPr id="313" name="Rectangle 6">
              <a:extLst>
                <a:ext uri="{FF2B5EF4-FFF2-40B4-BE49-F238E27FC236}">
                  <a16:creationId xmlns:a16="http://schemas.microsoft.com/office/drawing/2014/main" id="{82E7C72A-136A-4B9E-B738-D9107DE40AC2}"/>
                </a:ext>
              </a:extLst>
            </p:cNvPr>
            <p:cNvSpPr>
              <a:spLocks noChangeArrowheads="1"/>
            </p:cNvSpPr>
            <p:nvPr/>
          </p:nvSpPr>
          <p:spPr bwMode="auto">
            <a:xfrm>
              <a:off x="4742288" y="1768743"/>
              <a:ext cx="3593219" cy="3041507"/>
            </a:xfrm>
            <a:prstGeom prst="rect">
              <a:avLst/>
            </a:prstGeom>
            <a:solidFill>
              <a:sysClr val="window" lastClr="FFFFFF">
                <a:lumMod val="95000"/>
              </a:sysClr>
            </a:solidFill>
            <a:ln w="12700">
              <a:solidFill>
                <a:schemeClr val="bg1">
                  <a:lumMod val="50000"/>
                </a:schemeClr>
              </a:solidFill>
              <a:prstDash val="sysDash"/>
            </a:ln>
          </p:spPr>
          <p:txBody>
            <a:bodyPr lIns="39745" rIns="39745" anchor="t"/>
            <a:lstStyle/>
            <a:p>
              <a:pPr defTabSz="794883">
                <a:spcBef>
                  <a:spcPct val="50000"/>
                </a:spcBef>
                <a:defRPr/>
              </a:pPr>
              <a:endParaRPr lang="en-US" sz="695" kern="0" dirty="0">
                <a:solidFill>
                  <a:srgbClr val="2A54A8">
                    <a:lumMod val="75000"/>
                  </a:srgbClr>
                </a:solidFill>
              </a:endParaRPr>
            </a:p>
          </p:txBody>
        </p:sp>
        <p:sp>
          <p:nvSpPr>
            <p:cNvPr id="317" name="AutoShape 21">
              <a:extLst>
                <a:ext uri="{FF2B5EF4-FFF2-40B4-BE49-F238E27FC236}">
                  <a16:creationId xmlns:a16="http://schemas.microsoft.com/office/drawing/2014/main" id="{69D0CE64-8178-4050-8569-FF9DD870E869}"/>
                </a:ext>
              </a:extLst>
            </p:cNvPr>
            <p:cNvSpPr>
              <a:spLocks noChangeArrowheads="1"/>
            </p:cNvSpPr>
            <p:nvPr/>
          </p:nvSpPr>
          <p:spPr bwMode="auto">
            <a:xfrm>
              <a:off x="1333629" y="2055670"/>
              <a:ext cx="1041990" cy="290565"/>
            </a:xfrm>
            <a:prstGeom prst="can">
              <a:avLst>
                <a:gd name="adj" fmla="val 25000"/>
              </a:avLst>
            </a:prstGeom>
            <a:solidFill>
              <a:sysClr val="window" lastClr="FFFFFF"/>
            </a:solidFill>
            <a:ln w="12700">
              <a:solidFill>
                <a:schemeClr val="bg1">
                  <a:lumMod val="50000"/>
                </a:schemeClr>
              </a:solidFill>
              <a:round/>
              <a:headEnd/>
              <a:tailEnd/>
            </a:ln>
          </p:spPr>
          <p:txBody>
            <a:bodyPr lIns="79490" tIns="0" rIns="79490" bIns="0" anchor="t" anchorCtr="1"/>
            <a:lstStyle/>
            <a:p>
              <a:pPr defTabSz="794883">
                <a:defRPr/>
              </a:pPr>
              <a:r>
                <a:rPr lang="en-US" sz="600" kern="0" dirty="0">
                  <a:ea typeface="Open Sans" panose="020B0606030504020204" pitchFamily="34" charset="0"/>
                  <a:cs typeface="Open Sans" panose="020B0606030504020204" pitchFamily="34" charset="0"/>
                </a:rPr>
                <a:t>Customer &amp; Distribution</a:t>
              </a:r>
            </a:p>
          </p:txBody>
        </p:sp>
        <p:sp>
          <p:nvSpPr>
            <p:cNvPr id="320" name="Rectangle 6">
              <a:extLst>
                <a:ext uri="{FF2B5EF4-FFF2-40B4-BE49-F238E27FC236}">
                  <a16:creationId xmlns:a16="http://schemas.microsoft.com/office/drawing/2014/main" id="{A9BB3460-CF66-4D46-AEEA-3100B17722C4}"/>
                </a:ext>
              </a:extLst>
            </p:cNvPr>
            <p:cNvSpPr>
              <a:spLocks noChangeArrowheads="1"/>
            </p:cNvSpPr>
            <p:nvPr/>
          </p:nvSpPr>
          <p:spPr bwMode="auto">
            <a:xfrm>
              <a:off x="4789885" y="3620037"/>
              <a:ext cx="2413763" cy="1106695"/>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Analytical Processing</a:t>
              </a:r>
            </a:p>
          </p:txBody>
        </p:sp>
        <p:sp>
          <p:nvSpPr>
            <p:cNvPr id="321" name="Rectangle 6">
              <a:extLst>
                <a:ext uri="{FF2B5EF4-FFF2-40B4-BE49-F238E27FC236}">
                  <a16:creationId xmlns:a16="http://schemas.microsoft.com/office/drawing/2014/main" id="{5CDC8C64-7784-4B6B-8BBE-842D395D3F3B}"/>
                </a:ext>
              </a:extLst>
            </p:cNvPr>
            <p:cNvSpPr>
              <a:spLocks noChangeArrowheads="1"/>
            </p:cNvSpPr>
            <p:nvPr/>
          </p:nvSpPr>
          <p:spPr bwMode="auto">
            <a:xfrm>
              <a:off x="4797786" y="1970289"/>
              <a:ext cx="2348285" cy="1285448"/>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Production Data Lake</a:t>
              </a:r>
            </a:p>
          </p:txBody>
        </p:sp>
        <p:sp>
          <p:nvSpPr>
            <p:cNvPr id="334" name="AutoShape 21">
              <a:extLst>
                <a:ext uri="{FF2B5EF4-FFF2-40B4-BE49-F238E27FC236}">
                  <a16:creationId xmlns:a16="http://schemas.microsoft.com/office/drawing/2014/main" id="{C3C049D1-80BD-4467-8680-6CF1DCD40EEF}"/>
                </a:ext>
              </a:extLst>
            </p:cNvPr>
            <p:cNvSpPr>
              <a:spLocks noChangeArrowheads="1"/>
            </p:cNvSpPr>
            <p:nvPr/>
          </p:nvSpPr>
          <p:spPr bwMode="auto">
            <a:xfrm>
              <a:off x="1333629" y="2369037"/>
              <a:ext cx="1041990" cy="290565"/>
            </a:xfrm>
            <a:prstGeom prst="can">
              <a:avLst>
                <a:gd name="adj" fmla="val 25000"/>
              </a:avLst>
            </a:prstGeom>
            <a:solidFill>
              <a:sysClr val="window" lastClr="FFFFFF"/>
            </a:solidFill>
            <a:ln w="12700">
              <a:solidFill>
                <a:schemeClr val="bg1">
                  <a:lumMod val="50000"/>
                </a:schemeClr>
              </a:solidFill>
              <a:round/>
              <a:headEnd/>
              <a:tailEnd/>
            </a:ln>
          </p:spPr>
          <p:txBody>
            <a:bodyPr lIns="79490" tIns="0" rIns="79490" bIns="0" anchor="t" anchorCtr="1"/>
            <a:lstStyle/>
            <a:p>
              <a:pPr algn="ctr"/>
              <a:r>
                <a:rPr lang="en-US" sz="600" kern="0" dirty="0">
                  <a:ea typeface="Open Sans" panose="020B0606030504020204" pitchFamily="34" charset="0"/>
                  <a:cs typeface="Open Sans" panose="020B0606030504020204" pitchFamily="34" charset="0"/>
                </a:rPr>
                <a:t>Marketing, Sales &amp; Distribution</a:t>
              </a:r>
            </a:p>
          </p:txBody>
        </p:sp>
        <p:sp>
          <p:nvSpPr>
            <p:cNvPr id="335" name="AutoShape 21">
              <a:extLst>
                <a:ext uri="{FF2B5EF4-FFF2-40B4-BE49-F238E27FC236}">
                  <a16:creationId xmlns:a16="http://schemas.microsoft.com/office/drawing/2014/main" id="{43CEA5F8-CD79-46D9-A861-5973CB9BC900}"/>
                </a:ext>
              </a:extLst>
            </p:cNvPr>
            <p:cNvSpPr>
              <a:spLocks noChangeArrowheads="1"/>
            </p:cNvSpPr>
            <p:nvPr/>
          </p:nvSpPr>
          <p:spPr bwMode="auto">
            <a:xfrm>
              <a:off x="1333629" y="2682405"/>
              <a:ext cx="1041990" cy="290565"/>
            </a:xfrm>
            <a:prstGeom prst="can">
              <a:avLst>
                <a:gd name="adj" fmla="val 25000"/>
              </a:avLst>
            </a:prstGeom>
            <a:solidFill>
              <a:sysClr val="window" lastClr="FFFFFF"/>
            </a:solidFill>
            <a:ln w="12700">
              <a:solidFill>
                <a:schemeClr val="bg1">
                  <a:lumMod val="50000"/>
                </a:schemeClr>
              </a:solidFill>
              <a:round/>
              <a:headEnd/>
              <a:tailEnd/>
            </a:ln>
          </p:spPr>
          <p:txBody>
            <a:bodyPr lIns="79490" tIns="0" rIns="79490" bIns="0" anchor="t" anchorCtr="1"/>
            <a:lstStyle/>
            <a:p>
              <a:pPr algn="ctr"/>
              <a:r>
                <a:rPr lang="en-US" sz="600" kern="0" dirty="0">
                  <a:ea typeface="Open Sans" panose="020B0606030504020204" pitchFamily="34" charset="0"/>
                  <a:cs typeface="Open Sans" panose="020B0606030504020204" pitchFamily="34" charset="0"/>
                </a:rPr>
                <a:t>ERP</a:t>
              </a:r>
            </a:p>
          </p:txBody>
        </p:sp>
        <p:sp>
          <p:nvSpPr>
            <p:cNvPr id="336" name="AutoShape 21">
              <a:extLst>
                <a:ext uri="{FF2B5EF4-FFF2-40B4-BE49-F238E27FC236}">
                  <a16:creationId xmlns:a16="http://schemas.microsoft.com/office/drawing/2014/main" id="{61EA126D-670B-4C8C-A4FE-9738ACF5F7DD}"/>
                </a:ext>
              </a:extLst>
            </p:cNvPr>
            <p:cNvSpPr>
              <a:spLocks noChangeArrowheads="1"/>
            </p:cNvSpPr>
            <p:nvPr/>
          </p:nvSpPr>
          <p:spPr bwMode="auto">
            <a:xfrm>
              <a:off x="1333629" y="2995772"/>
              <a:ext cx="1041990" cy="290565"/>
            </a:xfrm>
            <a:prstGeom prst="can">
              <a:avLst>
                <a:gd name="adj" fmla="val 25000"/>
              </a:avLst>
            </a:prstGeom>
            <a:solidFill>
              <a:sysClr val="window" lastClr="FFFFFF"/>
            </a:solidFill>
            <a:ln w="12700">
              <a:solidFill>
                <a:schemeClr val="bg1">
                  <a:lumMod val="50000"/>
                </a:schemeClr>
              </a:solidFill>
              <a:round/>
              <a:headEnd/>
              <a:tailEnd/>
            </a:ln>
          </p:spPr>
          <p:txBody>
            <a:bodyPr lIns="79490" tIns="0" rIns="79490" bIns="0" anchor="t" anchorCtr="1"/>
            <a:lstStyle/>
            <a:p>
              <a:pPr algn="ctr">
                <a:lnSpc>
                  <a:spcPct val="150000"/>
                </a:lnSpc>
              </a:pPr>
              <a:r>
                <a:rPr lang="en-US" sz="600" kern="0" dirty="0">
                  <a:ea typeface="Open Sans" panose="020B0606030504020204" pitchFamily="34" charset="0"/>
                  <a:cs typeface="Open Sans" panose="020B0606030504020204" pitchFamily="34" charset="0"/>
                </a:rPr>
                <a:t>HR &amp; Finance</a:t>
              </a:r>
            </a:p>
          </p:txBody>
        </p:sp>
        <p:sp>
          <p:nvSpPr>
            <p:cNvPr id="337" name="Parallelogram 336">
              <a:extLst>
                <a:ext uri="{FF2B5EF4-FFF2-40B4-BE49-F238E27FC236}">
                  <a16:creationId xmlns:a16="http://schemas.microsoft.com/office/drawing/2014/main" id="{9CDF7FC2-BC86-4429-8451-337C17FC6EF3}"/>
                </a:ext>
              </a:extLst>
            </p:cNvPr>
            <p:cNvSpPr/>
            <p:nvPr/>
          </p:nvSpPr>
          <p:spPr bwMode="gray">
            <a:xfrm>
              <a:off x="1318293" y="4253800"/>
              <a:ext cx="1073121" cy="158981"/>
            </a:xfrm>
            <a:prstGeom prst="parallelogram">
              <a:avLst>
                <a:gd name="adj" fmla="val 81833"/>
              </a:avLst>
            </a:prstGeom>
            <a:solidFill>
              <a:sysClr val="window" lastClr="FFFFFF"/>
            </a:solidFill>
            <a:ln w="12700" cap="rnd" algn="ctr">
              <a:solidFill>
                <a:schemeClr val="bg1">
                  <a:lumMod val="50000"/>
                </a:schemeClr>
              </a:solidFill>
              <a:miter lim="800000"/>
              <a:headEnd/>
              <a:tailEnd/>
            </a:ln>
          </p:spPr>
          <p:txBody>
            <a:bodyPr lIns="158981" rtlCol="0" anchor="ctr" anchorCtr="1"/>
            <a:lstStyle/>
            <a:p>
              <a:pPr defTabSz="794883" eaLnBrk="0" hangingPunct="0">
                <a:lnSpc>
                  <a:spcPct val="106000"/>
                </a:lnSpc>
                <a:defRPr/>
              </a:pPr>
              <a:r>
                <a:rPr lang="en-US" sz="600" kern="0" dirty="0">
                  <a:ea typeface="Open Sans" panose="020B0606030504020204" pitchFamily="34" charset="0"/>
                  <a:cs typeface="Open Sans" panose="020B0606030504020204" pitchFamily="34" charset="0"/>
                </a:rPr>
                <a:t>IOT Data</a:t>
              </a:r>
            </a:p>
          </p:txBody>
        </p:sp>
        <p:sp>
          <p:nvSpPr>
            <p:cNvPr id="339" name="AutoShape 21">
              <a:extLst>
                <a:ext uri="{FF2B5EF4-FFF2-40B4-BE49-F238E27FC236}">
                  <a16:creationId xmlns:a16="http://schemas.microsoft.com/office/drawing/2014/main" id="{799CD18D-68BF-4E62-90EC-9A3075A12E27}"/>
                </a:ext>
              </a:extLst>
            </p:cNvPr>
            <p:cNvSpPr>
              <a:spLocks noChangeArrowheads="1"/>
            </p:cNvSpPr>
            <p:nvPr/>
          </p:nvSpPr>
          <p:spPr bwMode="auto">
            <a:xfrm>
              <a:off x="8536919" y="4221946"/>
              <a:ext cx="881794" cy="425417"/>
            </a:xfrm>
            <a:prstGeom prst="can">
              <a:avLst>
                <a:gd name="adj" fmla="val 25000"/>
              </a:avLst>
            </a:prstGeom>
            <a:solidFill>
              <a:schemeClr val="bg1"/>
            </a:solidFill>
            <a:ln w="12700">
              <a:solidFill>
                <a:schemeClr val="bg1">
                  <a:lumMod val="50000"/>
                </a:schemeClr>
              </a:solidFill>
              <a:prstDash val="solid"/>
            </a:ln>
          </p:spPr>
          <p:txBody>
            <a:bodyPr lIns="0" tIns="0" rIns="0" bIns="0" anchor="ctr"/>
            <a:lstStyle/>
            <a:p>
              <a:pPr algn="ctr" defTabSz="794883"/>
              <a:r>
                <a:rPr lang="en-US" sz="650" kern="0" dirty="0"/>
                <a:t>Analytics/ML </a:t>
              </a:r>
            </a:p>
            <a:p>
              <a:pPr algn="ctr" defTabSz="794883"/>
              <a:r>
                <a:rPr lang="en-US" sz="650" kern="0" dirty="0"/>
                <a:t>Model Repository</a:t>
              </a:r>
            </a:p>
          </p:txBody>
        </p:sp>
        <p:sp>
          <p:nvSpPr>
            <p:cNvPr id="340" name="Rectangle 339">
              <a:extLst>
                <a:ext uri="{FF2B5EF4-FFF2-40B4-BE49-F238E27FC236}">
                  <a16:creationId xmlns:a16="http://schemas.microsoft.com/office/drawing/2014/main" id="{BE355503-EE6F-4BA2-BB15-A316E77DF2A6}"/>
                </a:ext>
              </a:extLst>
            </p:cNvPr>
            <p:cNvSpPr/>
            <p:nvPr/>
          </p:nvSpPr>
          <p:spPr bwMode="auto">
            <a:xfrm>
              <a:off x="9720709" y="3921099"/>
              <a:ext cx="863664" cy="17456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Mobile</a:t>
              </a:r>
            </a:p>
          </p:txBody>
        </p:sp>
        <p:sp>
          <p:nvSpPr>
            <p:cNvPr id="341" name="Rectangle 340">
              <a:extLst>
                <a:ext uri="{FF2B5EF4-FFF2-40B4-BE49-F238E27FC236}">
                  <a16:creationId xmlns:a16="http://schemas.microsoft.com/office/drawing/2014/main" id="{BE1865B7-AAC0-4A51-A983-774D67FFEC7E}"/>
                </a:ext>
              </a:extLst>
            </p:cNvPr>
            <p:cNvSpPr/>
            <p:nvPr/>
          </p:nvSpPr>
          <p:spPr bwMode="auto">
            <a:xfrm>
              <a:off x="9720709" y="4358659"/>
              <a:ext cx="863664" cy="277976"/>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Enterprise Applications</a:t>
              </a:r>
            </a:p>
          </p:txBody>
        </p:sp>
        <p:sp>
          <p:nvSpPr>
            <p:cNvPr id="342" name="AutoShape 21">
              <a:extLst>
                <a:ext uri="{FF2B5EF4-FFF2-40B4-BE49-F238E27FC236}">
                  <a16:creationId xmlns:a16="http://schemas.microsoft.com/office/drawing/2014/main" id="{29454F85-D730-4E38-BA06-2CF596D1451E}"/>
                </a:ext>
              </a:extLst>
            </p:cNvPr>
            <p:cNvSpPr>
              <a:spLocks noChangeArrowheads="1"/>
            </p:cNvSpPr>
            <p:nvPr/>
          </p:nvSpPr>
          <p:spPr bwMode="auto">
            <a:xfrm>
              <a:off x="1333629" y="3309139"/>
              <a:ext cx="1041990" cy="290565"/>
            </a:xfrm>
            <a:prstGeom prst="can">
              <a:avLst>
                <a:gd name="adj" fmla="val 25000"/>
              </a:avLst>
            </a:prstGeom>
            <a:solidFill>
              <a:sysClr val="window" lastClr="FFFFFF"/>
            </a:solidFill>
            <a:ln w="12700">
              <a:solidFill>
                <a:schemeClr val="bg1">
                  <a:lumMod val="50000"/>
                </a:schemeClr>
              </a:solidFill>
              <a:round/>
              <a:headEnd/>
              <a:tailEnd/>
            </a:ln>
          </p:spPr>
          <p:txBody>
            <a:bodyPr lIns="79490" tIns="0" rIns="79490" bIns="0" anchor="t" anchorCtr="1"/>
            <a:lstStyle/>
            <a:p>
              <a:pPr algn="ctr">
                <a:lnSpc>
                  <a:spcPct val="150000"/>
                </a:lnSpc>
              </a:pPr>
              <a:r>
                <a:rPr lang="en-US" sz="600" kern="0" dirty="0">
                  <a:ea typeface="Open Sans" panose="020B0606030504020204" pitchFamily="34" charset="0"/>
                  <a:cs typeface="Open Sans" panose="020B0606030504020204" pitchFamily="34" charset="0"/>
                </a:rPr>
                <a:t>Master Data Mgmt.</a:t>
              </a:r>
            </a:p>
          </p:txBody>
        </p:sp>
        <p:sp>
          <p:nvSpPr>
            <p:cNvPr id="343" name="Rectangle 6">
              <a:extLst>
                <a:ext uri="{FF2B5EF4-FFF2-40B4-BE49-F238E27FC236}">
                  <a16:creationId xmlns:a16="http://schemas.microsoft.com/office/drawing/2014/main" id="{A1699163-D16B-4CD3-AF9F-AF85B7CD7493}"/>
                </a:ext>
              </a:extLst>
            </p:cNvPr>
            <p:cNvSpPr>
              <a:spLocks noChangeArrowheads="1"/>
            </p:cNvSpPr>
            <p:nvPr/>
          </p:nvSpPr>
          <p:spPr bwMode="auto">
            <a:xfrm>
              <a:off x="1319201" y="4626439"/>
              <a:ext cx="1071305" cy="158981"/>
            </a:xfrm>
            <a:prstGeom prst="rect">
              <a:avLst/>
            </a:prstGeom>
            <a:solidFill>
              <a:sysClr val="window" lastClr="FFFFFF"/>
            </a:solidFill>
            <a:ln w="12700">
              <a:solidFill>
                <a:schemeClr val="bg1">
                  <a:lumMod val="50000"/>
                </a:schemeClr>
              </a:solidFill>
              <a:prstDash val="solid"/>
            </a:ln>
          </p:spPr>
          <p:txBody>
            <a:bodyPr lIns="0" tIns="0" rIns="0" bIns="0" anchor="ctr"/>
            <a:lstStyle/>
            <a:p>
              <a:pPr defTabSz="794883">
                <a:defRPr/>
              </a:pPr>
              <a:r>
                <a:rPr lang="en-US" sz="600" kern="0" dirty="0">
                  <a:ea typeface="Open Sans" panose="020B0606030504020204" pitchFamily="34" charset="0"/>
                  <a:cs typeface="Open Sans" panose="020B0606030504020204" pitchFamily="34" charset="0"/>
                </a:rPr>
                <a:t>Geospatial Data</a:t>
              </a:r>
            </a:p>
          </p:txBody>
        </p:sp>
        <p:sp>
          <p:nvSpPr>
            <p:cNvPr id="344" name="Rectangle 6">
              <a:extLst>
                <a:ext uri="{FF2B5EF4-FFF2-40B4-BE49-F238E27FC236}">
                  <a16:creationId xmlns:a16="http://schemas.microsoft.com/office/drawing/2014/main" id="{63424F7E-59AB-451B-B814-CAD9768DB103}"/>
                </a:ext>
              </a:extLst>
            </p:cNvPr>
            <p:cNvSpPr>
              <a:spLocks noChangeArrowheads="1"/>
            </p:cNvSpPr>
            <p:nvPr/>
          </p:nvSpPr>
          <p:spPr bwMode="auto">
            <a:xfrm>
              <a:off x="1319201" y="4999080"/>
              <a:ext cx="1071305" cy="158981"/>
            </a:xfrm>
            <a:prstGeom prst="rect">
              <a:avLst/>
            </a:prstGeom>
            <a:solidFill>
              <a:sysClr val="window" lastClr="FFFFFF"/>
            </a:solidFill>
            <a:ln w="12700">
              <a:solidFill>
                <a:schemeClr val="bg1">
                  <a:lumMod val="50000"/>
                </a:schemeClr>
              </a:solidFill>
              <a:prstDash val="solid"/>
            </a:ln>
          </p:spPr>
          <p:txBody>
            <a:bodyPr lIns="0" tIns="0" rIns="0" bIns="0" anchor="ctr"/>
            <a:lstStyle/>
            <a:p>
              <a:pPr defTabSz="794883">
                <a:spcBef>
                  <a:spcPct val="50000"/>
                </a:spcBef>
                <a:defRPr/>
              </a:pPr>
              <a:r>
                <a:rPr lang="en-US" sz="600" kern="0" dirty="0">
                  <a:ea typeface="Open Sans" panose="020B0606030504020204" pitchFamily="34" charset="0"/>
                  <a:cs typeface="Open Sans" panose="020B0606030504020204" pitchFamily="34" charset="0"/>
                </a:rPr>
                <a:t>Live Streams</a:t>
              </a:r>
              <a:endParaRPr lang="en-US" sz="600" i="1" kern="0" dirty="0">
                <a:ea typeface="Open Sans" panose="020B0606030504020204" pitchFamily="34" charset="0"/>
                <a:cs typeface="Open Sans" panose="020B0606030504020204" pitchFamily="34" charset="0"/>
              </a:endParaRPr>
            </a:p>
          </p:txBody>
        </p:sp>
        <p:sp>
          <p:nvSpPr>
            <p:cNvPr id="346" name="Rectangle 6">
              <a:extLst>
                <a:ext uri="{FF2B5EF4-FFF2-40B4-BE49-F238E27FC236}">
                  <a16:creationId xmlns:a16="http://schemas.microsoft.com/office/drawing/2014/main" id="{1B6D9ACD-F166-4A16-A5A3-6CDEFFA329DB}"/>
                </a:ext>
              </a:extLst>
            </p:cNvPr>
            <p:cNvSpPr>
              <a:spLocks noChangeArrowheads="1"/>
            </p:cNvSpPr>
            <p:nvPr/>
          </p:nvSpPr>
          <p:spPr bwMode="auto">
            <a:xfrm>
              <a:off x="8454111" y="2941095"/>
              <a:ext cx="1005840" cy="34180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Visualization</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PBI Services, Excel, Tableau</a:t>
              </a:r>
            </a:p>
          </p:txBody>
        </p:sp>
        <p:sp>
          <p:nvSpPr>
            <p:cNvPr id="347" name="TextBox 346">
              <a:extLst>
                <a:ext uri="{FF2B5EF4-FFF2-40B4-BE49-F238E27FC236}">
                  <a16:creationId xmlns:a16="http://schemas.microsoft.com/office/drawing/2014/main" id="{CA27DBC3-854C-4CC6-9B64-5A6B55FE084E}"/>
                </a:ext>
              </a:extLst>
            </p:cNvPr>
            <p:cNvSpPr txBox="1"/>
            <p:nvPr/>
          </p:nvSpPr>
          <p:spPr bwMode="gray">
            <a:xfrm>
              <a:off x="8472894" y="3332224"/>
              <a:ext cx="1009844" cy="153888"/>
            </a:xfrm>
            <a:prstGeom prst="rect">
              <a:avLst/>
            </a:prstGeom>
            <a:noFill/>
            <a:ln w="12700">
              <a:solidFill>
                <a:schemeClr val="bg1">
                  <a:lumMod val="50000"/>
                </a:schemeClr>
              </a:solidFill>
              <a:miter lim="800000"/>
              <a:headEnd/>
              <a:tailEnd/>
            </a:ln>
          </p:spPr>
          <p:txBody>
            <a:bodyPr wrap="square" lIns="0" tIns="0" rIns="0" bIns="0" rtlCol="0">
              <a:spAutoFit/>
            </a:bodyPr>
            <a:lstStyle/>
            <a:p>
              <a:pPr algn="ctr"/>
              <a:r>
                <a:rPr lang="en-US" sz="500" i="1" dirty="0">
                  <a:ea typeface="Open Sans" panose="020B0606030504020204" pitchFamily="34" charset="0"/>
                  <a:cs typeface="Open Sans" panose="020B0606030504020204" pitchFamily="34" charset="0"/>
                </a:rPr>
                <a:t>(Processing, Analysis, Visualization)</a:t>
              </a:r>
            </a:p>
          </p:txBody>
        </p:sp>
        <p:sp>
          <p:nvSpPr>
            <p:cNvPr id="348" name="Rectangle 347">
              <a:extLst>
                <a:ext uri="{FF2B5EF4-FFF2-40B4-BE49-F238E27FC236}">
                  <a16:creationId xmlns:a16="http://schemas.microsoft.com/office/drawing/2014/main" id="{54F546EA-3AB9-4A11-9B72-2905FD30FFDA}"/>
                </a:ext>
              </a:extLst>
            </p:cNvPr>
            <p:cNvSpPr/>
            <p:nvPr/>
          </p:nvSpPr>
          <p:spPr bwMode="auto">
            <a:xfrm>
              <a:off x="9720709" y="4137036"/>
              <a:ext cx="863664" cy="17456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Enterprise Search</a:t>
              </a:r>
            </a:p>
          </p:txBody>
        </p:sp>
        <p:sp>
          <p:nvSpPr>
            <p:cNvPr id="357" name="Rectangle 356">
              <a:extLst>
                <a:ext uri="{FF2B5EF4-FFF2-40B4-BE49-F238E27FC236}">
                  <a16:creationId xmlns:a16="http://schemas.microsoft.com/office/drawing/2014/main" id="{9CB8284D-03C9-4359-A6C6-7640244DC462}"/>
                </a:ext>
              </a:extLst>
            </p:cNvPr>
            <p:cNvSpPr/>
            <p:nvPr/>
          </p:nvSpPr>
          <p:spPr bwMode="auto">
            <a:xfrm>
              <a:off x="9621584" y="3057380"/>
              <a:ext cx="1005840" cy="211228"/>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External Consumers</a:t>
              </a:r>
            </a:p>
          </p:txBody>
        </p:sp>
        <p:sp>
          <p:nvSpPr>
            <p:cNvPr id="358" name="Rectangle 6">
              <a:extLst>
                <a:ext uri="{FF2B5EF4-FFF2-40B4-BE49-F238E27FC236}">
                  <a16:creationId xmlns:a16="http://schemas.microsoft.com/office/drawing/2014/main" id="{0B072D75-AFB4-46E3-A3D5-963303A24DDA}"/>
                </a:ext>
              </a:extLst>
            </p:cNvPr>
            <p:cNvSpPr>
              <a:spLocks noChangeArrowheads="1"/>
            </p:cNvSpPr>
            <p:nvPr/>
          </p:nvSpPr>
          <p:spPr bwMode="auto">
            <a:xfrm>
              <a:off x="4818526" y="3304302"/>
              <a:ext cx="2331256" cy="214726"/>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r>
                <a:rPr lang="en-US" sz="600" kern="0" dirty="0">
                  <a:ea typeface="Open Sans" panose="020B0606030504020204" pitchFamily="34" charset="0"/>
                  <a:cs typeface="Open Sans" panose="020B0606030504020204" pitchFamily="34" charset="0"/>
                </a:rPr>
                <a:t>Research Data Lake </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Azure Data Lake Store, Azure Blob Storage</a:t>
              </a:r>
            </a:p>
          </p:txBody>
        </p:sp>
        <p:sp>
          <p:nvSpPr>
            <p:cNvPr id="359" name="Rectangle 6">
              <a:extLst>
                <a:ext uri="{FF2B5EF4-FFF2-40B4-BE49-F238E27FC236}">
                  <a16:creationId xmlns:a16="http://schemas.microsoft.com/office/drawing/2014/main" id="{3F41F558-D01B-4A98-84E8-BF8A4BB18ADF}"/>
                </a:ext>
              </a:extLst>
            </p:cNvPr>
            <p:cNvSpPr>
              <a:spLocks noChangeArrowheads="1"/>
            </p:cNvSpPr>
            <p:nvPr/>
          </p:nvSpPr>
          <p:spPr bwMode="auto">
            <a:xfrm>
              <a:off x="2654361" y="1796315"/>
              <a:ext cx="956023" cy="2994818"/>
            </a:xfrm>
            <a:prstGeom prst="rect">
              <a:avLst/>
            </a:prstGeom>
            <a:solidFill>
              <a:sysClr val="window" lastClr="FFFFFF">
                <a:lumMod val="95000"/>
              </a:sysClr>
            </a:solidFill>
            <a:ln w="12700">
              <a:solidFill>
                <a:schemeClr val="bg1">
                  <a:lumMod val="50000"/>
                </a:schemeClr>
              </a:solidFill>
              <a:prstDash val="sysDash"/>
            </a:ln>
          </p:spPr>
          <p:txBody>
            <a:bodyPr lIns="39745" rIns="39745" anchor="t"/>
            <a:lstStyle/>
            <a:p>
              <a:pPr defTabSz="794883">
                <a:spcBef>
                  <a:spcPct val="50000"/>
                </a:spcBef>
                <a:defRPr/>
              </a:pPr>
              <a:endParaRPr lang="en-US" sz="695" kern="0" dirty="0">
                <a:solidFill>
                  <a:srgbClr val="2A54A8">
                    <a:lumMod val="75000"/>
                  </a:srgbClr>
                </a:solidFill>
              </a:endParaRPr>
            </a:p>
          </p:txBody>
        </p:sp>
        <p:sp>
          <p:nvSpPr>
            <p:cNvPr id="360" name="Rectangle 6">
              <a:extLst>
                <a:ext uri="{FF2B5EF4-FFF2-40B4-BE49-F238E27FC236}">
                  <a16:creationId xmlns:a16="http://schemas.microsoft.com/office/drawing/2014/main" id="{C3ED4122-A5AB-4805-A3D5-69F2FC78D20F}"/>
                </a:ext>
              </a:extLst>
            </p:cNvPr>
            <p:cNvSpPr>
              <a:spLocks noChangeArrowheads="1"/>
            </p:cNvSpPr>
            <p:nvPr/>
          </p:nvSpPr>
          <p:spPr bwMode="auto">
            <a:xfrm>
              <a:off x="2717186" y="1856284"/>
              <a:ext cx="808229" cy="2870447"/>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Data Movement</a:t>
              </a:r>
            </a:p>
          </p:txBody>
        </p:sp>
        <p:sp>
          <p:nvSpPr>
            <p:cNvPr id="366" name="Rectangle 6">
              <a:extLst>
                <a:ext uri="{FF2B5EF4-FFF2-40B4-BE49-F238E27FC236}">
                  <a16:creationId xmlns:a16="http://schemas.microsoft.com/office/drawing/2014/main" id="{9FF379DF-E6B7-47F8-B73E-192801CEA279}"/>
                </a:ext>
              </a:extLst>
            </p:cNvPr>
            <p:cNvSpPr>
              <a:spLocks noChangeArrowheads="1"/>
            </p:cNvSpPr>
            <p:nvPr/>
          </p:nvSpPr>
          <p:spPr bwMode="auto">
            <a:xfrm>
              <a:off x="3608876" y="3663185"/>
              <a:ext cx="991529" cy="1063546"/>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Stream Ingestion</a:t>
              </a:r>
            </a:p>
          </p:txBody>
        </p:sp>
        <p:sp>
          <p:nvSpPr>
            <p:cNvPr id="306" name="Rectangle 6">
              <a:extLst>
                <a:ext uri="{FF2B5EF4-FFF2-40B4-BE49-F238E27FC236}">
                  <a16:creationId xmlns:a16="http://schemas.microsoft.com/office/drawing/2014/main" id="{277EE480-2EB9-4E3C-90BD-D6412F0BB016}"/>
                </a:ext>
              </a:extLst>
            </p:cNvPr>
            <p:cNvSpPr>
              <a:spLocks noChangeArrowheads="1"/>
            </p:cNvSpPr>
            <p:nvPr/>
          </p:nvSpPr>
          <p:spPr bwMode="auto">
            <a:xfrm>
              <a:off x="3687295" y="3952025"/>
              <a:ext cx="800083" cy="250173"/>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r>
                <a:rPr lang="en-US" sz="600" kern="0" dirty="0">
                  <a:ea typeface="Open Sans" panose="020B0606030504020204" pitchFamily="34" charset="0"/>
                  <a:cs typeface="Open Sans" panose="020B0606030504020204" pitchFamily="34" charset="0"/>
                </a:rPr>
                <a:t>Azure Event Hub</a:t>
              </a:r>
            </a:p>
          </p:txBody>
        </p:sp>
        <p:sp>
          <p:nvSpPr>
            <p:cNvPr id="368" name="Rectangle 6">
              <a:extLst>
                <a:ext uri="{FF2B5EF4-FFF2-40B4-BE49-F238E27FC236}">
                  <a16:creationId xmlns:a16="http://schemas.microsoft.com/office/drawing/2014/main" id="{D9618E3A-7581-4CAE-9EC8-F8BD04E1E4E6}"/>
                </a:ext>
              </a:extLst>
            </p:cNvPr>
            <p:cNvSpPr>
              <a:spLocks noChangeArrowheads="1"/>
            </p:cNvSpPr>
            <p:nvPr/>
          </p:nvSpPr>
          <p:spPr bwMode="auto">
            <a:xfrm>
              <a:off x="7257418" y="1822844"/>
              <a:ext cx="993729" cy="2903887"/>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Data Storage and Provisioning</a:t>
              </a:r>
            </a:p>
          </p:txBody>
        </p:sp>
        <p:sp>
          <p:nvSpPr>
            <p:cNvPr id="369" name="Rectangle 6">
              <a:extLst>
                <a:ext uri="{FF2B5EF4-FFF2-40B4-BE49-F238E27FC236}">
                  <a16:creationId xmlns:a16="http://schemas.microsoft.com/office/drawing/2014/main" id="{8B200F59-16B0-4CAA-91C9-3C7CC5F403CB}"/>
                </a:ext>
              </a:extLst>
            </p:cNvPr>
            <p:cNvSpPr>
              <a:spLocks noChangeArrowheads="1"/>
            </p:cNvSpPr>
            <p:nvPr/>
          </p:nvSpPr>
          <p:spPr bwMode="auto">
            <a:xfrm>
              <a:off x="4807380" y="2171130"/>
              <a:ext cx="760906" cy="1014857"/>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Raw Layer</a:t>
              </a:r>
            </a:p>
          </p:txBody>
        </p:sp>
        <p:sp>
          <p:nvSpPr>
            <p:cNvPr id="374" name="Rectangle 6">
              <a:extLst>
                <a:ext uri="{FF2B5EF4-FFF2-40B4-BE49-F238E27FC236}">
                  <a16:creationId xmlns:a16="http://schemas.microsoft.com/office/drawing/2014/main" id="{932DF9C2-4D31-4E7E-B527-A4C825B934D6}"/>
                </a:ext>
              </a:extLst>
            </p:cNvPr>
            <p:cNvSpPr>
              <a:spLocks noChangeArrowheads="1"/>
            </p:cNvSpPr>
            <p:nvPr/>
          </p:nvSpPr>
          <p:spPr bwMode="auto">
            <a:xfrm>
              <a:off x="5592172" y="2171130"/>
              <a:ext cx="767431" cy="1014856"/>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Processed Layer</a:t>
              </a:r>
            </a:p>
          </p:txBody>
        </p:sp>
        <p:sp>
          <p:nvSpPr>
            <p:cNvPr id="375" name="Rectangle 6">
              <a:extLst>
                <a:ext uri="{FF2B5EF4-FFF2-40B4-BE49-F238E27FC236}">
                  <a16:creationId xmlns:a16="http://schemas.microsoft.com/office/drawing/2014/main" id="{F87752D1-DEE2-4AC8-B2B8-6F7E6CD24F9B}"/>
                </a:ext>
              </a:extLst>
            </p:cNvPr>
            <p:cNvSpPr>
              <a:spLocks noChangeArrowheads="1"/>
            </p:cNvSpPr>
            <p:nvPr/>
          </p:nvSpPr>
          <p:spPr bwMode="auto">
            <a:xfrm>
              <a:off x="6386549" y="2166931"/>
              <a:ext cx="747196" cy="1009276"/>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b="1" kern="0" dirty="0">
                  <a:ea typeface="Open Sans" panose="020B0606030504020204" pitchFamily="34" charset="0"/>
                  <a:cs typeface="Open Sans" panose="020B0606030504020204" pitchFamily="34" charset="0"/>
                </a:rPr>
                <a:t>Consumption Layer</a:t>
              </a:r>
            </a:p>
          </p:txBody>
        </p:sp>
        <p:sp>
          <p:nvSpPr>
            <p:cNvPr id="376" name="Rectangle 6">
              <a:extLst>
                <a:ext uri="{FF2B5EF4-FFF2-40B4-BE49-F238E27FC236}">
                  <a16:creationId xmlns:a16="http://schemas.microsoft.com/office/drawing/2014/main" id="{7F6C48CE-63BA-4863-BB2F-536A33327F9D}"/>
                </a:ext>
              </a:extLst>
            </p:cNvPr>
            <p:cNvSpPr>
              <a:spLocks noChangeArrowheads="1"/>
            </p:cNvSpPr>
            <p:nvPr/>
          </p:nvSpPr>
          <p:spPr bwMode="auto">
            <a:xfrm>
              <a:off x="6453677" y="2424616"/>
              <a:ext cx="631193" cy="151997"/>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spcBef>
                  <a:spcPct val="50000"/>
                </a:spcBef>
                <a:defRPr/>
              </a:pPr>
              <a:r>
                <a:rPr lang="en-US" sz="500" kern="0" dirty="0">
                  <a:ea typeface="Open Sans" panose="020B0606030504020204" pitchFamily="34" charset="0"/>
                  <a:cs typeface="Open Sans" panose="020B0606030504020204" pitchFamily="34" charset="0"/>
                </a:rPr>
                <a:t>Structured Data by Domains</a:t>
              </a:r>
            </a:p>
          </p:txBody>
        </p:sp>
        <p:sp>
          <p:nvSpPr>
            <p:cNvPr id="356" name="Rectangle 6">
              <a:extLst>
                <a:ext uri="{FF2B5EF4-FFF2-40B4-BE49-F238E27FC236}">
                  <a16:creationId xmlns:a16="http://schemas.microsoft.com/office/drawing/2014/main" id="{266ADDAE-76E0-416E-BFB7-6AA812A655E3}"/>
                </a:ext>
              </a:extLst>
            </p:cNvPr>
            <p:cNvSpPr>
              <a:spLocks noChangeArrowheads="1"/>
            </p:cNvSpPr>
            <p:nvPr/>
          </p:nvSpPr>
          <p:spPr bwMode="auto">
            <a:xfrm>
              <a:off x="6454967" y="2822022"/>
              <a:ext cx="635847" cy="182951"/>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spcBef>
                  <a:spcPct val="50000"/>
                </a:spcBef>
                <a:defRPr/>
              </a:pPr>
              <a:r>
                <a:rPr lang="en-US" sz="500" kern="0" dirty="0">
                  <a:ea typeface="Open Sans" panose="020B0606030504020204" pitchFamily="34" charset="0"/>
                  <a:cs typeface="Open Sans" panose="020B0606030504020204" pitchFamily="34" charset="0"/>
                </a:rPr>
                <a:t>Unstructured Data</a:t>
              </a:r>
            </a:p>
          </p:txBody>
        </p:sp>
        <p:sp>
          <p:nvSpPr>
            <p:cNvPr id="353" name="Rectangle 6">
              <a:extLst>
                <a:ext uri="{FF2B5EF4-FFF2-40B4-BE49-F238E27FC236}">
                  <a16:creationId xmlns:a16="http://schemas.microsoft.com/office/drawing/2014/main" id="{E46224C9-9517-4F46-A21F-A3771A93D5D9}"/>
                </a:ext>
              </a:extLst>
            </p:cNvPr>
            <p:cNvSpPr>
              <a:spLocks noChangeArrowheads="1"/>
            </p:cNvSpPr>
            <p:nvPr/>
          </p:nvSpPr>
          <p:spPr bwMode="auto">
            <a:xfrm>
              <a:off x="4873795" y="2372883"/>
              <a:ext cx="626330" cy="185035"/>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defTabSz="794883">
                <a:defRPr/>
              </a:pPr>
              <a:r>
                <a:rPr lang="en-US" sz="500" kern="0" dirty="0">
                  <a:ea typeface="Open Sans" panose="020B0606030504020204" pitchFamily="34" charset="0"/>
                  <a:cs typeface="Open Sans" panose="020B0606030504020204" pitchFamily="34" charset="0"/>
                </a:rPr>
                <a:t>Data based on Applications</a:t>
              </a:r>
            </a:p>
          </p:txBody>
        </p:sp>
        <p:sp>
          <p:nvSpPr>
            <p:cNvPr id="377" name="Rectangle 6">
              <a:extLst>
                <a:ext uri="{FF2B5EF4-FFF2-40B4-BE49-F238E27FC236}">
                  <a16:creationId xmlns:a16="http://schemas.microsoft.com/office/drawing/2014/main" id="{3316A81E-543E-40F5-A409-32257F952F8C}"/>
                </a:ext>
              </a:extLst>
            </p:cNvPr>
            <p:cNvSpPr>
              <a:spLocks noChangeArrowheads="1"/>
            </p:cNvSpPr>
            <p:nvPr/>
          </p:nvSpPr>
          <p:spPr bwMode="auto">
            <a:xfrm>
              <a:off x="4868440" y="2615701"/>
              <a:ext cx="626330" cy="139019"/>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defTabSz="794883">
                <a:defRPr/>
              </a:pPr>
              <a:r>
                <a:rPr lang="en-US" sz="500" kern="0" dirty="0">
                  <a:ea typeface="Open Sans" panose="020B0606030504020204" pitchFamily="34" charset="0"/>
                  <a:cs typeface="Open Sans" panose="020B0606030504020204" pitchFamily="34" charset="0"/>
                </a:rPr>
                <a:t>Raw Files</a:t>
              </a:r>
            </a:p>
          </p:txBody>
        </p:sp>
        <p:sp>
          <p:nvSpPr>
            <p:cNvPr id="379" name="Rectangle 6">
              <a:extLst>
                <a:ext uri="{FF2B5EF4-FFF2-40B4-BE49-F238E27FC236}">
                  <a16:creationId xmlns:a16="http://schemas.microsoft.com/office/drawing/2014/main" id="{FD13396F-3AD8-47CF-AEBD-E2A9E3268C34}"/>
                </a:ext>
              </a:extLst>
            </p:cNvPr>
            <p:cNvSpPr>
              <a:spLocks noChangeArrowheads="1"/>
            </p:cNvSpPr>
            <p:nvPr/>
          </p:nvSpPr>
          <p:spPr bwMode="auto">
            <a:xfrm>
              <a:off x="4868439" y="2812503"/>
              <a:ext cx="626330" cy="139019"/>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defTabSz="794883">
                <a:defRPr/>
              </a:pPr>
              <a:r>
                <a:rPr lang="en-US" sz="500" kern="0" dirty="0">
                  <a:ea typeface="Open Sans" panose="020B0606030504020204" pitchFamily="34" charset="0"/>
                  <a:cs typeface="Open Sans" panose="020B0606030504020204" pitchFamily="34" charset="0"/>
                </a:rPr>
                <a:t>External data</a:t>
              </a:r>
            </a:p>
          </p:txBody>
        </p:sp>
        <p:sp>
          <p:nvSpPr>
            <p:cNvPr id="380" name="Rectangle 6">
              <a:extLst>
                <a:ext uri="{FF2B5EF4-FFF2-40B4-BE49-F238E27FC236}">
                  <a16:creationId xmlns:a16="http://schemas.microsoft.com/office/drawing/2014/main" id="{6B84D5D5-F99F-4EE5-A9CB-711A8D8FD682}"/>
                </a:ext>
              </a:extLst>
            </p:cNvPr>
            <p:cNvSpPr>
              <a:spLocks noChangeArrowheads="1"/>
            </p:cNvSpPr>
            <p:nvPr/>
          </p:nvSpPr>
          <p:spPr bwMode="auto">
            <a:xfrm>
              <a:off x="4869623" y="3009305"/>
              <a:ext cx="626330" cy="140307"/>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defTabSz="794883">
                <a:defRPr/>
              </a:pPr>
              <a:r>
                <a:rPr lang="en-US" sz="500" kern="0" dirty="0">
                  <a:ea typeface="Open Sans" panose="020B0606030504020204" pitchFamily="34" charset="0"/>
                  <a:cs typeface="Open Sans" panose="020B0606030504020204" pitchFamily="34" charset="0"/>
                </a:rPr>
                <a:t>Messages…</a:t>
              </a:r>
            </a:p>
          </p:txBody>
        </p:sp>
        <p:sp>
          <p:nvSpPr>
            <p:cNvPr id="382" name="Rectangle 6">
              <a:extLst>
                <a:ext uri="{FF2B5EF4-FFF2-40B4-BE49-F238E27FC236}">
                  <a16:creationId xmlns:a16="http://schemas.microsoft.com/office/drawing/2014/main" id="{7131F49D-3D0F-4DE4-A887-4C9FA26A133D}"/>
                </a:ext>
              </a:extLst>
            </p:cNvPr>
            <p:cNvSpPr>
              <a:spLocks noChangeArrowheads="1"/>
            </p:cNvSpPr>
            <p:nvPr/>
          </p:nvSpPr>
          <p:spPr bwMode="auto">
            <a:xfrm>
              <a:off x="6453677" y="2623320"/>
              <a:ext cx="631193" cy="151997"/>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spcBef>
                  <a:spcPct val="50000"/>
                </a:spcBef>
                <a:defRPr/>
              </a:pPr>
              <a:r>
                <a:rPr lang="en-US" sz="500" kern="0" dirty="0">
                  <a:ea typeface="Open Sans" panose="020B0606030504020204" pitchFamily="34" charset="0"/>
                  <a:cs typeface="Open Sans" panose="020B0606030504020204" pitchFamily="34" charset="0"/>
                </a:rPr>
                <a:t>Analytical Datasets</a:t>
              </a:r>
            </a:p>
          </p:txBody>
        </p:sp>
        <p:sp>
          <p:nvSpPr>
            <p:cNvPr id="386" name="Rectangle 6">
              <a:extLst>
                <a:ext uri="{FF2B5EF4-FFF2-40B4-BE49-F238E27FC236}">
                  <a16:creationId xmlns:a16="http://schemas.microsoft.com/office/drawing/2014/main" id="{3527AD0C-AE99-4737-AAF1-3D141BB60B0B}"/>
                </a:ext>
              </a:extLst>
            </p:cNvPr>
            <p:cNvSpPr>
              <a:spLocks noChangeArrowheads="1"/>
            </p:cNvSpPr>
            <p:nvPr/>
          </p:nvSpPr>
          <p:spPr bwMode="auto">
            <a:xfrm>
              <a:off x="6454967" y="3028355"/>
              <a:ext cx="635847" cy="131886"/>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spcBef>
                  <a:spcPct val="50000"/>
                </a:spcBef>
                <a:defRPr/>
              </a:pPr>
              <a:r>
                <a:rPr lang="en-US" sz="500" kern="0" dirty="0">
                  <a:ea typeface="Open Sans" panose="020B0606030504020204" pitchFamily="34" charset="0"/>
                  <a:cs typeface="Open Sans" panose="020B0606030504020204" pitchFamily="34" charset="0"/>
                </a:rPr>
                <a:t>External Data</a:t>
              </a:r>
            </a:p>
          </p:txBody>
        </p:sp>
        <p:sp>
          <p:nvSpPr>
            <p:cNvPr id="387" name="Rectangle 6">
              <a:extLst>
                <a:ext uri="{FF2B5EF4-FFF2-40B4-BE49-F238E27FC236}">
                  <a16:creationId xmlns:a16="http://schemas.microsoft.com/office/drawing/2014/main" id="{5AA934B1-15D6-4504-A2EE-26B6A26CFA67}"/>
                </a:ext>
              </a:extLst>
            </p:cNvPr>
            <p:cNvSpPr>
              <a:spLocks noChangeArrowheads="1"/>
            </p:cNvSpPr>
            <p:nvPr/>
          </p:nvSpPr>
          <p:spPr bwMode="auto">
            <a:xfrm>
              <a:off x="5658043" y="2356113"/>
              <a:ext cx="626330" cy="243212"/>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defTabSz="794883">
                <a:defRPr/>
              </a:pPr>
              <a:r>
                <a:rPr lang="en-US" sz="500" kern="0" dirty="0">
                  <a:ea typeface="Open Sans" panose="020B0606030504020204" pitchFamily="34" charset="0"/>
                  <a:cs typeface="Open Sans" panose="020B0606030504020204" pitchFamily="34" charset="0"/>
                </a:rPr>
                <a:t>Cleansed Data from Applications</a:t>
              </a:r>
            </a:p>
          </p:txBody>
        </p:sp>
        <p:sp>
          <p:nvSpPr>
            <p:cNvPr id="390" name="Rectangle 6">
              <a:extLst>
                <a:ext uri="{FF2B5EF4-FFF2-40B4-BE49-F238E27FC236}">
                  <a16:creationId xmlns:a16="http://schemas.microsoft.com/office/drawing/2014/main" id="{EB9B7A59-65C6-4ACA-8447-7888A0CFF9E7}"/>
                </a:ext>
              </a:extLst>
            </p:cNvPr>
            <p:cNvSpPr>
              <a:spLocks noChangeArrowheads="1"/>
            </p:cNvSpPr>
            <p:nvPr/>
          </p:nvSpPr>
          <p:spPr bwMode="auto">
            <a:xfrm>
              <a:off x="5658043" y="2643694"/>
              <a:ext cx="626330" cy="152921"/>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defTabSz="794883">
                <a:defRPr/>
              </a:pPr>
              <a:r>
                <a:rPr lang="en-US" sz="500" kern="0" dirty="0">
                  <a:ea typeface="Open Sans" panose="020B0606030504020204" pitchFamily="34" charset="0"/>
                  <a:cs typeface="Open Sans" panose="020B0606030504020204" pitchFamily="34" charset="0"/>
                </a:rPr>
                <a:t>DQ Applied Files</a:t>
              </a:r>
            </a:p>
          </p:txBody>
        </p:sp>
        <p:sp>
          <p:nvSpPr>
            <p:cNvPr id="391" name="Rectangle 6">
              <a:extLst>
                <a:ext uri="{FF2B5EF4-FFF2-40B4-BE49-F238E27FC236}">
                  <a16:creationId xmlns:a16="http://schemas.microsoft.com/office/drawing/2014/main" id="{18EA82D5-2565-490A-9FF7-0CD0324C94D2}"/>
                </a:ext>
              </a:extLst>
            </p:cNvPr>
            <p:cNvSpPr>
              <a:spLocks noChangeArrowheads="1"/>
            </p:cNvSpPr>
            <p:nvPr/>
          </p:nvSpPr>
          <p:spPr bwMode="auto">
            <a:xfrm>
              <a:off x="5658043" y="2829819"/>
              <a:ext cx="626330" cy="279778"/>
            </a:xfrm>
            <a:prstGeom prst="rect">
              <a:avLst/>
            </a:prstGeom>
            <a:solidFill>
              <a:sysClr val="window" lastClr="FFFFFF"/>
            </a:solidFill>
            <a:ln w="12700">
              <a:solidFill>
                <a:schemeClr val="bg1">
                  <a:lumMod val="50000"/>
                </a:schemeClr>
              </a:solidFill>
              <a:prstDash val="solid"/>
            </a:ln>
          </p:spPr>
          <p:txBody>
            <a:bodyPr lIns="0" tIns="0" rIns="0" bIns="0" anchor="ctr"/>
            <a:lstStyle/>
            <a:p>
              <a:pPr algn="ctr" defTabSz="794883">
                <a:defRPr/>
              </a:pPr>
              <a:r>
                <a:rPr lang="en-US" sz="500" kern="0" dirty="0">
                  <a:ea typeface="Open Sans" panose="020B0606030504020204" pitchFamily="34" charset="0"/>
                  <a:cs typeface="Open Sans" panose="020B0606030504020204" pitchFamily="34" charset="0"/>
                </a:rPr>
                <a:t>Consumption Ready External Data </a:t>
              </a:r>
            </a:p>
          </p:txBody>
        </p:sp>
        <p:sp>
          <p:nvSpPr>
            <p:cNvPr id="396" name="Rectangle 6">
              <a:extLst>
                <a:ext uri="{FF2B5EF4-FFF2-40B4-BE49-F238E27FC236}">
                  <a16:creationId xmlns:a16="http://schemas.microsoft.com/office/drawing/2014/main" id="{CD925DB4-B949-4183-91C6-634C2D1366BA}"/>
                </a:ext>
              </a:extLst>
            </p:cNvPr>
            <p:cNvSpPr>
              <a:spLocks noChangeArrowheads="1"/>
            </p:cNvSpPr>
            <p:nvPr/>
          </p:nvSpPr>
          <p:spPr bwMode="auto">
            <a:xfrm>
              <a:off x="4823096" y="3776804"/>
              <a:ext cx="2311683" cy="43295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Batch/Micro-Batch Processing (Azure HD Insight, Azure Data Bricks)</a:t>
              </a:r>
            </a:p>
          </p:txBody>
        </p:sp>
        <p:sp>
          <p:nvSpPr>
            <p:cNvPr id="402" name="Rectangle 6">
              <a:extLst>
                <a:ext uri="{FF2B5EF4-FFF2-40B4-BE49-F238E27FC236}">
                  <a16:creationId xmlns:a16="http://schemas.microsoft.com/office/drawing/2014/main" id="{C2C1F806-D9B3-45DE-B4EA-5544B35862E3}"/>
                </a:ext>
              </a:extLst>
            </p:cNvPr>
            <p:cNvSpPr>
              <a:spLocks noChangeArrowheads="1"/>
            </p:cNvSpPr>
            <p:nvPr/>
          </p:nvSpPr>
          <p:spPr bwMode="auto">
            <a:xfrm>
              <a:off x="4834390" y="4234243"/>
              <a:ext cx="1349144" cy="43295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Stream Processing </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Stream Analytics, Azure Functions</a:t>
              </a:r>
            </a:p>
          </p:txBody>
        </p:sp>
        <p:sp>
          <p:nvSpPr>
            <p:cNvPr id="325" name="Rectangle 6">
              <a:extLst>
                <a:ext uri="{FF2B5EF4-FFF2-40B4-BE49-F238E27FC236}">
                  <a16:creationId xmlns:a16="http://schemas.microsoft.com/office/drawing/2014/main" id="{259C0EFD-996A-4FCD-BE9E-3B15D1B2F0AE}"/>
                </a:ext>
              </a:extLst>
            </p:cNvPr>
            <p:cNvSpPr>
              <a:spLocks noChangeArrowheads="1"/>
            </p:cNvSpPr>
            <p:nvPr/>
          </p:nvSpPr>
          <p:spPr bwMode="auto">
            <a:xfrm>
              <a:off x="7330644" y="2119980"/>
              <a:ext cx="844431" cy="539621"/>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Analytics Marts</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Azure SQL DW</a:t>
              </a:r>
            </a:p>
          </p:txBody>
        </p:sp>
        <p:sp>
          <p:nvSpPr>
            <p:cNvPr id="326" name="AutoShape 21">
              <a:extLst>
                <a:ext uri="{FF2B5EF4-FFF2-40B4-BE49-F238E27FC236}">
                  <a16:creationId xmlns:a16="http://schemas.microsoft.com/office/drawing/2014/main" id="{8A5909FA-C4EB-42D1-8679-4664FE95D0A8}"/>
                </a:ext>
              </a:extLst>
            </p:cNvPr>
            <p:cNvSpPr>
              <a:spLocks noChangeArrowheads="1"/>
            </p:cNvSpPr>
            <p:nvPr/>
          </p:nvSpPr>
          <p:spPr bwMode="auto">
            <a:xfrm>
              <a:off x="7489438" y="2386860"/>
              <a:ext cx="412590" cy="187403"/>
            </a:xfrm>
            <a:prstGeom prst="can">
              <a:avLst>
                <a:gd name="adj" fmla="val 25000"/>
              </a:avLst>
            </a:prstGeom>
            <a:solidFill>
              <a:schemeClr val="bg1"/>
            </a:solidFill>
            <a:ln w="12700">
              <a:solidFill>
                <a:schemeClr val="bg1">
                  <a:lumMod val="50000"/>
                </a:schemeClr>
              </a:solidFill>
              <a:round/>
              <a:headEnd/>
              <a:tailEnd/>
            </a:ln>
          </p:spPr>
          <p:txBody>
            <a:bodyPr lIns="0" tIns="0" rIns="0" bIns="0" anchorCtr="1"/>
            <a:lstStyle/>
            <a:p>
              <a:pPr defTabSz="794883">
                <a:defRPr/>
              </a:pPr>
              <a:endParaRPr lang="en-US" sz="695" kern="0" dirty="0">
                <a:solidFill>
                  <a:prstClr val="white"/>
                </a:solidFill>
              </a:endParaRPr>
            </a:p>
          </p:txBody>
        </p:sp>
        <p:sp>
          <p:nvSpPr>
            <p:cNvPr id="327" name="AutoShape 21">
              <a:extLst>
                <a:ext uri="{FF2B5EF4-FFF2-40B4-BE49-F238E27FC236}">
                  <a16:creationId xmlns:a16="http://schemas.microsoft.com/office/drawing/2014/main" id="{ADE8A7F5-84A0-4D1C-AC08-2FEF3B5AEAC4}"/>
                </a:ext>
              </a:extLst>
            </p:cNvPr>
            <p:cNvSpPr>
              <a:spLocks noChangeArrowheads="1"/>
            </p:cNvSpPr>
            <p:nvPr/>
          </p:nvSpPr>
          <p:spPr bwMode="auto">
            <a:xfrm>
              <a:off x="7551436" y="2430471"/>
              <a:ext cx="412590" cy="187403"/>
            </a:xfrm>
            <a:prstGeom prst="can">
              <a:avLst>
                <a:gd name="adj" fmla="val 25000"/>
              </a:avLst>
            </a:prstGeom>
            <a:solidFill>
              <a:schemeClr val="bg1"/>
            </a:solidFill>
            <a:ln w="12700">
              <a:solidFill>
                <a:schemeClr val="bg1">
                  <a:lumMod val="50000"/>
                </a:schemeClr>
              </a:solidFill>
              <a:round/>
              <a:headEnd/>
              <a:tailEnd/>
            </a:ln>
          </p:spPr>
          <p:txBody>
            <a:bodyPr lIns="0" tIns="0" rIns="0" bIns="0" anchorCtr="1"/>
            <a:lstStyle/>
            <a:p>
              <a:pPr defTabSz="794883">
                <a:defRPr/>
              </a:pPr>
              <a:endParaRPr lang="en-US" sz="695" kern="0" dirty="0">
                <a:solidFill>
                  <a:prstClr val="white"/>
                </a:solidFill>
              </a:endParaRPr>
            </a:p>
          </p:txBody>
        </p:sp>
        <p:sp>
          <p:nvSpPr>
            <p:cNvPr id="328" name="Rectangle 6">
              <a:extLst>
                <a:ext uri="{FF2B5EF4-FFF2-40B4-BE49-F238E27FC236}">
                  <a16:creationId xmlns:a16="http://schemas.microsoft.com/office/drawing/2014/main" id="{0E0E6355-3238-472E-BBA2-4C0503C4DCCC}"/>
                </a:ext>
              </a:extLst>
            </p:cNvPr>
            <p:cNvSpPr>
              <a:spLocks noChangeArrowheads="1"/>
            </p:cNvSpPr>
            <p:nvPr/>
          </p:nvSpPr>
          <p:spPr bwMode="auto">
            <a:xfrm>
              <a:off x="7330644" y="3386720"/>
              <a:ext cx="844431" cy="423532"/>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In-Memory Processing</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SSAS Tabular</a:t>
              </a:r>
            </a:p>
          </p:txBody>
        </p:sp>
        <p:sp>
          <p:nvSpPr>
            <p:cNvPr id="345" name="Rectangle 6">
              <a:extLst>
                <a:ext uri="{FF2B5EF4-FFF2-40B4-BE49-F238E27FC236}">
                  <a16:creationId xmlns:a16="http://schemas.microsoft.com/office/drawing/2014/main" id="{A2A22480-B345-4715-9492-DA442946A5C8}"/>
                </a:ext>
              </a:extLst>
            </p:cNvPr>
            <p:cNvSpPr>
              <a:spLocks noChangeArrowheads="1"/>
            </p:cNvSpPr>
            <p:nvPr/>
          </p:nvSpPr>
          <p:spPr bwMode="auto">
            <a:xfrm>
              <a:off x="7339240" y="3853263"/>
              <a:ext cx="835835" cy="35441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Interactive Querying</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Polybase, U-SQL,</a:t>
              </a:r>
            </a:p>
          </p:txBody>
        </p:sp>
        <p:sp>
          <p:nvSpPr>
            <p:cNvPr id="23" name="Arrow: Right 22">
              <a:extLst>
                <a:ext uri="{FF2B5EF4-FFF2-40B4-BE49-F238E27FC236}">
                  <a16:creationId xmlns:a16="http://schemas.microsoft.com/office/drawing/2014/main" id="{B5A18B32-9EB2-44EC-B599-FA43B8630660}"/>
                </a:ext>
              </a:extLst>
            </p:cNvPr>
            <p:cNvSpPr/>
            <p:nvPr/>
          </p:nvSpPr>
          <p:spPr>
            <a:xfrm>
              <a:off x="2538632" y="3131368"/>
              <a:ext cx="153118" cy="207559"/>
            </a:xfrm>
            <a:prstGeom prst="rightArrow">
              <a:avLst/>
            </a:prstGeom>
            <a:solidFill>
              <a:srgbClr val="046A38"/>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dirty="0"/>
            </a:p>
          </p:txBody>
        </p:sp>
        <p:sp>
          <p:nvSpPr>
            <p:cNvPr id="406" name="Arrow: Right 405">
              <a:extLst>
                <a:ext uri="{FF2B5EF4-FFF2-40B4-BE49-F238E27FC236}">
                  <a16:creationId xmlns:a16="http://schemas.microsoft.com/office/drawing/2014/main" id="{E98B26A5-2BD0-4615-9DB5-FDDC239A8820}"/>
                </a:ext>
              </a:extLst>
            </p:cNvPr>
            <p:cNvSpPr/>
            <p:nvPr/>
          </p:nvSpPr>
          <p:spPr>
            <a:xfrm>
              <a:off x="3507693" y="2495786"/>
              <a:ext cx="153118" cy="207559"/>
            </a:xfrm>
            <a:prstGeom prst="rightArrow">
              <a:avLst/>
            </a:prstGeom>
            <a:solidFill>
              <a:srgbClr val="046A38"/>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dirty="0"/>
            </a:p>
          </p:txBody>
        </p:sp>
        <p:sp>
          <p:nvSpPr>
            <p:cNvPr id="407" name="Arrow: Right 406">
              <a:extLst>
                <a:ext uri="{FF2B5EF4-FFF2-40B4-BE49-F238E27FC236}">
                  <a16:creationId xmlns:a16="http://schemas.microsoft.com/office/drawing/2014/main" id="{770668C6-E555-4304-A31E-1007F494DD12}"/>
                </a:ext>
              </a:extLst>
            </p:cNvPr>
            <p:cNvSpPr/>
            <p:nvPr/>
          </p:nvSpPr>
          <p:spPr>
            <a:xfrm>
              <a:off x="3482938" y="4095668"/>
              <a:ext cx="153118" cy="207559"/>
            </a:xfrm>
            <a:prstGeom prst="rightArrow">
              <a:avLst/>
            </a:prstGeom>
            <a:solidFill>
              <a:srgbClr val="046A38"/>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dirty="0"/>
            </a:p>
          </p:txBody>
        </p:sp>
        <p:sp>
          <p:nvSpPr>
            <p:cNvPr id="408" name="Arrow: Right 407">
              <a:extLst>
                <a:ext uri="{FF2B5EF4-FFF2-40B4-BE49-F238E27FC236}">
                  <a16:creationId xmlns:a16="http://schemas.microsoft.com/office/drawing/2014/main" id="{32355DD8-B652-4AE5-9483-119EEAE11D9E}"/>
                </a:ext>
              </a:extLst>
            </p:cNvPr>
            <p:cNvSpPr/>
            <p:nvPr/>
          </p:nvSpPr>
          <p:spPr>
            <a:xfrm>
              <a:off x="4622426" y="2491759"/>
              <a:ext cx="153118" cy="207559"/>
            </a:xfrm>
            <a:prstGeom prst="rightArrow">
              <a:avLst/>
            </a:prstGeom>
            <a:solidFill>
              <a:srgbClr val="046A38"/>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dirty="0"/>
            </a:p>
          </p:txBody>
        </p:sp>
        <p:sp>
          <p:nvSpPr>
            <p:cNvPr id="409" name="Arrow: Right 408">
              <a:extLst>
                <a:ext uri="{FF2B5EF4-FFF2-40B4-BE49-F238E27FC236}">
                  <a16:creationId xmlns:a16="http://schemas.microsoft.com/office/drawing/2014/main" id="{D02B3388-C5F7-4761-8118-679096DA13AB}"/>
                </a:ext>
              </a:extLst>
            </p:cNvPr>
            <p:cNvSpPr/>
            <p:nvPr/>
          </p:nvSpPr>
          <p:spPr>
            <a:xfrm>
              <a:off x="4634970" y="4103032"/>
              <a:ext cx="153118" cy="207559"/>
            </a:xfrm>
            <a:prstGeom prst="rightArrow">
              <a:avLst/>
            </a:prstGeom>
            <a:solidFill>
              <a:srgbClr val="046A38"/>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dirty="0"/>
            </a:p>
          </p:txBody>
        </p:sp>
        <p:sp>
          <p:nvSpPr>
            <p:cNvPr id="410" name="Arrow: Right 409">
              <a:extLst>
                <a:ext uri="{FF2B5EF4-FFF2-40B4-BE49-F238E27FC236}">
                  <a16:creationId xmlns:a16="http://schemas.microsoft.com/office/drawing/2014/main" id="{7B6D8950-66F0-4CD8-BA5D-FB8313E361DF}"/>
                </a:ext>
              </a:extLst>
            </p:cNvPr>
            <p:cNvSpPr/>
            <p:nvPr/>
          </p:nvSpPr>
          <p:spPr>
            <a:xfrm rot="16200000">
              <a:off x="6624527" y="3488310"/>
              <a:ext cx="153118" cy="207559"/>
            </a:xfrm>
            <a:prstGeom prst="rightArrow">
              <a:avLst/>
            </a:prstGeom>
            <a:solidFill>
              <a:srgbClr val="046A38"/>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dirty="0"/>
            </a:p>
          </p:txBody>
        </p:sp>
        <p:sp>
          <p:nvSpPr>
            <p:cNvPr id="411" name="Arrow: Right 410">
              <a:extLst>
                <a:ext uri="{FF2B5EF4-FFF2-40B4-BE49-F238E27FC236}">
                  <a16:creationId xmlns:a16="http://schemas.microsoft.com/office/drawing/2014/main" id="{4D9C4EF9-EC12-4937-9827-A000DAB687DE}"/>
                </a:ext>
              </a:extLst>
            </p:cNvPr>
            <p:cNvSpPr/>
            <p:nvPr/>
          </p:nvSpPr>
          <p:spPr>
            <a:xfrm rot="5400000">
              <a:off x="5269476" y="3498724"/>
              <a:ext cx="153118" cy="207559"/>
            </a:xfrm>
            <a:prstGeom prst="rightArrow">
              <a:avLst/>
            </a:prstGeom>
            <a:solidFill>
              <a:srgbClr val="046A38"/>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dirty="0"/>
            </a:p>
          </p:txBody>
        </p:sp>
        <p:sp>
          <p:nvSpPr>
            <p:cNvPr id="422" name="Rectangle 6">
              <a:extLst>
                <a:ext uri="{FF2B5EF4-FFF2-40B4-BE49-F238E27FC236}">
                  <a16:creationId xmlns:a16="http://schemas.microsoft.com/office/drawing/2014/main" id="{7927EE0D-47D1-4EC6-8A4C-16D131B2AAA2}"/>
                </a:ext>
              </a:extLst>
            </p:cNvPr>
            <p:cNvSpPr>
              <a:spLocks noChangeArrowheads="1"/>
            </p:cNvSpPr>
            <p:nvPr/>
          </p:nvSpPr>
          <p:spPr bwMode="auto">
            <a:xfrm>
              <a:off x="7339240" y="4250684"/>
              <a:ext cx="842303" cy="399226"/>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Real-time Search ELK</a:t>
              </a:r>
            </a:p>
          </p:txBody>
        </p:sp>
        <p:sp>
          <p:nvSpPr>
            <p:cNvPr id="2" name="Rectangle: Rounded Corners 1">
              <a:extLst>
                <a:ext uri="{FF2B5EF4-FFF2-40B4-BE49-F238E27FC236}">
                  <a16:creationId xmlns:a16="http://schemas.microsoft.com/office/drawing/2014/main" id="{3C5987A2-75D1-4DBA-B6FD-FBDFE91EBA42}"/>
                </a:ext>
              </a:extLst>
            </p:cNvPr>
            <p:cNvSpPr/>
            <p:nvPr/>
          </p:nvSpPr>
          <p:spPr>
            <a:xfrm>
              <a:off x="2574769" y="1295986"/>
              <a:ext cx="8436391" cy="4146350"/>
            </a:xfrm>
            <a:prstGeom prst="round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dirty="0"/>
            </a:p>
          </p:txBody>
        </p:sp>
        <p:sp>
          <p:nvSpPr>
            <p:cNvPr id="129" name="Rectangle 6">
              <a:extLst>
                <a:ext uri="{FF2B5EF4-FFF2-40B4-BE49-F238E27FC236}">
                  <a16:creationId xmlns:a16="http://schemas.microsoft.com/office/drawing/2014/main" id="{53B3B493-BEDA-4B96-8559-3A1F5D0B2FC7}"/>
                </a:ext>
              </a:extLst>
            </p:cNvPr>
            <p:cNvSpPr>
              <a:spLocks noChangeArrowheads="1"/>
            </p:cNvSpPr>
            <p:nvPr/>
          </p:nvSpPr>
          <p:spPr bwMode="auto">
            <a:xfrm>
              <a:off x="7330644" y="2713862"/>
              <a:ext cx="844431" cy="6266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ODS</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Azure SQL DB, SQL Server 2016</a:t>
              </a:r>
            </a:p>
          </p:txBody>
        </p:sp>
        <p:sp>
          <p:nvSpPr>
            <p:cNvPr id="130" name="AutoShape 21">
              <a:extLst>
                <a:ext uri="{FF2B5EF4-FFF2-40B4-BE49-F238E27FC236}">
                  <a16:creationId xmlns:a16="http://schemas.microsoft.com/office/drawing/2014/main" id="{C631010A-AB25-425D-96D7-6C3B5E379357}"/>
                </a:ext>
              </a:extLst>
            </p:cNvPr>
            <p:cNvSpPr>
              <a:spLocks noChangeArrowheads="1"/>
            </p:cNvSpPr>
            <p:nvPr/>
          </p:nvSpPr>
          <p:spPr bwMode="auto">
            <a:xfrm>
              <a:off x="7489438" y="3073380"/>
              <a:ext cx="412590" cy="187403"/>
            </a:xfrm>
            <a:prstGeom prst="can">
              <a:avLst>
                <a:gd name="adj" fmla="val 25000"/>
              </a:avLst>
            </a:prstGeom>
            <a:solidFill>
              <a:schemeClr val="bg1"/>
            </a:solidFill>
            <a:ln w="12700">
              <a:solidFill>
                <a:schemeClr val="bg1">
                  <a:lumMod val="50000"/>
                </a:schemeClr>
              </a:solidFill>
              <a:round/>
              <a:headEnd/>
              <a:tailEnd/>
            </a:ln>
          </p:spPr>
          <p:txBody>
            <a:bodyPr lIns="0" tIns="0" rIns="0" bIns="0" anchorCtr="1"/>
            <a:lstStyle/>
            <a:p>
              <a:pPr defTabSz="794883">
                <a:defRPr/>
              </a:pPr>
              <a:endParaRPr lang="en-US" sz="695" kern="0" dirty="0">
                <a:solidFill>
                  <a:prstClr val="white"/>
                </a:solidFill>
              </a:endParaRPr>
            </a:p>
          </p:txBody>
        </p:sp>
        <p:sp>
          <p:nvSpPr>
            <p:cNvPr id="131" name="AutoShape 21">
              <a:extLst>
                <a:ext uri="{FF2B5EF4-FFF2-40B4-BE49-F238E27FC236}">
                  <a16:creationId xmlns:a16="http://schemas.microsoft.com/office/drawing/2014/main" id="{0C9D1C0A-D80A-48EE-A3F1-DD3D8034A383}"/>
                </a:ext>
              </a:extLst>
            </p:cNvPr>
            <p:cNvSpPr>
              <a:spLocks noChangeArrowheads="1"/>
            </p:cNvSpPr>
            <p:nvPr/>
          </p:nvSpPr>
          <p:spPr bwMode="auto">
            <a:xfrm>
              <a:off x="7551436" y="3116991"/>
              <a:ext cx="412590" cy="187403"/>
            </a:xfrm>
            <a:prstGeom prst="can">
              <a:avLst>
                <a:gd name="adj" fmla="val 25000"/>
              </a:avLst>
            </a:prstGeom>
            <a:solidFill>
              <a:schemeClr val="bg1"/>
            </a:solidFill>
            <a:ln w="12700">
              <a:solidFill>
                <a:schemeClr val="bg1">
                  <a:lumMod val="50000"/>
                </a:schemeClr>
              </a:solidFill>
              <a:round/>
              <a:headEnd/>
              <a:tailEnd/>
            </a:ln>
          </p:spPr>
          <p:txBody>
            <a:bodyPr lIns="0" tIns="0" rIns="0" bIns="0" anchorCtr="1"/>
            <a:lstStyle/>
            <a:p>
              <a:pPr defTabSz="794883">
                <a:defRPr/>
              </a:pPr>
              <a:endParaRPr lang="en-US" sz="695" kern="0" dirty="0">
                <a:solidFill>
                  <a:prstClr val="white"/>
                </a:solidFill>
              </a:endParaRPr>
            </a:p>
          </p:txBody>
        </p:sp>
        <p:sp>
          <p:nvSpPr>
            <p:cNvPr id="133" name="Rectangle 6">
              <a:extLst>
                <a:ext uri="{FF2B5EF4-FFF2-40B4-BE49-F238E27FC236}">
                  <a16:creationId xmlns:a16="http://schemas.microsoft.com/office/drawing/2014/main" id="{A02A18CA-F59A-41C4-9782-1C5DA5FB58B5}"/>
                </a:ext>
              </a:extLst>
            </p:cNvPr>
            <p:cNvSpPr>
              <a:spLocks noChangeArrowheads="1"/>
            </p:cNvSpPr>
            <p:nvPr/>
          </p:nvSpPr>
          <p:spPr bwMode="auto">
            <a:xfrm>
              <a:off x="2779091" y="2134826"/>
              <a:ext cx="688964" cy="298000"/>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defRPr/>
              </a:pPr>
              <a:r>
                <a:rPr lang="en-US" sz="600" kern="0" dirty="0">
                  <a:ea typeface="Open Sans" panose="020B0606030504020204" pitchFamily="34" charset="0"/>
                  <a:cs typeface="Open Sans" panose="020B0606030504020204" pitchFamily="34" charset="0"/>
                </a:rPr>
                <a:t>Data Management</a:t>
              </a:r>
            </a:p>
            <a:p>
              <a:pPr algn="ctr" defTabSz="794883">
                <a:defRPr/>
              </a:pPr>
              <a:r>
                <a:rPr lang="en-US" sz="600" kern="0" dirty="0">
                  <a:ea typeface="Open Sans" panose="020B0606030504020204" pitchFamily="34" charset="0"/>
                  <a:cs typeface="Open Sans" panose="020B0606030504020204" pitchFamily="34" charset="0"/>
                </a:rPr>
                <a:t>Gateway</a:t>
              </a:r>
            </a:p>
          </p:txBody>
        </p:sp>
        <p:sp>
          <p:nvSpPr>
            <p:cNvPr id="134" name="Rectangle 6">
              <a:extLst>
                <a:ext uri="{FF2B5EF4-FFF2-40B4-BE49-F238E27FC236}">
                  <a16:creationId xmlns:a16="http://schemas.microsoft.com/office/drawing/2014/main" id="{A2D88058-9626-4835-B35F-BFFC380D3D51}"/>
                </a:ext>
              </a:extLst>
            </p:cNvPr>
            <p:cNvSpPr>
              <a:spLocks noChangeArrowheads="1"/>
            </p:cNvSpPr>
            <p:nvPr/>
          </p:nvSpPr>
          <p:spPr bwMode="auto">
            <a:xfrm>
              <a:off x="2773293" y="2634353"/>
              <a:ext cx="688964" cy="360580"/>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r>
                <a:rPr lang="en-US" sz="600" kern="0" dirty="0">
                  <a:ea typeface="Open Sans" panose="020B0606030504020204" pitchFamily="34" charset="0"/>
                  <a:cs typeface="Open Sans" panose="020B0606030504020204" pitchFamily="34" charset="0"/>
                </a:rPr>
                <a:t>AZ Copy</a:t>
              </a:r>
            </a:p>
          </p:txBody>
        </p:sp>
        <p:sp>
          <p:nvSpPr>
            <p:cNvPr id="135" name="Rectangle 6">
              <a:extLst>
                <a:ext uri="{FF2B5EF4-FFF2-40B4-BE49-F238E27FC236}">
                  <a16:creationId xmlns:a16="http://schemas.microsoft.com/office/drawing/2014/main" id="{764FFADA-3677-4566-AB9E-C123E8A624F4}"/>
                </a:ext>
              </a:extLst>
            </p:cNvPr>
            <p:cNvSpPr>
              <a:spLocks noChangeArrowheads="1"/>
            </p:cNvSpPr>
            <p:nvPr/>
          </p:nvSpPr>
          <p:spPr bwMode="auto">
            <a:xfrm>
              <a:off x="2785337" y="3159454"/>
              <a:ext cx="688964" cy="396639"/>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r>
                <a:rPr lang="en-US" sz="600" kern="0" dirty="0">
                  <a:ea typeface="Open Sans" panose="020B0606030504020204" pitchFamily="34" charset="0"/>
                  <a:cs typeface="Open Sans" panose="020B0606030504020204" pitchFamily="34" charset="0"/>
                </a:rPr>
                <a:t>Azure</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Express Route</a:t>
              </a:r>
            </a:p>
          </p:txBody>
        </p:sp>
        <p:sp>
          <p:nvSpPr>
            <p:cNvPr id="136" name="Rectangle 6">
              <a:extLst>
                <a:ext uri="{FF2B5EF4-FFF2-40B4-BE49-F238E27FC236}">
                  <a16:creationId xmlns:a16="http://schemas.microsoft.com/office/drawing/2014/main" id="{35D98E9C-7459-4BC2-8B1E-3026562F0F73}"/>
                </a:ext>
              </a:extLst>
            </p:cNvPr>
            <p:cNvSpPr>
              <a:spLocks noChangeArrowheads="1"/>
            </p:cNvSpPr>
            <p:nvPr/>
          </p:nvSpPr>
          <p:spPr bwMode="auto">
            <a:xfrm>
              <a:off x="2779091" y="3732929"/>
              <a:ext cx="688964" cy="360580"/>
            </a:xfrm>
            <a:prstGeom prst="rect">
              <a:avLst/>
            </a:prstGeom>
            <a:solidFill>
              <a:schemeClr val="bg1"/>
            </a:solidFill>
            <a:ln w="12700">
              <a:solidFill>
                <a:schemeClr val="bg1">
                  <a:lumMod val="50000"/>
                </a:schemeClr>
              </a:solidFill>
              <a:prstDash val="solid"/>
            </a:ln>
          </p:spPr>
          <p:txBody>
            <a:bodyPr lIns="39745" rIns="39745" anchor="ctr"/>
            <a:lstStyle/>
            <a:p>
              <a:pPr algn="ctr">
                <a:spcBef>
                  <a:spcPct val="50000"/>
                </a:spcBef>
              </a:pPr>
              <a:r>
                <a:rPr lang="en-US" sz="600" dirty="0">
                  <a:ea typeface="Open Sans" panose="020B0606030504020204" pitchFamily="34" charset="0"/>
                  <a:cs typeface="Open Sans" panose="020B0606030504020204" pitchFamily="34" charset="0"/>
                </a:rPr>
                <a:t>DB Connectors</a:t>
              </a:r>
            </a:p>
            <a:p>
              <a:pPr algn="ctr">
                <a:spcBef>
                  <a:spcPct val="50000"/>
                </a:spcBef>
              </a:pPr>
              <a:r>
                <a:rPr lang="en-US" sz="600" dirty="0">
                  <a:ea typeface="Open Sans" panose="020B0606030504020204" pitchFamily="34" charset="0"/>
                  <a:cs typeface="Open Sans" panose="020B0606030504020204" pitchFamily="34" charset="0"/>
                </a:rPr>
                <a:t>NiFi, Attunity, Golden Gate</a:t>
              </a:r>
            </a:p>
          </p:txBody>
        </p:sp>
        <p:sp>
          <p:nvSpPr>
            <p:cNvPr id="137" name="Rectangle 6">
              <a:extLst>
                <a:ext uri="{FF2B5EF4-FFF2-40B4-BE49-F238E27FC236}">
                  <a16:creationId xmlns:a16="http://schemas.microsoft.com/office/drawing/2014/main" id="{CE13E259-45C0-450A-A3CC-81CF9676DBDD}"/>
                </a:ext>
              </a:extLst>
            </p:cNvPr>
            <p:cNvSpPr>
              <a:spLocks noChangeArrowheads="1"/>
            </p:cNvSpPr>
            <p:nvPr/>
          </p:nvSpPr>
          <p:spPr bwMode="auto">
            <a:xfrm>
              <a:off x="2773293" y="4286991"/>
              <a:ext cx="688964" cy="360580"/>
            </a:xfrm>
            <a:prstGeom prst="rect">
              <a:avLst/>
            </a:prstGeom>
            <a:solidFill>
              <a:schemeClr val="bg1"/>
            </a:solidFill>
            <a:ln w="12700">
              <a:solidFill>
                <a:schemeClr val="bg1">
                  <a:lumMod val="50000"/>
                </a:schemeClr>
              </a:solidFill>
              <a:prstDash val="solid"/>
            </a:ln>
          </p:spPr>
          <p:txBody>
            <a:bodyPr lIns="39745" rIns="39745" anchor="ctr"/>
            <a:lstStyle/>
            <a:p>
              <a:pPr algn="ctr">
                <a:spcBef>
                  <a:spcPct val="50000"/>
                </a:spcBef>
              </a:pPr>
              <a:r>
                <a:rPr lang="en-US" sz="600" dirty="0">
                  <a:ea typeface="Open Sans" panose="020B0606030504020204" pitchFamily="34" charset="0"/>
                  <a:cs typeface="Open Sans" panose="020B0606030504020204" pitchFamily="34" charset="0"/>
                </a:rPr>
                <a:t>APIs Internal/External</a:t>
              </a:r>
            </a:p>
          </p:txBody>
        </p:sp>
        <p:pic>
          <p:nvPicPr>
            <p:cNvPr id="138" name="Picture 42" descr="Image result for apache spark ml">
              <a:extLst>
                <a:ext uri="{FF2B5EF4-FFF2-40B4-BE49-F238E27FC236}">
                  <a16:creationId xmlns:a16="http://schemas.microsoft.com/office/drawing/2014/main" id="{F8943E47-68FB-4195-8F0E-B9C650C5D2B1}"/>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37747" y="4006461"/>
              <a:ext cx="413088" cy="169838"/>
            </a:xfrm>
            <a:prstGeom prst="rect">
              <a:avLst/>
            </a:prstGeom>
            <a:solidFill>
              <a:schemeClr val="bg1"/>
            </a:solidFill>
            <a:ln w="12700">
              <a:solidFill>
                <a:schemeClr val="bg1">
                  <a:lumMod val="50000"/>
                </a:schemeClr>
              </a:solidFill>
            </a:ln>
          </p:spPr>
        </p:pic>
        <p:pic>
          <p:nvPicPr>
            <p:cNvPr id="139" name="Picture 36" descr="Image result for Apache spark SQL">
              <a:extLst>
                <a:ext uri="{FF2B5EF4-FFF2-40B4-BE49-F238E27FC236}">
                  <a16:creationId xmlns:a16="http://schemas.microsoft.com/office/drawing/2014/main" id="{07A17F84-91E0-477B-8BAE-8F047F12A44C}"/>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5048490" y="4017434"/>
              <a:ext cx="402811" cy="147861"/>
            </a:xfrm>
            <a:prstGeom prst="rect">
              <a:avLst/>
            </a:prstGeom>
            <a:solidFill>
              <a:schemeClr val="bg1"/>
            </a:solidFill>
            <a:ln w="12700">
              <a:solidFill>
                <a:schemeClr val="bg1">
                  <a:lumMod val="50000"/>
                </a:schemeClr>
              </a:solidFill>
            </a:ln>
          </p:spPr>
        </p:pic>
        <p:pic>
          <p:nvPicPr>
            <p:cNvPr id="140" name="Picture 40" descr="Image result for r Python">
              <a:extLst>
                <a:ext uri="{FF2B5EF4-FFF2-40B4-BE49-F238E27FC236}">
                  <a16:creationId xmlns:a16="http://schemas.microsoft.com/office/drawing/2014/main" id="{E7C99EA8-0367-4895-B120-88BF2BFBD976}"/>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5742353" y="4006691"/>
              <a:ext cx="441181" cy="173112"/>
            </a:xfrm>
            <a:prstGeom prst="rect">
              <a:avLst/>
            </a:prstGeom>
            <a:solidFill>
              <a:schemeClr val="bg1"/>
            </a:solidFill>
            <a:ln w="12700">
              <a:solidFill>
                <a:schemeClr val="bg1">
                  <a:lumMod val="50000"/>
                </a:schemeClr>
              </a:solidFill>
            </a:ln>
          </p:spPr>
        </p:pic>
        <p:pic>
          <p:nvPicPr>
            <p:cNvPr id="141" name="Picture 4" descr="Image result for Spark Streaming">
              <a:extLst>
                <a:ext uri="{FF2B5EF4-FFF2-40B4-BE49-F238E27FC236}">
                  <a16:creationId xmlns:a16="http://schemas.microsoft.com/office/drawing/2014/main" id="{881FD697-7389-430B-BA77-D88D8C85417F}"/>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678" t="11684" r="6763" b="17006"/>
            <a:stretch/>
          </p:blipFill>
          <p:spPr bwMode="auto">
            <a:xfrm>
              <a:off x="4901415" y="4453359"/>
              <a:ext cx="397452" cy="194004"/>
            </a:xfrm>
            <a:prstGeom prst="rect">
              <a:avLst/>
            </a:prstGeom>
            <a:solidFill>
              <a:schemeClr val="bg1"/>
            </a:solidFill>
            <a:ln w="12700">
              <a:solidFill>
                <a:schemeClr val="bg1">
                  <a:lumMod val="50000"/>
                </a:schemeClr>
              </a:solidFill>
            </a:ln>
          </p:spPr>
        </p:pic>
        <p:sp>
          <p:nvSpPr>
            <p:cNvPr id="142" name="AutoShape 21">
              <a:extLst>
                <a:ext uri="{FF2B5EF4-FFF2-40B4-BE49-F238E27FC236}">
                  <a16:creationId xmlns:a16="http://schemas.microsoft.com/office/drawing/2014/main" id="{D124E644-AA0A-4A41-8DD4-EE6AFDDD4FA2}"/>
                </a:ext>
              </a:extLst>
            </p:cNvPr>
            <p:cNvSpPr>
              <a:spLocks noChangeArrowheads="1"/>
            </p:cNvSpPr>
            <p:nvPr/>
          </p:nvSpPr>
          <p:spPr bwMode="auto">
            <a:xfrm>
              <a:off x="1324848" y="3627135"/>
              <a:ext cx="1041990" cy="290565"/>
            </a:xfrm>
            <a:prstGeom prst="can">
              <a:avLst>
                <a:gd name="adj" fmla="val 25000"/>
              </a:avLst>
            </a:prstGeom>
            <a:solidFill>
              <a:sysClr val="window" lastClr="FFFFFF"/>
            </a:solidFill>
            <a:ln w="12700">
              <a:solidFill>
                <a:schemeClr val="bg1">
                  <a:lumMod val="50000"/>
                </a:schemeClr>
              </a:solidFill>
              <a:round/>
              <a:headEnd/>
              <a:tailEnd/>
            </a:ln>
          </p:spPr>
          <p:txBody>
            <a:bodyPr lIns="79490" tIns="0" rIns="79490" bIns="0" anchor="t" anchorCtr="1"/>
            <a:lstStyle/>
            <a:p>
              <a:pPr algn="ctr">
                <a:lnSpc>
                  <a:spcPct val="150000"/>
                </a:lnSpc>
              </a:pPr>
              <a:r>
                <a:rPr lang="en-US" sz="600" kern="0" dirty="0">
                  <a:ea typeface="Open Sans" panose="020B0606030504020204" pitchFamily="34" charset="0"/>
                  <a:cs typeface="Open Sans" panose="020B0606030504020204" pitchFamily="34" charset="0"/>
                </a:rPr>
                <a:t>Other RDBMS</a:t>
              </a:r>
            </a:p>
          </p:txBody>
        </p:sp>
        <p:sp>
          <p:nvSpPr>
            <p:cNvPr id="223" name="Rectangle 6">
              <a:extLst>
                <a:ext uri="{FF2B5EF4-FFF2-40B4-BE49-F238E27FC236}">
                  <a16:creationId xmlns:a16="http://schemas.microsoft.com/office/drawing/2014/main" id="{C2C1F806-D9B3-45DE-B4EA-5544B35862E3}"/>
                </a:ext>
              </a:extLst>
            </p:cNvPr>
            <p:cNvSpPr>
              <a:spLocks noChangeArrowheads="1"/>
            </p:cNvSpPr>
            <p:nvPr/>
          </p:nvSpPr>
          <p:spPr bwMode="auto">
            <a:xfrm>
              <a:off x="6218787" y="4234243"/>
              <a:ext cx="915168" cy="432959"/>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IOT Processing </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Azure IOT Hub, Azure Functions</a:t>
              </a:r>
            </a:p>
          </p:txBody>
        </p:sp>
        <p:sp>
          <p:nvSpPr>
            <p:cNvPr id="5" name="TextBox 4">
              <a:extLst>
                <a:ext uri="{FF2B5EF4-FFF2-40B4-BE49-F238E27FC236}">
                  <a16:creationId xmlns:a16="http://schemas.microsoft.com/office/drawing/2014/main" id="{C12E2A8C-87DE-4317-BF0E-CC1BA35FF02C}"/>
                </a:ext>
              </a:extLst>
            </p:cNvPr>
            <p:cNvSpPr txBox="1"/>
            <p:nvPr/>
          </p:nvSpPr>
          <p:spPr>
            <a:xfrm>
              <a:off x="4797786" y="1798898"/>
              <a:ext cx="2348285" cy="151552"/>
            </a:xfrm>
            <a:prstGeom prst="rect">
              <a:avLst/>
            </a:prstGeom>
            <a:solidFill>
              <a:schemeClr val="bg1"/>
            </a:solidFill>
            <a:ln w="12700">
              <a:solidFill>
                <a:schemeClr val="bg1">
                  <a:lumMod val="50000"/>
                </a:schemeClr>
              </a:solidFill>
              <a:prstDash val="solid"/>
            </a:ln>
          </p:spPr>
          <p:txBody>
            <a:bodyPr lIns="45720" rIns="45720" anchor="t"/>
            <a:lstStyle>
              <a:defPPr>
                <a:defRPr lang="en-US"/>
              </a:defPPr>
              <a:lvl1pPr algn="ctr">
                <a:spcBef>
                  <a:spcPct val="50000"/>
                </a:spcBef>
                <a:defRPr sz="600" b="1" kern="0">
                  <a:latin typeface="Open Sans" panose="020B0606030504020204" pitchFamily="34" charset="0"/>
                  <a:ea typeface="Open Sans" panose="020B0606030504020204" pitchFamily="34" charset="0"/>
                  <a:cs typeface="Open Sans" panose="020B0606030504020204" pitchFamily="34" charset="0"/>
                </a:defRPr>
              </a:lvl1pPr>
            </a:lstStyle>
            <a:p>
              <a:r>
                <a:rPr lang="en-US" dirty="0">
                  <a:latin typeface="+mn-lt"/>
                </a:rPr>
                <a:t>Landing Zone and Data Lake (Azure HD Insight)</a:t>
              </a:r>
            </a:p>
          </p:txBody>
        </p:sp>
        <p:sp>
          <p:nvSpPr>
            <p:cNvPr id="6" name="TextBox 5">
              <a:extLst>
                <a:ext uri="{FF2B5EF4-FFF2-40B4-BE49-F238E27FC236}">
                  <a16:creationId xmlns:a16="http://schemas.microsoft.com/office/drawing/2014/main" id="{870AD030-389D-42BB-86F2-4434F9C0AF91}"/>
                </a:ext>
              </a:extLst>
            </p:cNvPr>
            <p:cNvSpPr txBox="1"/>
            <p:nvPr/>
          </p:nvSpPr>
          <p:spPr>
            <a:xfrm>
              <a:off x="9627158" y="1766552"/>
              <a:ext cx="1005840" cy="165989"/>
            </a:xfrm>
            <a:prstGeom prst="rect">
              <a:avLst/>
            </a:prstGeom>
            <a:solidFill>
              <a:schemeClr val="bg1"/>
            </a:solidFill>
            <a:ln w="12700">
              <a:solidFill>
                <a:schemeClr val="bg1">
                  <a:lumMod val="50000"/>
                </a:schemeClr>
              </a:solidFill>
              <a:prstDash val="solid"/>
            </a:ln>
          </p:spPr>
          <p:txBody>
            <a:bodyPr lIns="45720" rIns="45720" anchor="t"/>
            <a:lstStyle>
              <a:defPPr>
                <a:defRPr lang="en-US"/>
              </a:defPPr>
              <a:lvl1pPr algn="ctr">
                <a:spcBef>
                  <a:spcPct val="50000"/>
                </a:spcBef>
                <a:defRPr sz="600" kern="0">
                  <a:latin typeface="Open Sans" panose="020B0606030504020204" pitchFamily="34" charset="0"/>
                  <a:ea typeface="Open Sans" panose="020B0606030504020204" pitchFamily="34" charset="0"/>
                  <a:cs typeface="Open Sans" panose="020B0606030504020204" pitchFamily="34" charset="0"/>
                </a:defRPr>
              </a:lvl1pPr>
            </a:lstStyle>
            <a:p>
              <a:r>
                <a:rPr lang="en-US" dirty="0">
                  <a:latin typeface="+mn-lt"/>
                </a:rPr>
                <a:t>Functional Users</a:t>
              </a:r>
            </a:p>
          </p:txBody>
        </p:sp>
        <p:sp>
          <p:nvSpPr>
            <p:cNvPr id="144" name="Rectangle 6">
              <a:extLst>
                <a:ext uri="{FF2B5EF4-FFF2-40B4-BE49-F238E27FC236}">
                  <a16:creationId xmlns:a16="http://schemas.microsoft.com/office/drawing/2014/main" id="{277EE480-2EB9-4E3C-90BD-D6412F0BB016}"/>
                </a:ext>
              </a:extLst>
            </p:cNvPr>
            <p:cNvSpPr>
              <a:spLocks noChangeArrowheads="1"/>
            </p:cNvSpPr>
            <p:nvPr/>
          </p:nvSpPr>
          <p:spPr bwMode="auto">
            <a:xfrm>
              <a:off x="3676610" y="4331650"/>
              <a:ext cx="800083" cy="254537"/>
            </a:xfrm>
            <a:prstGeom prst="rect">
              <a:avLst/>
            </a:prstGeom>
            <a:solidFill>
              <a:schemeClr val="bg1"/>
            </a:solidFill>
            <a:ln w="12700">
              <a:solidFill>
                <a:schemeClr val="bg1">
                  <a:lumMod val="50000"/>
                </a:schemeClr>
              </a:solidFill>
              <a:prstDash val="solid"/>
            </a:ln>
          </p:spPr>
          <p:txBody>
            <a:bodyPr lIns="0" tIns="0" rIns="0" bIns="0" anchor="ctr"/>
            <a:lstStyle/>
            <a:p>
              <a:pPr algn="ctr" defTabSz="794883"/>
              <a:r>
                <a:rPr lang="en-US" sz="600" kern="0" dirty="0">
                  <a:ea typeface="Open Sans" panose="020B0606030504020204" pitchFamily="34" charset="0"/>
                  <a:cs typeface="Open Sans" panose="020B0606030504020204" pitchFamily="34" charset="0"/>
                </a:rPr>
                <a:t>Confluent Kafka/ Apache NiFi</a:t>
              </a:r>
            </a:p>
          </p:txBody>
        </p:sp>
        <p:sp>
          <p:nvSpPr>
            <p:cNvPr id="3" name="TextBox 2">
              <a:extLst>
                <a:ext uri="{FF2B5EF4-FFF2-40B4-BE49-F238E27FC236}">
                  <a16:creationId xmlns:a16="http://schemas.microsoft.com/office/drawing/2014/main" id="{B98A0E11-5325-4451-A9A6-6E2E16B866AD}"/>
                </a:ext>
              </a:extLst>
            </p:cNvPr>
            <p:cNvSpPr txBox="1"/>
            <p:nvPr/>
          </p:nvSpPr>
          <p:spPr>
            <a:xfrm>
              <a:off x="2717187" y="4779789"/>
              <a:ext cx="8070418" cy="605778"/>
            </a:xfrm>
            <a:prstGeom prst="rect">
              <a:avLst/>
            </a:prstGeom>
            <a:noFill/>
            <a:ln w="12700">
              <a:solidFill>
                <a:schemeClr val="bg1">
                  <a:lumMod val="50000"/>
                </a:schemeClr>
              </a:solidFill>
              <a:prstDash val="solid"/>
            </a:ln>
          </p:spPr>
          <p:txBody>
            <a:bodyPr lIns="45720" rIns="45720" anchor="t"/>
            <a:lstStyle>
              <a:defPPr>
                <a:defRPr lang="en-US"/>
              </a:defPPr>
              <a:lvl1pPr algn="ctr">
                <a:spcBef>
                  <a:spcPct val="50000"/>
                </a:spcBef>
                <a:defRPr sz="600" b="1" kern="0">
                  <a:latin typeface="Open Sans" panose="020B0606030504020204" pitchFamily="34" charset="0"/>
                  <a:ea typeface="Open Sans" panose="020B0606030504020204" pitchFamily="34" charset="0"/>
                  <a:cs typeface="Open Sans" panose="020B0606030504020204" pitchFamily="34" charset="0"/>
                </a:defRPr>
              </a:lvl1pPr>
            </a:lstStyle>
            <a:p>
              <a:r>
                <a:rPr lang="en-US" dirty="0">
                  <a:latin typeface="+mn-lt"/>
                </a:rPr>
                <a:t>Developer and Management Tools</a:t>
              </a:r>
            </a:p>
          </p:txBody>
        </p:sp>
        <p:sp>
          <p:nvSpPr>
            <p:cNvPr id="413" name="Rectangle 6">
              <a:extLst>
                <a:ext uri="{FF2B5EF4-FFF2-40B4-BE49-F238E27FC236}">
                  <a16:creationId xmlns:a16="http://schemas.microsoft.com/office/drawing/2014/main" id="{1398FAB3-0ADA-4246-A7BD-50A5EFC818CF}"/>
                </a:ext>
              </a:extLst>
            </p:cNvPr>
            <p:cNvSpPr>
              <a:spLocks noChangeArrowheads="1"/>
            </p:cNvSpPr>
            <p:nvPr/>
          </p:nvSpPr>
          <p:spPr bwMode="auto">
            <a:xfrm>
              <a:off x="2968311" y="4985430"/>
              <a:ext cx="734435"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Azure </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Multi-Fact Auth</a:t>
              </a:r>
            </a:p>
          </p:txBody>
        </p:sp>
        <p:sp>
          <p:nvSpPr>
            <p:cNvPr id="414" name="Rectangle 6">
              <a:extLst>
                <a:ext uri="{FF2B5EF4-FFF2-40B4-BE49-F238E27FC236}">
                  <a16:creationId xmlns:a16="http://schemas.microsoft.com/office/drawing/2014/main" id="{5239E61E-9683-4657-ACF4-3298416AB69A}"/>
                </a:ext>
              </a:extLst>
            </p:cNvPr>
            <p:cNvSpPr>
              <a:spLocks noChangeArrowheads="1"/>
            </p:cNvSpPr>
            <p:nvPr/>
          </p:nvSpPr>
          <p:spPr bwMode="auto">
            <a:xfrm>
              <a:off x="3781341" y="4996536"/>
              <a:ext cx="734435"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Azure Key Vault</a:t>
              </a:r>
            </a:p>
          </p:txBody>
        </p:sp>
        <p:sp>
          <p:nvSpPr>
            <p:cNvPr id="415" name="Rectangle 6">
              <a:extLst>
                <a:ext uri="{FF2B5EF4-FFF2-40B4-BE49-F238E27FC236}">
                  <a16:creationId xmlns:a16="http://schemas.microsoft.com/office/drawing/2014/main" id="{FFCB3626-8B26-4F82-A270-99E8B9E09FCD}"/>
                </a:ext>
              </a:extLst>
            </p:cNvPr>
            <p:cNvSpPr>
              <a:spLocks noChangeArrowheads="1"/>
            </p:cNvSpPr>
            <p:nvPr/>
          </p:nvSpPr>
          <p:spPr bwMode="auto">
            <a:xfrm>
              <a:off x="4641439" y="4985429"/>
              <a:ext cx="734435"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Operations</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Management</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Suite</a:t>
              </a:r>
            </a:p>
          </p:txBody>
        </p:sp>
        <p:sp>
          <p:nvSpPr>
            <p:cNvPr id="416" name="Rectangle 6">
              <a:extLst>
                <a:ext uri="{FF2B5EF4-FFF2-40B4-BE49-F238E27FC236}">
                  <a16:creationId xmlns:a16="http://schemas.microsoft.com/office/drawing/2014/main" id="{607901C1-318B-4F13-9F6C-F67A051622FE}"/>
                </a:ext>
              </a:extLst>
            </p:cNvPr>
            <p:cNvSpPr>
              <a:spLocks noChangeArrowheads="1"/>
            </p:cNvSpPr>
            <p:nvPr/>
          </p:nvSpPr>
          <p:spPr bwMode="auto">
            <a:xfrm>
              <a:off x="5478003" y="4968649"/>
              <a:ext cx="734435"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Azure VMs</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Azure Site Recovery</a:t>
              </a:r>
            </a:p>
          </p:txBody>
        </p:sp>
        <p:sp>
          <p:nvSpPr>
            <p:cNvPr id="417" name="Rectangle 6">
              <a:extLst>
                <a:ext uri="{FF2B5EF4-FFF2-40B4-BE49-F238E27FC236}">
                  <a16:creationId xmlns:a16="http://schemas.microsoft.com/office/drawing/2014/main" id="{6E682C9E-751C-4494-8CD6-B6CFC9C2EEF5}"/>
                </a:ext>
              </a:extLst>
            </p:cNvPr>
            <p:cNvSpPr>
              <a:spLocks noChangeArrowheads="1"/>
            </p:cNvSpPr>
            <p:nvPr/>
          </p:nvSpPr>
          <p:spPr bwMode="auto">
            <a:xfrm>
              <a:off x="6314567" y="4968649"/>
              <a:ext cx="734435"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Azure Portal</a:t>
              </a:r>
            </a:p>
          </p:txBody>
        </p:sp>
        <p:sp>
          <p:nvSpPr>
            <p:cNvPr id="418" name="Rectangle 6">
              <a:extLst>
                <a:ext uri="{FF2B5EF4-FFF2-40B4-BE49-F238E27FC236}">
                  <a16:creationId xmlns:a16="http://schemas.microsoft.com/office/drawing/2014/main" id="{B0110D7D-8702-4E1B-9DDA-CED638994218}"/>
                </a:ext>
              </a:extLst>
            </p:cNvPr>
            <p:cNvSpPr>
              <a:spLocks noChangeArrowheads="1"/>
            </p:cNvSpPr>
            <p:nvPr/>
          </p:nvSpPr>
          <p:spPr bwMode="auto">
            <a:xfrm>
              <a:off x="7151131" y="4968649"/>
              <a:ext cx="734435"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Azure</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Active Directory</a:t>
              </a:r>
            </a:p>
          </p:txBody>
        </p:sp>
        <p:sp>
          <p:nvSpPr>
            <p:cNvPr id="419" name="Rectangle 6">
              <a:extLst>
                <a:ext uri="{FF2B5EF4-FFF2-40B4-BE49-F238E27FC236}">
                  <a16:creationId xmlns:a16="http://schemas.microsoft.com/office/drawing/2014/main" id="{846573DC-4B6E-44EE-8C98-1FF8C6524E58}"/>
                </a:ext>
              </a:extLst>
            </p:cNvPr>
            <p:cNvSpPr>
              <a:spLocks noChangeArrowheads="1"/>
            </p:cNvSpPr>
            <p:nvPr/>
          </p:nvSpPr>
          <p:spPr bwMode="auto">
            <a:xfrm>
              <a:off x="7987694" y="4960895"/>
              <a:ext cx="807878"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Azure Container Services</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Ansible</a:t>
              </a:r>
            </a:p>
          </p:txBody>
        </p:sp>
        <p:sp>
          <p:nvSpPr>
            <p:cNvPr id="420" name="Rectangle 6">
              <a:extLst>
                <a:ext uri="{FF2B5EF4-FFF2-40B4-BE49-F238E27FC236}">
                  <a16:creationId xmlns:a16="http://schemas.microsoft.com/office/drawing/2014/main" id="{74FC484E-9E67-4E80-9EB6-191AE2B91161}"/>
                </a:ext>
              </a:extLst>
            </p:cNvPr>
            <p:cNvSpPr>
              <a:spLocks noChangeArrowheads="1"/>
            </p:cNvSpPr>
            <p:nvPr/>
          </p:nvSpPr>
          <p:spPr bwMode="auto">
            <a:xfrm>
              <a:off x="8833107" y="4948175"/>
              <a:ext cx="894327"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Code Repository   VSTS,</a:t>
              </a:r>
              <a:br>
                <a:rPr lang="en-US" sz="600" kern="0" dirty="0">
                  <a:ea typeface="Open Sans" panose="020B0606030504020204" pitchFamily="34" charset="0"/>
                  <a:cs typeface="Open Sans" panose="020B0606030504020204" pitchFamily="34" charset="0"/>
                </a:rPr>
              </a:br>
              <a:r>
                <a:rPr lang="en-US" sz="600" kern="0" dirty="0">
                  <a:ea typeface="Open Sans" panose="020B0606030504020204" pitchFamily="34" charset="0"/>
                  <a:cs typeface="Open Sans" panose="020B0606030504020204" pitchFamily="34" charset="0"/>
                </a:rPr>
                <a:t>Git, Bit Bucket, Jenkins</a:t>
              </a:r>
            </a:p>
          </p:txBody>
        </p:sp>
        <p:sp>
          <p:nvSpPr>
            <p:cNvPr id="421" name="Rectangle 6">
              <a:extLst>
                <a:ext uri="{FF2B5EF4-FFF2-40B4-BE49-F238E27FC236}">
                  <a16:creationId xmlns:a16="http://schemas.microsoft.com/office/drawing/2014/main" id="{AA714435-F698-496A-9A64-946AF2DEB849}"/>
                </a:ext>
              </a:extLst>
            </p:cNvPr>
            <p:cNvSpPr>
              <a:spLocks noChangeArrowheads="1"/>
            </p:cNvSpPr>
            <p:nvPr/>
          </p:nvSpPr>
          <p:spPr bwMode="auto">
            <a:xfrm>
              <a:off x="9773277" y="4948175"/>
              <a:ext cx="888665" cy="320040"/>
            </a:xfrm>
            <a:prstGeom prst="rect">
              <a:avLst/>
            </a:prstGeom>
            <a:solidFill>
              <a:schemeClr val="bg1"/>
            </a:solidFill>
            <a:ln w="12700">
              <a:solidFill>
                <a:schemeClr val="bg1">
                  <a:lumMod val="50000"/>
                </a:schemeClr>
              </a:solidFill>
              <a:prstDash val="solid"/>
            </a:ln>
          </p:spPr>
          <p:txBody>
            <a:bodyPr lIns="45720" rIns="45720" anchor="t"/>
            <a:lstStyle/>
            <a:p>
              <a:pPr algn="ctr">
                <a:spcBef>
                  <a:spcPct val="50000"/>
                </a:spcBef>
              </a:pPr>
              <a:r>
                <a:rPr lang="en-US" sz="600" kern="0" dirty="0">
                  <a:ea typeface="Open Sans" panose="020B0606030504020204" pitchFamily="34" charset="0"/>
                  <a:cs typeface="Open Sans" panose="020B0606030504020204" pitchFamily="34" charset="0"/>
                </a:rPr>
                <a:t>Azure Data Catalog</a:t>
              </a:r>
            </a:p>
          </p:txBody>
        </p:sp>
      </p:grpSp>
    </p:spTree>
    <p:extLst>
      <p:ext uri="{BB962C8B-B14F-4D97-AF65-F5344CB8AC3E}">
        <p14:creationId xmlns:p14="http://schemas.microsoft.com/office/powerpoint/2010/main" val="2511020756"/>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Azure data and analytics component details</a:t>
            </a:r>
          </a:p>
        </p:txBody>
      </p:sp>
      <p:graphicFrame>
        <p:nvGraphicFramePr>
          <p:cNvPr id="40" name="Content Placeholder 3">
            <a:extLst>
              <a:ext uri="{FF2B5EF4-FFF2-40B4-BE49-F238E27FC236}">
                <a16:creationId xmlns:a16="http://schemas.microsoft.com/office/drawing/2014/main" id="{8916F278-989B-4F55-BCCF-F7E7D1C896F9}"/>
              </a:ext>
            </a:extLst>
          </p:cNvPr>
          <p:cNvGraphicFramePr>
            <a:graphicFrameLocks noGrp="1"/>
          </p:cNvGraphicFramePr>
          <p:nvPr>
            <p:ph idx="4294967295"/>
            <p:extLst>
              <p:ext uri="{D42A27DB-BD31-4B8C-83A1-F6EECF244321}">
                <p14:modId xmlns:p14="http://schemas.microsoft.com/office/powerpoint/2010/main" val="820841541"/>
              </p:ext>
            </p:extLst>
          </p:nvPr>
        </p:nvGraphicFramePr>
        <p:xfrm>
          <a:off x="469900" y="1006476"/>
          <a:ext cx="11252200" cy="4693920"/>
        </p:xfrm>
        <a:graphic>
          <a:graphicData uri="http://schemas.openxmlformats.org/drawingml/2006/table">
            <a:tbl>
              <a:tblPr firstRow="1" bandRow="1">
                <a:effectLst/>
              </a:tblPr>
              <a:tblGrid>
                <a:gridCol w="13970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8064500">
                  <a:extLst>
                    <a:ext uri="{9D8B030D-6E8A-4147-A177-3AD203B41FA5}">
                      <a16:colId xmlns:a16="http://schemas.microsoft.com/office/drawing/2014/main" val="20002"/>
                    </a:ext>
                  </a:extLst>
                </a:gridCol>
              </a:tblGrid>
              <a:tr h="0">
                <a:tc>
                  <a:txBody>
                    <a:bodyPr/>
                    <a:lstStyle/>
                    <a:p>
                      <a:pPr algn="l"/>
                      <a:r>
                        <a:rPr lang="en-US" sz="1100" b="1" cap="none" spc="0" dirty="0">
                          <a:ln>
                            <a:noFill/>
                          </a:ln>
                          <a:solidFill>
                            <a:schemeClr val="bg1"/>
                          </a:solidFill>
                          <a:effectLst/>
                        </a:rPr>
                        <a:t>Function</a:t>
                      </a:r>
                      <a:endParaRPr lang="en-US" sz="11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100" b="1" cap="none" spc="0" dirty="0">
                          <a:ln>
                            <a:noFill/>
                          </a:ln>
                          <a:solidFill>
                            <a:schemeClr val="bg1"/>
                          </a:solidFill>
                          <a:effectLst/>
                        </a:rPr>
                        <a:t>Azure component</a:t>
                      </a:r>
                      <a:endParaRPr lang="en-US" sz="11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100" b="1" cap="none" spc="0" dirty="0">
                          <a:ln>
                            <a:noFill/>
                          </a:ln>
                          <a:solidFill>
                            <a:schemeClr val="bg1"/>
                          </a:solidFill>
                          <a:effectLst/>
                        </a:rPr>
                        <a:t>Description</a:t>
                      </a:r>
                      <a:endParaRPr lang="en-US" sz="11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cap="none" spc="0" dirty="0">
                          <a:ln>
                            <a:noFill/>
                          </a:ln>
                          <a:solidFill>
                            <a:sysClr val="windowText" lastClr="000000"/>
                          </a:solidFill>
                          <a:effectLst/>
                        </a:rPr>
                        <a:t>Data movement</a:t>
                      </a: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Data Management</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Gateway</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A client agent that one must install in your on-premises environment to copy data between cloud and on-premises data stores</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4686390"/>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AZ Copy</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AzCopy is a command line and API interface to load data as blobs to Azure Storage accounts</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675804"/>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Azure Express Route</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An Azure service that lets you create private connections between Microsoft datacenters and infrastructure that's on your premises or in a colocation facility.</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3167350"/>
                  </a:ext>
                </a:extLst>
              </a:tr>
              <a:tr h="0">
                <a:tc rowSpan="5">
                  <a:txBody>
                    <a:bodyPr/>
                    <a:lstStyle/>
                    <a:p>
                      <a:pPr marL="0" algn="l" defTabSz="914400" rtl="0" eaLnBrk="1" latinLnBrk="0" hangingPunct="1"/>
                      <a:r>
                        <a:rPr lang="en-US" sz="1100" b="1" kern="1200" cap="none" spc="0" dirty="0">
                          <a:ln>
                            <a:noFill/>
                          </a:ln>
                          <a:solidFill>
                            <a:sysClr val="windowText" lastClr="000000"/>
                          </a:solidFill>
                          <a:effectLst/>
                        </a:rPr>
                        <a:t>Data ingestion and integration (batch and streaming)</a:t>
                      </a:r>
                      <a:endParaRPr lang="en-US" sz="1100" b="1" kern="1200" cap="none" spc="0" dirty="0">
                        <a:ln>
                          <a:noFill/>
                        </a:ln>
                        <a:solidFill>
                          <a:sysClr val="windowText" lastClr="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Azure ADF,</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A managed cloud service that's built for these complex hybrid extract-transform-load (ETL), extract-load-transform (ELT), and data integration projects.</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vMerge="1">
                  <a:txBody>
                    <a:bodyPr/>
                    <a:lstStyle/>
                    <a:p>
                      <a:endParaRPr lang="en-US" sz="10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Async Messaging Azure Event Hub</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Azure Event Hubs is a big data streaming platform and event ingestion service. It can receive and process millions of events per second. Data sent to an event hub can be transformed and stored by using any real-time analytics provider or batching/storage adapters.</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vMerge="1">
                  <a:txBody>
                    <a:bodyPr/>
                    <a:lstStyle/>
                    <a:p>
                      <a:endParaRPr lang="en-US" sz="10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Azure Logic Apps</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Azure Logic Apps is a cloud service that helps you automate and orchestrate tasks, business processes, and workflows when you need to integrate apps, data, systems, and services across enterprises or organizations.</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0">
                <a:tc vMerge="1">
                  <a:txBody>
                    <a:bodyPr/>
                    <a:lstStyle/>
                    <a:p>
                      <a:endParaRPr lang="en-US" sz="1000" b="1" dirty="0">
                        <a:solidFill>
                          <a:srgbClr val="0078D7"/>
                        </a:solidFill>
                      </a:endParaRPr>
                    </a:p>
                  </a:txBody>
                  <a:tcPr anchor="ctr">
                    <a:lnT w="19050" cap="flat" cmpd="sng" algn="ctr">
                      <a:solidFill>
                        <a:schemeClr val="accent1"/>
                      </a:solidFill>
                      <a:prstDash val="solid"/>
                      <a:round/>
                      <a:headEnd type="none" w="med" len="med"/>
                      <a:tailEnd type="none" w="med" len="med"/>
                    </a:lnT>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Confluent Kafka</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Confluent, founded by the creators of Apache Kafka, delivers a complete execution of Kafka for the Enterprise, to help you run your business in real time.</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6198630"/>
                  </a:ext>
                </a:extLst>
              </a:tr>
              <a:tr h="0">
                <a:tc vMerge="1">
                  <a:txBody>
                    <a:bodyPr/>
                    <a:lstStyle/>
                    <a:p>
                      <a:pPr marL="0" algn="l" defTabSz="914400" rtl="0" eaLnBrk="1" latinLnBrk="0" hangingPunct="1"/>
                      <a:endParaRPr lang="en-US" sz="700" b="1" kern="1200" dirty="0">
                        <a:solidFill>
                          <a:srgbClr val="0078D7"/>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kern="1200" cap="none" spc="0" dirty="0">
                          <a:ln>
                            <a:noFill/>
                          </a:ln>
                          <a:solidFill>
                            <a:schemeClr val="tx1"/>
                          </a:solidFill>
                          <a:effectLst/>
                        </a:rPr>
                        <a:t>Apache NiFi</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Apache NiFi supports powerful and scalable directed graphs of data routing, transformation, and system mediation logic.</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2973925"/>
                  </a:ext>
                </a:extLst>
              </a:tr>
              <a:tr h="0">
                <a:tc rowSpan="2">
                  <a:txBody>
                    <a:bodyPr/>
                    <a:lstStyle/>
                    <a:p>
                      <a:pPr algn="l"/>
                      <a:r>
                        <a:rPr lang="en-US" sz="1100" b="1" cap="none" spc="0" dirty="0">
                          <a:ln>
                            <a:noFill/>
                          </a:ln>
                          <a:solidFill>
                            <a:sysClr val="windowText" lastClr="000000"/>
                          </a:solidFill>
                          <a:effectLst/>
                        </a:rPr>
                        <a:t>Storage</a:t>
                      </a:r>
                      <a:endParaRPr lang="en-US" sz="1100" b="1" cap="none" spc="0" dirty="0">
                        <a:ln>
                          <a:noFill/>
                        </a:ln>
                        <a:solidFill>
                          <a:sysClr val="windowText" lastClr="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cap="none" spc="0" dirty="0">
                          <a:ln>
                            <a:noFill/>
                          </a:ln>
                          <a:solidFill>
                            <a:schemeClr val="tx1"/>
                          </a:solidFill>
                          <a:effectLst/>
                        </a:rPr>
                        <a:t>Azure HD Insight</a:t>
                      </a:r>
                      <a:endParaRPr lang="en-US" sz="11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A Hadoop service offering hosted in Azure that enables clusters of managed Hadoop instances. Azure HDInsight deploys and provisions Apache Hadoop clusters in the cloud, providing a software framework designed to manage, analyze, and report on big data with high reliability and availability.</a:t>
                      </a:r>
                      <a:endParaRPr lang="en-US" sz="11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b="0" cap="none" spc="0" dirty="0">
                          <a:ln>
                            <a:noFill/>
                          </a:ln>
                          <a:solidFill>
                            <a:schemeClr val="tx1"/>
                          </a:solidFill>
                          <a:effectLst/>
                        </a:rPr>
                        <a:t>Azure Blob storage</a:t>
                      </a:r>
                      <a:endParaRPr lang="en-US" sz="1100" b="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b="0" kern="1200" cap="none" spc="0" dirty="0">
                          <a:ln>
                            <a:noFill/>
                          </a:ln>
                          <a:solidFill>
                            <a:schemeClr val="tx1"/>
                          </a:solidFill>
                          <a:effectLst/>
                        </a:rPr>
                        <a:t>Azure Blob storage stores massive amounts of unstructured object data, such as text or binary data and is highly scalable and available</a:t>
                      </a:r>
                      <a:endParaRPr lang="en-US" sz="1100" b="0" kern="1200" cap="none" spc="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9925124"/>
                  </a:ext>
                </a:extLst>
              </a:tr>
            </a:tbl>
          </a:graphicData>
        </a:graphic>
      </p:graphicFrame>
    </p:spTree>
    <p:extLst>
      <p:ext uri="{BB962C8B-B14F-4D97-AF65-F5344CB8AC3E}">
        <p14:creationId xmlns:p14="http://schemas.microsoft.com/office/powerpoint/2010/main" val="1425381105"/>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Azure data and analytics component details (cont.)</a:t>
            </a:r>
          </a:p>
        </p:txBody>
      </p:sp>
      <p:graphicFrame>
        <p:nvGraphicFramePr>
          <p:cNvPr id="2" name="Table 1">
            <a:extLst>
              <a:ext uri="{FF2B5EF4-FFF2-40B4-BE49-F238E27FC236}">
                <a16:creationId xmlns:a16="http://schemas.microsoft.com/office/drawing/2014/main" id="{EC373DD7-0196-4178-BFEE-91CB6DCD6EE6}"/>
              </a:ext>
            </a:extLst>
          </p:cNvPr>
          <p:cNvGraphicFramePr>
            <a:graphicFrameLocks noGrp="1"/>
          </p:cNvGraphicFramePr>
          <p:nvPr>
            <p:extLst>
              <p:ext uri="{D42A27DB-BD31-4B8C-83A1-F6EECF244321}">
                <p14:modId xmlns:p14="http://schemas.microsoft.com/office/powerpoint/2010/main" val="3316734658"/>
              </p:ext>
            </p:extLst>
          </p:nvPr>
        </p:nvGraphicFramePr>
        <p:xfrm>
          <a:off x="469900" y="1006476"/>
          <a:ext cx="11256264" cy="4434840"/>
        </p:xfrm>
        <a:graphic>
          <a:graphicData uri="http://schemas.openxmlformats.org/drawingml/2006/table">
            <a:tbl>
              <a:tblPr firstRow="1" bandRow="1">
                <a:effectLst/>
              </a:tblPr>
              <a:tblGrid>
                <a:gridCol w="1399032">
                  <a:extLst>
                    <a:ext uri="{9D8B030D-6E8A-4147-A177-3AD203B41FA5}">
                      <a16:colId xmlns:a16="http://schemas.microsoft.com/office/drawing/2014/main" val="3876055097"/>
                    </a:ext>
                  </a:extLst>
                </a:gridCol>
                <a:gridCol w="1792224">
                  <a:extLst>
                    <a:ext uri="{9D8B030D-6E8A-4147-A177-3AD203B41FA5}">
                      <a16:colId xmlns:a16="http://schemas.microsoft.com/office/drawing/2014/main" val="3753119640"/>
                    </a:ext>
                  </a:extLst>
                </a:gridCol>
                <a:gridCol w="8065008">
                  <a:extLst>
                    <a:ext uri="{9D8B030D-6E8A-4147-A177-3AD203B41FA5}">
                      <a16:colId xmlns:a16="http://schemas.microsoft.com/office/drawing/2014/main" val="3802854516"/>
                    </a:ext>
                  </a:extLst>
                </a:gridCol>
              </a:tblGrid>
              <a:tr h="0">
                <a:tc>
                  <a:txBody>
                    <a:bodyPr/>
                    <a:lstStyle/>
                    <a:p>
                      <a:pPr algn="l"/>
                      <a:r>
                        <a:rPr lang="en-US" sz="1100" b="1" cap="none" spc="0" dirty="0">
                          <a:ln>
                            <a:noFill/>
                          </a:ln>
                          <a:solidFill>
                            <a:schemeClr val="bg1"/>
                          </a:solidFill>
                          <a:effectLst/>
                        </a:rPr>
                        <a:t>Function</a:t>
                      </a:r>
                      <a:endParaRPr lang="en-US" sz="11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100" b="1" cap="none" spc="0" dirty="0">
                          <a:ln>
                            <a:noFill/>
                          </a:ln>
                          <a:solidFill>
                            <a:schemeClr val="bg1"/>
                          </a:solidFill>
                          <a:effectLst/>
                        </a:rPr>
                        <a:t>Azure component</a:t>
                      </a:r>
                      <a:endParaRPr lang="en-US" sz="11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100" b="1" cap="none" spc="0" dirty="0">
                          <a:ln>
                            <a:noFill/>
                          </a:ln>
                          <a:solidFill>
                            <a:schemeClr val="bg1"/>
                          </a:solidFill>
                          <a:effectLst/>
                        </a:rPr>
                        <a:t>Description</a:t>
                      </a:r>
                      <a:endParaRPr lang="en-US" sz="11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520518736"/>
                  </a:ext>
                </a:extLst>
              </a:tr>
              <a:tr h="0">
                <a:tc rowSpan="3">
                  <a:txBody>
                    <a:bodyPr/>
                    <a:lstStyle/>
                    <a:p>
                      <a:pPr algn="l"/>
                      <a:r>
                        <a:rPr lang="en-US" sz="1100" b="1" cap="none" spc="0" dirty="0">
                          <a:ln>
                            <a:noFill/>
                          </a:ln>
                          <a:solidFill>
                            <a:sysClr val="windowText" lastClr="000000"/>
                          </a:solidFill>
                          <a:effectLst/>
                        </a:rPr>
                        <a:t>Databases and data management</a:t>
                      </a:r>
                      <a:endParaRPr lang="en-US" sz="11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kern="1200" cap="none" spc="0" dirty="0">
                          <a:ln>
                            <a:noFill/>
                          </a:ln>
                          <a:effectLst/>
                        </a:rPr>
                        <a:t>Azure SQL DW</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A cloud-based Enterprise Data Warehouse (EDW) that leverages Massively Parallel Processing (MPP) to quickly run complex queries across petabytes of data.</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06439956"/>
                  </a:ext>
                </a:extLst>
              </a:tr>
              <a:tr h="0">
                <a:tc vMerge="1">
                  <a:txBody>
                    <a:bodyPr/>
                    <a:lstStyle/>
                    <a:p>
                      <a:endParaRPr lang="en-US" sz="10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Azure SQL DB, SQL Server 2016, Azure Database for PostgreSQL</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Azure Database for MySQL</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A fully managed relational database service for app development and deployment with built-in capabilities, such as high availability, at no extra cost.</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2373390"/>
                  </a:ext>
                </a:extLst>
              </a:tr>
              <a:tr h="0">
                <a:tc vMerge="1">
                  <a:txBody>
                    <a:bodyPr/>
                    <a:lstStyle/>
                    <a:p>
                      <a:endParaRPr lang="en-US" sz="7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Table Storage</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kern="1200" cap="none" spc="0" dirty="0">
                          <a:ln>
                            <a:noFill/>
                          </a:ln>
                          <a:effectLst/>
                        </a:rPr>
                        <a:t>Stores large amounts of structured data. The service is a NoSQL datastore which accepts authenticated calls from inside and outside the Azure cloud</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9512046"/>
                  </a:ext>
                </a:extLst>
              </a:tr>
              <a:tr h="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cap="none" spc="0" dirty="0">
                          <a:ln>
                            <a:noFill/>
                          </a:ln>
                          <a:solidFill>
                            <a:sysClr val="windowText" lastClr="000000"/>
                          </a:solidFill>
                          <a:effectLst/>
                        </a:rPr>
                        <a:t>Data processing and compute</a:t>
                      </a:r>
                      <a:endParaRPr lang="en-US" sz="11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Apache Kafka</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kern="1200" cap="none" spc="0" dirty="0">
                          <a:ln>
                            <a:noFill/>
                          </a:ln>
                          <a:effectLst/>
                        </a:rPr>
                        <a:t>Apache Kafka provides batch and message processing capabilities </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5235356"/>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Redis Cache</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A in-memory data structure store, used as a database, cache and message broker</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7224016"/>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SSAS Tabular</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A tool to create cubes using data from data marts/data warehouse for deeper and faster data analysis</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5788143"/>
                  </a:ext>
                </a:extLst>
              </a:tr>
              <a:tr h="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cap="none" spc="0" dirty="0">
                          <a:ln>
                            <a:noFill/>
                          </a:ln>
                          <a:solidFill>
                            <a:sysClr val="windowText" lastClr="000000"/>
                          </a:solidFill>
                          <a:effectLst/>
                        </a:rPr>
                        <a:t>Interactive querying and analytics</a:t>
                      </a:r>
                      <a:endParaRPr lang="en-US" sz="11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kern="1200" cap="none" spc="0" dirty="0">
                          <a:ln>
                            <a:noFill/>
                          </a:ln>
                          <a:effectLst/>
                        </a:rPr>
                        <a:t>Poly Base</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100" kern="1200" cap="none" spc="0" dirty="0">
                          <a:ln>
                            <a:noFill/>
                          </a:ln>
                          <a:effectLst/>
                        </a:rPr>
                        <a:t>A technology that accesses data outside of the database via the t-sql language. In SQL Server 2016, it allows you to run queries on external data in Hadoop or to import/export data from Azure Blob Storage. Queries are optimized to push computation to Hadoop</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5197953"/>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algn="l"/>
                      <a:r>
                        <a:rPr lang="en-US" sz="1100" kern="1200" cap="none" spc="0" dirty="0">
                          <a:ln>
                            <a:noFill/>
                          </a:ln>
                          <a:effectLst/>
                        </a:rPr>
                        <a:t>U-SQL</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kern="1200" cap="none" spc="0" dirty="0">
                          <a:ln>
                            <a:noFill/>
                          </a:ln>
                          <a:effectLst/>
                        </a:rPr>
                        <a:t>U-SQL is the new big data query language of the Azure Data Lake Analytics service.</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9674399"/>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solidFill>
                          <a:srgbClr val="0078D7"/>
                        </a:solidFill>
                      </a:endParaRPr>
                    </a:p>
                  </a:txBody>
                  <a:tcPr anchor="ctr"/>
                </a:tc>
                <a:tc>
                  <a:txBody>
                    <a:bodyPr/>
                    <a:lstStyle/>
                    <a:p>
                      <a:pPr algn="l"/>
                      <a:r>
                        <a:rPr lang="en-US" sz="1100" kern="1200" cap="none" spc="0" dirty="0">
                          <a:ln>
                            <a:noFill/>
                          </a:ln>
                          <a:effectLst/>
                        </a:rPr>
                        <a:t>ELK</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100" kern="1200" cap="none" spc="0" dirty="0">
                          <a:ln>
                            <a:noFill/>
                          </a:ln>
                          <a:effectLst/>
                        </a:rPr>
                        <a:t>Using Microsoft Azure enables to run the components of the Elastic Stack (Elasticsearch, Kibana, Logstash, and Beats)—and to ingest data from various applications and Azure components</a:t>
                      </a:r>
                      <a:endParaRPr lang="en-US" sz="11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9176696"/>
                  </a:ext>
                </a:extLst>
              </a:tr>
            </a:tbl>
          </a:graphicData>
        </a:graphic>
      </p:graphicFrame>
    </p:spTree>
    <p:extLst>
      <p:ext uri="{BB962C8B-B14F-4D97-AF65-F5344CB8AC3E}">
        <p14:creationId xmlns:p14="http://schemas.microsoft.com/office/powerpoint/2010/main" val="3594249472"/>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Azure data and analytics component details (cont.)</a:t>
            </a:r>
          </a:p>
        </p:txBody>
      </p:sp>
      <p:graphicFrame>
        <p:nvGraphicFramePr>
          <p:cNvPr id="2" name="Table 1">
            <a:extLst>
              <a:ext uri="{FF2B5EF4-FFF2-40B4-BE49-F238E27FC236}">
                <a16:creationId xmlns:a16="http://schemas.microsoft.com/office/drawing/2014/main" id="{ACF13224-C4C1-41EC-B88B-78F4486E0933}"/>
              </a:ext>
            </a:extLst>
          </p:cNvPr>
          <p:cNvGraphicFramePr>
            <a:graphicFrameLocks noGrp="1"/>
          </p:cNvGraphicFramePr>
          <p:nvPr>
            <p:extLst>
              <p:ext uri="{D42A27DB-BD31-4B8C-83A1-F6EECF244321}">
                <p14:modId xmlns:p14="http://schemas.microsoft.com/office/powerpoint/2010/main" val="4292566318"/>
              </p:ext>
            </p:extLst>
          </p:nvPr>
        </p:nvGraphicFramePr>
        <p:xfrm>
          <a:off x="469900" y="1017589"/>
          <a:ext cx="11256264" cy="5230368"/>
        </p:xfrm>
        <a:graphic>
          <a:graphicData uri="http://schemas.openxmlformats.org/drawingml/2006/table">
            <a:tbl>
              <a:tblPr firstRow="1" bandRow="1">
                <a:effectLst/>
              </a:tblPr>
              <a:tblGrid>
                <a:gridCol w="1399032">
                  <a:extLst>
                    <a:ext uri="{9D8B030D-6E8A-4147-A177-3AD203B41FA5}">
                      <a16:colId xmlns:a16="http://schemas.microsoft.com/office/drawing/2014/main" val="2537999865"/>
                    </a:ext>
                  </a:extLst>
                </a:gridCol>
                <a:gridCol w="1792224">
                  <a:extLst>
                    <a:ext uri="{9D8B030D-6E8A-4147-A177-3AD203B41FA5}">
                      <a16:colId xmlns:a16="http://schemas.microsoft.com/office/drawing/2014/main" val="3008936446"/>
                    </a:ext>
                  </a:extLst>
                </a:gridCol>
                <a:gridCol w="8065008">
                  <a:extLst>
                    <a:ext uri="{9D8B030D-6E8A-4147-A177-3AD203B41FA5}">
                      <a16:colId xmlns:a16="http://schemas.microsoft.com/office/drawing/2014/main" val="4225461192"/>
                    </a:ext>
                  </a:extLst>
                </a:gridCol>
              </a:tblGrid>
              <a:tr h="0">
                <a:tc>
                  <a:txBody>
                    <a:bodyPr/>
                    <a:lstStyle/>
                    <a:p>
                      <a:pPr algn="l"/>
                      <a:r>
                        <a:rPr lang="en-US" sz="900" b="1" cap="none" spc="0" dirty="0">
                          <a:ln>
                            <a:noFill/>
                          </a:ln>
                          <a:solidFill>
                            <a:schemeClr val="bg1"/>
                          </a:solidFill>
                          <a:effectLst/>
                        </a:rPr>
                        <a:t>Function</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900" b="1" cap="none" spc="0" dirty="0">
                          <a:ln>
                            <a:noFill/>
                          </a:ln>
                          <a:solidFill>
                            <a:schemeClr val="bg1"/>
                          </a:solidFill>
                          <a:effectLst/>
                        </a:rPr>
                        <a:t>Azure component</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900" b="1" cap="none" spc="0" dirty="0">
                          <a:ln>
                            <a:noFill/>
                          </a:ln>
                          <a:solidFill>
                            <a:schemeClr val="bg1"/>
                          </a:solidFill>
                          <a:effectLst/>
                        </a:rPr>
                        <a:t>Description</a:t>
                      </a:r>
                      <a:endParaRPr lang="en-US" sz="9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972553685"/>
                  </a:ext>
                </a:extLst>
              </a:tr>
              <a:tr h="0">
                <a:tc row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cap="none" spc="0" dirty="0">
                          <a:ln>
                            <a:noFill/>
                          </a:ln>
                          <a:solidFill>
                            <a:sysClr val="windowText" lastClr="000000"/>
                          </a:solidFill>
                          <a:effectLst/>
                        </a:rPr>
                        <a:t>Advanced analytics, ML, and IOT</a:t>
                      </a:r>
                      <a:endParaRPr lang="en-US" sz="9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Stream Analytics (IoT)</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managed event-processing engine set up real-time analytic computations on streaming data</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9906787"/>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Azure Machine Learning Services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An extensible, scalable platform for integrating machine learning tasks and tools with the applications that consume machine learning services. </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2719281"/>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Microsoft Speech API</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Provides developers an easy way to create powerful speech-enabled features in their applications, like voice command control, user dialog using natural speech conversation, and speech transcription and dictation. The Microsoft Speech API supports both Speech to Text and Text to Speech conversion.</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6884312"/>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Translator Speech</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cloud-based automatic translation service. The API enables developers to add end-to-end, real-time, speech translations to their applications or services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8111440"/>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Computer Vision</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Provides developers with access to advanced algorithms for processing images and returning information. </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7678423"/>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Face API</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cloud-based service that provides the most advanced face algorithms.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813032"/>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Content Moderation</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machine-assisted image moderation and human review tool to moderate images for adult and racy content</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1356472"/>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solidFill>
                      <a:schemeClr val="bg1"/>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Text Analytics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cloud-based service that provides advanced natural language processing over raw text, and includes three main functions: sentiment analysis, key phrase extraction, and language detection.</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8970993"/>
                  </a:ext>
                </a:extLst>
              </a:tr>
              <a:tr h="0">
                <a:tc row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cap="none" spc="0" dirty="0">
                          <a:ln>
                            <a:noFill/>
                          </a:ln>
                          <a:solidFill>
                            <a:sysClr val="windowText" lastClr="000000"/>
                          </a:solidFill>
                          <a:effectLst/>
                        </a:rPr>
                        <a:t>DevOps and operations management</a:t>
                      </a:r>
                      <a:endParaRPr lang="en-US" sz="9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Multifactor Authentication</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1219170" rtl="0" eaLnBrk="1" latinLnBrk="0" hangingPunct="1"/>
                      <a:r>
                        <a:rPr lang="en-US" sz="900" b="0" kern="1200" cap="none" spc="0" dirty="0">
                          <a:ln>
                            <a:noFill/>
                          </a:ln>
                          <a:solidFill>
                            <a:schemeClr val="tx1"/>
                          </a:solidFill>
                          <a:effectLst/>
                        </a:rPr>
                        <a:t>A security system that requires more than one method of authentication from independent categories of credentials to verify the user's identity for a login or other transaction</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2683647"/>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Azure Key Vault</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cloud-hosted management service that allows users to encrypt keys and small secrets by using keys that are protected by hardware security modules (HSMs). </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7084348"/>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Site Recovery</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service for orchestrating and automating replication of Azure VMs between regions, on-premises virtual machines and physical servers to Azure, and on-premises machines to a secondary datacenter</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42483396"/>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Azure Active Directory</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fully managed multi-tenant service from Microsoft that offers identity and access capabilities for applications running in Microsoft Azure and for applications running in an on-premises environment.</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2841567"/>
                  </a:ext>
                </a:extLst>
              </a:tr>
              <a:tr h="0">
                <a:tc vMerge="1">
                  <a:txBody>
                    <a:bodyPr/>
                    <a:lstStyle/>
                    <a:p>
                      <a:endParaRPr lang="en-US"/>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VSTS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An integrated development environment (IDE) developed as a software product by Microsoft Corp. to facilitate software project creation, development and management.</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9763153"/>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Microsoft Operations Management Suite</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cloud based configuration and operations management tool providing services such as log analytics, automation, backup and site recovery. It can be used to manage hybrid cloud infrastructure by integrating with system center.</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9345822"/>
                  </a:ext>
                </a:extLst>
              </a:tr>
              <a:tr h="0">
                <a:tc vMerge="1">
                  <a:txBody>
                    <a:bodyPr/>
                    <a:lstStyle/>
                    <a:p>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Azure Portal</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900" b="0" kern="1200" cap="none" spc="0" dirty="0">
                          <a:ln>
                            <a:noFill/>
                          </a:ln>
                          <a:solidFill>
                            <a:schemeClr val="tx1"/>
                          </a:solidFill>
                          <a:effectLst/>
                        </a:rPr>
                        <a:t>A web portal to view and manage all of azure applications in one unified hub—including web apps, databases, virtual machines, virtual networks, storage, and Visual Studio team projects</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1323282"/>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Azure Container Service</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900" b="0" kern="1200" cap="none" spc="0" dirty="0">
                          <a:ln>
                            <a:noFill/>
                          </a:ln>
                          <a:solidFill>
                            <a:schemeClr val="tx1"/>
                          </a:solidFill>
                          <a:effectLst/>
                        </a:rPr>
                        <a:t>A managed Kubernetes service offers rapid VM deployments and automated management of the client clusters using industry standard orchestrators such as Docker &amp; Mesosphere.</a:t>
                      </a:r>
                      <a:endParaRPr lang="en-US" sz="900" b="0" kern="1200"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marT="36576"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419621"/>
                  </a:ext>
                </a:extLst>
              </a:tr>
            </a:tbl>
          </a:graphicData>
        </a:graphic>
      </p:graphicFrame>
    </p:spTree>
    <p:extLst>
      <p:ext uri="{BB962C8B-B14F-4D97-AF65-F5344CB8AC3E}">
        <p14:creationId xmlns:p14="http://schemas.microsoft.com/office/powerpoint/2010/main" val="1848830304"/>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1CF453F-0AAC-4A84-B613-CFFE1A868E98}"/>
              </a:ext>
            </a:extLst>
          </p:cNvPr>
          <p:cNvSpPr>
            <a:spLocks noGrp="1"/>
          </p:cNvSpPr>
          <p:nvPr>
            <p:ph type="title"/>
          </p:nvPr>
        </p:nvSpPr>
        <p:spPr/>
        <p:txBody>
          <a:bodyPr/>
          <a:lstStyle/>
          <a:p>
            <a:r>
              <a:rPr lang="en-US" dirty="0"/>
              <a:t>Google Cloud Platform (GCP) reference architecture</a:t>
            </a:r>
          </a:p>
        </p:txBody>
      </p:sp>
    </p:spTree>
    <p:extLst>
      <p:ext uri="{BB962C8B-B14F-4D97-AF65-F5344CB8AC3E}">
        <p14:creationId xmlns:p14="http://schemas.microsoft.com/office/powerpoint/2010/main" val="1932813530"/>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 Placeholder 121">
            <a:extLst>
              <a:ext uri="{FF2B5EF4-FFF2-40B4-BE49-F238E27FC236}">
                <a16:creationId xmlns:a16="http://schemas.microsoft.com/office/drawing/2014/main" id="{17EADCF4-20DE-4C00-A6B8-FA313F502D48}"/>
              </a:ext>
            </a:extLst>
          </p:cNvPr>
          <p:cNvSpPr>
            <a:spLocks noGrp="1"/>
          </p:cNvSpPr>
          <p:nvPr>
            <p:ph idx="1"/>
          </p:nvPr>
        </p:nvSpPr>
        <p:spPr>
          <a:xfrm>
            <a:off x="469900" y="1029945"/>
            <a:ext cx="11252200" cy="4633911"/>
          </a:xfrm>
        </p:spPr>
        <p:txBody>
          <a:bodyPr/>
          <a:lstStyle/>
          <a:p>
            <a:r>
              <a:rPr lang="en-US" b="1" dirty="0"/>
              <a:t>BI/Analytics/IOT Workloads</a:t>
            </a:r>
          </a:p>
        </p:txBody>
      </p:sp>
      <p:sp>
        <p:nvSpPr>
          <p:cNvPr id="4" name="Rubrik 3"/>
          <p:cNvSpPr>
            <a:spLocks noGrp="1"/>
          </p:cNvSpPr>
          <p:nvPr>
            <p:ph type="title"/>
          </p:nvPr>
        </p:nvSpPr>
        <p:spPr/>
        <p:txBody>
          <a:bodyPr/>
          <a:lstStyle/>
          <a:p>
            <a:r>
              <a:rPr lang="sv-SE" dirty="0"/>
              <a:t>GCP reference architecture</a:t>
            </a:r>
          </a:p>
        </p:txBody>
      </p:sp>
      <p:pic>
        <p:nvPicPr>
          <p:cNvPr id="170" name="Picture 169">
            <a:extLst>
              <a:ext uri="{FF2B5EF4-FFF2-40B4-BE49-F238E27FC236}">
                <a16:creationId xmlns:a16="http://schemas.microsoft.com/office/drawing/2014/main" id="{112C94EB-8CE2-4B42-BD31-47C62AE8333C}"/>
              </a:ext>
            </a:extLst>
          </p:cNvPr>
          <p:cNvPicPr>
            <a:picLocks noChangeAspect="1"/>
          </p:cNvPicPr>
          <p:nvPr/>
        </p:nvPicPr>
        <p:blipFill>
          <a:blip r:embed="rId3"/>
          <a:stretch>
            <a:fillRect/>
          </a:stretch>
        </p:blipFill>
        <p:spPr>
          <a:xfrm>
            <a:off x="9069986" y="807136"/>
            <a:ext cx="2632037" cy="336005"/>
          </a:xfrm>
          <a:prstGeom prst="rect">
            <a:avLst/>
          </a:prstGeom>
        </p:spPr>
      </p:pic>
      <p:grpSp>
        <p:nvGrpSpPr>
          <p:cNvPr id="449" name="Group 448">
            <a:extLst>
              <a:ext uri="{FF2B5EF4-FFF2-40B4-BE49-F238E27FC236}">
                <a16:creationId xmlns:a16="http://schemas.microsoft.com/office/drawing/2014/main" id="{999BA42E-9937-4583-982D-0E4720BE62B2}"/>
              </a:ext>
            </a:extLst>
          </p:cNvPr>
          <p:cNvGrpSpPr/>
          <p:nvPr/>
        </p:nvGrpSpPr>
        <p:grpSpPr>
          <a:xfrm>
            <a:off x="4307531" y="4622520"/>
            <a:ext cx="2377798" cy="315819"/>
            <a:chOff x="4307531" y="4622520"/>
            <a:chExt cx="2352510" cy="315819"/>
          </a:xfrm>
        </p:grpSpPr>
        <p:sp>
          <p:nvSpPr>
            <p:cNvPr id="450" name="Rectangle 6">
              <a:extLst>
                <a:ext uri="{FF2B5EF4-FFF2-40B4-BE49-F238E27FC236}">
                  <a16:creationId xmlns:a16="http://schemas.microsoft.com/office/drawing/2014/main" id="{E9C53B6B-9F38-4F33-9032-B8EA3321DB9E}"/>
                </a:ext>
              </a:extLst>
            </p:cNvPr>
            <p:cNvSpPr>
              <a:spLocks noChangeArrowheads="1"/>
            </p:cNvSpPr>
            <p:nvPr/>
          </p:nvSpPr>
          <p:spPr bwMode="auto">
            <a:xfrm>
              <a:off x="5509396" y="4622520"/>
              <a:ext cx="1150645" cy="315819"/>
            </a:xfrm>
            <a:prstGeom prst="rect">
              <a:avLst/>
            </a:prstGeom>
            <a:solidFill>
              <a:schemeClr val="lt1"/>
            </a:solidFill>
            <a:ln>
              <a:solidFill>
                <a:schemeClr val="bg2"/>
              </a:solidFill>
            </a:ln>
            <a:effectLst/>
          </p:spPr>
          <p:txBody>
            <a:bodyPr lIns="274320" tIns="45720" rIns="9144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IoT Core</a:t>
              </a:r>
            </a:p>
          </p:txBody>
        </p:sp>
        <p:sp>
          <p:nvSpPr>
            <p:cNvPr id="451" name="Rectangle 6">
              <a:extLst>
                <a:ext uri="{FF2B5EF4-FFF2-40B4-BE49-F238E27FC236}">
                  <a16:creationId xmlns:a16="http://schemas.microsoft.com/office/drawing/2014/main" id="{A95CBAA2-4E5C-49A7-807F-AD53E8ECB71D}"/>
                </a:ext>
              </a:extLst>
            </p:cNvPr>
            <p:cNvSpPr>
              <a:spLocks noChangeArrowheads="1"/>
            </p:cNvSpPr>
            <p:nvPr/>
          </p:nvSpPr>
          <p:spPr bwMode="auto">
            <a:xfrm>
              <a:off x="4307531" y="4622520"/>
              <a:ext cx="1149592" cy="315819"/>
            </a:xfrm>
            <a:prstGeom prst="rect">
              <a:avLst/>
            </a:prstGeom>
            <a:solidFill>
              <a:schemeClr val="lt1"/>
            </a:solidFill>
            <a:ln>
              <a:solidFill>
                <a:schemeClr val="bg2"/>
              </a:solidFill>
            </a:ln>
            <a:effectLst/>
          </p:spPr>
          <p:txBody>
            <a:bodyPr lIns="274320" tIns="45720" rIns="9144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Stream Processing Cloud Dataflow</a:t>
              </a:r>
            </a:p>
          </p:txBody>
        </p:sp>
      </p:grpSp>
      <p:sp>
        <p:nvSpPr>
          <p:cNvPr id="452" name="Rectangle 451">
            <a:extLst>
              <a:ext uri="{FF2B5EF4-FFF2-40B4-BE49-F238E27FC236}">
                <a16:creationId xmlns:a16="http://schemas.microsoft.com/office/drawing/2014/main" id="{76D6AD90-A1D2-4E16-9678-BAD2F48FC3EE}"/>
              </a:ext>
            </a:extLst>
          </p:cNvPr>
          <p:cNvSpPr/>
          <p:nvPr/>
        </p:nvSpPr>
        <p:spPr bwMode="auto">
          <a:xfrm>
            <a:off x="469899" y="1539078"/>
            <a:ext cx="1439999" cy="4363965"/>
          </a:xfrm>
          <a:prstGeom prst="rect">
            <a:avLst/>
          </a:prstGeom>
          <a:noFill/>
          <a:ln w="190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Sources</a:t>
            </a:r>
          </a:p>
        </p:txBody>
      </p:sp>
      <p:sp>
        <p:nvSpPr>
          <p:cNvPr id="453" name="Rectangle 452">
            <a:extLst>
              <a:ext uri="{FF2B5EF4-FFF2-40B4-BE49-F238E27FC236}">
                <a16:creationId xmlns:a16="http://schemas.microsoft.com/office/drawing/2014/main" id="{99047984-1EDE-453F-84F2-A519F66A4184}"/>
              </a:ext>
            </a:extLst>
          </p:cNvPr>
          <p:cNvSpPr/>
          <p:nvPr/>
        </p:nvSpPr>
        <p:spPr bwMode="auto">
          <a:xfrm>
            <a:off x="1965078" y="1539079"/>
            <a:ext cx="2129065" cy="3643641"/>
          </a:xfrm>
          <a:prstGeom prst="rect">
            <a:avLst/>
          </a:prstGeom>
          <a:noFill/>
          <a:ln w="19050">
            <a:solidFill>
              <a:schemeClr val="bg2"/>
            </a:solidFill>
          </a:ln>
          <a:effectLst/>
        </p:spPr>
        <p:txBody>
          <a:bodyPr lIns="91440" tIns="45720" rIns="91440" bIns="45720" anchor="ctr" anchorCtr="0">
            <a:noAutofit/>
          </a:bodyPr>
          <a:lstStyle/>
          <a:p>
            <a:pPr marL="0" marR="0" lvl="0" indent="0" algn="l" defTabSz="1219170" rtl="0" eaLnBrk="1" fontAlgn="auto" latinLnBrk="0" hangingPunct="1">
              <a:lnSpc>
                <a:spcPct val="100000"/>
              </a:lnSpc>
              <a:spcBef>
                <a:spcPts val="0"/>
              </a:spcBef>
              <a:spcAft>
                <a:spcPts val="0"/>
              </a:spcAft>
              <a:buClr>
                <a:srgbClr val="808080"/>
              </a:buClr>
              <a:buSzPct val="25000"/>
              <a:buFontTx/>
              <a:buNone/>
              <a:tabLst/>
              <a:defRPr/>
            </a:pPr>
            <a:endPar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54" name="Rectangle 453">
            <a:extLst>
              <a:ext uri="{FF2B5EF4-FFF2-40B4-BE49-F238E27FC236}">
                <a16:creationId xmlns:a16="http://schemas.microsoft.com/office/drawing/2014/main" id="{1C18A8F3-822C-42A6-969A-A1907DBFEFE4}"/>
              </a:ext>
            </a:extLst>
          </p:cNvPr>
          <p:cNvSpPr/>
          <p:nvPr/>
        </p:nvSpPr>
        <p:spPr bwMode="auto">
          <a:xfrm>
            <a:off x="4148210" y="1539078"/>
            <a:ext cx="3729974" cy="3643642"/>
          </a:xfrm>
          <a:prstGeom prst="rect">
            <a:avLst/>
          </a:prstGeom>
          <a:noFill/>
          <a:ln w="190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Storage and Processing</a:t>
            </a:r>
          </a:p>
        </p:txBody>
      </p:sp>
      <p:grpSp>
        <p:nvGrpSpPr>
          <p:cNvPr id="455" name="Group 454">
            <a:extLst>
              <a:ext uri="{FF2B5EF4-FFF2-40B4-BE49-F238E27FC236}">
                <a16:creationId xmlns:a16="http://schemas.microsoft.com/office/drawing/2014/main" id="{215AFF73-CC49-4280-A3C7-A0DE1C5AA885}"/>
              </a:ext>
            </a:extLst>
          </p:cNvPr>
          <p:cNvGrpSpPr/>
          <p:nvPr/>
        </p:nvGrpSpPr>
        <p:grpSpPr>
          <a:xfrm>
            <a:off x="469899" y="5963613"/>
            <a:ext cx="11252201" cy="638810"/>
            <a:chOff x="469899" y="5963613"/>
            <a:chExt cx="11252201" cy="638810"/>
          </a:xfrm>
        </p:grpSpPr>
        <p:sp>
          <p:nvSpPr>
            <p:cNvPr id="456" name="Rectangle 455">
              <a:extLst>
                <a:ext uri="{FF2B5EF4-FFF2-40B4-BE49-F238E27FC236}">
                  <a16:creationId xmlns:a16="http://schemas.microsoft.com/office/drawing/2014/main" id="{12FB0AAE-2450-4712-BA41-320C16BC9F90}"/>
                </a:ext>
              </a:extLst>
            </p:cNvPr>
            <p:cNvSpPr/>
            <p:nvPr/>
          </p:nvSpPr>
          <p:spPr bwMode="auto">
            <a:xfrm>
              <a:off x="469899" y="5963613"/>
              <a:ext cx="11252201" cy="638810"/>
            </a:xfrm>
            <a:prstGeom prst="rect">
              <a:avLst/>
            </a:prstGeom>
            <a:solidFill>
              <a:schemeClr val="bg1"/>
            </a:solidFill>
            <a:ln w="19050" cap="flat" cmpd="sng" algn="ctr">
              <a:solidFill>
                <a:schemeClr val="bg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lvl="1" indent="0" algn="l" defTabSz="914400" rtl="0" eaLnBrk="0" fontAlgn="base" latinLnBrk="0" hangingPunct="0">
                <a:lnSpc>
                  <a:spcPct val="80000"/>
                </a:lnSpc>
                <a:spcBef>
                  <a:spcPts val="300"/>
                </a:spcBef>
                <a:spcAft>
                  <a:spcPct val="0"/>
                </a:spcAft>
                <a:buClr>
                  <a:prstClr val="black"/>
                </a:buClr>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Enterprise </a:t>
              </a:r>
            </a:p>
            <a:p>
              <a:pPr marL="0" marR="0" lvl="1" indent="0" algn="l" defTabSz="914400" rtl="0" eaLnBrk="0" fontAlgn="base" latinLnBrk="0" hangingPunct="0">
                <a:lnSpc>
                  <a:spcPct val="80000"/>
                </a:lnSpc>
                <a:spcBef>
                  <a:spcPts val="300"/>
                </a:spcBef>
                <a:spcAft>
                  <a:spcPct val="0"/>
                </a:spcAft>
                <a:buClr>
                  <a:prstClr val="black"/>
                </a:buClr>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a:t>
              </a:r>
            </a:p>
            <a:p>
              <a:pPr marL="0" marR="0" lvl="1" indent="0" algn="l" defTabSz="914400" rtl="0" eaLnBrk="0" fontAlgn="base" latinLnBrk="0" hangingPunct="0">
                <a:lnSpc>
                  <a:spcPct val="80000"/>
                </a:lnSpc>
                <a:spcBef>
                  <a:spcPts val="300"/>
                </a:spcBef>
                <a:spcAft>
                  <a:spcPct val="0"/>
                </a:spcAft>
                <a:buClr>
                  <a:prstClr val="black"/>
                </a:buClr>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Governance</a:t>
              </a:r>
            </a:p>
          </p:txBody>
        </p:sp>
        <p:sp>
          <p:nvSpPr>
            <p:cNvPr id="457" name="Rectangle 456">
              <a:extLst>
                <a:ext uri="{FF2B5EF4-FFF2-40B4-BE49-F238E27FC236}">
                  <a16:creationId xmlns:a16="http://schemas.microsoft.com/office/drawing/2014/main" id="{84740509-C45C-4A02-9CD0-272FCE8E558D}"/>
                </a:ext>
              </a:extLst>
            </p:cNvPr>
            <p:cNvSpPr>
              <a:spLocks noChangeArrowheads="1"/>
            </p:cNvSpPr>
            <p:nvPr/>
          </p:nvSpPr>
          <p:spPr bwMode="auto">
            <a:xfrm>
              <a:off x="7992284" y="6068516"/>
              <a:ext cx="1112842" cy="423170"/>
            </a:xfrm>
            <a:prstGeom prst="rect">
              <a:avLst/>
            </a:prstGeom>
            <a:noFill/>
            <a:ln w="9525">
              <a:solidFill>
                <a:schemeClr val="bg2"/>
              </a:solidFill>
            </a:ln>
            <a:effectLst/>
          </p:spPr>
          <p:txBody>
            <a:bodyPr lIns="9144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Business Rules Management</a:t>
              </a:r>
            </a:p>
          </p:txBody>
        </p:sp>
        <p:sp>
          <p:nvSpPr>
            <p:cNvPr id="458" name="Rectangle 6">
              <a:extLst>
                <a:ext uri="{FF2B5EF4-FFF2-40B4-BE49-F238E27FC236}">
                  <a16:creationId xmlns:a16="http://schemas.microsoft.com/office/drawing/2014/main" id="{2FAB9380-E8DA-40E7-98DF-9CB7BAD0359E}"/>
                </a:ext>
              </a:extLst>
            </p:cNvPr>
            <p:cNvSpPr>
              <a:spLocks noChangeArrowheads="1"/>
            </p:cNvSpPr>
            <p:nvPr/>
          </p:nvSpPr>
          <p:spPr bwMode="auto">
            <a:xfrm>
              <a:off x="1951964" y="6063039"/>
              <a:ext cx="1112842" cy="423170"/>
            </a:xfrm>
            <a:prstGeom prst="rect">
              <a:avLst/>
            </a:prstGeom>
            <a:noFill/>
            <a:ln w="9525">
              <a:solidFill>
                <a:schemeClr val="bg2"/>
              </a:solidFill>
            </a:ln>
            <a:effectLst/>
          </p:spPr>
          <p:txBody>
            <a:bodyPr lIns="9144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Enterprise Content Management</a:t>
              </a:r>
            </a:p>
          </p:txBody>
        </p:sp>
        <p:sp>
          <p:nvSpPr>
            <p:cNvPr id="459" name="Rectangle 6">
              <a:extLst>
                <a:ext uri="{FF2B5EF4-FFF2-40B4-BE49-F238E27FC236}">
                  <a16:creationId xmlns:a16="http://schemas.microsoft.com/office/drawing/2014/main" id="{593DC010-C609-4407-999B-AA1F2E07DA7B}"/>
                </a:ext>
              </a:extLst>
            </p:cNvPr>
            <p:cNvSpPr>
              <a:spLocks noChangeArrowheads="1"/>
            </p:cNvSpPr>
            <p:nvPr/>
          </p:nvSpPr>
          <p:spPr bwMode="auto">
            <a:xfrm>
              <a:off x="3160028" y="6068516"/>
              <a:ext cx="1112842" cy="423170"/>
            </a:xfrm>
            <a:prstGeom prst="rect">
              <a:avLst/>
            </a:prstGeom>
            <a:noFill/>
            <a:ln w="9525">
              <a:solidFill>
                <a:schemeClr val="bg2"/>
              </a:solidFill>
            </a:ln>
            <a:effectLst/>
          </p:spPr>
          <p:txBody>
            <a:bodyPr lIns="9144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Quality Management</a:t>
              </a:r>
            </a:p>
          </p:txBody>
        </p:sp>
        <p:sp>
          <p:nvSpPr>
            <p:cNvPr id="460" name="Rectangle 6">
              <a:extLst>
                <a:ext uri="{FF2B5EF4-FFF2-40B4-BE49-F238E27FC236}">
                  <a16:creationId xmlns:a16="http://schemas.microsoft.com/office/drawing/2014/main" id="{D0B41468-9D22-42AC-BF81-2A01636D9CE5}"/>
                </a:ext>
              </a:extLst>
            </p:cNvPr>
            <p:cNvSpPr>
              <a:spLocks noChangeArrowheads="1"/>
            </p:cNvSpPr>
            <p:nvPr/>
          </p:nvSpPr>
          <p:spPr bwMode="auto">
            <a:xfrm>
              <a:off x="4368092" y="6068516"/>
              <a:ext cx="1112842" cy="423170"/>
            </a:xfrm>
            <a:prstGeom prst="rect">
              <a:avLst/>
            </a:prstGeom>
            <a:noFill/>
            <a:ln w="9525">
              <a:solidFill>
                <a:schemeClr val="bg2"/>
              </a:solidFill>
            </a:ln>
            <a:effectLst/>
          </p:spPr>
          <p:txBody>
            <a:bodyPr lIns="9144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Metadata Management</a:t>
              </a:r>
            </a:p>
          </p:txBody>
        </p:sp>
        <p:sp>
          <p:nvSpPr>
            <p:cNvPr id="461" name="Rectangle 6">
              <a:extLst>
                <a:ext uri="{FF2B5EF4-FFF2-40B4-BE49-F238E27FC236}">
                  <a16:creationId xmlns:a16="http://schemas.microsoft.com/office/drawing/2014/main" id="{CA3BCF00-CBCB-4E32-825F-80228914E86B}"/>
                </a:ext>
              </a:extLst>
            </p:cNvPr>
            <p:cNvSpPr>
              <a:spLocks noChangeArrowheads="1"/>
            </p:cNvSpPr>
            <p:nvPr/>
          </p:nvSpPr>
          <p:spPr bwMode="auto">
            <a:xfrm>
              <a:off x="5576156" y="6068516"/>
              <a:ext cx="1112842" cy="423170"/>
            </a:xfrm>
            <a:prstGeom prst="rect">
              <a:avLst/>
            </a:prstGeom>
            <a:noFill/>
            <a:ln w="9525">
              <a:solidFill>
                <a:schemeClr val="bg2"/>
              </a:solidFill>
            </a:ln>
            <a:effectLst/>
          </p:spPr>
          <p:txBody>
            <a:bodyPr lIns="9144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Security </a:t>
              </a:r>
              <a:b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and Privacy</a:t>
              </a:r>
            </a:p>
          </p:txBody>
        </p:sp>
        <p:sp>
          <p:nvSpPr>
            <p:cNvPr id="462" name="Rectangle 6">
              <a:extLst>
                <a:ext uri="{FF2B5EF4-FFF2-40B4-BE49-F238E27FC236}">
                  <a16:creationId xmlns:a16="http://schemas.microsoft.com/office/drawing/2014/main" id="{2701961F-D49D-4D1D-91A5-74040597A35E}"/>
                </a:ext>
              </a:extLst>
            </p:cNvPr>
            <p:cNvSpPr>
              <a:spLocks noChangeArrowheads="1"/>
            </p:cNvSpPr>
            <p:nvPr/>
          </p:nvSpPr>
          <p:spPr bwMode="auto">
            <a:xfrm>
              <a:off x="6784220" y="6068516"/>
              <a:ext cx="1112842" cy="423170"/>
            </a:xfrm>
            <a:prstGeom prst="rect">
              <a:avLst/>
            </a:prstGeom>
            <a:noFill/>
            <a:ln w="9525">
              <a:solidFill>
                <a:schemeClr val="bg2"/>
              </a:solidFill>
            </a:ln>
            <a:effectLst/>
          </p:spPr>
          <p:txBody>
            <a:bodyPr lIns="9144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Master and Reference Data Management</a:t>
              </a:r>
            </a:p>
          </p:txBody>
        </p:sp>
        <p:sp>
          <p:nvSpPr>
            <p:cNvPr id="463" name="Rectangle 6">
              <a:extLst>
                <a:ext uri="{FF2B5EF4-FFF2-40B4-BE49-F238E27FC236}">
                  <a16:creationId xmlns:a16="http://schemas.microsoft.com/office/drawing/2014/main" id="{68AD7E91-2440-4871-BAE2-AAA46E48D7C7}"/>
                </a:ext>
              </a:extLst>
            </p:cNvPr>
            <p:cNvSpPr>
              <a:spLocks noChangeArrowheads="1"/>
            </p:cNvSpPr>
            <p:nvPr/>
          </p:nvSpPr>
          <p:spPr bwMode="auto">
            <a:xfrm>
              <a:off x="9200348" y="6068516"/>
              <a:ext cx="1112842" cy="423170"/>
            </a:xfrm>
            <a:prstGeom prst="rect">
              <a:avLst/>
            </a:prstGeom>
            <a:noFill/>
            <a:ln w="9525">
              <a:solidFill>
                <a:schemeClr val="bg2"/>
              </a:solidFill>
            </a:ln>
            <a:effectLst/>
          </p:spPr>
          <p:txBody>
            <a:bodyPr lIns="9144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Audit, Balance </a:t>
              </a:r>
              <a:b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and Control</a:t>
              </a:r>
            </a:p>
          </p:txBody>
        </p:sp>
        <p:sp>
          <p:nvSpPr>
            <p:cNvPr id="464" name="Rectangle 6">
              <a:extLst>
                <a:ext uri="{FF2B5EF4-FFF2-40B4-BE49-F238E27FC236}">
                  <a16:creationId xmlns:a16="http://schemas.microsoft.com/office/drawing/2014/main" id="{81746204-1BFE-4311-9D28-47753115BFE2}"/>
                </a:ext>
              </a:extLst>
            </p:cNvPr>
            <p:cNvSpPr>
              <a:spLocks noChangeArrowheads="1"/>
            </p:cNvSpPr>
            <p:nvPr/>
          </p:nvSpPr>
          <p:spPr bwMode="auto">
            <a:xfrm>
              <a:off x="10408415" y="6068516"/>
              <a:ext cx="1112842" cy="423170"/>
            </a:xfrm>
            <a:prstGeom prst="rect">
              <a:avLst/>
            </a:prstGeom>
            <a:noFill/>
            <a:ln w="9525">
              <a:solidFill>
                <a:schemeClr val="bg2"/>
              </a:solidFill>
            </a:ln>
            <a:effectLst/>
          </p:spPr>
          <p:txBody>
            <a:bodyPr lIns="9144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Catalog </a:t>
              </a:r>
              <a:b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and Discovery</a:t>
              </a:r>
            </a:p>
          </p:txBody>
        </p:sp>
      </p:grpSp>
      <p:sp>
        <p:nvSpPr>
          <p:cNvPr id="465" name="Freeform 120">
            <a:extLst>
              <a:ext uri="{FF2B5EF4-FFF2-40B4-BE49-F238E27FC236}">
                <a16:creationId xmlns:a16="http://schemas.microsoft.com/office/drawing/2014/main" id="{6C311BF5-4556-4C43-B345-C201FF4E0760}"/>
              </a:ext>
            </a:extLst>
          </p:cNvPr>
          <p:cNvSpPr/>
          <p:nvPr/>
        </p:nvSpPr>
        <p:spPr bwMode="gray">
          <a:xfrm>
            <a:off x="5636671" y="1887297"/>
            <a:ext cx="281519" cy="526602"/>
          </a:xfrm>
          <a:custGeom>
            <a:avLst/>
            <a:gdLst>
              <a:gd name="connsiteX0" fmla="*/ 21997 w 250597"/>
              <a:gd name="connsiteY0" fmla="*/ 145143 h 564250"/>
              <a:gd name="connsiteX1" fmla="*/ 21997 w 250597"/>
              <a:gd name="connsiteY1" fmla="*/ 562428 h 564250"/>
              <a:gd name="connsiteX2" fmla="*/ 250597 w 250597"/>
              <a:gd name="connsiteY2" fmla="*/ 0 h 564250"/>
            </a:gdLst>
            <a:ahLst/>
            <a:cxnLst>
              <a:cxn ang="0">
                <a:pos x="connsiteX0" y="connsiteY0"/>
              </a:cxn>
              <a:cxn ang="0">
                <a:pos x="connsiteX1" y="connsiteY1"/>
              </a:cxn>
              <a:cxn ang="0">
                <a:pos x="connsiteX2" y="connsiteY2"/>
              </a:cxn>
            </a:cxnLst>
            <a:rect l="l" t="t" r="r" b="b"/>
            <a:pathLst>
              <a:path w="250597" h="564250">
                <a:moveTo>
                  <a:pt x="21997" y="145143"/>
                </a:moveTo>
                <a:cubicBezTo>
                  <a:pt x="2947" y="365881"/>
                  <a:pt x="-16103" y="586619"/>
                  <a:pt x="21997" y="562428"/>
                </a:cubicBezTo>
                <a:cubicBezTo>
                  <a:pt x="60097" y="538238"/>
                  <a:pt x="214311" y="93133"/>
                  <a:pt x="250597" y="0"/>
                </a:cubicBezTo>
              </a:path>
            </a:pathLst>
          </a:custGeom>
          <a:noFill/>
          <a:ln w="12700" cap="rnd" algn="ctr">
            <a:noFill/>
            <a:miter lim="800000"/>
            <a:headEnd/>
            <a:tailEnd/>
          </a:ln>
        </p:spPr>
        <p:txBody>
          <a:bodyPr vert="horz" wrap="square" lIns="73152" tIns="73152" rIns="73152" bIns="73152" numCol="1" rtlCol="0" anchor="t" anchorCtr="0" compatLnSpc="1">
            <a:prstTxWarp prst="textNoShape">
              <a:avLst/>
            </a:prstTxWarp>
          </a:bodyPr>
          <a:lstStyle/>
          <a:p>
            <a:pPr marL="0" marR="0" lvl="0" indent="0" algn="l" defTabSz="914400" rtl="0" eaLnBrk="0" fontAlgn="base" latinLnBrk="0" hangingPunct="0">
              <a:lnSpc>
                <a:spcPct val="106000"/>
              </a:lnSpc>
              <a:spcBef>
                <a:spcPct val="50000"/>
              </a:spcBef>
              <a:spcAft>
                <a:spcPct val="0"/>
              </a:spcAft>
              <a:buClrTx/>
              <a:buSzPct val="100000"/>
              <a:buFont typeface="Wingdings 2" pitchFamily="18" charset="2"/>
              <a:buNone/>
              <a:tabLst/>
              <a:defRPr/>
            </a:pPr>
            <a:endParaRPr kumimoji="0" lang="en-US" sz="8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66" name="Rectangle 6">
            <a:extLst>
              <a:ext uri="{FF2B5EF4-FFF2-40B4-BE49-F238E27FC236}">
                <a16:creationId xmlns:a16="http://schemas.microsoft.com/office/drawing/2014/main" id="{98856722-A601-4F71-A6A4-61FA179F543C}"/>
              </a:ext>
            </a:extLst>
          </p:cNvPr>
          <p:cNvSpPr>
            <a:spLocks noChangeArrowheads="1"/>
          </p:cNvSpPr>
          <p:nvPr/>
        </p:nvSpPr>
        <p:spPr bwMode="auto">
          <a:xfrm>
            <a:off x="4279802" y="2151105"/>
            <a:ext cx="2405528" cy="1487851"/>
          </a:xfrm>
          <a:prstGeom prst="rect">
            <a:avLst/>
          </a:prstGeom>
          <a:solidFill>
            <a:schemeClr val="bg1">
              <a:lumMod val="95000"/>
            </a:schemeClr>
          </a:solidFill>
          <a:ln w="12700">
            <a:noFill/>
            <a:prstDash val="solid"/>
          </a:ln>
        </p:spPr>
        <p:txBody>
          <a:bodyPr lIns="45720" rIns="45720" anchor="t"/>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Production Data Lake</a:t>
            </a:r>
          </a:p>
        </p:txBody>
      </p:sp>
      <p:sp>
        <p:nvSpPr>
          <p:cNvPr id="467" name="Rectangle 466">
            <a:extLst>
              <a:ext uri="{FF2B5EF4-FFF2-40B4-BE49-F238E27FC236}">
                <a16:creationId xmlns:a16="http://schemas.microsoft.com/office/drawing/2014/main" id="{1A0F703B-25DB-43C6-B15B-560506BF3F10}"/>
              </a:ext>
            </a:extLst>
          </p:cNvPr>
          <p:cNvSpPr/>
          <p:nvPr/>
        </p:nvSpPr>
        <p:spPr bwMode="auto">
          <a:xfrm>
            <a:off x="10523654" y="1539079"/>
            <a:ext cx="1198446" cy="3653305"/>
          </a:xfrm>
          <a:prstGeom prst="rect">
            <a:avLst/>
          </a:prstGeom>
          <a:noFill/>
          <a:ln w="190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l" defTabSz="914400" rtl="0" eaLnBrk="1" fontAlgn="base" latinLnBrk="0" hangingPunct="1">
              <a:lnSpc>
                <a:spcPct val="80000"/>
              </a:lnSpc>
              <a:spcBef>
                <a:spcPts val="0"/>
              </a:spcBef>
              <a:spcAft>
                <a:spcPct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Information Consumers</a:t>
            </a:r>
          </a:p>
        </p:txBody>
      </p:sp>
      <p:sp>
        <p:nvSpPr>
          <p:cNvPr id="468" name="Rectangle 6">
            <a:extLst>
              <a:ext uri="{FF2B5EF4-FFF2-40B4-BE49-F238E27FC236}">
                <a16:creationId xmlns:a16="http://schemas.microsoft.com/office/drawing/2014/main" id="{804A42BF-818A-47C4-85A3-0F1D99667E02}"/>
              </a:ext>
            </a:extLst>
          </p:cNvPr>
          <p:cNvSpPr>
            <a:spLocks noChangeArrowheads="1"/>
          </p:cNvSpPr>
          <p:nvPr/>
        </p:nvSpPr>
        <p:spPr bwMode="auto">
          <a:xfrm>
            <a:off x="4279802" y="3674455"/>
            <a:ext cx="2405528" cy="233956"/>
          </a:xfrm>
          <a:prstGeom prst="rect">
            <a:avLst/>
          </a:prstGeom>
          <a:solidFill>
            <a:schemeClr val="bg1">
              <a:lumMod val="95000"/>
            </a:schemeClr>
          </a:solidFill>
          <a:ln w="12700">
            <a:noFill/>
            <a:prstDash val="solid"/>
          </a:ln>
        </p:spPr>
        <p:txBody>
          <a:bodyPr lIns="45720" rIns="45720" anchor="ct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Research Data Lake</a:t>
            </a:r>
          </a:p>
        </p:txBody>
      </p:sp>
      <p:sp>
        <p:nvSpPr>
          <p:cNvPr id="469" name="Rectangle 6">
            <a:extLst>
              <a:ext uri="{FF2B5EF4-FFF2-40B4-BE49-F238E27FC236}">
                <a16:creationId xmlns:a16="http://schemas.microsoft.com/office/drawing/2014/main" id="{1B4D35B6-8C1B-45BA-9023-184F28C08052}"/>
              </a:ext>
            </a:extLst>
          </p:cNvPr>
          <p:cNvSpPr>
            <a:spLocks noChangeArrowheads="1"/>
          </p:cNvSpPr>
          <p:nvPr/>
        </p:nvSpPr>
        <p:spPr bwMode="auto">
          <a:xfrm>
            <a:off x="4309670" y="4247518"/>
            <a:ext cx="2375659" cy="318404"/>
          </a:xfrm>
          <a:prstGeom prst="rect">
            <a:avLst/>
          </a:prstGeom>
          <a:solidFill>
            <a:schemeClr val="lt1"/>
          </a:solidFill>
          <a:ln>
            <a:solidFill>
              <a:schemeClr val="bg2"/>
            </a:solidFill>
          </a:ln>
          <a:effectLst/>
        </p:spPr>
        <p:txBody>
          <a:bodyPr lIns="292608" tIns="45720" rIns="9144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Managed Hadoop and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Spark Service Cloud Dataproc</a:t>
            </a:r>
          </a:p>
        </p:txBody>
      </p:sp>
      <p:pic>
        <p:nvPicPr>
          <p:cNvPr id="470" name="Shape 5171" descr="Cloud-Dataproc.png">
            <a:extLst>
              <a:ext uri="{FF2B5EF4-FFF2-40B4-BE49-F238E27FC236}">
                <a16:creationId xmlns:a16="http://schemas.microsoft.com/office/drawing/2014/main" id="{98D2C94C-C7F4-405D-A580-7A5EE54F05B5}"/>
              </a:ext>
            </a:extLst>
          </p:cNvPr>
          <p:cNvPicPr preferRelativeResize="0"/>
          <p:nvPr/>
        </p:nvPicPr>
        <p:blipFill rotWithShape="1">
          <a:blip r:embed="rId4">
            <a:alphaModFix/>
          </a:blip>
          <a:srcRect t="5076" b="5076"/>
          <a:stretch/>
        </p:blipFill>
        <p:spPr>
          <a:xfrm>
            <a:off x="4339637" y="4313691"/>
            <a:ext cx="200160" cy="178714"/>
          </a:xfrm>
          <a:prstGeom prst="rect">
            <a:avLst/>
          </a:prstGeom>
          <a:noFill/>
          <a:ln>
            <a:noFill/>
          </a:ln>
        </p:spPr>
      </p:pic>
      <p:pic>
        <p:nvPicPr>
          <p:cNvPr id="471" name="Shape 143" descr="Cloud-IoT-Core.png">
            <a:extLst>
              <a:ext uri="{FF2B5EF4-FFF2-40B4-BE49-F238E27FC236}">
                <a16:creationId xmlns:a16="http://schemas.microsoft.com/office/drawing/2014/main" id="{9EB70274-AECE-4BCA-B430-DD9C9D39F0A8}"/>
              </a:ext>
            </a:extLst>
          </p:cNvPr>
          <p:cNvPicPr preferRelativeResize="0"/>
          <p:nvPr/>
        </p:nvPicPr>
        <p:blipFill rotWithShape="1">
          <a:blip r:embed="rId5">
            <a:alphaModFix/>
          </a:blip>
          <a:srcRect t="5092" b="5092"/>
          <a:stretch/>
        </p:blipFill>
        <p:spPr>
          <a:xfrm>
            <a:off x="5569297" y="4683051"/>
            <a:ext cx="200160" cy="171880"/>
          </a:xfrm>
          <a:prstGeom prst="rect">
            <a:avLst/>
          </a:prstGeom>
          <a:noFill/>
          <a:ln>
            <a:noFill/>
          </a:ln>
        </p:spPr>
      </p:pic>
      <p:sp>
        <p:nvSpPr>
          <p:cNvPr id="472" name="Rectangle 471">
            <a:extLst>
              <a:ext uri="{FF2B5EF4-FFF2-40B4-BE49-F238E27FC236}">
                <a16:creationId xmlns:a16="http://schemas.microsoft.com/office/drawing/2014/main" id="{53B62911-A7DD-4EBE-9A9D-1AA24CA183A4}"/>
              </a:ext>
            </a:extLst>
          </p:cNvPr>
          <p:cNvSpPr/>
          <p:nvPr/>
        </p:nvSpPr>
        <p:spPr bwMode="auto">
          <a:xfrm>
            <a:off x="7929037" y="3401884"/>
            <a:ext cx="2521938" cy="1790500"/>
          </a:xfrm>
          <a:prstGeom prst="rect">
            <a:avLst/>
          </a:prstGeom>
          <a:noFill/>
          <a:ln w="190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Advanced Analytics/ML and Cloud AI</a:t>
            </a:r>
          </a:p>
        </p:txBody>
      </p:sp>
      <p:sp>
        <p:nvSpPr>
          <p:cNvPr id="473" name="Rectangle 6">
            <a:extLst>
              <a:ext uri="{FF2B5EF4-FFF2-40B4-BE49-F238E27FC236}">
                <a16:creationId xmlns:a16="http://schemas.microsoft.com/office/drawing/2014/main" id="{9873D42D-7899-41C8-83F5-3BD591BD906C}"/>
              </a:ext>
            </a:extLst>
          </p:cNvPr>
          <p:cNvSpPr>
            <a:spLocks noChangeArrowheads="1"/>
          </p:cNvSpPr>
          <p:nvPr/>
        </p:nvSpPr>
        <p:spPr bwMode="auto">
          <a:xfrm>
            <a:off x="7998349" y="3649635"/>
            <a:ext cx="1171795" cy="461131"/>
          </a:xfrm>
          <a:prstGeom prst="rect">
            <a:avLst/>
          </a:prstGeom>
          <a:solidFill>
            <a:schemeClr val="lt1"/>
          </a:solidFill>
          <a:ln>
            <a:solidFill>
              <a:schemeClr val="bg2"/>
            </a:solidFill>
          </a:ln>
          <a:effectLst/>
        </p:spPr>
        <p:txBody>
          <a:bodyPr lIns="22860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AutoML, Cloud Machine Learning Engine</a:t>
            </a:r>
          </a:p>
        </p:txBody>
      </p:sp>
      <p:sp>
        <p:nvSpPr>
          <p:cNvPr id="474" name="Rectangle 6">
            <a:extLst>
              <a:ext uri="{FF2B5EF4-FFF2-40B4-BE49-F238E27FC236}">
                <a16:creationId xmlns:a16="http://schemas.microsoft.com/office/drawing/2014/main" id="{A9635278-8D4C-4FC2-A2BA-FA6B63D93342}"/>
              </a:ext>
            </a:extLst>
          </p:cNvPr>
          <p:cNvSpPr>
            <a:spLocks noChangeArrowheads="1"/>
          </p:cNvSpPr>
          <p:nvPr/>
        </p:nvSpPr>
        <p:spPr bwMode="auto">
          <a:xfrm>
            <a:off x="9219877" y="3648392"/>
            <a:ext cx="1152543" cy="461132"/>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Natural Language, Cloud Speech-to-Text,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Text-to-Speech </a:t>
            </a:r>
          </a:p>
        </p:txBody>
      </p:sp>
      <p:sp>
        <p:nvSpPr>
          <p:cNvPr id="475" name="Rectangle 6">
            <a:extLst>
              <a:ext uri="{FF2B5EF4-FFF2-40B4-BE49-F238E27FC236}">
                <a16:creationId xmlns:a16="http://schemas.microsoft.com/office/drawing/2014/main" id="{C5BA8DCF-17E2-49AB-944D-32057599C5D3}"/>
              </a:ext>
            </a:extLst>
          </p:cNvPr>
          <p:cNvSpPr>
            <a:spLocks noChangeArrowheads="1"/>
          </p:cNvSpPr>
          <p:nvPr/>
        </p:nvSpPr>
        <p:spPr bwMode="auto">
          <a:xfrm>
            <a:off x="7993784" y="4183995"/>
            <a:ext cx="1171794" cy="397764"/>
          </a:xfrm>
          <a:prstGeom prst="rect">
            <a:avLst/>
          </a:prstGeom>
          <a:solidFill>
            <a:schemeClr val="lt1"/>
          </a:solidFill>
          <a:ln>
            <a:solidFill>
              <a:schemeClr val="bg2"/>
            </a:solidFill>
          </a:ln>
          <a:effectLst/>
        </p:spPr>
        <p:txBody>
          <a:bodyPr lIns="228600" tIns="45720" rIns="9144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TPU</a:t>
            </a:r>
          </a:p>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TensorFlow</a:t>
            </a:r>
          </a:p>
        </p:txBody>
      </p:sp>
      <p:sp>
        <p:nvSpPr>
          <p:cNvPr id="476" name="Rectangle 6">
            <a:extLst>
              <a:ext uri="{FF2B5EF4-FFF2-40B4-BE49-F238E27FC236}">
                <a16:creationId xmlns:a16="http://schemas.microsoft.com/office/drawing/2014/main" id="{12B78F10-494C-41B4-90F7-C65507165EBF}"/>
              </a:ext>
            </a:extLst>
          </p:cNvPr>
          <p:cNvSpPr>
            <a:spLocks noChangeArrowheads="1"/>
          </p:cNvSpPr>
          <p:nvPr/>
        </p:nvSpPr>
        <p:spPr bwMode="auto">
          <a:xfrm>
            <a:off x="9221376" y="4180788"/>
            <a:ext cx="1152543" cy="397764"/>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Dialogflow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Enterprise Edition</a:t>
            </a:r>
          </a:p>
        </p:txBody>
      </p:sp>
      <p:sp>
        <p:nvSpPr>
          <p:cNvPr id="477" name="Rectangle 6">
            <a:extLst>
              <a:ext uri="{FF2B5EF4-FFF2-40B4-BE49-F238E27FC236}">
                <a16:creationId xmlns:a16="http://schemas.microsoft.com/office/drawing/2014/main" id="{E0023D91-8540-49A8-B399-061055317110}"/>
              </a:ext>
            </a:extLst>
          </p:cNvPr>
          <p:cNvSpPr>
            <a:spLocks noChangeArrowheads="1"/>
          </p:cNvSpPr>
          <p:nvPr/>
        </p:nvSpPr>
        <p:spPr bwMode="auto">
          <a:xfrm>
            <a:off x="7992285" y="4660801"/>
            <a:ext cx="1171794" cy="397764"/>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Vision API,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Video Intelligence API</a:t>
            </a:r>
          </a:p>
        </p:txBody>
      </p:sp>
      <p:sp>
        <p:nvSpPr>
          <p:cNvPr id="478" name="Rectangle 6">
            <a:extLst>
              <a:ext uri="{FF2B5EF4-FFF2-40B4-BE49-F238E27FC236}">
                <a16:creationId xmlns:a16="http://schemas.microsoft.com/office/drawing/2014/main" id="{80318D50-1C2D-4893-80AE-B619E520224B}"/>
              </a:ext>
            </a:extLst>
          </p:cNvPr>
          <p:cNvSpPr>
            <a:spLocks noChangeArrowheads="1"/>
          </p:cNvSpPr>
          <p:nvPr/>
        </p:nvSpPr>
        <p:spPr bwMode="auto">
          <a:xfrm>
            <a:off x="9219877" y="4666604"/>
            <a:ext cx="1152543" cy="397764"/>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Job Discovery</a:t>
            </a:r>
          </a:p>
        </p:txBody>
      </p:sp>
      <p:sp>
        <p:nvSpPr>
          <p:cNvPr id="479" name="Rectangle 478">
            <a:extLst>
              <a:ext uri="{FF2B5EF4-FFF2-40B4-BE49-F238E27FC236}">
                <a16:creationId xmlns:a16="http://schemas.microsoft.com/office/drawing/2014/main" id="{6283EE1C-D605-43EF-9EA9-329B243E371B}"/>
              </a:ext>
            </a:extLst>
          </p:cNvPr>
          <p:cNvSpPr/>
          <p:nvPr/>
        </p:nvSpPr>
        <p:spPr bwMode="gray">
          <a:xfrm>
            <a:off x="2084503" y="1981741"/>
            <a:ext cx="866037" cy="386126"/>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Google</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Transfer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Appliance</a:t>
            </a:r>
          </a:p>
        </p:txBody>
      </p:sp>
      <p:pic>
        <p:nvPicPr>
          <p:cNvPr id="480" name="Shape 145" descr="Data Transfer Appliance.png">
            <a:extLst>
              <a:ext uri="{FF2B5EF4-FFF2-40B4-BE49-F238E27FC236}">
                <a16:creationId xmlns:a16="http://schemas.microsoft.com/office/drawing/2014/main" id="{D4AF94C7-AED8-4FAD-9555-3F9052431CB6}"/>
              </a:ext>
            </a:extLst>
          </p:cNvPr>
          <p:cNvPicPr preferRelativeResize="0"/>
          <p:nvPr/>
        </p:nvPicPr>
        <p:blipFill rotWithShape="1">
          <a:blip r:embed="rId6">
            <a:alphaModFix/>
          </a:blip>
          <a:srcRect t="5092" b="5092"/>
          <a:stretch/>
        </p:blipFill>
        <p:spPr>
          <a:xfrm>
            <a:off x="2107477" y="2090290"/>
            <a:ext cx="187254" cy="167190"/>
          </a:xfrm>
          <a:prstGeom prst="rect">
            <a:avLst/>
          </a:prstGeom>
          <a:noFill/>
          <a:ln>
            <a:noFill/>
          </a:ln>
        </p:spPr>
      </p:pic>
      <p:grpSp>
        <p:nvGrpSpPr>
          <p:cNvPr id="481" name="Group 480">
            <a:extLst>
              <a:ext uri="{FF2B5EF4-FFF2-40B4-BE49-F238E27FC236}">
                <a16:creationId xmlns:a16="http://schemas.microsoft.com/office/drawing/2014/main" id="{13060EE4-58FD-44CE-974F-3CACABC5D2DE}"/>
              </a:ext>
            </a:extLst>
          </p:cNvPr>
          <p:cNvGrpSpPr/>
          <p:nvPr/>
        </p:nvGrpSpPr>
        <p:grpSpPr>
          <a:xfrm>
            <a:off x="7927479" y="1539080"/>
            <a:ext cx="2525069" cy="1799216"/>
            <a:chOff x="7927479" y="1539080"/>
            <a:chExt cx="2525069" cy="1799216"/>
          </a:xfrm>
        </p:grpSpPr>
        <p:sp>
          <p:nvSpPr>
            <p:cNvPr id="482" name="Rectangle 481">
              <a:extLst>
                <a:ext uri="{FF2B5EF4-FFF2-40B4-BE49-F238E27FC236}">
                  <a16:creationId xmlns:a16="http://schemas.microsoft.com/office/drawing/2014/main" id="{80D754EE-C7F1-4F95-BDF2-8DD3B54A6228}"/>
                </a:ext>
              </a:extLst>
            </p:cNvPr>
            <p:cNvSpPr/>
            <p:nvPr/>
          </p:nvSpPr>
          <p:spPr bwMode="auto">
            <a:xfrm>
              <a:off x="7927479" y="1539080"/>
              <a:ext cx="2525069" cy="1799216"/>
            </a:xfrm>
            <a:prstGeom prst="rect">
              <a:avLst/>
            </a:prstGeom>
            <a:noFill/>
            <a:ln w="19050" cap="flat" cmpd="sng" algn="ctr">
              <a:solidFill>
                <a:schemeClr val="bg2"/>
              </a:solidFill>
              <a:prstDash val="solid"/>
              <a:round/>
              <a:headEnd type="none" w="med" len="med"/>
              <a:tailEnd type="none" w="med" len="med"/>
            </a:ln>
            <a:effectLst/>
          </p:spPr>
          <p:txBody>
            <a:bodyPr vert="horz" wrap="square" lIns="91440" tIns="45720" rIns="0" bIns="45720" numCol="1" rtlCol="0" anchor="t" anchorCtr="0" compatLnSpc="1">
              <a:prstTxWarp prst="textNoShape">
                <a:avLst/>
              </a:prstTxWarp>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Information Delivery and API Platforms</a:t>
              </a:r>
            </a:p>
          </p:txBody>
        </p:sp>
        <p:sp>
          <p:nvSpPr>
            <p:cNvPr id="483" name="Rectangle 6">
              <a:extLst>
                <a:ext uri="{FF2B5EF4-FFF2-40B4-BE49-F238E27FC236}">
                  <a16:creationId xmlns:a16="http://schemas.microsoft.com/office/drawing/2014/main" id="{C59365C5-F306-4F15-B775-93AB31E569AD}"/>
                </a:ext>
              </a:extLst>
            </p:cNvPr>
            <p:cNvSpPr>
              <a:spLocks noChangeArrowheads="1"/>
            </p:cNvSpPr>
            <p:nvPr/>
          </p:nvSpPr>
          <p:spPr bwMode="auto">
            <a:xfrm>
              <a:off x="8024264" y="1848606"/>
              <a:ext cx="1146532" cy="407690"/>
            </a:xfrm>
            <a:prstGeom prst="rect">
              <a:avLst/>
            </a:prstGeom>
            <a:solidFill>
              <a:schemeClr val="lt1"/>
            </a:solidFill>
            <a:ln>
              <a:solidFill>
                <a:schemeClr val="bg2"/>
              </a:solidFill>
            </a:ln>
            <a:effectLst/>
          </p:spPr>
          <p:txBody>
            <a:bodyPr lIns="27432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Business Intelligence </a:t>
              </a:r>
            </a:p>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Studio, Cloud Datalab</a:t>
              </a:r>
              <a:endPar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484" name="Shape 103" descr="Data-Studio.png">
              <a:extLst>
                <a:ext uri="{FF2B5EF4-FFF2-40B4-BE49-F238E27FC236}">
                  <a16:creationId xmlns:a16="http://schemas.microsoft.com/office/drawing/2014/main" id="{665EA9B7-E379-4422-AE0D-7B4BF89E6936}"/>
                </a:ext>
              </a:extLst>
            </p:cNvPr>
            <p:cNvPicPr preferRelativeResize="0"/>
            <p:nvPr/>
          </p:nvPicPr>
          <p:blipFill rotWithShape="1">
            <a:blip r:embed="rId7">
              <a:alphaModFix/>
            </a:blip>
            <a:srcRect t="5092" b="5092"/>
            <a:stretch/>
          </p:blipFill>
          <p:spPr>
            <a:xfrm>
              <a:off x="8065470" y="1954184"/>
              <a:ext cx="195877" cy="174890"/>
            </a:xfrm>
            <a:prstGeom prst="rect">
              <a:avLst/>
            </a:prstGeom>
            <a:noFill/>
            <a:ln>
              <a:noFill/>
            </a:ln>
          </p:spPr>
        </p:pic>
        <p:sp>
          <p:nvSpPr>
            <p:cNvPr id="485" name="Rectangle 6">
              <a:extLst>
                <a:ext uri="{FF2B5EF4-FFF2-40B4-BE49-F238E27FC236}">
                  <a16:creationId xmlns:a16="http://schemas.microsoft.com/office/drawing/2014/main" id="{710400D1-C6EB-4EB0-9B3F-FA2F3823E1E9}"/>
                </a:ext>
              </a:extLst>
            </p:cNvPr>
            <p:cNvSpPr>
              <a:spLocks noChangeArrowheads="1"/>
            </p:cNvSpPr>
            <p:nvPr/>
          </p:nvSpPr>
          <p:spPr bwMode="auto">
            <a:xfrm>
              <a:off x="9241902" y="1847872"/>
              <a:ext cx="1144104" cy="407692"/>
            </a:xfrm>
            <a:prstGeom prst="rect">
              <a:avLst/>
            </a:prstGeom>
            <a:solidFill>
              <a:schemeClr val="lt1"/>
            </a:solidFill>
            <a:ln>
              <a:solidFill>
                <a:schemeClr val="bg2"/>
              </a:solidFill>
            </a:ln>
            <a:effectLst/>
          </p:spPr>
          <p:txBody>
            <a:bodyPr lIns="27432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API Platform</a:t>
              </a:r>
            </a:p>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Google Maps platform</a:t>
              </a:r>
              <a:endPar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86" name="Rectangle 6">
              <a:extLst>
                <a:ext uri="{FF2B5EF4-FFF2-40B4-BE49-F238E27FC236}">
                  <a16:creationId xmlns:a16="http://schemas.microsoft.com/office/drawing/2014/main" id="{5A928EF6-191D-4DCD-A509-D8FFCD100AC2}"/>
                </a:ext>
              </a:extLst>
            </p:cNvPr>
            <p:cNvSpPr>
              <a:spLocks noChangeArrowheads="1"/>
            </p:cNvSpPr>
            <p:nvPr/>
          </p:nvSpPr>
          <p:spPr bwMode="auto">
            <a:xfrm>
              <a:off x="8020621" y="2339094"/>
              <a:ext cx="1146531" cy="407692"/>
            </a:xfrm>
            <a:prstGeom prst="rect">
              <a:avLst/>
            </a:prstGeom>
            <a:solidFill>
              <a:schemeClr val="lt1"/>
            </a:solidFill>
            <a:ln>
              <a:solidFill>
                <a:schemeClr val="bg2"/>
              </a:solidFill>
            </a:ln>
            <a:effectLst/>
          </p:spPr>
          <p:txBody>
            <a:bodyPr lIns="27432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Analytics</a:t>
              </a:r>
            </a:p>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API Analytics</a:t>
              </a:r>
              <a:endPar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87" name="Rectangle 6">
              <a:extLst>
                <a:ext uri="{FF2B5EF4-FFF2-40B4-BE49-F238E27FC236}">
                  <a16:creationId xmlns:a16="http://schemas.microsoft.com/office/drawing/2014/main" id="{002FBFFA-B895-478F-A544-40C491E6EB39}"/>
                </a:ext>
              </a:extLst>
            </p:cNvPr>
            <p:cNvSpPr>
              <a:spLocks noChangeArrowheads="1"/>
            </p:cNvSpPr>
            <p:nvPr/>
          </p:nvSpPr>
          <p:spPr bwMode="auto">
            <a:xfrm>
              <a:off x="9246179" y="2335886"/>
              <a:ext cx="1129314" cy="407692"/>
            </a:xfrm>
            <a:prstGeom prst="rect">
              <a:avLst/>
            </a:prstGeom>
            <a:solidFill>
              <a:schemeClr val="lt1"/>
            </a:solidFill>
            <a:ln>
              <a:solidFill>
                <a:schemeClr val="bg2"/>
              </a:solidFill>
            </a:ln>
            <a:effectLst/>
          </p:spPr>
          <p:txBody>
            <a:bodyPr lIns="27432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API Platform</a:t>
              </a:r>
            </a:p>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Apigee API platform</a:t>
              </a:r>
              <a:endPar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88" name="Rectangle 6">
              <a:extLst>
                <a:ext uri="{FF2B5EF4-FFF2-40B4-BE49-F238E27FC236}">
                  <a16:creationId xmlns:a16="http://schemas.microsoft.com/office/drawing/2014/main" id="{73E989F8-6AD6-4E2A-A1E7-AB1B95F2E04B}"/>
                </a:ext>
              </a:extLst>
            </p:cNvPr>
            <p:cNvSpPr>
              <a:spLocks noChangeArrowheads="1"/>
            </p:cNvSpPr>
            <p:nvPr/>
          </p:nvSpPr>
          <p:spPr bwMode="auto">
            <a:xfrm>
              <a:off x="8019122" y="2820096"/>
              <a:ext cx="1146531" cy="407692"/>
            </a:xfrm>
            <a:prstGeom prst="rect">
              <a:avLst/>
            </a:prstGeom>
            <a:solidFill>
              <a:schemeClr val="lt1"/>
            </a:solidFill>
            <a:ln>
              <a:solidFill>
                <a:schemeClr val="bg2"/>
              </a:solidFill>
            </a:ln>
            <a:effectLst/>
          </p:spPr>
          <p:txBody>
            <a:bodyPr lIns="27432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API Intelligence</a:t>
              </a:r>
            </a:p>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Apigee Sense, </a:t>
              </a:r>
              <a:b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Endpoints</a:t>
              </a:r>
              <a:endPar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89" name="Rectangle 6">
              <a:extLst>
                <a:ext uri="{FF2B5EF4-FFF2-40B4-BE49-F238E27FC236}">
                  <a16:creationId xmlns:a16="http://schemas.microsoft.com/office/drawing/2014/main" id="{3D54E859-4848-427A-9B4C-B4F993B4A77A}"/>
                </a:ext>
              </a:extLst>
            </p:cNvPr>
            <p:cNvSpPr>
              <a:spLocks noChangeArrowheads="1"/>
            </p:cNvSpPr>
            <p:nvPr/>
          </p:nvSpPr>
          <p:spPr bwMode="auto">
            <a:xfrm>
              <a:off x="9244681" y="2816888"/>
              <a:ext cx="1129314" cy="407692"/>
            </a:xfrm>
            <a:prstGeom prst="rect">
              <a:avLst/>
            </a:prstGeom>
            <a:solidFill>
              <a:schemeClr val="lt1"/>
            </a:solidFill>
            <a:ln>
              <a:solidFill>
                <a:schemeClr val="bg2"/>
              </a:solidFill>
            </a:ln>
            <a:effectLst/>
          </p:spPr>
          <p:txBody>
            <a:bodyPr lIns="274320" tIns="45720" rIns="0" bIns="4572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Monetize</a:t>
              </a:r>
            </a:p>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API Monetization</a:t>
              </a:r>
              <a:endPar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490" name="Shape 1781" descr="Cloud-Endpoints.png">
              <a:extLst>
                <a:ext uri="{FF2B5EF4-FFF2-40B4-BE49-F238E27FC236}">
                  <a16:creationId xmlns:a16="http://schemas.microsoft.com/office/drawing/2014/main" id="{05783BD6-FA72-49C6-852D-3972AEC7F25D}"/>
                </a:ext>
              </a:extLst>
            </p:cNvPr>
            <p:cNvPicPr preferRelativeResize="0"/>
            <p:nvPr/>
          </p:nvPicPr>
          <p:blipFill rotWithShape="1">
            <a:blip r:embed="rId8">
              <a:alphaModFix/>
            </a:blip>
            <a:srcRect t="5076" b="5076"/>
            <a:stretch/>
          </p:blipFill>
          <p:spPr>
            <a:xfrm>
              <a:off x="8061791" y="2940126"/>
              <a:ext cx="189751" cy="170652"/>
            </a:xfrm>
            <a:prstGeom prst="rect">
              <a:avLst/>
            </a:prstGeom>
            <a:noFill/>
            <a:ln>
              <a:noFill/>
            </a:ln>
          </p:spPr>
        </p:pic>
        <p:pic>
          <p:nvPicPr>
            <p:cNvPr id="491" name="Picture 490">
              <a:extLst>
                <a:ext uri="{FF2B5EF4-FFF2-40B4-BE49-F238E27FC236}">
                  <a16:creationId xmlns:a16="http://schemas.microsoft.com/office/drawing/2014/main" id="{0DB3C6DD-90F8-43B9-9CBF-0DCF45CF5870}"/>
                </a:ext>
              </a:extLst>
            </p:cNvPr>
            <p:cNvPicPr>
              <a:picLocks noChangeAspect="1"/>
            </p:cNvPicPr>
            <p:nvPr/>
          </p:nvPicPr>
          <p:blipFill>
            <a:blip r:embed="rId9"/>
            <a:stretch>
              <a:fillRect/>
            </a:stretch>
          </p:blipFill>
          <p:spPr>
            <a:xfrm>
              <a:off x="8028443" y="2444339"/>
              <a:ext cx="251287" cy="185474"/>
            </a:xfrm>
            <a:prstGeom prst="rect">
              <a:avLst/>
            </a:prstGeom>
          </p:spPr>
        </p:pic>
        <p:pic>
          <p:nvPicPr>
            <p:cNvPr id="492" name="Picture 491">
              <a:extLst>
                <a:ext uri="{FF2B5EF4-FFF2-40B4-BE49-F238E27FC236}">
                  <a16:creationId xmlns:a16="http://schemas.microsoft.com/office/drawing/2014/main" id="{819F0C86-D6C6-4DB1-97DC-1AFD4E26F82B}"/>
                </a:ext>
              </a:extLst>
            </p:cNvPr>
            <p:cNvPicPr>
              <a:picLocks noChangeAspect="1"/>
            </p:cNvPicPr>
            <p:nvPr/>
          </p:nvPicPr>
          <p:blipFill>
            <a:blip r:embed="rId10"/>
            <a:stretch>
              <a:fillRect/>
            </a:stretch>
          </p:blipFill>
          <p:spPr>
            <a:xfrm>
              <a:off x="9248406" y="1896137"/>
              <a:ext cx="269718" cy="232938"/>
            </a:xfrm>
            <a:prstGeom prst="rect">
              <a:avLst/>
            </a:prstGeom>
          </p:spPr>
        </p:pic>
        <p:pic>
          <p:nvPicPr>
            <p:cNvPr id="493" name="Picture 492">
              <a:extLst>
                <a:ext uri="{FF2B5EF4-FFF2-40B4-BE49-F238E27FC236}">
                  <a16:creationId xmlns:a16="http://schemas.microsoft.com/office/drawing/2014/main" id="{D6EA6393-73E2-4239-ADAB-E5D7828396A5}"/>
                </a:ext>
              </a:extLst>
            </p:cNvPr>
            <p:cNvPicPr>
              <a:picLocks noChangeAspect="1"/>
            </p:cNvPicPr>
            <p:nvPr/>
          </p:nvPicPr>
          <p:blipFill>
            <a:blip r:embed="rId11"/>
            <a:stretch>
              <a:fillRect/>
            </a:stretch>
          </p:blipFill>
          <p:spPr>
            <a:xfrm>
              <a:off x="9268755" y="2438360"/>
              <a:ext cx="215531" cy="202469"/>
            </a:xfrm>
            <a:prstGeom prst="rect">
              <a:avLst/>
            </a:prstGeom>
          </p:spPr>
        </p:pic>
        <p:pic>
          <p:nvPicPr>
            <p:cNvPr id="494" name="Picture 493">
              <a:extLst>
                <a:ext uri="{FF2B5EF4-FFF2-40B4-BE49-F238E27FC236}">
                  <a16:creationId xmlns:a16="http://schemas.microsoft.com/office/drawing/2014/main" id="{28650EF7-E97C-482C-8631-B6B14E93ACF9}"/>
                </a:ext>
              </a:extLst>
            </p:cNvPr>
            <p:cNvPicPr>
              <a:picLocks noChangeAspect="1"/>
            </p:cNvPicPr>
            <p:nvPr/>
          </p:nvPicPr>
          <p:blipFill>
            <a:blip r:embed="rId12"/>
            <a:stretch>
              <a:fillRect/>
            </a:stretch>
          </p:blipFill>
          <p:spPr>
            <a:xfrm>
              <a:off x="9251513" y="2915577"/>
              <a:ext cx="244779" cy="207121"/>
            </a:xfrm>
            <a:prstGeom prst="rect">
              <a:avLst/>
            </a:prstGeom>
          </p:spPr>
        </p:pic>
      </p:grpSp>
      <p:pic>
        <p:nvPicPr>
          <p:cNvPr id="495" name="Picture 494">
            <a:extLst>
              <a:ext uri="{FF2B5EF4-FFF2-40B4-BE49-F238E27FC236}">
                <a16:creationId xmlns:a16="http://schemas.microsoft.com/office/drawing/2014/main" id="{2809E624-2797-4A07-BC45-346C596B7F0D}"/>
              </a:ext>
            </a:extLst>
          </p:cNvPr>
          <p:cNvPicPr>
            <a:picLocks noChangeAspect="1"/>
          </p:cNvPicPr>
          <p:nvPr/>
        </p:nvPicPr>
        <p:blipFill>
          <a:blip r:embed="rId13"/>
          <a:stretch>
            <a:fillRect/>
          </a:stretch>
        </p:blipFill>
        <p:spPr>
          <a:xfrm>
            <a:off x="9212211" y="4270418"/>
            <a:ext cx="241708" cy="201423"/>
          </a:xfrm>
          <a:prstGeom prst="rect">
            <a:avLst/>
          </a:prstGeom>
        </p:spPr>
      </p:pic>
      <p:sp>
        <p:nvSpPr>
          <p:cNvPr id="496" name="Rectangle 495">
            <a:extLst>
              <a:ext uri="{FF2B5EF4-FFF2-40B4-BE49-F238E27FC236}">
                <a16:creationId xmlns:a16="http://schemas.microsoft.com/office/drawing/2014/main" id="{D2E22AE2-3249-4FBD-B205-5C484836078B}"/>
              </a:ext>
            </a:extLst>
          </p:cNvPr>
          <p:cNvSpPr/>
          <p:nvPr/>
        </p:nvSpPr>
        <p:spPr bwMode="gray">
          <a:xfrm>
            <a:off x="2084503" y="4474731"/>
            <a:ext cx="866037" cy="386126"/>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Composer</a:t>
            </a:r>
          </a:p>
        </p:txBody>
      </p:sp>
      <p:pic>
        <p:nvPicPr>
          <p:cNvPr id="497" name="Picture 496">
            <a:extLst>
              <a:ext uri="{FF2B5EF4-FFF2-40B4-BE49-F238E27FC236}">
                <a16:creationId xmlns:a16="http://schemas.microsoft.com/office/drawing/2014/main" id="{572CBF6E-E463-4015-9D7E-A153C19D51B6}"/>
              </a:ext>
            </a:extLst>
          </p:cNvPr>
          <p:cNvPicPr>
            <a:picLocks noChangeAspect="1"/>
          </p:cNvPicPr>
          <p:nvPr/>
        </p:nvPicPr>
        <p:blipFill>
          <a:blip r:embed="rId14"/>
          <a:stretch>
            <a:fillRect/>
          </a:stretch>
        </p:blipFill>
        <p:spPr>
          <a:xfrm>
            <a:off x="2094225" y="4554613"/>
            <a:ext cx="203420" cy="184348"/>
          </a:xfrm>
          <a:prstGeom prst="rect">
            <a:avLst/>
          </a:prstGeom>
        </p:spPr>
      </p:pic>
      <p:grpSp>
        <p:nvGrpSpPr>
          <p:cNvPr id="498" name="Group 497">
            <a:extLst>
              <a:ext uri="{FF2B5EF4-FFF2-40B4-BE49-F238E27FC236}">
                <a16:creationId xmlns:a16="http://schemas.microsoft.com/office/drawing/2014/main" id="{AA6817D3-A450-42F6-BCA8-707A9AEF868B}"/>
              </a:ext>
            </a:extLst>
          </p:cNvPr>
          <p:cNvGrpSpPr/>
          <p:nvPr/>
        </p:nvGrpSpPr>
        <p:grpSpPr>
          <a:xfrm>
            <a:off x="1965078" y="5257688"/>
            <a:ext cx="9757022" cy="645356"/>
            <a:chOff x="1965078" y="5257688"/>
            <a:chExt cx="9757022" cy="645356"/>
          </a:xfrm>
        </p:grpSpPr>
        <p:sp>
          <p:nvSpPr>
            <p:cNvPr id="499" name="Rectangle 498">
              <a:extLst>
                <a:ext uri="{FF2B5EF4-FFF2-40B4-BE49-F238E27FC236}">
                  <a16:creationId xmlns:a16="http://schemas.microsoft.com/office/drawing/2014/main" id="{E9FBC7C7-A00E-4CE6-BA18-9AF63BF66011}"/>
                </a:ext>
              </a:extLst>
            </p:cNvPr>
            <p:cNvSpPr/>
            <p:nvPr/>
          </p:nvSpPr>
          <p:spPr bwMode="auto">
            <a:xfrm>
              <a:off x="1965078" y="5257688"/>
              <a:ext cx="9757022" cy="645356"/>
            </a:xfrm>
            <a:prstGeom prst="rect">
              <a:avLst/>
            </a:prstGeom>
            <a:noFill/>
            <a:ln w="19050" cap="flat" cmpd="sng" algn="ctr">
              <a:solidFill>
                <a:schemeClr val="bg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lvl="1" indent="0" algn="l" defTabSz="914400" rtl="0" eaLnBrk="0" fontAlgn="base" latinLnBrk="0" hangingPunct="0">
                <a:lnSpc>
                  <a:spcPct val="100000"/>
                </a:lnSpc>
                <a:spcBef>
                  <a:spcPts val="300"/>
                </a:spcBef>
                <a:spcAft>
                  <a:spcPct val="0"/>
                </a:spcAft>
                <a:buClr>
                  <a:prstClr val="black"/>
                </a:buClr>
                <a:buSzTx/>
                <a:buFontTx/>
                <a:buNone/>
                <a:tabLst/>
                <a:defRPr/>
              </a:pPr>
              <a:r>
                <a:rPr kumimoji="0" lang="en-US" sz="10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Identity and Security, Developer and Management Tools</a:t>
              </a:r>
            </a:p>
          </p:txBody>
        </p:sp>
        <p:sp>
          <p:nvSpPr>
            <p:cNvPr id="500" name="Rectangle 6">
              <a:extLst>
                <a:ext uri="{FF2B5EF4-FFF2-40B4-BE49-F238E27FC236}">
                  <a16:creationId xmlns:a16="http://schemas.microsoft.com/office/drawing/2014/main" id="{58D2E311-3BF2-4402-B4E1-B2DBFB9D40FC}"/>
                </a:ext>
              </a:extLst>
            </p:cNvPr>
            <p:cNvSpPr>
              <a:spLocks noChangeArrowheads="1"/>
            </p:cNvSpPr>
            <p:nvPr/>
          </p:nvSpPr>
          <p:spPr bwMode="auto">
            <a:xfrm>
              <a:off x="2053936" y="5487734"/>
              <a:ext cx="971350" cy="340670"/>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Identity and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Access Mgmt</a:t>
              </a:r>
            </a:p>
          </p:txBody>
        </p:sp>
        <p:sp>
          <p:nvSpPr>
            <p:cNvPr id="501" name="Rectangle 6">
              <a:extLst>
                <a:ext uri="{FF2B5EF4-FFF2-40B4-BE49-F238E27FC236}">
                  <a16:creationId xmlns:a16="http://schemas.microsoft.com/office/drawing/2014/main" id="{43D469C7-2BAD-4F41-A682-5F76A609C09B}"/>
                </a:ext>
              </a:extLst>
            </p:cNvPr>
            <p:cNvSpPr>
              <a:spLocks noChangeArrowheads="1"/>
            </p:cNvSpPr>
            <p:nvPr/>
          </p:nvSpPr>
          <p:spPr bwMode="auto">
            <a:xfrm>
              <a:off x="3107615" y="5487734"/>
              <a:ext cx="916775" cy="340670"/>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Key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Mgmt Service</a:t>
              </a:r>
            </a:p>
          </p:txBody>
        </p:sp>
        <p:sp>
          <p:nvSpPr>
            <p:cNvPr id="502" name="Rectangle 6">
              <a:extLst>
                <a:ext uri="{FF2B5EF4-FFF2-40B4-BE49-F238E27FC236}">
                  <a16:creationId xmlns:a16="http://schemas.microsoft.com/office/drawing/2014/main" id="{7CFDA3E9-24C1-4E5D-9EF5-DD0BF7ACFD23}"/>
                </a:ext>
              </a:extLst>
            </p:cNvPr>
            <p:cNvSpPr>
              <a:spLocks noChangeArrowheads="1"/>
            </p:cNvSpPr>
            <p:nvPr/>
          </p:nvSpPr>
          <p:spPr bwMode="auto">
            <a:xfrm>
              <a:off x="4106719" y="5487734"/>
              <a:ext cx="1051720" cy="340670"/>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Access Transparency, Security Scanner</a:t>
              </a:r>
            </a:p>
          </p:txBody>
        </p:sp>
        <p:sp>
          <p:nvSpPr>
            <p:cNvPr id="503" name="Rectangle 6">
              <a:extLst>
                <a:ext uri="{FF2B5EF4-FFF2-40B4-BE49-F238E27FC236}">
                  <a16:creationId xmlns:a16="http://schemas.microsoft.com/office/drawing/2014/main" id="{046EF250-189E-4424-9389-B782A4CCB233}"/>
                </a:ext>
              </a:extLst>
            </p:cNvPr>
            <p:cNvSpPr>
              <a:spLocks noChangeArrowheads="1"/>
            </p:cNvSpPr>
            <p:nvPr/>
          </p:nvSpPr>
          <p:spPr bwMode="auto">
            <a:xfrm>
              <a:off x="5240768" y="5487734"/>
              <a:ext cx="1300690" cy="340670"/>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Stackdriver, Monitoring, </a:t>
              </a:r>
            </a:p>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Logging, Trace</a:t>
              </a:r>
            </a:p>
          </p:txBody>
        </p:sp>
        <p:sp>
          <p:nvSpPr>
            <p:cNvPr id="504" name="Rectangle 6">
              <a:extLst>
                <a:ext uri="{FF2B5EF4-FFF2-40B4-BE49-F238E27FC236}">
                  <a16:creationId xmlns:a16="http://schemas.microsoft.com/office/drawing/2014/main" id="{259DDD4E-60E3-4330-B75D-292F0B75889F}"/>
                </a:ext>
              </a:extLst>
            </p:cNvPr>
            <p:cNvSpPr>
              <a:spLocks noChangeArrowheads="1"/>
            </p:cNvSpPr>
            <p:nvPr/>
          </p:nvSpPr>
          <p:spPr bwMode="auto">
            <a:xfrm>
              <a:off x="6623787" y="5487734"/>
              <a:ext cx="974010" cy="340670"/>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Console, </a:t>
              </a:r>
            </a:p>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Error Reporting</a:t>
              </a:r>
            </a:p>
          </p:txBody>
        </p:sp>
        <p:sp>
          <p:nvSpPr>
            <p:cNvPr id="505" name="Rectangle 6">
              <a:extLst>
                <a:ext uri="{FF2B5EF4-FFF2-40B4-BE49-F238E27FC236}">
                  <a16:creationId xmlns:a16="http://schemas.microsoft.com/office/drawing/2014/main" id="{2A953230-8ECF-4656-94BC-3BB887A8ACA2}"/>
                </a:ext>
              </a:extLst>
            </p:cNvPr>
            <p:cNvSpPr>
              <a:spLocks noChangeArrowheads="1"/>
            </p:cNvSpPr>
            <p:nvPr/>
          </p:nvSpPr>
          <p:spPr bwMode="auto">
            <a:xfrm>
              <a:off x="7680126" y="5487734"/>
              <a:ext cx="910464" cy="340670"/>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Deployment Manager</a:t>
              </a:r>
            </a:p>
          </p:txBody>
        </p:sp>
        <p:sp>
          <p:nvSpPr>
            <p:cNvPr id="506" name="Rectangle 6">
              <a:extLst>
                <a:ext uri="{FF2B5EF4-FFF2-40B4-BE49-F238E27FC236}">
                  <a16:creationId xmlns:a16="http://schemas.microsoft.com/office/drawing/2014/main" id="{54CACEC1-CCD6-4220-BAC1-5C33E3AD7B4A}"/>
                </a:ext>
              </a:extLst>
            </p:cNvPr>
            <p:cNvSpPr>
              <a:spLocks noChangeArrowheads="1"/>
            </p:cNvSpPr>
            <p:nvPr/>
          </p:nvSpPr>
          <p:spPr bwMode="auto">
            <a:xfrm>
              <a:off x="8672919" y="5487734"/>
              <a:ext cx="985318" cy="340670"/>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Security Command </a:t>
              </a:r>
            </a:p>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Center</a:t>
              </a:r>
            </a:p>
          </p:txBody>
        </p:sp>
        <p:sp>
          <p:nvSpPr>
            <p:cNvPr id="507" name="Rectangle 6">
              <a:extLst>
                <a:ext uri="{FF2B5EF4-FFF2-40B4-BE49-F238E27FC236}">
                  <a16:creationId xmlns:a16="http://schemas.microsoft.com/office/drawing/2014/main" id="{D1B28E5F-DC7D-45CA-A433-9B838B065EEC}"/>
                </a:ext>
              </a:extLst>
            </p:cNvPr>
            <p:cNvSpPr>
              <a:spLocks noChangeArrowheads="1"/>
            </p:cNvSpPr>
            <p:nvPr/>
          </p:nvSpPr>
          <p:spPr bwMode="auto">
            <a:xfrm>
              <a:off x="9740566" y="5487734"/>
              <a:ext cx="944802" cy="340670"/>
            </a:xfrm>
            <a:prstGeom prst="rect">
              <a:avLst/>
            </a:prstGeom>
            <a:solidFill>
              <a:schemeClr val="lt1"/>
            </a:solidFill>
            <a:ln>
              <a:solidFill>
                <a:schemeClr val="bg2"/>
              </a:solidFill>
            </a:ln>
            <a:effectLst/>
          </p:spPr>
          <p:txBody>
            <a:bodyPr lIns="0" tIns="45720" rIns="0" bIns="45720" anchor="ctr" anchorCtr="0">
              <a:noAutofit/>
            </a:bodyPr>
            <a:lstStyle/>
            <a:p>
              <a:pPr marL="61913"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Source Repository (Git, Bit Bucket), plugins</a:t>
              </a:r>
            </a:p>
          </p:txBody>
        </p:sp>
        <p:sp>
          <p:nvSpPr>
            <p:cNvPr id="508" name="Rectangle 6">
              <a:extLst>
                <a:ext uri="{FF2B5EF4-FFF2-40B4-BE49-F238E27FC236}">
                  <a16:creationId xmlns:a16="http://schemas.microsoft.com/office/drawing/2014/main" id="{CB0E8E0C-823C-448F-A739-AA7503A2C0C4}"/>
                </a:ext>
              </a:extLst>
            </p:cNvPr>
            <p:cNvSpPr>
              <a:spLocks noChangeArrowheads="1"/>
            </p:cNvSpPr>
            <p:nvPr/>
          </p:nvSpPr>
          <p:spPr bwMode="auto">
            <a:xfrm>
              <a:off x="10767699" y="5487734"/>
              <a:ext cx="753558" cy="340670"/>
            </a:xfrm>
            <a:prstGeom prst="rect">
              <a:avLst/>
            </a:prstGeom>
            <a:solidFill>
              <a:schemeClr val="lt1"/>
            </a:solidFill>
            <a:ln>
              <a:solidFill>
                <a:schemeClr val="bg2"/>
              </a:solidFill>
            </a:ln>
            <a:effectLst/>
          </p:spPr>
          <p:txBody>
            <a:bodyPr lIns="228600" tIns="45720" rIns="0" bIns="4572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Container Builder</a:t>
              </a:r>
            </a:p>
          </p:txBody>
        </p:sp>
        <p:pic>
          <p:nvPicPr>
            <p:cNvPr id="509" name="Shape 358" descr="Cloud-IAM_256px.png">
              <a:extLst>
                <a:ext uri="{FF2B5EF4-FFF2-40B4-BE49-F238E27FC236}">
                  <a16:creationId xmlns:a16="http://schemas.microsoft.com/office/drawing/2014/main" id="{92D18CDB-136A-4B5E-9D44-49982D71683C}"/>
                </a:ext>
              </a:extLst>
            </p:cNvPr>
            <p:cNvPicPr preferRelativeResize="0"/>
            <p:nvPr/>
          </p:nvPicPr>
          <p:blipFill rotWithShape="1">
            <a:blip r:embed="rId15">
              <a:alphaModFix/>
            </a:blip>
            <a:srcRect t="5092" b="5092"/>
            <a:stretch/>
          </p:blipFill>
          <p:spPr>
            <a:xfrm>
              <a:off x="2087327" y="5560386"/>
              <a:ext cx="182255" cy="162728"/>
            </a:xfrm>
            <a:prstGeom prst="rect">
              <a:avLst/>
            </a:prstGeom>
            <a:noFill/>
            <a:ln>
              <a:noFill/>
            </a:ln>
          </p:spPr>
        </p:pic>
        <p:pic>
          <p:nvPicPr>
            <p:cNvPr id="510" name="Shape 359" descr="Generic-GCP_256px.png">
              <a:extLst>
                <a:ext uri="{FF2B5EF4-FFF2-40B4-BE49-F238E27FC236}">
                  <a16:creationId xmlns:a16="http://schemas.microsoft.com/office/drawing/2014/main" id="{BB901076-19B3-4E9C-8BD6-884B5280D639}"/>
                </a:ext>
              </a:extLst>
            </p:cNvPr>
            <p:cNvPicPr preferRelativeResize="0"/>
            <p:nvPr/>
          </p:nvPicPr>
          <p:blipFill rotWithShape="1">
            <a:blip r:embed="rId16">
              <a:alphaModFix/>
            </a:blip>
            <a:srcRect t="5092" b="5092"/>
            <a:stretch/>
          </p:blipFill>
          <p:spPr>
            <a:xfrm>
              <a:off x="3139363" y="5574412"/>
              <a:ext cx="182255" cy="162728"/>
            </a:xfrm>
            <a:prstGeom prst="rect">
              <a:avLst/>
            </a:prstGeom>
            <a:noFill/>
            <a:ln>
              <a:noFill/>
            </a:ln>
          </p:spPr>
        </p:pic>
        <p:pic>
          <p:nvPicPr>
            <p:cNvPr id="511" name="Shape 408" descr="Error-Reporting_256px.png">
              <a:extLst>
                <a:ext uri="{FF2B5EF4-FFF2-40B4-BE49-F238E27FC236}">
                  <a16:creationId xmlns:a16="http://schemas.microsoft.com/office/drawing/2014/main" id="{9E2CDA57-CA62-40BC-A32B-AA233630D7D9}"/>
                </a:ext>
              </a:extLst>
            </p:cNvPr>
            <p:cNvPicPr preferRelativeResize="0"/>
            <p:nvPr/>
          </p:nvPicPr>
          <p:blipFill rotWithShape="1">
            <a:blip r:embed="rId17">
              <a:alphaModFix/>
            </a:blip>
            <a:srcRect t="5092" b="5092"/>
            <a:stretch/>
          </p:blipFill>
          <p:spPr>
            <a:xfrm>
              <a:off x="6645042" y="5574412"/>
              <a:ext cx="182255" cy="162728"/>
            </a:xfrm>
            <a:prstGeom prst="rect">
              <a:avLst/>
            </a:prstGeom>
            <a:noFill/>
            <a:ln>
              <a:noFill/>
            </a:ln>
          </p:spPr>
        </p:pic>
        <p:pic>
          <p:nvPicPr>
            <p:cNvPr id="512" name="Shape 404" descr="Stackdriver_256px.png">
              <a:extLst>
                <a:ext uri="{FF2B5EF4-FFF2-40B4-BE49-F238E27FC236}">
                  <a16:creationId xmlns:a16="http://schemas.microsoft.com/office/drawing/2014/main" id="{E244A55A-51A9-4824-982E-E349A7363068}"/>
                </a:ext>
              </a:extLst>
            </p:cNvPr>
            <p:cNvPicPr preferRelativeResize="0"/>
            <p:nvPr/>
          </p:nvPicPr>
          <p:blipFill rotWithShape="1">
            <a:blip r:embed="rId18">
              <a:alphaModFix/>
            </a:blip>
            <a:srcRect t="5092" b="5092"/>
            <a:stretch/>
          </p:blipFill>
          <p:spPr>
            <a:xfrm>
              <a:off x="5271818" y="5574412"/>
              <a:ext cx="182255" cy="162728"/>
            </a:xfrm>
            <a:prstGeom prst="rect">
              <a:avLst/>
            </a:prstGeom>
            <a:noFill/>
            <a:ln>
              <a:noFill/>
            </a:ln>
          </p:spPr>
        </p:pic>
        <p:pic>
          <p:nvPicPr>
            <p:cNvPr id="513" name="Shape 359" descr="Generic-GCP_256px.png">
              <a:extLst>
                <a:ext uri="{FF2B5EF4-FFF2-40B4-BE49-F238E27FC236}">
                  <a16:creationId xmlns:a16="http://schemas.microsoft.com/office/drawing/2014/main" id="{5993A6B1-1C46-453F-AB35-FA6C911CF016}"/>
                </a:ext>
              </a:extLst>
            </p:cNvPr>
            <p:cNvPicPr preferRelativeResize="0"/>
            <p:nvPr/>
          </p:nvPicPr>
          <p:blipFill rotWithShape="1">
            <a:blip r:embed="rId16">
              <a:alphaModFix/>
            </a:blip>
            <a:srcRect t="5092" b="5092"/>
            <a:stretch/>
          </p:blipFill>
          <p:spPr>
            <a:xfrm>
              <a:off x="4127415" y="5574412"/>
              <a:ext cx="182255" cy="162728"/>
            </a:xfrm>
            <a:prstGeom prst="rect">
              <a:avLst/>
            </a:prstGeom>
            <a:noFill/>
            <a:ln>
              <a:noFill/>
            </a:ln>
          </p:spPr>
        </p:pic>
        <p:pic>
          <p:nvPicPr>
            <p:cNvPr id="514" name="Shape 406" descr="Deployment-Manager_256px.png">
              <a:extLst>
                <a:ext uri="{FF2B5EF4-FFF2-40B4-BE49-F238E27FC236}">
                  <a16:creationId xmlns:a16="http://schemas.microsoft.com/office/drawing/2014/main" id="{E067C6BF-B7C6-454E-B0C5-798A1C275A34}"/>
                </a:ext>
              </a:extLst>
            </p:cNvPr>
            <p:cNvPicPr preferRelativeResize="0"/>
            <p:nvPr/>
          </p:nvPicPr>
          <p:blipFill rotWithShape="1">
            <a:blip r:embed="rId19">
              <a:alphaModFix/>
            </a:blip>
            <a:srcRect t="5092" b="5092"/>
            <a:stretch/>
          </p:blipFill>
          <p:spPr>
            <a:xfrm>
              <a:off x="7730757" y="5574412"/>
              <a:ext cx="182255" cy="162728"/>
            </a:xfrm>
            <a:prstGeom prst="rect">
              <a:avLst/>
            </a:prstGeom>
            <a:noFill/>
            <a:ln>
              <a:noFill/>
            </a:ln>
          </p:spPr>
        </p:pic>
        <p:pic>
          <p:nvPicPr>
            <p:cNvPr id="515" name="Shape 359" descr="Generic-GCP_256px.png">
              <a:extLst>
                <a:ext uri="{FF2B5EF4-FFF2-40B4-BE49-F238E27FC236}">
                  <a16:creationId xmlns:a16="http://schemas.microsoft.com/office/drawing/2014/main" id="{30D0D1B8-3390-47BB-9E2C-71DC4E9CD9BF}"/>
                </a:ext>
              </a:extLst>
            </p:cNvPr>
            <p:cNvPicPr preferRelativeResize="0"/>
            <p:nvPr/>
          </p:nvPicPr>
          <p:blipFill rotWithShape="1">
            <a:blip r:embed="rId16">
              <a:alphaModFix/>
            </a:blip>
            <a:srcRect t="5092" b="5092"/>
            <a:stretch/>
          </p:blipFill>
          <p:spPr>
            <a:xfrm>
              <a:off x="8710129" y="5574412"/>
              <a:ext cx="182255" cy="162728"/>
            </a:xfrm>
            <a:prstGeom prst="rect">
              <a:avLst/>
            </a:prstGeom>
            <a:noFill/>
            <a:ln>
              <a:noFill/>
            </a:ln>
          </p:spPr>
        </p:pic>
        <p:pic>
          <p:nvPicPr>
            <p:cNvPr id="516" name="Shape 359" descr="Generic-GCP_256px.png">
              <a:extLst>
                <a:ext uri="{FF2B5EF4-FFF2-40B4-BE49-F238E27FC236}">
                  <a16:creationId xmlns:a16="http://schemas.microsoft.com/office/drawing/2014/main" id="{32E61EEA-C36D-4173-BCBB-49D3A1FAD5BD}"/>
                </a:ext>
              </a:extLst>
            </p:cNvPr>
            <p:cNvPicPr preferRelativeResize="0"/>
            <p:nvPr/>
          </p:nvPicPr>
          <p:blipFill rotWithShape="1">
            <a:blip r:embed="rId16">
              <a:alphaModFix/>
            </a:blip>
            <a:srcRect t="5092" b="5092"/>
            <a:stretch/>
          </p:blipFill>
          <p:spPr>
            <a:xfrm>
              <a:off x="10796391" y="5574412"/>
              <a:ext cx="182255" cy="162728"/>
            </a:xfrm>
            <a:prstGeom prst="rect">
              <a:avLst/>
            </a:prstGeom>
            <a:noFill/>
            <a:ln>
              <a:noFill/>
            </a:ln>
          </p:spPr>
        </p:pic>
      </p:grpSp>
      <p:pic>
        <p:nvPicPr>
          <p:cNvPr id="517" name="Picture 6" descr="https://upload.wikimedia.org/wikipedia/commons/thumb/2/2d/Tensorflow_logo.svg/2000px-Tensorflow_logo.svg.png">
            <a:extLst>
              <a:ext uri="{FF2B5EF4-FFF2-40B4-BE49-F238E27FC236}">
                <a16:creationId xmlns:a16="http://schemas.microsoft.com/office/drawing/2014/main" id="{B133E47C-7F6F-40B2-821E-BA6F7D7DF9CE}"/>
              </a:ext>
            </a:extLst>
          </p:cNvPr>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8806573" y="4231630"/>
            <a:ext cx="276839" cy="296079"/>
          </a:xfrm>
          <a:prstGeom prst="rect">
            <a:avLst/>
          </a:prstGeom>
          <a:noFill/>
          <a:extLst>
            <a:ext uri="{909E8E84-426E-40DD-AFC4-6F175D3DCCD1}">
              <a14:hiddenFill xmlns:a14="http://schemas.microsoft.com/office/drawing/2010/main">
                <a:solidFill>
                  <a:srgbClr val="FFFFFF"/>
                </a:solidFill>
              </a14:hiddenFill>
            </a:ext>
          </a:extLst>
        </p:spPr>
      </p:pic>
      <p:pic>
        <p:nvPicPr>
          <p:cNvPr id="518" name="Shape 81" descr="Cloud-Storage.png">
            <a:extLst>
              <a:ext uri="{FF2B5EF4-FFF2-40B4-BE49-F238E27FC236}">
                <a16:creationId xmlns:a16="http://schemas.microsoft.com/office/drawing/2014/main" id="{77F60163-A7E4-4196-AA2F-D5BA9CF90C05}"/>
              </a:ext>
            </a:extLst>
          </p:cNvPr>
          <p:cNvPicPr preferRelativeResize="0"/>
          <p:nvPr/>
        </p:nvPicPr>
        <p:blipFill rotWithShape="1">
          <a:blip r:embed="rId21">
            <a:alphaModFix/>
          </a:blip>
          <a:srcRect t="5092" b="5092"/>
          <a:stretch/>
        </p:blipFill>
        <p:spPr>
          <a:xfrm>
            <a:off x="4484674" y="2203462"/>
            <a:ext cx="189779" cy="169446"/>
          </a:xfrm>
          <a:prstGeom prst="rect">
            <a:avLst/>
          </a:prstGeom>
          <a:noFill/>
          <a:ln>
            <a:noFill/>
          </a:ln>
        </p:spPr>
      </p:pic>
      <p:pic>
        <p:nvPicPr>
          <p:cNvPr id="519" name="Shape 68" descr="BigQuery.png">
            <a:extLst>
              <a:ext uri="{FF2B5EF4-FFF2-40B4-BE49-F238E27FC236}">
                <a16:creationId xmlns:a16="http://schemas.microsoft.com/office/drawing/2014/main" id="{E277DDA7-DB65-4C7F-A6D9-E8040ECFE049}"/>
              </a:ext>
            </a:extLst>
          </p:cNvPr>
          <p:cNvPicPr preferRelativeResize="0"/>
          <p:nvPr/>
        </p:nvPicPr>
        <p:blipFill rotWithShape="1">
          <a:blip r:embed="rId22">
            <a:alphaModFix/>
          </a:blip>
          <a:srcRect t="5092" b="5092"/>
          <a:stretch/>
        </p:blipFill>
        <p:spPr>
          <a:xfrm>
            <a:off x="6144782" y="2209501"/>
            <a:ext cx="189779" cy="169446"/>
          </a:xfrm>
          <a:prstGeom prst="rect">
            <a:avLst/>
          </a:prstGeom>
          <a:noFill/>
          <a:ln>
            <a:noFill/>
          </a:ln>
        </p:spPr>
      </p:pic>
      <p:sp>
        <p:nvSpPr>
          <p:cNvPr id="520" name="Shape 596">
            <a:extLst>
              <a:ext uri="{FF2B5EF4-FFF2-40B4-BE49-F238E27FC236}">
                <a16:creationId xmlns:a16="http://schemas.microsoft.com/office/drawing/2014/main" id="{292DADA4-8859-4D58-90E2-4C6E2639D533}"/>
              </a:ext>
            </a:extLst>
          </p:cNvPr>
          <p:cNvSpPr/>
          <p:nvPr/>
        </p:nvSpPr>
        <p:spPr>
          <a:xfrm>
            <a:off x="2045406" y="1724247"/>
            <a:ext cx="953654" cy="3340121"/>
          </a:xfrm>
          <a:prstGeom prst="roundRect">
            <a:avLst>
              <a:gd name="adj" fmla="val 0"/>
            </a:avLst>
          </a:prstGeom>
          <a:noFill/>
          <a:ln>
            <a:solidFill>
              <a:schemeClr val="bg2"/>
            </a:solidFill>
          </a:ln>
          <a:effectLst/>
        </p:spPr>
        <p:txBody>
          <a:bodyPr lIns="0" tIns="45720" rIns="0" bIns="0" anchor="t" anchorCtr="0">
            <a:noAutofit/>
          </a:bodyPr>
          <a:lstStyle/>
          <a:p>
            <a:pPr marL="0" marR="0" lvl="0" indent="0" algn="ctr"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Movement</a:t>
            </a:r>
          </a:p>
        </p:txBody>
      </p:sp>
      <p:sp>
        <p:nvSpPr>
          <p:cNvPr id="521" name="Shape 596">
            <a:extLst>
              <a:ext uri="{FF2B5EF4-FFF2-40B4-BE49-F238E27FC236}">
                <a16:creationId xmlns:a16="http://schemas.microsoft.com/office/drawing/2014/main" id="{A4F16AC5-022F-4D88-B6C5-230362C6AE40}"/>
              </a:ext>
            </a:extLst>
          </p:cNvPr>
          <p:cNvSpPr/>
          <p:nvPr/>
        </p:nvSpPr>
        <p:spPr>
          <a:xfrm>
            <a:off x="3063505" y="1724247"/>
            <a:ext cx="948199" cy="2009340"/>
          </a:xfrm>
          <a:prstGeom prst="roundRect">
            <a:avLst>
              <a:gd name="adj" fmla="val 0"/>
            </a:avLst>
          </a:prstGeom>
          <a:noFill/>
          <a:ln>
            <a:solidFill>
              <a:schemeClr val="bg2"/>
            </a:solidFill>
          </a:ln>
          <a:effectLst/>
        </p:spPr>
        <p:txBody>
          <a:bodyPr lIns="0" tIns="45720" rIns="0" bIns="0" anchor="t" anchorCtr="0">
            <a:noAutofit/>
          </a:bodyPr>
          <a:lstStyle/>
          <a:p>
            <a:pPr marL="0" marR="0" lvl="0" indent="0" algn="ctr"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Ingestion Methods</a:t>
            </a:r>
          </a:p>
        </p:txBody>
      </p:sp>
      <p:sp>
        <p:nvSpPr>
          <p:cNvPr id="522" name="Rectangle 521">
            <a:extLst>
              <a:ext uri="{FF2B5EF4-FFF2-40B4-BE49-F238E27FC236}">
                <a16:creationId xmlns:a16="http://schemas.microsoft.com/office/drawing/2014/main" id="{89F10AEF-3FAB-4438-944B-28D02D77D589}"/>
              </a:ext>
            </a:extLst>
          </p:cNvPr>
          <p:cNvSpPr/>
          <p:nvPr/>
        </p:nvSpPr>
        <p:spPr bwMode="gray">
          <a:xfrm>
            <a:off x="2084503" y="3919705"/>
            <a:ext cx="866037" cy="386126"/>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Dataprep</a:t>
            </a:r>
          </a:p>
        </p:txBody>
      </p:sp>
      <p:pic>
        <p:nvPicPr>
          <p:cNvPr id="523" name="Shape 105" descr="Cloud-Dataprep.png">
            <a:extLst>
              <a:ext uri="{FF2B5EF4-FFF2-40B4-BE49-F238E27FC236}">
                <a16:creationId xmlns:a16="http://schemas.microsoft.com/office/drawing/2014/main" id="{D2A826FC-AF50-4160-B2DE-89D385A93141}"/>
              </a:ext>
            </a:extLst>
          </p:cNvPr>
          <p:cNvPicPr preferRelativeResize="0"/>
          <p:nvPr/>
        </p:nvPicPr>
        <p:blipFill rotWithShape="1">
          <a:blip r:embed="rId23">
            <a:alphaModFix/>
          </a:blip>
          <a:srcRect t="5092" b="5092"/>
          <a:stretch/>
        </p:blipFill>
        <p:spPr>
          <a:xfrm>
            <a:off x="2102700" y="4023149"/>
            <a:ext cx="187254" cy="167190"/>
          </a:xfrm>
          <a:prstGeom prst="rect">
            <a:avLst/>
          </a:prstGeom>
          <a:noFill/>
          <a:ln>
            <a:noFill/>
          </a:ln>
        </p:spPr>
      </p:pic>
      <p:sp>
        <p:nvSpPr>
          <p:cNvPr id="524" name="Rectangle 523">
            <a:extLst>
              <a:ext uri="{FF2B5EF4-FFF2-40B4-BE49-F238E27FC236}">
                <a16:creationId xmlns:a16="http://schemas.microsoft.com/office/drawing/2014/main" id="{52145831-C36D-4591-BC2A-C534CD27B2C3}"/>
              </a:ext>
            </a:extLst>
          </p:cNvPr>
          <p:cNvSpPr/>
          <p:nvPr/>
        </p:nvSpPr>
        <p:spPr bwMode="gray">
          <a:xfrm>
            <a:off x="2084503" y="2627729"/>
            <a:ext cx="866037" cy="386126"/>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Storage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Transfer Service</a:t>
            </a:r>
          </a:p>
        </p:txBody>
      </p:sp>
      <p:pic>
        <p:nvPicPr>
          <p:cNvPr id="525" name="Shape 81" descr="Cloud-Storage.png">
            <a:extLst>
              <a:ext uri="{FF2B5EF4-FFF2-40B4-BE49-F238E27FC236}">
                <a16:creationId xmlns:a16="http://schemas.microsoft.com/office/drawing/2014/main" id="{1C847305-15B1-43E0-BF79-B79ECB177D0C}"/>
              </a:ext>
            </a:extLst>
          </p:cNvPr>
          <p:cNvPicPr preferRelativeResize="0"/>
          <p:nvPr/>
        </p:nvPicPr>
        <p:blipFill rotWithShape="1">
          <a:blip r:embed="rId21">
            <a:alphaModFix/>
          </a:blip>
          <a:srcRect t="5092" b="5092"/>
          <a:stretch/>
        </p:blipFill>
        <p:spPr>
          <a:xfrm>
            <a:off x="2092560" y="2735626"/>
            <a:ext cx="187254" cy="167190"/>
          </a:xfrm>
          <a:prstGeom prst="rect">
            <a:avLst/>
          </a:prstGeom>
          <a:noFill/>
          <a:ln>
            <a:noFill/>
          </a:ln>
        </p:spPr>
      </p:pic>
      <p:sp>
        <p:nvSpPr>
          <p:cNvPr id="526" name="Rectangle 525">
            <a:extLst>
              <a:ext uri="{FF2B5EF4-FFF2-40B4-BE49-F238E27FC236}">
                <a16:creationId xmlns:a16="http://schemas.microsoft.com/office/drawing/2014/main" id="{0311ACD0-50C3-4966-BB2D-26DEA048778E}"/>
              </a:ext>
            </a:extLst>
          </p:cNvPr>
          <p:cNvSpPr/>
          <p:nvPr/>
        </p:nvSpPr>
        <p:spPr bwMode="gray">
          <a:xfrm>
            <a:off x="2084503" y="3273717"/>
            <a:ext cx="866037" cy="386126"/>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Google Big Query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Transfer</a:t>
            </a:r>
          </a:p>
        </p:txBody>
      </p:sp>
      <p:pic>
        <p:nvPicPr>
          <p:cNvPr id="527" name="Shape 68" descr="BigQuery.png">
            <a:extLst>
              <a:ext uri="{FF2B5EF4-FFF2-40B4-BE49-F238E27FC236}">
                <a16:creationId xmlns:a16="http://schemas.microsoft.com/office/drawing/2014/main" id="{7CAE04D0-4308-4317-ACB3-5DD04A081B45}"/>
              </a:ext>
            </a:extLst>
          </p:cNvPr>
          <p:cNvPicPr preferRelativeResize="0"/>
          <p:nvPr/>
        </p:nvPicPr>
        <p:blipFill rotWithShape="1">
          <a:blip r:embed="rId22">
            <a:alphaModFix/>
          </a:blip>
          <a:srcRect t="5092" b="5092"/>
          <a:stretch/>
        </p:blipFill>
        <p:spPr>
          <a:xfrm>
            <a:off x="2097842" y="3380380"/>
            <a:ext cx="187254" cy="167190"/>
          </a:xfrm>
          <a:prstGeom prst="rect">
            <a:avLst/>
          </a:prstGeom>
          <a:noFill/>
          <a:ln>
            <a:noFill/>
          </a:ln>
        </p:spPr>
      </p:pic>
      <p:sp>
        <p:nvSpPr>
          <p:cNvPr id="528" name="Rectangle 527">
            <a:extLst>
              <a:ext uri="{FF2B5EF4-FFF2-40B4-BE49-F238E27FC236}">
                <a16:creationId xmlns:a16="http://schemas.microsoft.com/office/drawing/2014/main" id="{DB17A46F-0BF7-41CB-A231-4909A30660B5}"/>
              </a:ext>
            </a:extLst>
          </p:cNvPr>
          <p:cNvSpPr/>
          <p:nvPr/>
        </p:nvSpPr>
        <p:spPr bwMode="gray">
          <a:xfrm>
            <a:off x="3108761" y="1981741"/>
            <a:ext cx="866037" cy="386126"/>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Batch ETL &amp; ELT </a:t>
            </a: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Dataflow</a:t>
            </a:r>
          </a:p>
        </p:txBody>
      </p:sp>
      <p:sp>
        <p:nvSpPr>
          <p:cNvPr id="529" name="Rectangle 528">
            <a:extLst>
              <a:ext uri="{FF2B5EF4-FFF2-40B4-BE49-F238E27FC236}">
                <a16:creationId xmlns:a16="http://schemas.microsoft.com/office/drawing/2014/main" id="{D71E0101-1B14-44B9-BF7D-B0D78D5E86AF}"/>
              </a:ext>
            </a:extLst>
          </p:cNvPr>
          <p:cNvSpPr/>
          <p:nvPr/>
        </p:nvSpPr>
        <p:spPr bwMode="gray">
          <a:xfrm>
            <a:off x="3108761" y="2627729"/>
            <a:ext cx="866037" cy="386126"/>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Messaging Batch </a:t>
            </a: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Spanner</a:t>
            </a:r>
          </a:p>
        </p:txBody>
      </p:sp>
      <p:sp>
        <p:nvSpPr>
          <p:cNvPr id="530" name="Rectangle 529">
            <a:extLst>
              <a:ext uri="{FF2B5EF4-FFF2-40B4-BE49-F238E27FC236}">
                <a16:creationId xmlns:a16="http://schemas.microsoft.com/office/drawing/2014/main" id="{24A73734-9A63-490A-A575-B0870EA074A2}"/>
              </a:ext>
            </a:extLst>
          </p:cNvPr>
          <p:cNvSpPr/>
          <p:nvPr/>
        </p:nvSpPr>
        <p:spPr bwMode="gray">
          <a:xfrm>
            <a:off x="3108761" y="3273717"/>
            <a:ext cx="866037" cy="386126"/>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Web Services</a:t>
            </a:r>
          </a:p>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NiFi</a:t>
            </a:r>
          </a:p>
        </p:txBody>
      </p:sp>
      <p:pic>
        <p:nvPicPr>
          <p:cNvPr id="531" name="Shape 5315" descr="Cloud-Dataflow.png">
            <a:extLst>
              <a:ext uri="{FF2B5EF4-FFF2-40B4-BE49-F238E27FC236}">
                <a16:creationId xmlns:a16="http://schemas.microsoft.com/office/drawing/2014/main" id="{BFF0716F-3EC4-4B6F-9AFC-B8E821FA0C59}"/>
              </a:ext>
            </a:extLst>
          </p:cNvPr>
          <p:cNvPicPr preferRelativeResize="0"/>
          <p:nvPr/>
        </p:nvPicPr>
        <p:blipFill rotWithShape="1">
          <a:blip r:embed="rId24">
            <a:alphaModFix/>
          </a:blip>
          <a:srcRect t="5076" b="5076"/>
          <a:stretch/>
        </p:blipFill>
        <p:spPr>
          <a:xfrm>
            <a:off x="3120015" y="2090772"/>
            <a:ext cx="192566" cy="171934"/>
          </a:xfrm>
          <a:prstGeom prst="rect">
            <a:avLst/>
          </a:prstGeom>
          <a:noFill/>
          <a:ln>
            <a:noFill/>
          </a:ln>
        </p:spPr>
      </p:pic>
      <p:pic>
        <p:nvPicPr>
          <p:cNvPr id="532" name="Shape 474" descr="Compute-Engine_256px.png">
            <a:extLst>
              <a:ext uri="{FF2B5EF4-FFF2-40B4-BE49-F238E27FC236}">
                <a16:creationId xmlns:a16="http://schemas.microsoft.com/office/drawing/2014/main" id="{5996F603-2568-4D43-8B15-849C0D1E0A97}"/>
              </a:ext>
            </a:extLst>
          </p:cNvPr>
          <p:cNvPicPr preferRelativeResize="0"/>
          <p:nvPr/>
        </p:nvPicPr>
        <p:blipFill rotWithShape="1">
          <a:blip r:embed="rId25">
            <a:alphaModFix/>
          </a:blip>
          <a:srcRect t="5036" b="5027"/>
          <a:stretch/>
        </p:blipFill>
        <p:spPr>
          <a:xfrm>
            <a:off x="3120015" y="3382224"/>
            <a:ext cx="192566" cy="171934"/>
          </a:xfrm>
          <a:prstGeom prst="rect">
            <a:avLst/>
          </a:prstGeom>
          <a:noFill/>
          <a:ln>
            <a:noFill/>
          </a:ln>
        </p:spPr>
      </p:pic>
      <p:pic>
        <p:nvPicPr>
          <p:cNvPr id="533" name="Shape 5171" descr="Cloud-Dataproc.png">
            <a:extLst>
              <a:ext uri="{FF2B5EF4-FFF2-40B4-BE49-F238E27FC236}">
                <a16:creationId xmlns:a16="http://schemas.microsoft.com/office/drawing/2014/main" id="{9C87BB82-5FF8-42E8-BA11-D78FD33132CA}"/>
              </a:ext>
            </a:extLst>
          </p:cNvPr>
          <p:cNvPicPr preferRelativeResize="0"/>
          <p:nvPr/>
        </p:nvPicPr>
        <p:blipFill rotWithShape="1">
          <a:blip r:embed="rId4">
            <a:alphaModFix/>
          </a:blip>
          <a:srcRect t="5076" b="5076"/>
          <a:stretch/>
        </p:blipFill>
        <p:spPr>
          <a:xfrm>
            <a:off x="3125401" y="2730566"/>
            <a:ext cx="192566" cy="171934"/>
          </a:xfrm>
          <a:prstGeom prst="rect">
            <a:avLst/>
          </a:prstGeom>
          <a:noFill/>
          <a:ln>
            <a:noFill/>
          </a:ln>
        </p:spPr>
      </p:pic>
      <p:sp>
        <p:nvSpPr>
          <p:cNvPr id="534" name="Shape 596">
            <a:extLst>
              <a:ext uri="{FF2B5EF4-FFF2-40B4-BE49-F238E27FC236}">
                <a16:creationId xmlns:a16="http://schemas.microsoft.com/office/drawing/2014/main" id="{304494CA-F75D-4FC0-BDDB-E148EF9B2B30}"/>
              </a:ext>
            </a:extLst>
          </p:cNvPr>
          <p:cNvSpPr/>
          <p:nvPr/>
        </p:nvSpPr>
        <p:spPr>
          <a:xfrm>
            <a:off x="3066314" y="3794615"/>
            <a:ext cx="944521" cy="1269753"/>
          </a:xfrm>
          <a:prstGeom prst="roundRect">
            <a:avLst>
              <a:gd name="adj" fmla="val 0"/>
            </a:avLst>
          </a:prstGeom>
          <a:noFill/>
          <a:ln>
            <a:solidFill>
              <a:schemeClr val="bg2"/>
            </a:solidFill>
          </a:ln>
          <a:effectLst/>
        </p:spPr>
        <p:txBody>
          <a:bodyPr lIns="91440" tIns="45720" rIns="91440" bIns="45720" anchor="t" anchorCtr="0">
            <a:noAutofit/>
          </a:bodyPr>
          <a:lstStyle/>
          <a:p>
            <a:pPr marL="0" marR="0" lvl="0" indent="0" algn="ctr"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Stream Ingestion</a:t>
            </a:r>
          </a:p>
        </p:txBody>
      </p:sp>
      <p:sp>
        <p:nvSpPr>
          <p:cNvPr id="535" name="Rectangle 534">
            <a:extLst>
              <a:ext uri="{FF2B5EF4-FFF2-40B4-BE49-F238E27FC236}">
                <a16:creationId xmlns:a16="http://schemas.microsoft.com/office/drawing/2014/main" id="{A91C83E8-45F4-472F-964B-733D27BE07E1}"/>
              </a:ext>
            </a:extLst>
          </p:cNvPr>
          <p:cNvSpPr/>
          <p:nvPr/>
        </p:nvSpPr>
        <p:spPr bwMode="gray">
          <a:xfrm>
            <a:off x="3108761" y="4169345"/>
            <a:ext cx="866037" cy="553570"/>
          </a:xfrm>
          <a:prstGeom prst="rect">
            <a:avLst/>
          </a:prstGeom>
          <a:noFill/>
          <a:ln w="9525" algn="ctr">
            <a:solidFill>
              <a:schemeClr val="bg2"/>
            </a:solidFill>
            <a:miter lim="800000"/>
            <a:headEnd/>
            <a:tailEnd/>
          </a:ln>
        </p:spPr>
        <p:txBody>
          <a:bodyPr rot="0" spcFirstLastPara="0" vertOverflow="overflow" horzOverflow="overflow" vert="horz" wrap="square" lIns="22860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Streams/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Sync Messaging</a:t>
            </a:r>
          </a:p>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Pub Sub</a:t>
            </a:r>
          </a:p>
        </p:txBody>
      </p:sp>
      <p:pic>
        <p:nvPicPr>
          <p:cNvPr id="536" name="Shape 350" descr="Cloud-PubSub_256px.png">
            <a:extLst>
              <a:ext uri="{FF2B5EF4-FFF2-40B4-BE49-F238E27FC236}">
                <a16:creationId xmlns:a16="http://schemas.microsoft.com/office/drawing/2014/main" id="{0A875B22-EC7C-4F18-A121-1B6A9F2207C9}"/>
              </a:ext>
            </a:extLst>
          </p:cNvPr>
          <p:cNvPicPr preferRelativeResize="0"/>
          <p:nvPr/>
        </p:nvPicPr>
        <p:blipFill rotWithShape="1">
          <a:blip r:embed="rId26">
            <a:alphaModFix/>
          </a:blip>
          <a:srcRect t="5092" b="5092"/>
          <a:stretch/>
        </p:blipFill>
        <p:spPr>
          <a:xfrm>
            <a:off x="3117544" y="4356204"/>
            <a:ext cx="189351" cy="169063"/>
          </a:xfrm>
          <a:prstGeom prst="rect">
            <a:avLst/>
          </a:prstGeom>
          <a:noFill/>
          <a:ln>
            <a:noFill/>
          </a:ln>
        </p:spPr>
      </p:pic>
      <p:sp>
        <p:nvSpPr>
          <p:cNvPr id="537" name="Shape 596">
            <a:extLst>
              <a:ext uri="{FF2B5EF4-FFF2-40B4-BE49-F238E27FC236}">
                <a16:creationId xmlns:a16="http://schemas.microsoft.com/office/drawing/2014/main" id="{A027AE71-BFBC-40B3-AE19-A3A97A4CE6D2}"/>
              </a:ext>
            </a:extLst>
          </p:cNvPr>
          <p:cNvSpPr/>
          <p:nvPr/>
        </p:nvSpPr>
        <p:spPr>
          <a:xfrm>
            <a:off x="4238781" y="1826277"/>
            <a:ext cx="2499014" cy="2163953"/>
          </a:xfrm>
          <a:prstGeom prst="roundRect">
            <a:avLst>
              <a:gd name="adj" fmla="val 0"/>
            </a:avLst>
          </a:prstGeom>
          <a:noFill/>
          <a:ln>
            <a:solidFill>
              <a:schemeClr val="bg2"/>
            </a:solidFill>
          </a:ln>
          <a:effectLst/>
        </p:spPr>
        <p:txBody>
          <a:bodyPr lIns="0" tIns="45720" rIns="0" bIns="0" anchor="t" anchorCtr="0">
            <a:noAutofit/>
          </a:bodyPr>
          <a:lstStyle/>
          <a:p>
            <a:pPr marL="0" marR="0" lvl="0" indent="0" algn="ctr"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Landing Zone and Data Lake</a:t>
            </a:r>
          </a:p>
        </p:txBody>
      </p:sp>
      <p:sp>
        <p:nvSpPr>
          <p:cNvPr id="538" name="Shape 596">
            <a:extLst>
              <a:ext uri="{FF2B5EF4-FFF2-40B4-BE49-F238E27FC236}">
                <a16:creationId xmlns:a16="http://schemas.microsoft.com/office/drawing/2014/main" id="{60323578-45A5-4B8A-A213-BDEB2EB26F75}"/>
              </a:ext>
            </a:extLst>
          </p:cNvPr>
          <p:cNvSpPr/>
          <p:nvPr/>
        </p:nvSpPr>
        <p:spPr>
          <a:xfrm>
            <a:off x="4345580" y="2423717"/>
            <a:ext cx="663512" cy="1052063"/>
          </a:xfrm>
          <a:prstGeom prst="roundRect">
            <a:avLst>
              <a:gd name="adj" fmla="val 1674"/>
            </a:avLst>
          </a:prstGeom>
          <a:noFill/>
          <a:ln>
            <a:noFill/>
          </a:ln>
          <a:effectLst/>
        </p:spPr>
        <p:txBody>
          <a:bodyPr lIns="0" tIns="45720" rIns="0" bIns="45720" anchor="t"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Raw Layer</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based on Applications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Raw Files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External data</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t>
            </a:r>
          </a:p>
        </p:txBody>
      </p:sp>
      <p:sp>
        <p:nvSpPr>
          <p:cNvPr id="539" name="Shape 596">
            <a:extLst>
              <a:ext uri="{FF2B5EF4-FFF2-40B4-BE49-F238E27FC236}">
                <a16:creationId xmlns:a16="http://schemas.microsoft.com/office/drawing/2014/main" id="{1F8B96E0-E979-4505-999C-60415EA7C29B}"/>
              </a:ext>
            </a:extLst>
          </p:cNvPr>
          <p:cNvSpPr/>
          <p:nvPr/>
        </p:nvSpPr>
        <p:spPr>
          <a:xfrm>
            <a:off x="5023822" y="2423717"/>
            <a:ext cx="811913" cy="1052063"/>
          </a:xfrm>
          <a:prstGeom prst="roundRect">
            <a:avLst>
              <a:gd name="adj" fmla="val 1674"/>
            </a:avLst>
          </a:prstGeom>
          <a:noFill/>
          <a:ln>
            <a:noFill/>
          </a:ln>
          <a:effectLst/>
        </p:spPr>
        <p:txBody>
          <a:bodyPr lIns="0" tIns="45720" rIns="0" bIns="45720" anchor="t"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Processed Layer</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Cleansed Data from Applications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DQ Applied Files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Consumption Ready External Data </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endPar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endPar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40" name="Shape 596">
            <a:extLst>
              <a:ext uri="{FF2B5EF4-FFF2-40B4-BE49-F238E27FC236}">
                <a16:creationId xmlns:a16="http://schemas.microsoft.com/office/drawing/2014/main" id="{65B8B633-82E3-4B04-9A70-213BAB13C8A8}"/>
              </a:ext>
            </a:extLst>
          </p:cNvPr>
          <p:cNvSpPr/>
          <p:nvPr/>
        </p:nvSpPr>
        <p:spPr>
          <a:xfrm>
            <a:off x="5879144" y="2423717"/>
            <a:ext cx="811913" cy="1052063"/>
          </a:xfrm>
          <a:prstGeom prst="roundRect">
            <a:avLst>
              <a:gd name="adj" fmla="val 1674"/>
            </a:avLst>
          </a:prstGeom>
          <a:noFill/>
          <a:ln>
            <a:noFill/>
          </a:ln>
          <a:effectLst/>
        </p:spPr>
        <p:txBody>
          <a:bodyPr lIns="0" tIns="45720" rIns="0" bIns="45720" anchor="t"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Consumption Layer</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Structured Data </a:t>
            </a:r>
            <a:b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by Domains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Analytical Datasets</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Unstructured Data</a:t>
            </a:r>
          </a:p>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External Data</a:t>
            </a:r>
          </a:p>
        </p:txBody>
      </p:sp>
      <p:pic>
        <p:nvPicPr>
          <p:cNvPr id="541" name="Shape 81" descr="Cloud-Storage.png">
            <a:extLst>
              <a:ext uri="{FF2B5EF4-FFF2-40B4-BE49-F238E27FC236}">
                <a16:creationId xmlns:a16="http://schemas.microsoft.com/office/drawing/2014/main" id="{4E754069-BA18-4389-886A-D756248FA33D}"/>
              </a:ext>
            </a:extLst>
          </p:cNvPr>
          <p:cNvPicPr preferRelativeResize="0"/>
          <p:nvPr/>
        </p:nvPicPr>
        <p:blipFill rotWithShape="1">
          <a:blip r:embed="rId21">
            <a:alphaModFix/>
          </a:blip>
          <a:srcRect t="5092" b="5092"/>
          <a:stretch/>
        </p:blipFill>
        <p:spPr>
          <a:xfrm>
            <a:off x="4771075" y="3695809"/>
            <a:ext cx="189779" cy="169446"/>
          </a:xfrm>
          <a:prstGeom prst="rect">
            <a:avLst/>
          </a:prstGeom>
          <a:noFill/>
          <a:ln>
            <a:noFill/>
          </a:ln>
        </p:spPr>
      </p:pic>
      <p:sp>
        <p:nvSpPr>
          <p:cNvPr id="542" name="Shape 596">
            <a:extLst>
              <a:ext uri="{FF2B5EF4-FFF2-40B4-BE49-F238E27FC236}">
                <a16:creationId xmlns:a16="http://schemas.microsoft.com/office/drawing/2014/main" id="{CFF00CA4-D69B-4747-A2AC-677235177C0D}"/>
              </a:ext>
            </a:extLst>
          </p:cNvPr>
          <p:cNvSpPr/>
          <p:nvPr/>
        </p:nvSpPr>
        <p:spPr>
          <a:xfrm>
            <a:off x="4238781" y="4051852"/>
            <a:ext cx="2499014" cy="1012516"/>
          </a:xfrm>
          <a:prstGeom prst="roundRect">
            <a:avLst>
              <a:gd name="adj" fmla="val 0"/>
            </a:avLst>
          </a:prstGeom>
          <a:noFill/>
          <a:ln>
            <a:solidFill>
              <a:schemeClr val="bg2"/>
            </a:solidFill>
          </a:ln>
          <a:effectLst/>
        </p:spPr>
        <p:txBody>
          <a:bodyPr lIns="0" tIns="45720" rIns="0" bIns="0" anchor="t" anchorCtr="0">
            <a:noAutofit/>
          </a:bodyPr>
          <a:lstStyle/>
          <a:p>
            <a:pPr marL="0" marR="0" lvl="0" indent="0" algn="ctr"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Processing</a:t>
            </a:r>
          </a:p>
        </p:txBody>
      </p:sp>
      <p:pic>
        <p:nvPicPr>
          <p:cNvPr id="543" name="Shape 5315" descr="Cloud-Dataflow.png">
            <a:extLst>
              <a:ext uri="{FF2B5EF4-FFF2-40B4-BE49-F238E27FC236}">
                <a16:creationId xmlns:a16="http://schemas.microsoft.com/office/drawing/2014/main" id="{A704F7AF-A36F-41CB-891F-2EFFFCE0B1E3}"/>
              </a:ext>
            </a:extLst>
          </p:cNvPr>
          <p:cNvPicPr preferRelativeResize="0"/>
          <p:nvPr/>
        </p:nvPicPr>
        <p:blipFill rotWithShape="1">
          <a:blip r:embed="rId24">
            <a:alphaModFix/>
          </a:blip>
          <a:srcRect t="5076" b="5076"/>
          <a:stretch/>
        </p:blipFill>
        <p:spPr>
          <a:xfrm>
            <a:off x="4353581" y="4676217"/>
            <a:ext cx="200160" cy="178714"/>
          </a:xfrm>
          <a:prstGeom prst="rect">
            <a:avLst/>
          </a:prstGeom>
          <a:noFill/>
          <a:ln>
            <a:noFill/>
          </a:ln>
        </p:spPr>
      </p:pic>
      <p:grpSp>
        <p:nvGrpSpPr>
          <p:cNvPr id="544" name="Group 543">
            <a:extLst>
              <a:ext uri="{FF2B5EF4-FFF2-40B4-BE49-F238E27FC236}">
                <a16:creationId xmlns:a16="http://schemas.microsoft.com/office/drawing/2014/main" id="{5014FA92-48B9-49AD-B674-84A11E5AEACD}"/>
              </a:ext>
            </a:extLst>
          </p:cNvPr>
          <p:cNvGrpSpPr/>
          <p:nvPr/>
        </p:nvGrpSpPr>
        <p:grpSpPr>
          <a:xfrm>
            <a:off x="6772119" y="1826277"/>
            <a:ext cx="1049766" cy="3238090"/>
            <a:chOff x="6772119" y="1826277"/>
            <a:chExt cx="1049766" cy="3238090"/>
          </a:xfrm>
        </p:grpSpPr>
        <p:sp>
          <p:nvSpPr>
            <p:cNvPr id="545" name="Rectangle 6">
              <a:extLst>
                <a:ext uri="{FF2B5EF4-FFF2-40B4-BE49-F238E27FC236}">
                  <a16:creationId xmlns:a16="http://schemas.microsoft.com/office/drawing/2014/main" id="{BFC8B691-D0E5-41EB-9214-A8BE1056E2B0}"/>
                </a:ext>
              </a:extLst>
            </p:cNvPr>
            <p:cNvSpPr>
              <a:spLocks noChangeArrowheads="1"/>
            </p:cNvSpPr>
            <p:nvPr/>
          </p:nvSpPr>
          <p:spPr bwMode="auto">
            <a:xfrm>
              <a:off x="6825481" y="2150598"/>
              <a:ext cx="956402" cy="270800"/>
            </a:xfrm>
            <a:prstGeom prst="rect">
              <a:avLst/>
            </a:prstGeom>
            <a:solidFill>
              <a:schemeClr val="lt1"/>
            </a:solidFill>
            <a:ln>
              <a:solidFill>
                <a:schemeClr val="bg2"/>
              </a:solidFill>
            </a:ln>
            <a:effectLst/>
          </p:spPr>
          <p:txBody>
            <a:bodyPr lIns="27432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Storage</a:t>
              </a:r>
              <a:endPar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46" name="Rectangle 6">
              <a:extLst>
                <a:ext uri="{FF2B5EF4-FFF2-40B4-BE49-F238E27FC236}">
                  <a16:creationId xmlns:a16="http://schemas.microsoft.com/office/drawing/2014/main" id="{122FEE14-4CC7-4138-97FC-3F4F5A762172}"/>
                </a:ext>
              </a:extLst>
            </p:cNvPr>
            <p:cNvSpPr>
              <a:spLocks noChangeArrowheads="1"/>
            </p:cNvSpPr>
            <p:nvPr/>
          </p:nvSpPr>
          <p:spPr bwMode="auto">
            <a:xfrm>
              <a:off x="6825481" y="2513788"/>
              <a:ext cx="956402" cy="270800"/>
            </a:xfrm>
            <a:prstGeom prst="rect">
              <a:avLst/>
            </a:prstGeom>
            <a:solidFill>
              <a:schemeClr val="lt1"/>
            </a:solidFill>
            <a:ln>
              <a:solidFill>
                <a:schemeClr val="bg2"/>
              </a:solidFill>
            </a:ln>
            <a:effectLst/>
          </p:spPr>
          <p:txBody>
            <a:bodyPr lIns="27432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SQL</a:t>
              </a:r>
              <a:endPar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47" name="Rectangle 6">
              <a:extLst>
                <a:ext uri="{FF2B5EF4-FFF2-40B4-BE49-F238E27FC236}">
                  <a16:creationId xmlns:a16="http://schemas.microsoft.com/office/drawing/2014/main" id="{E733059B-80D8-4C85-AA8E-AA63FF992FCB}"/>
                </a:ext>
              </a:extLst>
            </p:cNvPr>
            <p:cNvSpPr>
              <a:spLocks noChangeArrowheads="1"/>
            </p:cNvSpPr>
            <p:nvPr/>
          </p:nvSpPr>
          <p:spPr bwMode="auto">
            <a:xfrm>
              <a:off x="6825481" y="3603358"/>
              <a:ext cx="956402" cy="270800"/>
            </a:xfrm>
            <a:prstGeom prst="rect">
              <a:avLst/>
            </a:prstGeom>
            <a:solidFill>
              <a:schemeClr val="lt1"/>
            </a:solidFill>
            <a:ln>
              <a:solidFill>
                <a:schemeClr val="bg2"/>
              </a:solidFill>
            </a:ln>
            <a:effectLst/>
          </p:spPr>
          <p:txBody>
            <a:bodyPr lIns="274320" tIns="0" rIns="0" bIns="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Persistent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Disk</a:t>
              </a:r>
              <a:endPar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48" name="Rectangle 6">
              <a:extLst>
                <a:ext uri="{FF2B5EF4-FFF2-40B4-BE49-F238E27FC236}">
                  <a16:creationId xmlns:a16="http://schemas.microsoft.com/office/drawing/2014/main" id="{D4F2F8B4-28A5-46E5-83AA-1D99EF789FC2}"/>
                </a:ext>
              </a:extLst>
            </p:cNvPr>
            <p:cNvSpPr>
              <a:spLocks noChangeArrowheads="1"/>
            </p:cNvSpPr>
            <p:nvPr/>
          </p:nvSpPr>
          <p:spPr bwMode="auto">
            <a:xfrm>
              <a:off x="6825481" y="3240168"/>
              <a:ext cx="956402" cy="270800"/>
            </a:xfrm>
            <a:prstGeom prst="rect">
              <a:avLst/>
            </a:prstGeom>
            <a:solidFill>
              <a:schemeClr val="lt1"/>
            </a:solidFill>
            <a:ln>
              <a:solidFill>
                <a:schemeClr val="bg2"/>
              </a:solidFill>
            </a:ln>
            <a:effectLst/>
          </p:spPr>
          <p:txBody>
            <a:bodyPr lIns="274320" tIns="0" rIns="0" bIns="0" anchor="ctr" anchorCtr="0">
              <a:noAutofit/>
            </a:bodyPr>
            <a:lstStyle/>
            <a:p>
              <a:pPr marL="0" marR="0" lvl="0" indent="0" algn="l" defTabSz="914400" rtl="0" eaLnBrk="1" fontAlgn="auto" latinLnBrk="0" hangingPunct="1">
                <a:lnSpc>
                  <a:spcPct val="8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Memory store</a:t>
              </a:r>
              <a:endPar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49" name="Rectangle 6">
              <a:extLst>
                <a:ext uri="{FF2B5EF4-FFF2-40B4-BE49-F238E27FC236}">
                  <a16:creationId xmlns:a16="http://schemas.microsoft.com/office/drawing/2014/main" id="{A139AEB3-A125-47D3-839B-003373F1D986}"/>
                </a:ext>
              </a:extLst>
            </p:cNvPr>
            <p:cNvSpPr>
              <a:spLocks noChangeArrowheads="1"/>
            </p:cNvSpPr>
            <p:nvPr/>
          </p:nvSpPr>
          <p:spPr bwMode="auto">
            <a:xfrm>
              <a:off x="6825481" y="3966548"/>
              <a:ext cx="956402" cy="270800"/>
            </a:xfrm>
            <a:prstGeom prst="rect">
              <a:avLst/>
            </a:prstGeom>
            <a:solidFill>
              <a:schemeClr val="lt1"/>
            </a:solidFill>
            <a:ln>
              <a:solidFill>
                <a:schemeClr val="bg2"/>
              </a:solidFill>
            </a:ln>
            <a:effectLst/>
          </p:spPr>
          <p:txBody>
            <a:bodyPr lIns="27432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Big Query</a:t>
              </a:r>
              <a:endPar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50" name="Rectangle 6">
              <a:extLst>
                <a:ext uri="{FF2B5EF4-FFF2-40B4-BE49-F238E27FC236}">
                  <a16:creationId xmlns:a16="http://schemas.microsoft.com/office/drawing/2014/main" id="{F975E60B-C86B-439E-A9B6-509153265E21}"/>
                </a:ext>
              </a:extLst>
            </p:cNvPr>
            <p:cNvSpPr>
              <a:spLocks noChangeArrowheads="1"/>
            </p:cNvSpPr>
            <p:nvPr/>
          </p:nvSpPr>
          <p:spPr bwMode="auto">
            <a:xfrm>
              <a:off x="6825481" y="4329738"/>
              <a:ext cx="956402" cy="270800"/>
            </a:xfrm>
            <a:prstGeom prst="rect">
              <a:avLst/>
            </a:prstGeom>
            <a:solidFill>
              <a:schemeClr val="lt1"/>
            </a:solidFill>
            <a:ln>
              <a:solidFill>
                <a:schemeClr val="bg2"/>
              </a:solidFill>
            </a:ln>
            <a:effectLst/>
          </p:spPr>
          <p:txBody>
            <a:bodyPr lIns="27432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Genomics</a:t>
              </a:r>
            </a:p>
          </p:txBody>
        </p:sp>
        <p:sp>
          <p:nvSpPr>
            <p:cNvPr id="551" name="Rectangle 6">
              <a:extLst>
                <a:ext uri="{FF2B5EF4-FFF2-40B4-BE49-F238E27FC236}">
                  <a16:creationId xmlns:a16="http://schemas.microsoft.com/office/drawing/2014/main" id="{044E9EC9-0FD5-4B79-B2D0-812051996502}"/>
                </a:ext>
              </a:extLst>
            </p:cNvPr>
            <p:cNvSpPr>
              <a:spLocks noChangeArrowheads="1"/>
            </p:cNvSpPr>
            <p:nvPr/>
          </p:nvSpPr>
          <p:spPr bwMode="auto">
            <a:xfrm>
              <a:off x="6826444" y="4692927"/>
              <a:ext cx="956402" cy="270800"/>
            </a:xfrm>
            <a:prstGeom prst="rect">
              <a:avLst/>
            </a:prstGeom>
            <a:solidFill>
              <a:schemeClr val="lt1"/>
            </a:solidFill>
            <a:ln>
              <a:solidFill>
                <a:schemeClr val="bg2"/>
              </a:solidFill>
            </a:ln>
            <a:effectLst/>
          </p:spPr>
          <p:txBody>
            <a:bodyPr lIns="27432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Bigtable</a:t>
              </a:r>
              <a:endPar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52" name="Rectangle 6">
              <a:extLst>
                <a:ext uri="{FF2B5EF4-FFF2-40B4-BE49-F238E27FC236}">
                  <a16:creationId xmlns:a16="http://schemas.microsoft.com/office/drawing/2014/main" id="{297C0D33-07A9-480A-9F86-98DAF2C5810C}"/>
                </a:ext>
              </a:extLst>
            </p:cNvPr>
            <p:cNvSpPr>
              <a:spLocks noChangeArrowheads="1"/>
            </p:cNvSpPr>
            <p:nvPr/>
          </p:nvSpPr>
          <p:spPr bwMode="auto">
            <a:xfrm>
              <a:off x="6825481" y="2876978"/>
              <a:ext cx="956402" cy="270800"/>
            </a:xfrm>
            <a:prstGeom prst="rect">
              <a:avLst/>
            </a:prstGeom>
            <a:solidFill>
              <a:schemeClr val="lt1"/>
            </a:solidFill>
            <a:ln>
              <a:solidFill>
                <a:schemeClr val="bg2"/>
              </a:solidFill>
            </a:ln>
            <a:effectLst/>
          </p:spPr>
          <p:txBody>
            <a:bodyPr lIns="27432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Cloud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Datastore</a:t>
              </a:r>
              <a:endParaRPr kumimoji="0" lang="en-US" sz="7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553" name="Shape 81" descr="Cloud-Storage.png">
              <a:extLst>
                <a:ext uri="{FF2B5EF4-FFF2-40B4-BE49-F238E27FC236}">
                  <a16:creationId xmlns:a16="http://schemas.microsoft.com/office/drawing/2014/main" id="{1C23B380-0E23-4538-990C-344F10190928}"/>
                </a:ext>
              </a:extLst>
            </p:cNvPr>
            <p:cNvPicPr preferRelativeResize="0"/>
            <p:nvPr/>
          </p:nvPicPr>
          <p:blipFill rotWithShape="1">
            <a:blip r:embed="rId21">
              <a:alphaModFix/>
            </a:blip>
            <a:srcRect t="5092" b="5092"/>
            <a:stretch/>
          </p:blipFill>
          <p:spPr>
            <a:xfrm>
              <a:off x="6880751" y="2199074"/>
              <a:ext cx="186668" cy="166668"/>
            </a:xfrm>
            <a:prstGeom prst="rect">
              <a:avLst/>
            </a:prstGeom>
            <a:noFill/>
            <a:ln>
              <a:noFill/>
            </a:ln>
          </p:spPr>
        </p:pic>
        <p:pic>
          <p:nvPicPr>
            <p:cNvPr id="554" name="Shape 83" descr="Cloud-SQL.png">
              <a:extLst>
                <a:ext uri="{FF2B5EF4-FFF2-40B4-BE49-F238E27FC236}">
                  <a16:creationId xmlns:a16="http://schemas.microsoft.com/office/drawing/2014/main" id="{61950E04-5A9F-4F85-BF14-3EA92823A53E}"/>
                </a:ext>
              </a:extLst>
            </p:cNvPr>
            <p:cNvPicPr preferRelativeResize="0"/>
            <p:nvPr/>
          </p:nvPicPr>
          <p:blipFill rotWithShape="1">
            <a:blip r:embed="rId27">
              <a:alphaModFix/>
            </a:blip>
            <a:srcRect t="5092" b="5092"/>
            <a:stretch/>
          </p:blipFill>
          <p:spPr>
            <a:xfrm>
              <a:off x="6880751" y="2567519"/>
              <a:ext cx="186668" cy="166668"/>
            </a:xfrm>
            <a:prstGeom prst="rect">
              <a:avLst/>
            </a:prstGeom>
            <a:noFill/>
            <a:ln>
              <a:noFill/>
            </a:ln>
          </p:spPr>
        </p:pic>
        <p:pic>
          <p:nvPicPr>
            <p:cNvPr id="555" name="Shape 82" descr="Cloud-Datastore.png">
              <a:extLst>
                <a:ext uri="{FF2B5EF4-FFF2-40B4-BE49-F238E27FC236}">
                  <a16:creationId xmlns:a16="http://schemas.microsoft.com/office/drawing/2014/main" id="{7B80D5F7-AAC3-4B73-9041-A76EB909757A}"/>
                </a:ext>
              </a:extLst>
            </p:cNvPr>
            <p:cNvPicPr preferRelativeResize="0"/>
            <p:nvPr/>
          </p:nvPicPr>
          <p:blipFill rotWithShape="1">
            <a:blip r:embed="rId28">
              <a:alphaModFix/>
            </a:blip>
            <a:srcRect t="5092" b="5092"/>
            <a:stretch/>
          </p:blipFill>
          <p:spPr>
            <a:xfrm>
              <a:off x="6880751" y="2923435"/>
              <a:ext cx="186668" cy="166668"/>
            </a:xfrm>
            <a:prstGeom prst="rect">
              <a:avLst/>
            </a:prstGeom>
            <a:noFill/>
            <a:ln>
              <a:noFill/>
            </a:ln>
          </p:spPr>
        </p:pic>
        <p:pic>
          <p:nvPicPr>
            <p:cNvPr id="556" name="Shape 68" descr="BigQuery.png">
              <a:extLst>
                <a:ext uri="{FF2B5EF4-FFF2-40B4-BE49-F238E27FC236}">
                  <a16:creationId xmlns:a16="http://schemas.microsoft.com/office/drawing/2014/main" id="{3A8E58CB-708A-45E0-84BA-3B2626B35FCC}"/>
                </a:ext>
              </a:extLst>
            </p:cNvPr>
            <p:cNvPicPr preferRelativeResize="0"/>
            <p:nvPr/>
          </p:nvPicPr>
          <p:blipFill rotWithShape="1">
            <a:blip r:embed="rId22">
              <a:alphaModFix/>
            </a:blip>
            <a:srcRect t="5092" b="5092"/>
            <a:stretch/>
          </p:blipFill>
          <p:spPr>
            <a:xfrm>
              <a:off x="6880751" y="4009511"/>
              <a:ext cx="186668" cy="166668"/>
            </a:xfrm>
            <a:prstGeom prst="rect">
              <a:avLst/>
            </a:prstGeom>
            <a:noFill/>
            <a:ln>
              <a:noFill/>
            </a:ln>
          </p:spPr>
        </p:pic>
        <p:pic>
          <p:nvPicPr>
            <p:cNvPr id="557" name="Shape 86" descr="Persistent-Disk.png">
              <a:extLst>
                <a:ext uri="{FF2B5EF4-FFF2-40B4-BE49-F238E27FC236}">
                  <a16:creationId xmlns:a16="http://schemas.microsoft.com/office/drawing/2014/main" id="{C8C33D45-6549-4895-9FD8-CDD15F20A177}"/>
                </a:ext>
              </a:extLst>
            </p:cNvPr>
            <p:cNvPicPr preferRelativeResize="0"/>
            <p:nvPr/>
          </p:nvPicPr>
          <p:blipFill rotWithShape="1">
            <a:blip r:embed="rId29">
              <a:alphaModFix/>
            </a:blip>
            <a:srcRect t="5092" b="5092"/>
            <a:stretch/>
          </p:blipFill>
          <p:spPr>
            <a:xfrm>
              <a:off x="6880751" y="3648870"/>
              <a:ext cx="186668" cy="166668"/>
            </a:xfrm>
            <a:prstGeom prst="rect">
              <a:avLst/>
            </a:prstGeom>
            <a:noFill/>
            <a:ln>
              <a:noFill/>
            </a:ln>
          </p:spPr>
        </p:pic>
        <p:pic>
          <p:nvPicPr>
            <p:cNvPr id="558" name="Shape 368" descr="Cloud-Bigtable_256px.png">
              <a:extLst>
                <a:ext uri="{FF2B5EF4-FFF2-40B4-BE49-F238E27FC236}">
                  <a16:creationId xmlns:a16="http://schemas.microsoft.com/office/drawing/2014/main" id="{2A79443A-3E03-4D5C-BE02-0F9E6FD0CD0B}"/>
                </a:ext>
              </a:extLst>
            </p:cNvPr>
            <p:cNvPicPr preferRelativeResize="0"/>
            <p:nvPr/>
          </p:nvPicPr>
          <p:blipFill rotWithShape="1">
            <a:blip r:embed="rId30">
              <a:alphaModFix/>
            </a:blip>
            <a:srcRect t="5092" b="5092"/>
            <a:stretch/>
          </p:blipFill>
          <p:spPr>
            <a:xfrm>
              <a:off x="6880751" y="4737765"/>
              <a:ext cx="186668" cy="166668"/>
            </a:xfrm>
            <a:prstGeom prst="rect">
              <a:avLst/>
            </a:prstGeom>
            <a:noFill/>
            <a:ln>
              <a:noFill/>
            </a:ln>
          </p:spPr>
        </p:pic>
        <p:pic>
          <p:nvPicPr>
            <p:cNvPr id="559" name="Shape 85" descr="Cloud-Spanner.png">
              <a:extLst>
                <a:ext uri="{FF2B5EF4-FFF2-40B4-BE49-F238E27FC236}">
                  <a16:creationId xmlns:a16="http://schemas.microsoft.com/office/drawing/2014/main" id="{46A582AC-BA3E-4365-B896-F5D54F7EF2F6}"/>
                </a:ext>
              </a:extLst>
            </p:cNvPr>
            <p:cNvPicPr preferRelativeResize="0"/>
            <p:nvPr/>
          </p:nvPicPr>
          <p:blipFill rotWithShape="1">
            <a:blip r:embed="rId31">
              <a:alphaModFix/>
            </a:blip>
            <a:srcRect t="5092" b="5092"/>
            <a:stretch/>
          </p:blipFill>
          <p:spPr>
            <a:xfrm>
              <a:off x="6880751" y="4374575"/>
              <a:ext cx="186668" cy="166668"/>
            </a:xfrm>
            <a:prstGeom prst="rect">
              <a:avLst/>
            </a:prstGeom>
            <a:noFill/>
            <a:ln>
              <a:noFill/>
            </a:ln>
          </p:spPr>
        </p:pic>
        <p:sp>
          <p:nvSpPr>
            <p:cNvPr id="560" name="Shape 596">
              <a:extLst>
                <a:ext uri="{FF2B5EF4-FFF2-40B4-BE49-F238E27FC236}">
                  <a16:creationId xmlns:a16="http://schemas.microsoft.com/office/drawing/2014/main" id="{10985A67-EFF4-4A91-AFC4-E52ECB95D220}"/>
                </a:ext>
              </a:extLst>
            </p:cNvPr>
            <p:cNvSpPr/>
            <p:nvPr/>
          </p:nvSpPr>
          <p:spPr>
            <a:xfrm>
              <a:off x="6772119" y="1826277"/>
              <a:ext cx="1049766" cy="3238090"/>
            </a:xfrm>
            <a:prstGeom prst="roundRect">
              <a:avLst>
                <a:gd name="adj" fmla="val 0"/>
              </a:avLst>
            </a:prstGeom>
            <a:noFill/>
            <a:ln>
              <a:solidFill>
                <a:schemeClr val="bg2"/>
              </a:solidFill>
            </a:ln>
            <a:effectLst/>
          </p:spPr>
          <p:txBody>
            <a:bodyPr lIns="0" tIns="45720" rIns="0" bIns="0" anchor="t" anchorCtr="0">
              <a:noAutofit/>
            </a:bodyPr>
            <a:lstStyle/>
            <a:p>
              <a:pPr marL="0" marR="0" lvl="0" indent="0" algn="ctr"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Databases &amp; </a:t>
              </a:r>
              <a:b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Big Data</a:t>
              </a:r>
            </a:p>
          </p:txBody>
        </p:sp>
        <p:pic>
          <p:nvPicPr>
            <p:cNvPr id="561" name="Shape 1906" descr="Compute-Engine.png">
              <a:extLst>
                <a:ext uri="{FF2B5EF4-FFF2-40B4-BE49-F238E27FC236}">
                  <a16:creationId xmlns:a16="http://schemas.microsoft.com/office/drawing/2014/main" id="{38393132-4E21-4945-8CAE-74ED771E3C23}"/>
                </a:ext>
              </a:extLst>
            </p:cNvPr>
            <p:cNvPicPr preferRelativeResize="0"/>
            <p:nvPr/>
          </p:nvPicPr>
          <p:blipFill rotWithShape="1">
            <a:blip r:embed="rId25">
              <a:alphaModFix/>
            </a:blip>
            <a:srcRect t="5076" b="5076"/>
            <a:stretch/>
          </p:blipFill>
          <p:spPr>
            <a:xfrm>
              <a:off x="6873928" y="3282106"/>
              <a:ext cx="200325" cy="180162"/>
            </a:xfrm>
            <a:prstGeom prst="rect">
              <a:avLst/>
            </a:prstGeom>
            <a:noFill/>
            <a:ln>
              <a:noFill/>
            </a:ln>
          </p:spPr>
        </p:pic>
      </p:grpSp>
      <p:pic>
        <p:nvPicPr>
          <p:cNvPr id="562" name="Shape 1906" descr="Compute-Engine.png">
            <a:extLst>
              <a:ext uri="{FF2B5EF4-FFF2-40B4-BE49-F238E27FC236}">
                <a16:creationId xmlns:a16="http://schemas.microsoft.com/office/drawing/2014/main" id="{7080F2B7-992C-408C-83C3-39362498C9BA}"/>
              </a:ext>
            </a:extLst>
          </p:cNvPr>
          <p:cNvPicPr preferRelativeResize="0"/>
          <p:nvPr/>
        </p:nvPicPr>
        <p:blipFill rotWithShape="1">
          <a:blip r:embed="rId25">
            <a:alphaModFix/>
          </a:blip>
          <a:srcRect t="5076" b="5076"/>
          <a:stretch/>
        </p:blipFill>
        <p:spPr>
          <a:xfrm>
            <a:off x="8018136" y="4290096"/>
            <a:ext cx="181966" cy="163685"/>
          </a:xfrm>
          <a:prstGeom prst="rect">
            <a:avLst/>
          </a:prstGeom>
          <a:noFill/>
          <a:ln>
            <a:noFill/>
          </a:ln>
        </p:spPr>
      </p:pic>
      <p:pic>
        <p:nvPicPr>
          <p:cNvPr id="563" name="Picture 562">
            <a:extLst>
              <a:ext uri="{FF2B5EF4-FFF2-40B4-BE49-F238E27FC236}">
                <a16:creationId xmlns:a16="http://schemas.microsoft.com/office/drawing/2014/main" id="{42157102-3902-475A-AD2A-11588C6A3E1E}"/>
              </a:ext>
            </a:extLst>
          </p:cNvPr>
          <p:cNvPicPr>
            <a:picLocks noChangeAspect="1"/>
          </p:cNvPicPr>
          <p:nvPr/>
        </p:nvPicPr>
        <p:blipFill>
          <a:blip r:embed="rId32"/>
          <a:stretch>
            <a:fillRect/>
          </a:stretch>
        </p:blipFill>
        <p:spPr>
          <a:xfrm>
            <a:off x="9246178" y="4762854"/>
            <a:ext cx="182880" cy="182880"/>
          </a:xfrm>
          <a:prstGeom prst="rect">
            <a:avLst/>
          </a:prstGeom>
        </p:spPr>
      </p:pic>
      <p:pic>
        <p:nvPicPr>
          <p:cNvPr id="564" name="Picture 563">
            <a:extLst>
              <a:ext uri="{FF2B5EF4-FFF2-40B4-BE49-F238E27FC236}">
                <a16:creationId xmlns:a16="http://schemas.microsoft.com/office/drawing/2014/main" id="{9AD7A639-614D-4C79-84CB-BEE69F46C7FD}"/>
              </a:ext>
            </a:extLst>
          </p:cNvPr>
          <p:cNvPicPr>
            <a:picLocks noChangeAspect="1"/>
          </p:cNvPicPr>
          <p:nvPr/>
        </p:nvPicPr>
        <p:blipFill>
          <a:blip r:embed="rId33"/>
          <a:stretch>
            <a:fillRect/>
          </a:stretch>
        </p:blipFill>
        <p:spPr>
          <a:xfrm>
            <a:off x="8011591" y="3777823"/>
            <a:ext cx="182880" cy="182880"/>
          </a:xfrm>
          <a:prstGeom prst="rect">
            <a:avLst/>
          </a:prstGeom>
        </p:spPr>
      </p:pic>
      <p:pic>
        <p:nvPicPr>
          <p:cNvPr id="565" name="Picture 564">
            <a:extLst>
              <a:ext uri="{FF2B5EF4-FFF2-40B4-BE49-F238E27FC236}">
                <a16:creationId xmlns:a16="http://schemas.microsoft.com/office/drawing/2014/main" id="{1F9CB19D-328A-4DB0-93EF-1920E3B57D3F}"/>
              </a:ext>
            </a:extLst>
          </p:cNvPr>
          <p:cNvPicPr>
            <a:picLocks noChangeAspect="1"/>
          </p:cNvPicPr>
          <p:nvPr/>
        </p:nvPicPr>
        <p:blipFill>
          <a:blip r:embed="rId34"/>
          <a:stretch>
            <a:fillRect/>
          </a:stretch>
        </p:blipFill>
        <p:spPr>
          <a:xfrm>
            <a:off x="9246178" y="3777823"/>
            <a:ext cx="182880" cy="182880"/>
          </a:xfrm>
          <a:prstGeom prst="rect">
            <a:avLst/>
          </a:prstGeom>
        </p:spPr>
      </p:pic>
      <p:pic>
        <p:nvPicPr>
          <p:cNvPr id="566" name="Picture 565">
            <a:extLst>
              <a:ext uri="{FF2B5EF4-FFF2-40B4-BE49-F238E27FC236}">
                <a16:creationId xmlns:a16="http://schemas.microsoft.com/office/drawing/2014/main" id="{D20C4FB9-A078-4A0E-947C-4C3132939A19}"/>
              </a:ext>
            </a:extLst>
          </p:cNvPr>
          <p:cNvPicPr>
            <a:picLocks noChangeAspect="1"/>
          </p:cNvPicPr>
          <p:nvPr/>
        </p:nvPicPr>
        <p:blipFill>
          <a:blip r:embed="rId35"/>
          <a:stretch>
            <a:fillRect/>
          </a:stretch>
        </p:blipFill>
        <p:spPr>
          <a:xfrm>
            <a:off x="8028267" y="4775802"/>
            <a:ext cx="182880" cy="182880"/>
          </a:xfrm>
          <a:prstGeom prst="rect">
            <a:avLst/>
          </a:prstGeom>
        </p:spPr>
      </p:pic>
      <p:cxnSp>
        <p:nvCxnSpPr>
          <p:cNvPr id="567" name="Straight Arrow Connector 566">
            <a:extLst>
              <a:ext uri="{FF2B5EF4-FFF2-40B4-BE49-F238E27FC236}">
                <a16:creationId xmlns:a16="http://schemas.microsoft.com/office/drawing/2014/main" id="{CA052AC3-63EC-4BF6-AC38-AB1D5329C0B9}"/>
              </a:ext>
            </a:extLst>
          </p:cNvPr>
          <p:cNvCxnSpPr>
            <a:cxnSpLocks/>
          </p:cNvCxnSpPr>
          <p:nvPr/>
        </p:nvCxnSpPr>
        <p:spPr>
          <a:xfrm>
            <a:off x="3974798" y="2816888"/>
            <a:ext cx="332208" cy="0"/>
          </a:xfrm>
          <a:prstGeom prst="straightConnector1">
            <a:avLst/>
          </a:prstGeom>
          <a:ln w="19050">
            <a:solidFill>
              <a:srgbClr val="4185F5"/>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68" name="Straight Arrow Connector 567">
            <a:extLst>
              <a:ext uri="{FF2B5EF4-FFF2-40B4-BE49-F238E27FC236}">
                <a16:creationId xmlns:a16="http://schemas.microsoft.com/office/drawing/2014/main" id="{1D7951F6-AC08-4C91-94A5-F42AC0DD2D71}"/>
              </a:ext>
            </a:extLst>
          </p:cNvPr>
          <p:cNvCxnSpPr>
            <a:cxnSpLocks/>
            <a:stCxn id="524" idx="3"/>
          </p:cNvCxnSpPr>
          <p:nvPr/>
        </p:nvCxnSpPr>
        <p:spPr>
          <a:xfrm flipV="1">
            <a:off x="2950540" y="2816888"/>
            <a:ext cx="163507" cy="3904"/>
          </a:xfrm>
          <a:prstGeom prst="straightConnector1">
            <a:avLst/>
          </a:prstGeom>
          <a:ln w="19050">
            <a:solidFill>
              <a:srgbClr val="4185F5"/>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69" name="Straight Arrow Connector 568">
            <a:extLst>
              <a:ext uri="{FF2B5EF4-FFF2-40B4-BE49-F238E27FC236}">
                <a16:creationId xmlns:a16="http://schemas.microsoft.com/office/drawing/2014/main" id="{DCC0671B-7C6A-464C-A901-321B2A2B2939}"/>
              </a:ext>
            </a:extLst>
          </p:cNvPr>
          <p:cNvCxnSpPr>
            <a:cxnSpLocks/>
          </p:cNvCxnSpPr>
          <p:nvPr/>
        </p:nvCxnSpPr>
        <p:spPr>
          <a:xfrm>
            <a:off x="1760352" y="3841108"/>
            <a:ext cx="332208" cy="0"/>
          </a:xfrm>
          <a:prstGeom prst="straightConnector1">
            <a:avLst/>
          </a:prstGeom>
          <a:ln w="19050">
            <a:solidFill>
              <a:srgbClr val="4185F5"/>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70" name="Straight Arrow Connector 569">
            <a:extLst>
              <a:ext uri="{FF2B5EF4-FFF2-40B4-BE49-F238E27FC236}">
                <a16:creationId xmlns:a16="http://schemas.microsoft.com/office/drawing/2014/main" id="{675803D1-4C5F-44D8-B587-EDC7DF714DFE}"/>
              </a:ext>
            </a:extLst>
          </p:cNvPr>
          <p:cNvCxnSpPr>
            <a:cxnSpLocks/>
          </p:cNvCxnSpPr>
          <p:nvPr/>
        </p:nvCxnSpPr>
        <p:spPr>
          <a:xfrm flipV="1">
            <a:off x="2950540" y="4383221"/>
            <a:ext cx="163507" cy="3904"/>
          </a:xfrm>
          <a:prstGeom prst="straightConnector1">
            <a:avLst/>
          </a:prstGeom>
          <a:ln w="19050">
            <a:solidFill>
              <a:srgbClr val="4185F5"/>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71" name="Straight Arrow Connector 570">
            <a:extLst>
              <a:ext uri="{FF2B5EF4-FFF2-40B4-BE49-F238E27FC236}">
                <a16:creationId xmlns:a16="http://schemas.microsoft.com/office/drawing/2014/main" id="{A0FA8110-A79E-4712-9583-B2D9A8635391}"/>
              </a:ext>
            </a:extLst>
          </p:cNvPr>
          <p:cNvCxnSpPr>
            <a:cxnSpLocks/>
          </p:cNvCxnSpPr>
          <p:nvPr/>
        </p:nvCxnSpPr>
        <p:spPr>
          <a:xfrm>
            <a:off x="3974798" y="4434021"/>
            <a:ext cx="332208" cy="0"/>
          </a:xfrm>
          <a:prstGeom prst="straightConnector1">
            <a:avLst/>
          </a:prstGeom>
          <a:ln w="19050">
            <a:solidFill>
              <a:srgbClr val="4185F5"/>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72" name="Straight Arrow Connector 571">
            <a:extLst>
              <a:ext uri="{FF2B5EF4-FFF2-40B4-BE49-F238E27FC236}">
                <a16:creationId xmlns:a16="http://schemas.microsoft.com/office/drawing/2014/main" id="{35F75787-E0CD-4E10-B678-8FB3B82E357A}"/>
              </a:ext>
            </a:extLst>
          </p:cNvPr>
          <p:cNvCxnSpPr>
            <a:cxnSpLocks/>
          </p:cNvCxnSpPr>
          <p:nvPr/>
        </p:nvCxnSpPr>
        <p:spPr>
          <a:xfrm>
            <a:off x="6111586" y="3874158"/>
            <a:ext cx="0" cy="279985"/>
          </a:xfrm>
          <a:prstGeom prst="straightConnector1">
            <a:avLst/>
          </a:prstGeom>
          <a:ln w="19050">
            <a:solidFill>
              <a:srgbClr val="4185F5"/>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73" name="Straight Arrow Connector 572">
            <a:extLst>
              <a:ext uri="{FF2B5EF4-FFF2-40B4-BE49-F238E27FC236}">
                <a16:creationId xmlns:a16="http://schemas.microsoft.com/office/drawing/2014/main" id="{5D4A3713-FB3E-4192-9341-9951EB86CAC3}"/>
              </a:ext>
            </a:extLst>
          </p:cNvPr>
          <p:cNvCxnSpPr>
            <a:cxnSpLocks/>
          </p:cNvCxnSpPr>
          <p:nvPr/>
        </p:nvCxnSpPr>
        <p:spPr>
          <a:xfrm flipV="1">
            <a:off x="6218621" y="3874158"/>
            <a:ext cx="0" cy="270800"/>
          </a:xfrm>
          <a:prstGeom prst="straightConnector1">
            <a:avLst/>
          </a:prstGeom>
          <a:ln w="19050">
            <a:solidFill>
              <a:srgbClr val="4185F5"/>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574" name="Group 573">
            <a:extLst>
              <a:ext uri="{FF2B5EF4-FFF2-40B4-BE49-F238E27FC236}">
                <a16:creationId xmlns:a16="http://schemas.microsoft.com/office/drawing/2014/main" id="{01941750-A455-489B-8C93-4BE677DC6123}"/>
              </a:ext>
            </a:extLst>
          </p:cNvPr>
          <p:cNvGrpSpPr/>
          <p:nvPr/>
        </p:nvGrpSpPr>
        <p:grpSpPr>
          <a:xfrm>
            <a:off x="575301" y="1853546"/>
            <a:ext cx="1259182" cy="2107157"/>
            <a:chOff x="575301" y="1853546"/>
            <a:chExt cx="1259182" cy="2107157"/>
          </a:xfrm>
        </p:grpSpPr>
        <p:sp>
          <p:nvSpPr>
            <p:cNvPr id="575" name="Shape 548">
              <a:extLst>
                <a:ext uri="{FF2B5EF4-FFF2-40B4-BE49-F238E27FC236}">
                  <a16:creationId xmlns:a16="http://schemas.microsoft.com/office/drawing/2014/main" id="{3BCC096E-112B-4AF4-B8DE-F3110386418A}"/>
                </a:ext>
              </a:extLst>
            </p:cNvPr>
            <p:cNvSpPr txBox="1"/>
            <p:nvPr/>
          </p:nvSpPr>
          <p:spPr>
            <a:xfrm>
              <a:off x="604279" y="2309285"/>
              <a:ext cx="1189402" cy="204459"/>
            </a:xfrm>
            <a:prstGeom prst="rect">
              <a:avLst/>
            </a:prstGeom>
            <a:noFill/>
            <a:ln>
              <a:noFill/>
            </a:ln>
          </p:spPr>
          <p:txBody>
            <a:bodyPr lIns="68575" tIns="68575" rIns="68575" bIns="68575"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endParaRPr kumimoji="0" lang="en-US" sz="9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76" name="Shape 631">
              <a:extLst>
                <a:ext uri="{FF2B5EF4-FFF2-40B4-BE49-F238E27FC236}">
                  <a16:creationId xmlns:a16="http://schemas.microsoft.com/office/drawing/2014/main" id="{92C2727D-E7A6-456D-BB0F-46FEACF39F8D}"/>
                </a:ext>
              </a:extLst>
            </p:cNvPr>
            <p:cNvSpPr/>
            <p:nvPr/>
          </p:nvSpPr>
          <p:spPr>
            <a:xfrm>
              <a:off x="575301" y="1853546"/>
              <a:ext cx="1259182" cy="2107157"/>
            </a:xfrm>
            <a:prstGeom prst="roundRect">
              <a:avLst>
                <a:gd name="adj" fmla="val 0"/>
              </a:avLst>
            </a:prstGeom>
            <a:solidFill>
              <a:schemeClr val="bg1">
                <a:lumMod val="95000"/>
              </a:schemeClr>
            </a:solid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8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Business Applications</a:t>
              </a:r>
            </a:p>
          </p:txBody>
        </p:sp>
        <p:sp>
          <p:nvSpPr>
            <p:cNvPr id="577" name="Shape 3088">
              <a:extLst>
                <a:ext uri="{FF2B5EF4-FFF2-40B4-BE49-F238E27FC236}">
                  <a16:creationId xmlns:a16="http://schemas.microsoft.com/office/drawing/2014/main" id="{BDC4955D-35C5-4D98-9E16-B7035C4178EC}"/>
                </a:ext>
              </a:extLst>
            </p:cNvPr>
            <p:cNvSpPr/>
            <p:nvPr/>
          </p:nvSpPr>
          <p:spPr>
            <a:xfrm>
              <a:off x="664472" y="2252030"/>
              <a:ext cx="1063650" cy="226379"/>
            </a:xfrm>
            <a:prstGeom prst="roundRect">
              <a:avLst>
                <a:gd name="adj" fmla="val 1674"/>
              </a:avLst>
            </a:prstGeom>
            <a:solidFill>
              <a:schemeClr val="lt1"/>
            </a:solidFill>
            <a:ln>
              <a:solidFill>
                <a:schemeClr val="bg2"/>
              </a:solidFill>
            </a:ln>
            <a:effectLst/>
          </p:spPr>
          <p:txBody>
            <a:bodyPr lIns="91440" tIns="0" rIns="45700" bIns="0" anchor="ctr" anchorCtr="0">
              <a:noAutofit/>
            </a:bodyPr>
            <a:lstStyle/>
            <a:p>
              <a:pPr marL="0" marR="0" lvl="0" indent="0" algn="l" defTabSz="914400" rtl="0" eaLnBrk="1" fontAlgn="auto" latinLnBrk="0" hangingPunct="1">
                <a:lnSpc>
                  <a:spcPct val="8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Customer &amp; Distribution</a:t>
              </a:r>
            </a:p>
          </p:txBody>
        </p:sp>
        <p:sp>
          <p:nvSpPr>
            <p:cNvPr id="578" name="Shape 3088">
              <a:extLst>
                <a:ext uri="{FF2B5EF4-FFF2-40B4-BE49-F238E27FC236}">
                  <a16:creationId xmlns:a16="http://schemas.microsoft.com/office/drawing/2014/main" id="{8CB6A1E2-05F0-48B0-9AF6-F4C6C7FC25DE}"/>
                </a:ext>
              </a:extLst>
            </p:cNvPr>
            <p:cNvSpPr/>
            <p:nvPr/>
          </p:nvSpPr>
          <p:spPr>
            <a:xfrm>
              <a:off x="664472" y="2533593"/>
              <a:ext cx="1063650" cy="226379"/>
            </a:xfrm>
            <a:prstGeom prst="roundRect">
              <a:avLst>
                <a:gd name="adj" fmla="val 1674"/>
              </a:avLst>
            </a:prstGeom>
            <a:solidFill>
              <a:schemeClr val="lt1"/>
            </a:solidFill>
            <a:ln>
              <a:solidFill>
                <a:schemeClr val="bg2"/>
              </a:solidFill>
            </a:ln>
            <a:effectLst/>
          </p:spPr>
          <p:txBody>
            <a:bodyPr lIns="91440" tIns="0" rIns="45700" bIns="0" anchor="ctr" anchorCtr="0">
              <a:noAutofit/>
            </a:bodyPr>
            <a:lstStyle/>
            <a:p>
              <a:pPr marL="0" marR="0" lvl="0" indent="0" algn="l" defTabSz="914400" rtl="0" eaLnBrk="1" fontAlgn="auto" latinLnBrk="0" hangingPunct="1">
                <a:lnSpc>
                  <a:spcPct val="8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Marketing, Sales &amp; Distribution</a:t>
              </a:r>
            </a:p>
          </p:txBody>
        </p:sp>
        <p:sp>
          <p:nvSpPr>
            <p:cNvPr id="579" name="Shape 3088">
              <a:extLst>
                <a:ext uri="{FF2B5EF4-FFF2-40B4-BE49-F238E27FC236}">
                  <a16:creationId xmlns:a16="http://schemas.microsoft.com/office/drawing/2014/main" id="{81FAD955-C11B-490B-B548-19A86DF46EAF}"/>
                </a:ext>
              </a:extLst>
            </p:cNvPr>
            <p:cNvSpPr/>
            <p:nvPr/>
          </p:nvSpPr>
          <p:spPr>
            <a:xfrm>
              <a:off x="664472" y="2815156"/>
              <a:ext cx="1063650" cy="226379"/>
            </a:xfrm>
            <a:prstGeom prst="roundRect">
              <a:avLst>
                <a:gd name="adj" fmla="val 1674"/>
              </a:avLst>
            </a:prstGeom>
            <a:solidFill>
              <a:schemeClr val="lt1"/>
            </a:solidFill>
            <a:ln>
              <a:solidFill>
                <a:schemeClr val="bg2"/>
              </a:solidFill>
            </a:ln>
            <a:effectLst/>
          </p:spPr>
          <p:txBody>
            <a:bodyPr lIns="91440" tIns="0" rIns="45700" bIns="0" anchor="ctr" anchorCtr="0">
              <a:noAutofit/>
            </a:bodyPr>
            <a:lstStyle/>
            <a:p>
              <a:pPr marL="0" marR="0" lvl="0" indent="0" algn="l" defTabSz="914400" rtl="0" eaLnBrk="1" fontAlgn="auto" latinLnBrk="0" hangingPunct="1">
                <a:lnSpc>
                  <a:spcPct val="8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ERP</a:t>
              </a:r>
            </a:p>
          </p:txBody>
        </p:sp>
        <p:sp>
          <p:nvSpPr>
            <p:cNvPr id="580" name="Shape 3088">
              <a:extLst>
                <a:ext uri="{FF2B5EF4-FFF2-40B4-BE49-F238E27FC236}">
                  <a16:creationId xmlns:a16="http://schemas.microsoft.com/office/drawing/2014/main" id="{C3A8D675-4599-4EAF-A709-07C90AE43D84}"/>
                </a:ext>
              </a:extLst>
            </p:cNvPr>
            <p:cNvSpPr/>
            <p:nvPr/>
          </p:nvSpPr>
          <p:spPr>
            <a:xfrm>
              <a:off x="664472" y="3096719"/>
              <a:ext cx="1063650" cy="226379"/>
            </a:xfrm>
            <a:prstGeom prst="roundRect">
              <a:avLst>
                <a:gd name="adj" fmla="val 1674"/>
              </a:avLst>
            </a:prstGeom>
            <a:solidFill>
              <a:schemeClr val="lt1"/>
            </a:solidFill>
            <a:ln>
              <a:solidFill>
                <a:schemeClr val="bg2"/>
              </a:solidFill>
            </a:ln>
            <a:effectLst/>
          </p:spPr>
          <p:txBody>
            <a:bodyPr lIns="91440" tIns="0" rIns="45700" bIns="0" anchor="ctr" anchorCtr="0">
              <a:noAutofit/>
            </a:bodyPr>
            <a:lstStyle/>
            <a:p>
              <a:pPr marL="0" marR="0" lvl="0" indent="0" algn="l" defTabSz="914400" rtl="0" eaLnBrk="1" fontAlgn="auto" latinLnBrk="0" hangingPunct="1">
                <a:lnSpc>
                  <a:spcPct val="8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HR &amp; Finance</a:t>
              </a:r>
            </a:p>
          </p:txBody>
        </p:sp>
        <p:sp>
          <p:nvSpPr>
            <p:cNvPr id="581" name="Shape 3088">
              <a:extLst>
                <a:ext uri="{FF2B5EF4-FFF2-40B4-BE49-F238E27FC236}">
                  <a16:creationId xmlns:a16="http://schemas.microsoft.com/office/drawing/2014/main" id="{3BDFBD9E-6109-4258-85A3-378433BB60B2}"/>
                </a:ext>
              </a:extLst>
            </p:cNvPr>
            <p:cNvSpPr/>
            <p:nvPr/>
          </p:nvSpPr>
          <p:spPr>
            <a:xfrm>
              <a:off x="664472" y="3378282"/>
              <a:ext cx="1063650" cy="226379"/>
            </a:xfrm>
            <a:prstGeom prst="roundRect">
              <a:avLst>
                <a:gd name="adj" fmla="val 1674"/>
              </a:avLst>
            </a:prstGeom>
            <a:solidFill>
              <a:schemeClr val="lt1"/>
            </a:solidFill>
            <a:ln>
              <a:solidFill>
                <a:schemeClr val="bg2"/>
              </a:solidFill>
            </a:ln>
            <a:effectLst/>
          </p:spPr>
          <p:txBody>
            <a:bodyPr lIns="91440" tIns="0" rIns="45700" bIns="0" anchor="ctr" anchorCtr="0">
              <a:noAutofit/>
            </a:bodyPr>
            <a:lstStyle/>
            <a:p>
              <a:pPr marL="0" marR="0" lvl="0" indent="0" algn="l" defTabSz="914400" rtl="0" eaLnBrk="1" fontAlgn="auto" latinLnBrk="0" hangingPunct="1">
                <a:lnSpc>
                  <a:spcPct val="8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Master Data Mgmt.</a:t>
              </a:r>
            </a:p>
          </p:txBody>
        </p:sp>
        <p:sp>
          <p:nvSpPr>
            <p:cNvPr id="582" name="Shape 3088">
              <a:extLst>
                <a:ext uri="{FF2B5EF4-FFF2-40B4-BE49-F238E27FC236}">
                  <a16:creationId xmlns:a16="http://schemas.microsoft.com/office/drawing/2014/main" id="{4891725E-D090-4C0A-9104-B86B8837CAC0}"/>
                </a:ext>
              </a:extLst>
            </p:cNvPr>
            <p:cNvSpPr/>
            <p:nvPr/>
          </p:nvSpPr>
          <p:spPr>
            <a:xfrm>
              <a:off x="664472" y="3659843"/>
              <a:ext cx="1063650" cy="226379"/>
            </a:xfrm>
            <a:prstGeom prst="roundRect">
              <a:avLst>
                <a:gd name="adj" fmla="val 1674"/>
              </a:avLst>
            </a:prstGeom>
            <a:solidFill>
              <a:schemeClr val="lt1"/>
            </a:solidFill>
            <a:ln>
              <a:solidFill>
                <a:schemeClr val="bg2"/>
              </a:solidFill>
            </a:ln>
            <a:effectLst/>
          </p:spPr>
          <p:txBody>
            <a:bodyPr lIns="91440" tIns="0" rIns="45700" bIns="0" anchor="ctr" anchorCtr="0">
              <a:noAutofit/>
            </a:bodyPr>
            <a:lstStyle/>
            <a:p>
              <a:pPr marL="0" marR="0" lvl="0" indent="0" algn="l" defTabSz="914400" rtl="0" eaLnBrk="1" fontAlgn="auto" latinLnBrk="0" hangingPunct="1">
                <a:lnSpc>
                  <a:spcPct val="8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rPr>
                <a:t>Other RDBMS</a:t>
              </a:r>
            </a:p>
          </p:txBody>
        </p:sp>
      </p:grpSp>
      <p:grpSp>
        <p:nvGrpSpPr>
          <p:cNvPr id="583" name="Group 582">
            <a:extLst>
              <a:ext uri="{FF2B5EF4-FFF2-40B4-BE49-F238E27FC236}">
                <a16:creationId xmlns:a16="http://schemas.microsoft.com/office/drawing/2014/main" id="{A329D184-876D-4243-A03B-1DA8456B4659}"/>
              </a:ext>
            </a:extLst>
          </p:cNvPr>
          <p:cNvGrpSpPr/>
          <p:nvPr/>
        </p:nvGrpSpPr>
        <p:grpSpPr>
          <a:xfrm>
            <a:off x="564987" y="4086000"/>
            <a:ext cx="1259182" cy="1699419"/>
            <a:chOff x="564987" y="4086000"/>
            <a:chExt cx="1259182" cy="1699419"/>
          </a:xfrm>
        </p:grpSpPr>
        <p:sp>
          <p:nvSpPr>
            <p:cNvPr id="584" name="Shape 631">
              <a:extLst>
                <a:ext uri="{FF2B5EF4-FFF2-40B4-BE49-F238E27FC236}">
                  <a16:creationId xmlns:a16="http://schemas.microsoft.com/office/drawing/2014/main" id="{652E765C-02FA-4C2B-9804-A13CF8CD2E36}"/>
                </a:ext>
              </a:extLst>
            </p:cNvPr>
            <p:cNvSpPr/>
            <p:nvPr/>
          </p:nvSpPr>
          <p:spPr>
            <a:xfrm>
              <a:off x="564987" y="4086000"/>
              <a:ext cx="1259182" cy="1699419"/>
            </a:xfrm>
            <a:prstGeom prst="roundRect">
              <a:avLst>
                <a:gd name="adj" fmla="val 0"/>
              </a:avLst>
            </a:prstGeom>
            <a:solidFill>
              <a:schemeClr val="bg1">
                <a:lumMod val="95000"/>
              </a:schemeClr>
            </a:solid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8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Other Data Sources</a:t>
              </a:r>
            </a:p>
          </p:txBody>
        </p:sp>
        <p:sp>
          <p:nvSpPr>
            <p:cNvPr id="585" name="Shape 3088">
              <a:extLst>
                <a:ext uri="{FF2B5EF4-FFF2-40B4-BE49-F238E27FC236}">
                  <a16:creationId xmlns:a16="http://schemas.microsoft.com/office/drawing/2014/main" id="{3703CAFB-E5F9-423C-95C7-1F5ED7E3B031}"/>
                </a:ext>
              </a:extLst>
            </p:cNvPr>
            <p:cNvSpPr/>
            <p:nvPr/>
          </p:nvSpPr>
          <p:spPr>
            <a:xfrm>
              <a:off x="664472" y="4379277"/>
              <a:ext cx="1063650" cy="226379"/>
            </a:xfrm>
            <a:prstGeom prst="roundRect">
              <a:avLst>
                <a:gd name="adj" fmla="val 1674"/>
              </a:avLst>
            </a:prstGeom>
            <a:solidFill>
              <a:schemeClr val="lt1"/>
            </a:solidFill>
            <a:ln>
              <a:solidFill>
                <a:schemeClr val="bg2"/>
              </a:solidFill>
            </a:ln>
            <a:effectLst/>
          </p:spPr>
          <p:txBody>
            <a:bodyPr lIns="91440" tIns="73150" rIns="45700" bIns="73150" anchor="ctr"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IoT Data</a:t>
              </a:r>
            </a:p>
          </p:txBody>
        </p:sp>
        <p:sp>
          <p:nvSpPr>
            <p:cNvPr id="586" name="Shape 3088">
              <a:extLst>
                <a:ext uri="{FF2B5EF4-FFF2-40B4-BE49-F238E27FC236}">
                  <a16:creationId xmlns:a16="http://schemas.microsoft.com/office/drawing/2014/main" id="{023675C4-7625-4B9A-9DD9-1839D49B377D}"/>
                </a:ext>
              </a:extLst>
            </p:cNvPr>
            <p:cNvSpPr/>
            <p:nvPr/>
          </p:nvSpPr>
          <p:spPr>
            <a:xfrm>
              <a:off x="664472" y="4658642"/>
              <a:ext cx="1063650" cy="226379"/>
            </a:xfrm>
            <a:prstGeom prst="roundRect">
              <a:avLst>
                <a:gd name="adj" fmla="val 1674"/>
              </a:avLst>
            </a:prstGeom>
            <a:solidFill>
              <a:schemeClr val="lt1"/>
            </a:solidFill>
            <a:ln>
              <a:solidFill>
                <a:schemeClr val="bg2"/>
              </a:solidFill>
            </a:ln>
            <a:effectLst/>
          </p:spPr>
          <p:txBody>
            <a:bodyPr lIns="91440" tIns="73150" rIns="45700" bIns="73150" anchor="ctr"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Unstructured Data</a:t>
              </a:r>
            </a:p>
          </p:txBody>
        </p:sp>
        <p:sp>
          <p:nvSpPr>
            <p:cNvPr id="587" name="Shape 3088">
              <a:extLst>
                <a:ext uri="{FF2B5EF4-FFF2-40B4-BE49-F238E27FC236}">
                  <a16:creationId xmlns:a16="http://schemas.microsoft.com/office/drawing/2014/main" id="{61C4984E-8DB8-44A4-944A-EFB7DD73FB3D}"/>
                </a:ext>
              </a:extLst>
            </p:cNvPr>
            <p:cNvSpPr/>
            <p:nvPr/>
          </p:nvSpPr>
          <p:spPr>
            <a:xfrm>
              <a:off x="664472" y="4938007"/>
              <a:ext cx="1063650" cy="226379"/>
            </a:xfrm>
            <a:prstGeom prst="roundRect">
              <a:avLst>
                <a:gd name="adj" fmla="val 1674"/>
              </a:avLst>
            </a:prstGeom>
            <a:solidFill>
              <a:schemeClr val="lt1"/>
            </a:solidFill>
            <a:ln>
              <a:solidFill>
                <a:schemeClr val="bg2"/>
              </a:solidFill>
            </a:ln>
            <a:effectLst/>
          </p:spPr>
          <p:txBody>
            <a:bodyPr lIns="91440" tIns="73150" rIns="45700" bIns="73150" anchor="ctr"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Geospatial Data</a:t>
              </a:r>
            </a:p>
          </p:txBody>
        </p:sp>
        <p:sp>
          <p:nvSpPr>
            <p:cNvPr id="588" name="Shape 3088">
              <a:extLst>
                <a:ext uri="{FF2B5EF4-FFF2-40B4-BE49-F238E27FC236}">
                  <a16:creationId xmlns:a16="http://schemas.microsoft.com/office/drawing/2014/main" id="{37AB4CAA-2055-4E19-B715-CB8874C02310}"/>
                </a:ext>
              </a:extLst>
            </p:cNvPr>
            <p:cNvSpPr/>
            <p:nvPr/>
          </p:nvSpPr>
          <p:spPr>
            <a:xfrm>
              <a:off x="664472" y="5217371"/>
              <a:ext cx="1063650" cy="226379"/>
            </a:xfrm>
            <a:prstGeom prst="roundRect">
              <a:avLst>
                <a:gd name="adj" fmla="val 1674"/>
              </a:avLst>
            </a:prstGeom>
            <a:solidFill>
              <a:schemeClr val="lt1"/>
            </a:solidFill>
            <a:ln>
              <a:solidFill>
                <a:schemeClr val="bg2"/>
              </a:solidFill>
            </a:ln>
            <a:effectLst/>
          </p:spPr>
          <p:txBody>
            <a:bodyPr lIns="91440" tIns="73150" rIns="45700" bIns="73150" anchor="ctr"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External Data</a:t>
              </a:r>
            </a:p>
          </p:txBody>
        </p:sp>
        <p:sp>
          <p:nvSpPr>
            <p:cNvPr id="589" name="Shape 3088">
              <a:extLst>
                <a:ext uri="{FF2B5EF4-FFF2-40B4-BE49-F238E27FC236}">
                  <a16:creationId xmlns:a16="http://schemas.microsoft.com/office/drawing/2014/main" id="{B3694182-5C62-4B11-B3BD-7DE692CC666C}"/>
                </a:ext>
              </a:extLst>
            </p:cNvPr>
            <p:cNvSpPr/>
            <p:nvPr/>
          </p:nvSpPr>
          <p:spPr>
            <a:xfrm>
              <a:off x="664472" y="5496735"/>
              <a:ext cx="1063650" cy="226379"/>
            </a:xfrm>
            <a:prstGeom prst="roundRect">
              <a:avLst>
                <a:gd name="adj" fmla="val 1674"/>
              </a:avLst>
            </a:prstGeom>
            <a:solidFill>
              <a:schemeClr val="lt1"/>
            </a:solidFill>
            <a:ln>
              <a:solidFill>
                <a:schemeClr val="bg2"/>
              </a:solidFill>
            </a:ln>
            <a:effectLst/>
          </p:spPr>
          <p:txBody>
            <a:bodyPr lIns="91440" tIns="73150" rIns="45700" bIns="73150" anchor="ctr" anchorCtr="0">
              <a:noAutofit/>
            </a:bodyPr>
            <a:lstStyle/>
            <a:p>
              <a:pPr marL="0" marR="0" lvl="0" indent="0" algn="l" defTabSz="914400" rtl="0" eaLnBrk="1" fontAlgn="auto" latinLnBrk="0" hangingPunct="1">
                <a:lnSpc>
                  <a:spcPct val="100000"/>
                </a:lnSpc>
                <a:spcBef>
                  <a:spcPts val="0"/>
                </a:spcBef>
                <a:spcAft>
                  <a:spcPts val="600"/>
                </a:spcAft>
                <a:buClr>
                  <a:srgbClr val="808080"/>
                </a:buClr>
                <a:buSzPct val="25000"/>
                <a:buFontTx/>
                <a:buNone/>
                <a:tabLst/>
                <a:defRPr/>
              </a:pPr>
              <a:r>
                <a:rPr kumimoji="0" lang="en-US" sz="8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Live Streams</a:t>
              </a:r>
            </a:p>
          </p:txBody>
        </p:sp>
      </p:grpSp>
      <p:grpSp>
        <p:nvGrpSpPr>
          <p:cNvPr id="590" name="Group 589">
            <a:extLst>
              <a:ext uri="{FF2B5EF4-FFF2-40B4-BE49-F238E27FC236}">
                <a16:creationId xmlns:a16="http://schemas.microsoft.com/office/drawing/2014/main" id="{9904A1A4-6762-4AD5-87DD-E39A3B97E9B3}"/>
              </a:ext>
            </a:extLst>
          </p:cNvPr>
          <p:cNvGrpSpPr/>
          <p:nvPr/>
        </p:nvGrpSpPr>
        <p:grpSpPr>
          <a:xfrm>
            <a:off x="10572689" y="1853546"/>
            <a:ext cx="1090571" cy="1806297"/>
            <a:chOff x="575301" y="1853546"/>
            <a:chExt cx="1259182" cy="1806297"/>
          </a:xfrm>
        </p:grpSpPr>
        <p:sp>
          <p:nvSpPr>
            <p:cNvPr id="591" name="Shape 548">
              <a:extLst>
                <a:ext uri="{FF2B5EF4-FFF2-40B4-BE49-F238E27FC236}">
                  <a16:creationId xmlns:a16="http://schemas.microsoft.com/office/drawing/2014/main" id="{267C7F83-8B9A-4D82-AD7A-E10A66AAA7BB}"/>
                </a:ext>
              </a:extLst>
            </p:cNvPr>
            <p:cNvSpPr txBox="1"/>
            <p:nvPr/>
          </p:nvSpPr>
          <p:spPr>
            <a:xfrm>
              <a:off x="604279" y="2309285"/>
              <a:ext cx="1189402" cy="204459"/>
            </a:xfrm>
            <a:prstGeom prst="rect">
              <a:avLst/>
            </a:prstGeom>
            <a:noFill/>
            <a:ln>
              <a:noFill/>
            </a:ln>
          </p:spPr>
          <p:txBody>
            <a:bodyPr lIns="68575" tIns="68575" rIns="68575" bIns="68575"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endParaRPr kumimoji="0" lang="en-US" sz="9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592" name="Shape 631">
              <a:extLst>
                <a:ext uri="{FF2B5EF4-FFF2-40B4-BE49-F238E27FC236}">
                  <a16:creationId xmlns:a16="http://schemas.microsoft.com/office/drawing/2014/main" id="{2E58CDA4-9CEB-49D6-ADC6-4D275E798B9F}"/>
                </a:ext>
              </a:extLst>
            </p:cNvPr>
            <p:cNvSpPr/>
            <p:nvPr/>
          </p:nvSpPr>
          <p:spPr>
            <a:xfrm>
              <a:off x="575301" y="1853546"/>
              <a:ext cx="1259182" cy="1806297"/>
            </a:xfrm>
            <a:prstGeom prst="roundRect">
              <a:avLst>
                <a:gd name="adj" fmla="val 0"/>
              </a:avLst>
            </a:prstGeom>
            <a:solidFill>
              <a:schemeClr val="bg1">
                <a:lumMod val="95000"/>
              </a:schemeClr>
            </a:solidFill>
            <a:ln>
              <a:noFill/>
            </a:ln>
          </p:spPr>
          <p:txBody>
            <a:bodyPr lIns="45720" tIns="45720" rIns="91425" bIns="91425" anchor="t" anchorCtr="0">
              <a:noAutofit/>
            </a:bodyPr>
            <a:lstStyle/>
            <a:p>
              <a:pPr marL="0" marR="0" lvl="0" indent="0" algn="l" defTabSz="914400" rtl="0" eaLnBrk="1" fontAlgn="auto" latinLnBrk="0" hangingPunct="1">
                <a:lnSpc>
                  <a:spcPct val="100000"/>
                </a:lnSpc>
                <a:spcBef>
                  <a:spcPts val="0"/>
                </a:spcBef>
                <a:spcAft>
                  <a:spcPts val="400"/>
                </a:spcAft>
                <a:buClr>
                  <a:srgbClr val="808080"/>
                </a:buClr>
                <a:buSzPct val="25000"/>
                <a:buFontTx/>
                <a:buNone/>
                <a:tabLst/>
                <a:defRPr/>
              </a:pPr>
              <a:r>
                <a:rPr kumimoji="0" lang="en-US" sz="8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Functional Users</a:t>
              </a:r>
            </a:p>
          </p:txBody>
        </p:sp>
        <p:sp>
          <p:nvSpPr>
            <p:cNvPr id="593" name="Shape 3088">
              <a:extLst>
                <a:ext uri="{FF2B5EF4-FFF2-40B4-BE49-F238E27FC236}">
                  <a16:creationId xmlns:a16="http://schemas.microsoft.com/office/drawing/2014/main" id="{6E719948-537E-4AFF-B595-F3932E6656E1}"/>
                </a:ext>
              </a:extLst>
            </p:cNvPr>
            <p:cNvSpPr/>
            <p:nvPr/>
          </p:nvSpPr>
          <p:spPr>
            <a:xfrm>
              <a:off x="664473" y="2067967"/>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8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Business Consumers / Analytics</a:t>
              </a:r>
            </a:p>
          </p:txBody>
        </p:sp>
        <p:sp>
          <p:nvSpPr>
            <p:cNvPr id="594" name="Shape 3088">
              <a:extLst>
                <a:ext uri="{FF2B5EF4-FFF2-40B4-BE49-F238E27FC236}">
                  <a16:creationId xmlns:a16="http://schemas.microsoft.com/office/drawing/2014/main" id="{9B88BD73-B676-412C-8BFB-209FE942E760}"/>
                </a:ext>
              </a:extLst>
            </p:cNvPr>
            <p:cNvSpPr/>
            <p:nvPr/>
          </p:nvSpPr>
          <p:spPr>
            <a:xfrm>
              <a:off x="664473" y="2328266"/>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8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Finance and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Accounting</a:t>
              </a:r>
            </a:p>
          </p:txBody>
        </p:sp>
        <p:sp>
          <p:nvSpPr>
            <p:cNvPr id="595" name="Shape 3088">
              <a:extLst>
                <a:ext uri="{FF2B5EF4-FFF2-40B4-BE49-F238E27FC236}">
                  <a16:creationId xmlns:a16="http://schemas.microsoft.com/office/drawing/2014/main" id="{E6E4AFD0-8F19-4D69-B819-28B63AB9BA3A}"/>
                </a:ext>
              </a:extLst>
            </p:cNvPr>
            <p:cNvSpPr/>
            <p:nvPr/>
          </p:nvSpPr>
          <p:spPr>
            <a:xfrm>
              <a:off x="664473" y="2588565"/>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8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Corporate Business Functions and HR</a:t>
              </a:r>
            </a:p>
          </p:txBody>
        </p:sp>
        <p:sp>
          <p:nvSpPr>
            <p:cNvPr id="596" name="Shape 3088">
              <a:extLst>
                <a:ext uri="{FF2B5EF4-FFF2-40B4-BE49-F238E27FC236}">
                  <a16:creationId xmlns:a16="http://schemas.microsoft.com/office/drawing/2014/main" id="{4AD87B21-5B68-4359-96F3-BDA3BB84D9C5}"/>
                </a:ext>
              </a:extLst>
            </p:cNvPr>
            <p:cNvSpPr/>
            <p:nvPr/>
          </p:nvSpPr>
          <p:spPr>
            <a:xfrm>
              <a:off x="664473" y="2843548"/>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8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Corporate Business Functions and HR</a:t>
              </a:r>
            </a:p>
          </p:txBody>
        </p:sp>
        <p:sp>
          <p:nvSpPr>
            <p:cNvPr id="597" name="Shape 3088">
              <a:extLst>
                <a:ext uri="{FF2B5EF4-FFF2-40B4-BE49-F238E27FC236}">
                  <a16:creationId xmlns:a16="http://schemas.microsoft.com/office/drawing/2014/main" id="{FE20646A-2941-428A-9555-895D5637745E}"/>
                </a:ext>
              </a:extLst>
            </p:cNvPr>
            <p:cNvSpPr/>
            <p:nvPr/>
          </p:nvSpPr>
          <p:spPr>
            <a:xfrm>
              <a:off x="664473" y="3103847"/>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8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 Scientist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Community</a:t>
              </a:r>
            </a:p>
          </p:txBody>
        </p:sp>
        <p:sp>
          <p:nvSpPr>
            <p:cNvPr id="598" name="Shape 3088">
              <a:extLst>
                <a:ext uri="{FF2B5EF4-FFF2-40B4-BE49-F238E27FC236}">
                  <a16:creationId xmlns:a16="http://schemas.microsoft.com/office/drawing/2014/main" id="{92485B62-A3CF-467E-B488-E7CA9FEF64D6}"/>
                </a:ext>
              </a:extLst>
            </p:cNvPr>
            <p:cNvSpPr/>
            <p:nvPr/>
          </p:nvSpPr>
          <p:spPr>
            <a:xfrm>
              <a:off x="664473" y="3364144"/>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8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External Consumers</a:t>
              </a:r>
            </a:p>
          </p:txBody>
        </p:sp>
      </p:grpSp>
      <p:grpSp>
        <p:nvGrpSpPr>
          <p:cNvPr id="599" name="Group 598">
            <a:extLst>
              <a:ext uri="{FF2B5EF4-FFF2-40B4-BE49-F238E27FC236}">
                <a16:creationId xmlns:a16="http://schemas.microsoft.com/office/drawing/2014/main" id="{75B78188-6C2B-42A0-AC96-207CD4718036}"/>
              </a:ext>
            </a:extLst>
          </p:cNvPr>
          <p:cNvGrpSpPr/>
          <p:nvPr/>
        </p:nvGrpSpPr>
        <p:grpSpPr>
          <a:xfrm>
            <a:off x="10572689" y="3757444"/>
            <a:ext cx="1090571" cy="1344093"/>
            <a:chOff x="575301" y="1738745"/>
            <a:chExt cx="1259182" cy="1344093"/>
          </a:xfrm>
        </p:grpSpPr>
        <p:sp>
          <p:nvSpPr>
            <p:cNvPr id="600" name="Shape 548">
              <a:extLst>
                <a:ext uri="{FF2B5EF4-FFF2-40B4-BE49-F238E27FC236}">
                  <a16:creationId xmlns:a16="http://schemas.microsoft.com/office/drawing/2014/main" id="{71C17296-0F10-4B72-9C70-09E95A1C8246}"/>
                </a:ext>
              </a:extLst>
            </p:cNvPr>
            <p:cNvSpPr txBox="1"/>
            <p:nvPr/>
          </p:nvSpPr>
          <p:spPr>
            <a:xfrm>
              <a:off x="604279" y="2309285"/>
              <a:ext cx="1189402" cy="204459"/>
            </a:xfrm>
            <a:prstGeom prst="rect">
              <a:avLst/>
            </a:prstGeom>
            <a:noFill/>
            <a:ln>
              <a:noFill/>
            </a:ln>
          </p:spPr>
          <p:txBody>
            <a:bodyPr lIns="68575" tIns="68575" rIns="68575" bIns="68575" anchor="ctr" anchorCtr="0">
              <a:noAutofit/>
            </a:bodyPr>
            <a:lstStyle/>
            <a:p>
              <a:pPr marL="0" marR="0" lvl="0" indent="0" algn="l" defTabSz="914400" rtl="0" eaLnBrk="1" fontAlgn="auto" latinLnBrk="0" hangingPunct="1">
                <a:lnSpc>
                  <a:spcPct val="100000"/>
                </a:lnSpc>
                <a:spcBef>
                  <a:spcPts val="0"/>
                </a:spcBef>
                <a:spcAft>
                  <a:spcPts val="0"/>
                </a:spcAft>
                <a:buClr>
                  <a:srgbClr val="808080"/>
                </a:buClr>
                <a:buSzPct val="25000"/>
                <a:buFontTx/>
                <a:buNone/>
                <a:tabLst/>
                <a:defRPr/>
              </a:pPr>
              <a:endParaRPr kumimoji="0" lang="en-US" sz="9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601" name="Shape 631">
              <a:extLst>
                <a:ext uri="{FF2B5EF4-FFF2-40B4-BE49-F238E27FC236}">
                  <a16:creationId xmlns:a16="http://schemas.microsoft.com/office/drawing/2014/main" id="{F8EFE043-9B04-4D4C-89BC-0688B2EE77CA}"/>
                </a:ext>
              </a:extLst>
            </p:cNvPr>
            <p:cNvSpPr/>
            <p:nvPr/>
          </p:nvSpPr>
          <p:spPr>
            <a:xfrm>
              <a:off x="575301" y="1738745"/>
              <a:ext cx="1259182" cy="1344093"/>
            </a:xfrm>
            <a:prstGeom prst="roundRect">
              <a:avLst>
                <a:gd name="adj" fmla="val 0"/>
              </a:avLst>
            </a:prstGeom>
            <a:solidFill>
              <a:schemeClr val="bg1">
                <a:lumMod val="95000"/>
              </a:schemeClr>
            </a:solidFill>
            <a:ln>
              <a:noFill/>
            </a:ln>
          </p:spPr>
          <p:txBody>
            <a:bodyPr lIns="91425" tIns="45720" rIns="91425" bIns="91425" anchor="t" anchorCtr="0">
              <a:noAutofit/>
            </a:bodyPr>
            <a:lstStyle/>
            <a:p>
              <a:pPr marL="0" marR="0" lvl="0" indent="0" algn="l" defTabSz="914400" rtl="0" eaLnBrk="1" fontAlgn="auto" latinLnBrk="0" hangingPunct="1">
                <a:lnSpc>
                  <a:spcPct val="80000"/>
                </a:lnSpc>
                <a:spcBef>
                  <a:spcPts val="0"/>
                </a:spcBef>
                <a:spcAft>
                  <a:spcPts val="400"/>
                </a:spcAft>
                <a:buClr>
                  <a:srgbClr val="808080"/>
                </a:buClr>
                <a:buSzPct val="25000"/>
                <a:buFontTx/>
                <a:buNone/>
                <a:tabLst/>
                <a:defRPr/>
              </a:pPr>
              <a:r>
                <a:rPr kumimoji="0" lang="en-US" sz="8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Information </a:t>
              </a:r>
              <a:br>
                <a:rPr kumimoji="0" lang="en-US" sz="8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800" b="1" i="0" u="none" strike="noStrike" kern="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Access Channels</a:t>
              </a:r>
            </a:p>
          </p:txBody>
        </p:sp>
        <p:sp>
          <p:nvSpPr>
            <p:cNvPr id="602" name="Shape 3088">
              <a:extLst>
                <a:ext uri="{FF2B5EF4-FFF2-40B4-BE49-F238E27FC236}">
                  <a16:creationId xmlns:a16="http://schemas.microsoft.com/office/drawing/2014/main" id="{079074E7-84B9-4EDE-B4A5-8C6EBF7D662A}"/>
                </a:ext>
              </a:extLst>
            </p:cNvPr>
            <p:cNvSpPr/>
            <p:nvPr/>
          </p:nvSpPr>
          <p:spPr>
            <a:xfrm>
              <a:off x="664473" y="2027632"/>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10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Portals</a:t>
              </a:r>
            </a:p>
          </p:txBody>
        </p:sp>
        <p:sp>
          <p:nvSpPr>
            <p:cNvPr id="603" name="Shape 3088">
              <a:extLst>
                <a:ext uri="{FF2B5EF4-FFF2-40B4-BE49-F238E27FC236}">
                  <a16:creationId xmlns:a16="http://schemas.microsoft.com/office/drawing/2014/main" id="{F08A4FF2-6B63-4E32-9586-B3F8736A7BB9}"/>
                </a:ext>
              </a:extLst>
            </p:cNvPr>
            <p:cNvSpPr/>
            <p:nvPr/>
          </p:nvSpPr>
          <p:spPr>
            <a:xfrm>
              <a:off x="664473" y="2287931"/>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10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Mobile</a:t>
              </a:r>
            </a:p>
          </p:txBody>
        </p:sp>
        <p:sp>
          <p:nvSpPr>
            <p:cNvPr id="604" name="Shape 3088">
              <a:extLst>
                <a:ext uri="{FF2B5EF4-FFF2-40B4-BE49-F238E27FC236}">
                  <a16:creationId xmlns:a16="http://schemas.microsoft.com/office/drawing/2014/main" id="{C231F648-B7D6-44C2-A555-0D836E152203}"/>
                </a:ext>
              </a:extLst>
            </p:cNvPr>
            <p:cNvSpPr/>
            <p:nvPr/>
          </p:nvSpPr>
          <p:spPr>
            <a:xfrm>
              <a:off x="664473" y="2542914"/>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10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Enterprise Search</a:t>
              </a:r>
            </a:p>
          </p:txBody>
        </p:sp>
        <p:sp>
          <p:nvSpPr>
            <p:cNvPr id="605" name="Shape 3088">
              <a:extLst>
                <a:ext uri="{FF2B5EF4-FFF2-40B4-BE49-F238E27FC236}">
                  <a16:creationId xmlns:a16="http://schemas.microsoft.com/office/drawing/2014/main" id="{C465A615-ED6A-4E70-83AB-0AAF05FE402F}"/>
                </a:ext>
              </a:extLst>
            </p:cNvPr>
            <p:cNvSpPr/>
            <p:nvPr/>
          </p:nvSpPr>
          <p:spPr>
            <a:xfrm>
              <a:off x="664473" y="2803213"/>
              <a:ext cx="1063650" cy="226379"/>
            </a:xfrm>
            <a:prstGeom prst="roundRect">
              <a:avLst>
                <a:gd name="adj" fmla="val 1674"/>
              </a:avLst>
            </a:prstGeom>
            <a:solidFill>
              <a:schemeClr val="lt1"/>
            </a:solidFill>
            <a:ln>
              <a:solidFill>
                <a:schemeClr val="bg2"/>
              </a:solidFill>
            </a:ln>
            <a:effectLst/>
          </p:spPr>
          <p:txBody>
            <a:bodyPr lIns="45720" tIns="73150" rIns="0" bIns="73150" anchor="ctr" anchorCtr="0">
              <a:noAutofit/>
            </a:bodyPr>
            <a:lstStyle/>
            <a:p>
              <a:pPr marL="0" marR="0" lvl="0" indent="0" algn="l" defTabSz="914400" rtl="0" eaLnBrk="1" fontAlgn="auto" latinLnBrk="0" hangingPunct="1">
                <a:lnSpc>
                  <a:spcPct val="100000"/>
                </a:lnSpc>
                <a:spcBef>
                  <a:spcPts val="0"/>
                </a:spcBef>
                <a:spcAft>
                  <a:spcPts val="400"/>
                </a:spcAft>
                <a:buClr>
                  <a:srgbClr val="808080"/>
                </a:buClr>
                <a:buSzPct val="25000"/>
                <a:buFontTx/>
                <a:buNone/>
                <a:tabLst/>
                <a:defRPr/>
              </a:pP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Enterprise </a:t>
              </a:r>
              <a:b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br>
              <a:r>
                <a:rPr kumimoji="0" lang="en-US" sz="7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Applications</a:t>
              </a:r>
            </a:p>
          </p:txBody>
        </p:sp>
      </p:grpSp>
    </p:spTree>
    <p:extLst>
      <p:ext uri="{BB962C8B-B14F-4D97-AF65-F5344CB8AC3E}">
        <p14:creationId xmlns:p14="http://schemas.microsoft.com/office/powerpoint/2010/main" val="660776153"/>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GCP data and analytics component details</a:t>
            </a:r>
          </a:p>
        </p:txBody>
      </p:sp>
      <p:graphicFrame>
        <p:nvGraphicFramePr>
          <p:cNvPr id="40" name="Content Placeholder 3">
            <a:extLst>
              <a:ext uri="{FF2B5EF4-FFF2-40B4-BE49-F238E27FC236}">
                <a16:creationId xmlns:a16="http://schemas.microsoft.com/office/drawing/2014/main" id="{8916F278-989B-4F55-BCCF-F7E7D1C896F9}"/>
              </a:ext>
            </a:extLst>
          </p:cNvPr>
          <p:cNvGraphicFramePr>
            <a:graphicFrameLocks noGrp="1"/>
          </p:cNvGraphicFramePr>
          <p:nvPr>
            <p:ph idx="4294967295"/>
            <p:extLst>
              <p:ext uri="{D42A27DB-BD31-4B8C-83A1-F6EECF244321}">
                <p14:modId xmlns:p14="http://schemas.microsoft.com/office/powerpoint/2010/main" val="989102055"/>
              </p:ext>
            </p:extLst>
          </p:nvPr>
        </p:nvGraphicFramePr>
        <p:xfrm>
          <a:off x="469901" y="1017589"/>
          <a:ext cx="11250167" cy="5059680"/>
        </p:xfrm>
        <a:graphic>
          <a:graphicData uri="http://schemas.openxmlformats.org/drawingml/2006/table">
            <a:tbl>
              <a:tblPr firstRow="1" bandRow="1">
                <a:effectLst/>
              </a:tblPr>
              <a:tblGrid>
                <a:gridCol w="1219199">
                  <a:extLst>
                    <a:ext uri="{9D8B030D-6E8A-4147-A177-3AD203B41FA5}">
                      <a16:colId xmlns:a16="http://schemas.microsoft.com/office/drawing/2014/main" val="20000"/>
                    </a:ext>
                  </a:extLst>
                </a:gridCol>
                <a:gridCol w="1426464">
                  <a:extLst>
                    <a:ext uri="{9D8B030D-6E8A-4147-A177-3AD203B41FA5}">
                      <a16:colId xmlns:a16="http://schemas.microsoft.com/office/drawing/2014/main" val="20001"/>
                    </a:ext>
                  </a:extLst>
                </a:gridCol>
                <a:gridCol w="8604504">
                  <a:extLst>
                    <a:ext uri="{9D8B030D-6E8A-4147-A177-3AD203B41FA5}">
                      <a16:colId xmlns:a16="http://schemas.microsoft.com/office/drawing/2014/main" val="20002"/>
                    </a:ext>
                  </a:extLst>
                </a:gridCol>
              </a:tblGrid>
              <a:tr h="0">
                <a:tc>
                  <a:txBody>
                    <a:bodyPr/>
                    <a:lstStyle/>
                    <a:p>
                      <a:pPr algn="l"/>
                      <a:r>
                        <a:rPr lang="en-US" sz="1000" b="1" cap="none" spc="0" dirty="0">
                          <a:ln>
                            <a:noFill/>
                          </a:ln>
                          <a:solidFill>
                            <a:schemeClr val="bg1"/>
                          </a:solidFill>
                          <a:effectLst/>
                        </a:rPr>
                        <a:t>Function</a:t>
                      </a:r>
                      <a:endParaRPr lang="en-US" sz="10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000" b="1" cap="none" spc="0" dirty="0">
                          <a:ln>
                            <a:noFill/>
                          </a:ln>
                          <a:solidFill>
                            <a:schemeClr val="bg1"/>
                          </a:solidFill>
                          <a:effectLst/>
                        </a:rPr>
                        <a:t>AWS component</a:t>
                      </a:r>
                      <a:endParaRPr lang="en-US" sz="10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000" b="1" cap="none" spc="0" dirty="0">
                          <a:ln>
                            <a:noFill/>
                          </a:ln>
                          <a:solidFill>
                            <a:schemeClr val="bg1"/>
                          </a:solidFill>
                          <a:effectLst/>
                        </a:rPr>
                        <a:t>Description</a:t>
                      </a:r>
                      <a:endParaRPr lang="en-US" sz="1000" b="1" cap="none" spc="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0">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cap="none" spc="0" dirty="0">
                          <a:ln>
                            <a:noFill/>
                          </a:ln>
                          <a:solidFill>
                            <a:sysClr val="windowText" lastClr="000000"/>
                          </a:solidFill>
                          <a:effectLst/>
                        </a:rPr>
                        <a:t>Data movement</a:t>
                      </a:r>
                    </a:p>
                    <a:p>
                      <a:pPr algn="l"/>
                      <a:endParaRPr lang="en-US" sz="1000" b="1" cap="none" spc="0" dirty="0">
                        <a:ln>
                          <a:noFill/>
                        </a:ln>
                        <a:solidFill>
                          <a:sysClr val="windowText" lastClr="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rPr>
                        <a:t>Google Transfer Appliance</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Select between 100 TB and 480 TB rackable appliances to securely ship your data to Google Cloud Storage</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4686390"/>
                  </a:ext>
                </a:extLst>
              </a:tr>
              <a:tr h="0">
                <a:tc vMerge="1">
                  <a:txBody>
                    <a:bodyPr/>
                    <a:lstStyle/>
                    <a:p>
                      <a:endParaRPr lang="en-US" sz="1000" b="1" dirty="0"/>
                    </a:p>
                  </a:txBody>
                  <a:tcPr anchor="ctr"/>
                </a:tc>
                <a:tc>
                  <a:txBody>
                    <a:bodyPr/>
                    <a:lstStyle/>
                    <a:p>
                      <a:pPr algn="l" fontAlgn="b"/>
                      <a:r>
                        <a:rPr lang="en-US" sz="1000" b="0" u="none" strike="noStrike" cap="none" spc="0" dirty="0">
                          <a:ln>
                            <a:noFill/>
                          </a:ln>
                          <a:solidFill>
                            <a:schemeClr val="tx1"/>
                          </a:solidFill>
                          <a:effectLst/>
                        </a:rPr>
                        <a:t>Cloud Storage Transfer Service</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Transfer your data from one cloud to another</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675804"/>
                  </a:ext>
                </a:extLst>
              </a:tr>
              <a:tr h="0">
                <a:tc vMerge="1">
                  <a:txBody>
                    <a:bodyPr/>
                    <a:lstStyle/>
                    <a:p>
                      <a:endParaRPr lang="en-US" sz="1000" b="1" dirty="0"/>
                    </a:p>
                  </a:txBody>
                  <a:tcPr anchor="ctr"/>
                </a:tc>
                <a:tc>
                  <a:txBody>
                    <a:bodyPr/>
                    <a:lstStyle/>
                    <a:p>
                      <a:pPr algn="l" fontAlgn="b"/>
                      <a:r>
                        <a:rPr lang="en-US" sz="1000" b="0" u="none" strike="noStrike" cap="none" spc="0" dirty="0">
                          <a:ln>
                            <a:noFill/>
                          </a:ln>
                          <a:solidFill>
                            <a:schemeClr val="tx1"/>
                          </a:solidFill>
                          <a:effectLst/>
                        </a:rPr>
                        <a:t>Google BigQuery Data Transfer</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Schedule and automate data transfers from your SaaS applications to Google BigQuery</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3167350"/>
                  </a:ext>
                </a:extLst>
              </a:tr>
              <a:tr h="0">
                <a:tc vMerge="1">
                  <a:txBody>
                    <a:bodyPr/>
                    <a:lstStyle/>
                    <a:p>
                      <a:endParaRPr lang="en-US" sz="700" b="1"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rPr>
                        <a:t>Cloud Composer</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Fully managed workflow orchestration service that empowers you to author, schedule, and monitor pipelines that span across clouds and on-premises data centers. Built on the popular Apache Airflow open source project and operated using the Python programming language, Cloud Composer is free from lock-in and easy to use</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4197889"/>
                  </a:ext>
                </a:extLst>
              </a:tr>
              <a:tr h="0">
                <a:tc vMerge="1">
                  <a:txBody>
                    <a:bodyPr/>
                    <a:lstStyle/>
                    <a:p>
                      <a:endParaRPr lang="en-US" sz="700" b="1"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rPr>
                        <a:t>Cloud Data prep</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Google Cloud Data prep is an intelligent data service for visually exploring, cleaning, and preparing structured and unstructured data for analysis. Cloud Data prep is serverless and works at any scale. There is no infrastructure to deploy or manage</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7328184"/>
                  </a:ext>
                </a:extLst>
              </a:tr>
              <a:tr h="0">
                <a:tc rowSpan="3">
                  <a:txBody>
                    <a:bodyPr/>
                    <a:lstStyle/>
                    <a:p>
                      <a:pPr marL="0" algn="l" defTabSz="914400" rtl="0" eaLnBrk="1" latinLnBrk="0" hangingPunct="1"/>
                      <a:r>
                        <a:rPr lang="en-US" sz="1000" b="1" kern="1200" cap="none" spc="0" dirty="0">
                          <a:ln>
                            <a:noFill/>
                          </a:ln>
                          <a:solidFill>
                            <a:sysClr val="windowText" lastClr="000000"/>
                          </a:solidFill>
                          <a:effectLst/>
                        </a:rPr>
                        <a:t>Data ingestion and integration (batch and streaming)</a:t>
                      </a:r>
                      <a:endParaRPr lang="en-US" sz="1000" b="1" kern="1200" cap="none" spc="0" dirty="0">
                        <a:ln>
                          <a:noFill/>
                        </a:ln>
                        <a:solidFill>
                          <a:sysClr val="windowText" lastClr="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rPr>
                        <a:t>Cloud Dataflow</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A unified programming model and a managed service for executing a wide range of data processing patterns including streaming analytics, ETL, and batch computation</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vMerge="1">
                  <a:txBody>
                    <a:bodyPr/>
                    <a:lstStyle/>
                    <a:p>
                      <a:endParaRPr lang="en-US" sz="1000" dirty="0"/>
                    </a:p>
                  </a:txBody>
                  <a:tcPr/>
                </a:tc>
                <a:tc>
                  <a:txBody>
                    <a:bodyPr/>
                    <a:lstStyle/>
                    <a:p>
                      <a:pPr algn="l" fontAlgn="b"/>
                      <a:r>
                        <a:rPr lang="en-US" sz="1000" b="0" u="none" strike="noStrike" cap="none" spc="0" dirty="0">
                          <a:ln>
                            <a:noFill/>
                          </a:ln>
                          <a:solidFill>
                            <a:schemeClr val="tx1"/>
                          </a:solidFill>
                          <a:effectLst/>
                        </a:rPr>
                        <a:t>Cloud Dataproc</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A managed Spark and Hadoop service, to easily process big datasets using the powerful and open tools in the Apache big data ecosystem. Cloud Dataproc integrates with storage, compute, and monitoring services across Cloud Platform products, giving you a powerful and complete data processing platform</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vMerge="1">
                  <a:txBody>
                    <a:bodyPr/>
                    <a:lstStyle/>
                    <a:p>
                      <a:endParaRPr lang="en-US" sz="1000" dirty="0"/>
                    </a:p>
                  </a:txBody>
                  <a:tcPr/>
                </a:tc>
                <a:tc>
                  <a:txBody>
                    <a:bodyPr/>
                    <a:lstStyle/>
                    <a:p>
                      <a:pPr algn="l" fontAlgn="b"/>
                      <a:r>
                        <a:rPr lang="en-US" sz="1000" b="0" u="none" strike="noStrike" cap="none" spc="0" dirty="0">
                          <a:ln>
                            <a:noFill/>
                          </a:ln>
                          <a:solidFill>
                            <a:schemeClr val="tx1"/>
                          </a:solidFill>
                          <a:effectLst/>
                        </a:rPr>
                        <a:t>Cloud Pub/Sub</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Google Cloud Pub/Sub is a serverless, large scale, reliable, real-time messaging service that allows you to send and receive messages between independent applications. You can leverage Cloud Pub/Sub’s flexibility to decouple systems and components hosted on Cloud Platform or elsewhere on the Internet</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0">
                <a:tc rowSpan="3">
                  <a:txBody>
                    <a:bodyPr/>
                    <a:lstStyle/>
                    <a:p>
                      <a:pPr algn="l"/>
                      <a:r>
                        <a:rPr lang="en-US" sz="1000" b="1" cap="none" spc="0" dirty="0">
                          <a:ln>
                            <a:noFill/>
                          </a:ln>
                          <a:solidFill>
                            <a:sysClr val="windowText" lastClr="000000"/>
                          </a:solidFill>
                          <a:effectLst/>
                        </a:rPr>
                        <a:t>Storage</a:t>
                      </a:r>
                      <a:endParaRPr lang="en-US" sz="1000" b="1" cap="none" spc="0" dirty="0">
                        <a:ln>
                          <a:noFill/>
                        </a:ln>
                        <a:solidFill>
                          <a:sysClr val="windowText" lastClr="000000"/>
                        </a:solidFill>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rPr>
                        <a:t>Cloud Storage</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Object storage with global edge caching</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0">
                <a:tc vMerge="1">
                  <a:txBody>
                    <a:bodyPr/>
                    <a:lstStyle/>
                    <a:p>
                      <a:endParaRPr lang="en-US" sz="1000" b="1" dirty="0"/>
                    </a:p>
                  </a:txBody>
                  <a:tcPr anchor="ctr"/>
                </a:tc>
                <a:tc>
                  <a:txBody>
                    <a:bodyPr/>
                    <a:lstStyle/>
                    <a:p>
                      <a:pPr algn="l" fontAlgn="b"/>
                      <a:r>
                        <a:rPr lang="en-US" sz="1000" b="0" u="none" strike="noStrike" cap="none" spc="0" dirty="0">
                          <a:ln>
                            <a:noFill/>
                          </a:ln>
                          <a:solidFill>
                            <a:schemeClr val="tx1"/>
                          </a:solidFill>
                          <a:effectLst/>
                        </a:rPr>
                        <a:t>Cloud Memory store</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Fully managed in-memory data store service built on scalable, more secure, and highly available infrastructure managed by Google. Best for building application caches that provides sub-millisecond data access. Compatible with the Redis protocol, allowing easy migration with zero code change</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9925124"/>
                  </a:ext>
                </a:extLst>
              </a:tr>
              <a:tr h="0">
                <a:tc vMerge="1">
                  <a:txBody>
                    <a:bodyPr/>
                    <a:lstStyle/>
                    <a:p>
                      <a:endParaRPr lang="en-US" sz="700" b="1" dirty="0">
                        <a:solidFill>
                          <a:srgbClr val="0078D7"/>
                        </a:solidFill>
                        <a:latin typeface="Verdana" panose="020B0604030504040204" pitchFamily="34" charset="0"/>
                        <a:ea typeface="Verdana" panose="020B0604030504040204" pitchFamily="34" charset="0"/>
                        <a:cs typeface="Verdana" panose="020B0604030504040204" pitchFamily="34" charset="0"/>
                      </a:endParaRPr>
                    </a:p>
                  </a:txBody>
                  <a:tcPr anchor="ctr">
                    <a:lnL w="28575"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rPr>
                        <a:t>Persistent Disk</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rPr>
                        <a:t>High-performance block storage service suitable for Virtual Machines and container storage. Additionally, Persistent Disk offers multi-reader mounts and on-demand volume resizing to simplify operations</a:t>
                      </a:r>
                      <a:endParaRPr lang="en-US" sz="10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4329304"/>
                  </a:ext>
                </a:extLst>
              </a:tr>
            </a:tbl>
          </a:graphicData>
        </a:graphic>
      </p:graphicFrame>
    </p:spTree>
    <p:extLst>
      <p:ext uri="{BB962C8B-B14F-4D97-AF65-F5344CB8AC3E}">
        <p14:creationId xmlns:p14="http://schemas.microsoft.com/office/powerpoint/2010/main" val="3672458085"/>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GCP data and analytics component details (cont.)</a:t>
            </a:r>
          </a:p>
        </p:txBody>
      </p:sp>
      <p:graphicFrame>
        <p:nvGraphicFramePr>
          <p:cNvPr id="40" name="Content Placeholder 3">
            <a:extLst>
              <a:ext uri="{FF2B5EF4-FFF2-40B4-BE49-F238E27FC236}">
                <a16:creationId xmlns:a16="http://schemas.microsoft.com/office/drawing/2014/main" id="{8916F278-989B-4F55-BCCF-F7E7D1C896F9}"/>
              </a:ext>
            </a:extLst>
          </p:cNvPr>
          <p:cNvGraphicFramePr>
            <a:graphicFrameLocks noGrp="1"/>
          </p:cNvGraphicFramePr>
          <p:nvPr>
            <p:ph idx="4294967295"/>
            <p:extLst>
              <p:ext uri="{D42A27DB-BD31-4B8C-83A1-F6EECF244321}">
                <p14:modId xmlns:p14="http://schemas.microsoft.com/office/powerpoint/2010/main" val="3438733826"/>
              </p:ext>
            </p:extLst>
          </p:nvPr>
        </p:nvGraphicFramePr>
        <p:xfrm>
          <a:off x="469901" y="1017589"/>
          <a:ext cx="11247120" cy="4864608"/>
        </p:xfrm>
        <a:graphic>
          <a:graphicData uri="http://schemas.openxmlformats.org/drawingml/2006/table">
            <a:tbl>
              <a:tblPr firstRow="1" bandRow="1">
                <a:effectLst/>
              </a:tblPr>
              <a:tblGrid>
                <a:gridCol w="1216152">
                  <a:extLst>
                    <a:ext uri="{9D8B030D-6E8A-4147-A177-3AD203B41FA5}">
                      <a16:colId xmlns:a16="http://schemas.microsoft.com/office/drawing/2014/main" val="20000"/>
                    </a:ext>
                  </a:extLst>
                </a:gridCol>
                <a:gridCol w="1425447">
                  <a:extLst>
                    <a:ext uri="{9D8B030D-6E8A-4147-A177-3AD203B41FA5}">
                      <a16:colId xmlns:a16="http://schemas.microsoft.com/office/drawing/2014/main" val="20001"/>
                    </a:ext>
                  </a:extLst>
                </a:gridCol>
                <a:gridCol w="8605521">
                  <a:extLst>
                    <a:ext uri="{9D8B030D-6E8A-4147-A177-3AD203B41FA5}">
                      <a16:colId xmlns:a16="http://schemas.microsoft.com/office/drawing/2014/main" val="20002"/>
                    </a:ext>
                  </a:extLst>
                </a:gridCol>
              </a:tblGrid>
              <a:tr h="0">
                <a:tc>
                  <a:txBody>
                    <a:bodyPr/>
                    <a:lstStyle/>
                    <a:p>
                      <a:pPr algn="l"/>
                      <a:r>
                        <a:rPr lang="en-US" sz="1000" b="1" cap="none" spc="0" dirty="0">
                          <a:ln>
                            <a:noFill/>
                          </a:ln>
                          <a:solidFill>
                            <a:schemeClr val="bg1"/>
                          </a:solidFill>
                          <a:effectLst/>
                          <a:latin typeface="+mj-lt"/>
                        </a:rPr>
                        <a:t>Function</a:t>
                      </a:r>
                      <a:endParaRPr lang="en-US" sz="1000" b="1" cap="none" spc="0" dirty="0">
                        <a:ln>
                          <a:noFill/>
                        </a:ln>
                        <a:solidFill>
                          <a:schemeClr val="bg1"/>
                        </a:solidFill>
                        <a:effectLst/>
                        <a:latin typeface="+mj-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000" b="1" cap="none" spc="0" dirty="0">
                          <a:ln>
                            <a:noFill/>
                          </a:ln>
                          <a:solidFill>
                            <a:schemeClr val="bg1"/>
                          </a:solidFill>
                          <a:effectLst/>
                          <a:latin typeface="+mj-lt"/>
                        </a:rPr>
                        <a:t>AWS component</a:t>
                      </a:r>
                      <a:endParaRPr lang="en-US" sz="1000" b="1" cap="none" spc="0" dirty="0">
                        <a:ln>
                          <a:noFill/>
                        </a:ln>
                        <a:solidFill>
                          <a:schemeClr val="bg1"/>
                        </a:solidFill>
                        <a:effectLst/>
                        <a:latin typeface="+mj-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000" b="1" cap="none" spc="0" dirty="0">
                          <a:ln>
                            <a:noFill/>
                          </a:ln>
                          <a:solidFill>
                            <a:schemeClr val="bg1"/>
                          </a:solidFill>
                          <a:effectLst/>
                          <a:latin typeface="+mj-lt"/>
                        </a:rPr>
                        <a:t>Description</a:t>
                      </a:r>
                      <a:endParaRPr lang="en-US" sz="1000" b="1" cap="none" spc="0" dirty="0">
                        <a:ln>
                          <a:noFill/>
                        </a:ln>
                        <a:solidFill>
                          <a:schemeClr val="bg1"/>
                        </a:solidFill>
                        <a:effectLst/>
                        <a:latin typeface="+mj-lt"/>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88025">
                <a:tc rowSpan="6">
                  <a:txBody>
                    <a:bodyPr/>
                    <a:lstStyle/>
                    <a:p>
                      <a:pPr algn="l"/>
                      <a:r>
                        <a:rPr lang="en-US" sz="1000" b="1" cap="none" spc="0" dirty="0">
                          <a:ln>
                            <a:noFill/>
                          </a:ln>
                          <a:solidFill>
                            <a:sysClr val="windowText" lastClr="000000"/>
                          </a:solidFill>
                          <a:effectLst/>
                          <a:latin typeface="+mj-lt"/>
                        </a:rPr>
                        <a:t>Databases and data management</a:t>
                      </a:r>
                      <a:endParaRPr lang="en-US" sz="1000" b="1" cap="none" spc="0" dirty="0">
                        <a:ln>
                          <a:noFill/>
                        </a:ln>
                        <a:solidFill>
                          <a:sysClr val="windowText" lastClr="000000"/>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latin typeface="+mj-lt"/>
                        </a:rPr>
                        <a:t>Cloud SQL</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Fully-managed database service that makes it easy to set up, maintain, manage, and administer your relational MySQL and PostgreSQL databases in the cloud</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88025">
                <a:tc vMerge="1">
                  <a:txBody>
                    <a:bodyPr/>
                    <a:lstStyle/>
                    <a:p>
                      <a:endParaRPr lang="en-US" sz="1000" dirty="0"/>
                    </a:p>
                  </a:txBody>
                  <a:tcPr/>
                </a:tc>
                <a:tc>
                  <a:txBody>
                    <a:bodyPr/>
                    <a:lstStyle/>
                    <a:p>
                      <a:pPr algn="l" fontAlgn="b"/>
                      <a:r>
                        <a:rPr lang="en-US" sz="1000" b="0" u="none" strike="noStrike" cap="none" spc="0" dirty="0">
                          <a:ln>
                            <a:noFill/>
                          </a:ln>
                          <a:solidFill>
                            <a:schemeClr val="tx1"/>
                          </a:solidFill>
                          <a:effectLst/>
                          <a:latin typeface="+mj-lt"/>
                        </a:rPr>
                        <a:t>Cloud Bigtable</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Massively scalable NoSQL database suitable for low-latency and high-throughput workloads. It integrates easily with popular Big Data tools like Hadoop and Spark and it supports the open-source, industry-standard HBase API</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24703">
                <a:tc vMerge="1">
                  <a:txBody>
                    <a:bodyPr/>
                    <a:lstStyle/>
                    <a:p>
                      <a:endParaRPr lang="en-US" sz="1000" dirty="0"/>
                    </a:p>
                  </a:txBody>
                  <a:tcPr/>
                </a:tc>
                <a:tc>
                  <a:txBody>
                    <a:bodyPr/>
                    <a:lstStyle/>
                    <a:p>
                      <a:pPr algn="l" fontAlgn="b"/>
                      <a:r>
                        <a:rPr lang="en-US" sz="1000" b="0" u="none" strike="noStrike" cap="none" spc="0" dirty="0">
                          <a:ln>
                            <a:noFill/>
                          </a:ln>
                          <a:solidFill>
                            <a:schemeClr val="tx1"/>
                          </a:solidFill>
                          <a:effectLst/>
                          <a:latin typeface="+mj-lt"/>
                        </a:rPr>
                        <a:t>Cloud Spanner</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Fully managed, mission-critical relational database service built from the ground up and battle tested for transactional consistency, high availability, and global scale. With traditional relational semantics (schemas, ACID transactions, SQL) and automatic, synchronous replication with high availability</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88025">
                <a:tc vMerge="1">
                  <a:txBody>
                    <a:bodyPr/>
                    <a:lstStyle/>
                    <a:p>
                      <a:endParaRPr lang="en-US" sz="1000" b="1" dirty="0"/>
                    </a:p>
                  </a:txBody>
                  <a:tcPr anchor="ctr"/>
                </a:tc>
                <a:tc>
                  <a:txBody>
                    <a:bodyPr/>
                    <a:lstStyle/>
                    <a:p>
                      <a:pPr algn="l" fontAlgn="b"/>
                      <a:r>
                        <a:rPr lang="en-US" sz="1000" b="0" u="none" strike="noStrike" cap="none" spc="0" dirty="0">
                          <a:ln>
                            <a:noFill/>
                          </a:ln>
                          <a:solidFill>
                            <a:schemeClr val="tx1"/>
                          </a:solidFill>
                          <a:effectLst/>
                          <a:latin typeface="+mj-lt"/>
                        </a:rPr>
                        <a:t>Cloud Datastore</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An elastic, highly available document-oriented database as a service. It is fully managed so you don’t need to deploy, update, configure, or manage your database solution. Ideal for mobile and web workloads</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8514176"/>
                  </a:ext>
                </a:extLst>
              </a:tr>
              <a:tr h="88025">
                <a:tc vMerge="1">
                  <a:txBody>
                    <a:bodyPr/>
                    <a:lstStyle/>
                    <a:p>
                      <a:endParaRPr lang="en-US" sz="1000" b="1" dirty="0"/>
                    </a:p>
                  </a:txBody>
                  <a:tcPr anchor="ctr"/>
                </a:tc>
                <a:tc>
                  <a:txBody>
                    <a:bodyPr/>
                    <a:lstStyle/>
                    <a:p>
                      <a:pPr algn="l" fontAlgn="b"/>
                      <a:r>
                        <a:rPr lang="en-US" sz="1000" b="0" u="none" strike="noStrike" cap="none" spc="0" dirty="0">
                          <a:ln>
                            <a:noFill/>
                          </a:ln>
                          <a:solidFill>
                            <a:schemeClr val="tx1"/>
                          </a:solidFill>
                          <a:effectLst/>
                          <a:latin typeface="+mj-lt"/>
                        </a:rPr>
                        <a:t>BigQuery</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Fully managed, low cost analytics data warehouse. BigQuery is serverless, there is no infrastructure to manage, no need to guess the needed capacity or overprovision, and you don't need a database administrator</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5985144"/>
                  </a:ext>
                </a:extLst>
              </a:tr>
              <a:tr h="88025">
                <a:tc vMerge="1">
                  <a:txBody>
                    <a:bodyPr/>
                    <a:lstStyle/>
                    <a:p>
                      <a:endParaRPr lang="en-US" sz="7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tc>
                  <a:txBody>
                    <a:bodyPr/>
                    <a:lstStyle/>
                    <a:p>
                      <a:pPr algn="l" fontAlgn="b"/>
                      <a:r>
                        <a:rPr lang="en-US" sz="1000" b="0" u="none" strike="noStrike" cap="none" spc="0" dirty="0">
                          <a:ln>
                            <a:noFill/>
                          </a:ln>
                          <a:solidFill>
                            <a:schemeClr val="tx1"/>
                          </a:solidFill>
                          <a:effectLst/>
                          <a:latin typeface="+mj-lt"/>
                        </a:rPr>
                        <a:t>Cloud Datastore</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An elastic, highly available document-oriented database as a service. It is fully managed so you don’t need to deploy, update, configure, or manage your database solution. Ideal for mobile and web workloads</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4345357"/>
                  </a:ext>
                </a:extLst>
              </a:tr>
              <a:tr h="8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cap="none" spc="0" dirty="0">
                          <a:ln>
                            <a:noFill/>
                          </a:ln>
                          <a:solidFill>
                            <a:sysClr val="windowText" lastClr="000000"/>
                          </a:solidFill>
                          <a:effectLst/>
                          <a:latin typeface="+mj-lt"/>
                        </a:rPr>
                        <a:t>Data processing and compute</a:t>
                      </a:r>
                      <a:endParaRPr lang="en-US" sz="1000" b="1" cap="none" spc="0" dirty="0">
                        <a:ln>
                          <a:noFill/>
                        </a:ln>
                        <a:solidFill>
                          <a:sysClr val="windowText" lastClr="000000"/>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latin typeface="+mj-lt"/>
                        </a:rPr>
                        <a:t>Cloud Datalab</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Google Cloud Datalab is an interactive notebook (based on Jupyter) to explore, collaborate, analyze and visualize data. It is integrated with BigQuery and Google Cloud Machine Learning to give you easy access to key data processing services</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2835919"/>
                  </a:ext>
                </a:extLst>
              </a:tr>
              <a:tr h="0">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cap="none" spc="0" dirty="0">
                          <a:ln>
                            <a:noFill/>
                          </a:ln>
                          <a:solidFill>
                            <a:sysClr val="windowText" lastClr="000000"/>
                          </a:solidFill>
                          <a:effectLst/>
                          <a:latin typeface="+mj-lt"/>
                        </a:rPr>
                        <a:t>Interactive querying and analytics</a:t>
                      </a:r>
                      <a:endParaRPr lang="en-US" sz="1000" b="1" cap="none" spc="0" dirty="0">
                        <a:ln>
                          <a:noFill/>
                        </a:ln>
                        <a:solidFill>
                          <a:sysClr val="windowText" lastClr="000000"/>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latin typeface="+mj-lt"/>
                        </a:rPr>
                        <a:t>Compute Engine</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Virtual machines running in Google's innovative data centers and worldwide fiber network</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65443219"/>
                  </a:ext>
                </a:extLst>
              </a:tr>
              <a:tr h="8802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algn="l" fontAlgn="b"/>
                      <a:r>
                        <a:rPr lang="en-US" sz="1000" b="0" u="none" strike="noStrike" cap="none" spc="0" dirty="0">
                          <a:ln>
                            <a:noFill/>
                          </a:ln>
                          <a:solidFill>
                            <a:schemeClr val="tx1"/>
                          </a:solidFill>
                          <a:effectLst/>
                          <a:latin typeface="+mj-lt"/>
                        </a:rPr>
                        <a:t>App Engine</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Platform for building scalable web applications and mobile and IoT backends. App Engine provides you with built-in services and APIs, such as NoSQL datastores, MemCache, and a user authentication API, common to most applications</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79645345"/>
                  </a:ext>
                </a:extLst>
              </a:tr>
              <a:tr h="8802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solidFill>
                          <a:srgbClr val="0078D7"/>
                        </a:solidFill>
                      </a:endParaRPr>
                    </a:p>
                  </a:txBody>
                  <a:tcPr anchor="ctr"/>
                </a:tc>
                <a:tc>
                  <a:txBody>
                    <a:bodyPr/>
                    <a:lstStyle/>
                    <a:p>
                      <a:pPr algn="l" fontAlgn="b"/>
                      <a:r>
                        <a:rPr lang="en-US" sz="1000" b="0" u="none" strike="noStrike" cap="none" spc="0" dirty="0">
                          <a:ln>
                            <a:noFill/>
                          </a:ln>
                          <a:solidFill>
                            <a:schemeClr val="tx1"/>
                          </a:solidFill>
                          <a:effectLst/>
                          <a:latin typeface="+mj-lt"/>
                        </a:rPr>
                        <a:t>Kubernetes Engine</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Powerful cluster manager and orchestration system for running Docker containers. Kubernetes Engine schedules containers into the cluster, keeps them healthy and manages them automatically based on requirements you define (such as CPU and memory)</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1992197"/>
                  </a:ext>
                </a:extLst>
              </a:tr>
              <a:tr h="8802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dirty="0">
                        <a:solidFill>
                          <a:srgbClr val="0078D7"/>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algn="l" fontAlgn="b"/>
                      <a:r>
                        <a:rPr lang="en-US" sz="1000" b="0" u="none" strike="noStrike" cap="none" spc="0" dirty="0">
                          <a:ln>
                            <a:noFill/>
                          </a:ln>
                          <a:solidFill>
                            <a:schemeClr val="tx1"/>
                          </a:solidFill>
                          <a:effectLst/>
                          <a:latin typeface="+mj-lt"/>
                        </a:rPr>
                        <a:t>Container Registry</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Store your private container images on Cloud Platform for fast, scalable retrieval and deployment. Google Cloud Container Registry is a private Docker repository that works with popular continuous delivery systems</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2928440"/>
                  </a:ext>
                </a:extLst>
              </a:tr>
              <a:tr h="12470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cap="none" spc="0" dirty="0">
                        <a:ln>
                          <a:noFill/>
                        </a:ln>
                        <a:solidFill>
                          <a:sysClr val="windowText" lastClr="000000"/>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3175" cap="flat" cmpd="sng" algn="ctr">
                      <a:solidFill>
                        <a:schemeClr val="tx1"/>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000" b="0" u="none" strike="noStrike" cap="none" spc="0" dirty="0">
                          <a:ln>
                            <a:noFill/>
                          </a:ln>
                          <a:solidFill>
                            <a:schemeClr val="tx1"/>
                          </a:solidFill>
                          <a:effectLst/>
                          <a:latin typeface="+mj-lt"/>
                        </a:rPr>
                        <a:t>Cloud Functions</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1000" b="0" u="none" strike="noStrike" cap="none" spc="0" dirty="0">
                          <a:ln>
                            <a:noFill/>
                          </a:ln>
                          <a:solidFill>
                            <a:schemeClr val="tx1"/>
                          </a:solidFill>
                          <a:effectLst/>
                          <a:latin typeface="+mj-lt"/>
                        </a:rPr>
                        <a:t>Cloud computing has made possible fully serverless models of computing where logic can be spun up on-demand in response to events originating from anywhere. With Cloud Functions, you can construct applications from bite-sized business logic billed to the nearest 100 milliseconds, only while your code is running</a:t>
                      </a:r>
                      <a:endParaRPr lang="en-US" sz="1000" b="0" i="0" u="none" strike="noStrike" cap="none" spc="0" dirty="0">
                        <a:ln>
                          <a:noFill/>
                        </a:ln>
                        <a:solidFill>
                          <a:schemeClr val="tx1"/>
                        </a:solidFill>
                        <a:effectLst/>
                        <a:latin typeface="+mj-lt"/>
                        <a:ea typeface="Open Sans" panose="020B0606030504020204" pitchFamily="34" charset="0"/>
                        <a:cs typeface="Open Sans" panose="020B0606030504020204" pitchFamily="34" charset="0"/>
                      </a:endParaRPr>
                    </a:p>
                  </a:txBody>
                  <a:tcPr marL="45720" marR="45720" marT="27432" marB="27432">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37734548"/>
                  </a:ext>
                </a:extLst>
              </a:tr>
            </a:tbl>
          </a:graphicData>
        </a:graphic>
      </p:graphicFrame>
    </p:spTree>
    <p:extLst>
      <p:ext uri="{BB962C8B-B14F-4D97-AF65-F5344CB8AC3E}">
        <p14:creationId xmlns:p14="http://schemas.microsoft.com/office/powerpoint/2010/main" val="1430940946"/>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GCP data and analytics component details (cont.)</a:t>
            </a:r>
          </a:p>
        </p:txBody>
      </p:sp>
      <p:graphicFrame>
        <p:nvGraphicFramePr>
          <p:cNvPr id="40" name="Content Placeholder 3">
            <a:extLst>
              <a:ext uri="{FF2B5EF4-FFF2-40B4-BE49-F238E27FC236}">
                <a16:creationId xmlns:a16="http://schemas.microsoft.com/office/drawing/2014/main" id="{8916F278-989B-4F55-BCCF-F7E7D1C896F9}"/>
              </a:ext>
            </a:extLst>
          </p:cNvPr>
          <p:cNvGraphicFramePr>
            <a:graphicFrameLocks noGrp="1"/>
          </p:cNvGraphicFramePr>
          <p:nvPr>
            <p:ph idx="4294967295"/>
            <p:extLst>
              <p:ext uri="{D42A27DB-BD31-4B8C-83A1-F6EECF244321}">
                <p14:modId xmlns:p14="http://schemas.microsoft.com/office/powerpoint/2010/main" val="3353312934"/>
              </p:ext>
            </p:extLst>
          </p:nvPr>
        </p:nvGraphicFramePr>
        <p:xfrm>
          <a:off x="469901" y="1017589"/>
          <a:ext cx="11244763" cy="5181600"/>
        </p:xfrm>
        <a:graphic>
          <a:graphicData uri="http://schemas.openxmlformats.org/drawingml/2006/table">
            <a:tbl>
              <a:tblPr firstRow="1" bandRow="1">
                <a:effectLst/>
              </a:tblPr>
              <a:tblGrid>
                <a:gridCol w="1213795">
                  <a:extLst>
                    <a:ext uri="{9D8B030D-6E8A-4147-A177-3AD203B41FA5}">
                      <a16:colId xmlns:a16="http://schemas.microsoft.com/office/drawing/2014/main" val="20000"/>
                    </a:ext>
                  </a:extLst>
                </a:gridCol>
                <a:gridCol w="1426464">
                  <a:extLst>
                    <a:ext uri="{9D8B030D-6E8A-4147-A177-3AD203B41FA5}">
                      <a16:colId xmlns:a16="http://schemas.microsoft.com/office/drawing/2014/main" val="20001"/>
                    </a:ext>
                  </a:extLst>
                </a:gridCol>
                <a:gridCol w="8604504">
                  <a:extLst>
                    <a:ext uri="{9D8B030D-6E8A-4147-A177-3AD203B41FA5}">
                      <a16:colId xmlns:a16="http://schemas.microsoft.com/office/drawing/2014/main" val="20002"/>
                    </a:ext>
                  </a:extLst>
                </a:gridCol>
              </a:tblGrid>
              <a:tr h="0">
                <a:tc>
                  <a:txBody>
                    <a:bodyPr/>
                    <a:lstStyle/>
                    <a:p>
                      <a:pPr algn="l"/>
                      <a:r>
                        <a:rPr lang="en-US" sz="1000" b="1" cap="none" spc="0" dirty="0">
                          <a:ln>
                            <a:noFill/>
                          </a:ln>
                          <a:solidFill>
                            <a:schemeClr val="bg1"/>
                          </a:solidFill>
                          <a:effectLst/>
                        </a:rPr>
                        <a:t>Function</a:t>
                      </a:r>
                      <a:endParaRPr lang="en-US" sz="10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000" b="1" cap="none" spc="0" dirty="0">
                          <a:ln>
                            <a:noFill/>
                          </a:ln>
                          <a:solidFill>
                            <a:schemeClr val="bg1"/>
                          </a:solidFill>
                          <a:effectLst/>
                        </a:rPr>
                        <a:t>AWS component</a:t>
                      </a:r>
                      <a:endParaRPr lang="en-US" sz="10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a:r>
                        <a:rPr lang="en-US" sz="1000" b="1" cap="none" spc="0" dirty="0">
                          <a:ln>
                            <a:noFill/>
                          </a:ln>
                          <a:solidFill>
                            <a:schemeClr val="bg1"/>
                          </a:solidFill>
                          <a:effectLst/>
                        </a:rPr>
                        <a:t>Description</a:t>
                      </a:r>
                      <a:endParaRPr lang="en-US" sz="1000" b="1" cap="none" spc="0" dirty="0">
                        <a:ln>
                          <a:noFill/>
                        </a:ln>
                        <a:solidFill>
                          <a:schemeClr val="bg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12700" cmpd="sng">
                      <a:noFill/>
                      <a:prstDash val="soli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0">
                <a:tc rowSpan="9">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cap="none" spc="0" dirty="0">
                          <a:ln>
                            <a:noFill/>
                          </a:ln>
                          <a:solidFill>
                            <a:sysClr val="windowText" lastClr="000000"/>
                          </a:solidFill>
                          <a:effectLst/>
                        </a:rPr>
                        <a:t>Advanced analytics, ML, and IOT</a:t>
                      </a:r>
                      <a:endParaRPr lang="en-US" sz="900" b="1" cap="none" spc="0" dirty="0">
                        <a:ln>
                          <a:noFill/>
                        </a:ln>
                        <a:solidFill>
                          <a:sysClr val="windowText" lastClr="000000"/>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900" b="0" u="none" strike="noStrike" cap="none" spc="0" dirty="0">
                          <a:ln>
                            <a:noFill/>
                          </a:ln>
                          <a:solidFill>
                            <a:schemeClr val="tx1"/>
                          </a:solidFill>
                          <a:effectLst/>
                        </a:rPr>
                        <a:t>Cloud Speech-to-Text</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Google Cloud Speech-to-Text enables developers to convert audio to text by applying powerful neural network models in an easy to use API. The API recognizes 120 languages and variants, to support your global user base. You can enable voice command-and-control, transcribe audio from call centers, and more. It can process real-time streaming or pre-recorded audio, using Google’s machine learning technology</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4838835"/>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algn="l" fontAlgn="b"/>
                      <a:r>
                        <a:rPr lang="en-US" sz="900" b="0" u="none" strike="noStrike" cap="none" spc="0" dirty="0">
                          <a:ln>
                            <a:noFill/>
                          </a:ln>
                          <a:solidFill>
                            <a:schemeClr val="tx1"/>
                          </a:solidFill>
                          <a:effectLst/>
                        </a:rPr>
                        <a:t>Cloud Text-to-Speech</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Google Cloud Text-to-Speech enables developers to synthesize natural-sounding speech with 32 voices, available in multiple languages and variants. It applies DeepMind’s groundbreaking research in WaveNet and Google’s powerful neural networks to deliver the highest fidelity possible. As an easy-to-use API, you can create lifelike interactions with your users, across many applications and devices</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0687986"/>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algn="l" fontAlgn="b"/>
                      <a:r>
                        <a:rPr lang="en-US" sz="900" b="0" u="none" strike="noStrike" cap="none" spc="0" dirty="0">
                          <a:ln>
                            <a:noFill/>
                          </a:ln>
                          <a:solidFill>
                            <a:schemeClr val="tx1"/>
                          </a:solidFill>
                          <a:effectLst/>
                        </a:rPr>
                        <a:t>Cloud Translation API</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Google Cloud Translation API provides a simple programmatic interface for translating an arbitrary string into any supported language. Translation API is highly responsive, so websites and applications can integrate with Translation API for fast, dynamic translation of source text from the source language to a target language (e.g. French to English)</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4939265"/>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algn="l" fontAlgn="b"/>
                      <a:r>
                        <a:rPr lang="en-US" sz="900" b="0" u="none" strike="noStrike" cap="none" spc="0" dirty="0">
                          <a:ln>
                            <a:noFill/>
                          </a:ln>
                          <a:solidFill>
                            <a:schemeClr val="tx1"/>
                          </a:solidFill>
                          <a:effectLst/>
                        </a:rPr>
                        <a:t>Cloud Vision API</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Google Cloud Vision API enables you to understand the content of an image by encapsulating powerful machine learning models in an easy to use REST API. It quickly classifies images into thousands of categories (e.g. "sailboat", "Eiffel Tower"), detects individual objects and faces within images, and finds and reads printed words contained within images</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9420450"/>
                  </a:ext>
                </a:extLst>
              </a:tr>
              <a:tr h="0">
                <a:tc vMerge="1">
                  <a:txBody>
                    <a:bodyPr/>
                    <a:lstStyle/>
                    <a:p>
                      <a:endParaRPr lang="en-US"/>
                    </a:p>
                  </a:txBody>
                  <a:tcPr/>
                </a:tc>
                <a:tc>
                  <a:txBody>
                    <a:bodyPr/>
                    <a:lstStyle/>
                    <a:p>
                      <a:pPr algn="l" fontAlgn="b"/>
                      <a:r>
                        <a:rPr lang="en-US" sz="900" b="0" u="none" strike="noStrike" cap="none" spc="0" dirty="0">
                          <a:ln>
                            <a:noFill/>
                          </a:ln>
                          <a:solidFill>
                            <a:schemeClr val="tx1"/>
                          </a:solidFill>
                          <a:effectLst/>
                        </a:rPr>
                        <a:t>Cloud Video Intelligence API</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Google Cloud Video Intelligence API makes videos searchable and discoverable by extracting metadata, identifying key nouns, and annotating the content of the video. By calling an easy-to-use REST API, you can now search every moment of every video file in your catalog and find each occurrence of key nouns as well as its significance. Separate signal from noise, by retrieving relevant information by video, shot, or frame</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67833262"/>
                  </a:ext>
                </a:extLst>
              </a:tr>
              <a:tr h="0">
                <a:tc vMerge="1">
                  <a:txBody>
                    <a:bodyPr/>
                    <a:lstStyle/>
                    <a:p>
                      <a:endParaRPr lang="en-US"/>
                    </a:p>
                  </a:txBody>
                  <a:tcPr/>
                </a:tc>
                <a:tc>
                  <a:txBody>
                    <a:bodyPr/>
                    <a:lstStyle/>
                    <a:p>
                      <a:pPr algn="l" fontAlgn="b"/>
                      <a:r>
                        <a:rPr lang="en-US" sz="900" b="0" u="none" strike="noStrike" cap="none" spc="0" dirty="0">
                          <a:ln>
                            <a:noFill/>
                          </a:ln>
                          <a:solidFill>
                            <a:schemeClr val="tx1"/>
                          </a:solidFill>
                          <a:effectLst/>
                        </a:rPr>
                        <a:t>Cloud AutoML</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Cloud AutoML is a suite of Machine Learning products that enables developers with limited machine learning expertise to train high quality models by leveraging Google’s state of the art transfer learning, and Neural Architecture Search technology. AutoML Vision is the first product to be released. It is a simple, secure and flexible ML service that lets you train custom vision models for your own use cases. Soon, Cloud AutoML will release other services for all other major fields of AI</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5393972"/>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p>
                  </a:txBody>
                  <a:tcPr anchor="ctr"/>
                </a:tc>
                <a:tc>
                  <a:txBody>
                    <a:bodyPr/>
                    <a:lstStyle/>
                    <a:p>
                      <a:pPr algn="l" fontAlgn="b"/>
                      <a:r>
                        <a:rPr lang="en-US" sz="900" b="0" u="none" strike="noStrike" cap="none" spc="0" dirty="0">
                          <a:ln>
                            <a:noFill/>
                          </a:ln>
                          <a:solidFill>
                            <a:schemeClr val="tx1"/>
                          </a:solidFill>
                          <a:effectLst/>
                        </a:rPr>
                        <a:t>Cloud Machine Learning Engine</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Google Cloud Machine Learning Engine makes it easy for you to build sophisticated, large scale machine learning models that cover a broad set of scenarios from building sophisticated regression models to image classification. It is portable, fully managed, and integrated with other Google Cloud Data platform products such as Google Cloud Storage, Google Cloud Dataflow and Google Cloud Datalab so you can easily train your models</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780988"/>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a:txBody>
                  <a:tcPr anchor="ct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solidFill>
                      <a:schemeClr val="bg1"/>
                    </a:solidFill>
                  </a:tcPr>
                </a:tc>
                <a:tc>
                  <a:txBody>
                    <a:bodyPr/>
                    <a:lstStyle/>
                    <a:p>
                      <a:pPr algn="l" fontAlgn="b"/>
                      <a:r>
                        <a:rPr lang="en-US" sz="900" b="0" u="none" strike="noStrike" cap="none" spc="0" dirty="0">
                          <a:ln>
                            <a:noFill/>
                          </a:ln>
                          <a:solidFill>
                            <a:schemeClr val="tx1"/>
                          </a:solidFill>
                          <a:effectLst/>
                        </a:rPr>
                        <a:t>Cloud Job Discovery</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Google Cloud Job Discovery provides highly intuitive job search that anticipates what job seekers are looking for and surfaces targeted recommendations that help them discover new opportunities. In order to provide the most relevant search results and recommendations, the API uses machine learning to understand how job titles and skills relate to one another, and what job content, location and seniority are the closest match for a jobseeker’s preferences</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44686390"/>
                  </a:ext>
                </a:extLst>
              </a:tr>
              <a:tr h="0">
                <a:tc vMerge="1">
                  <a:txBody>
                    <a:bodyPr/>
                    <a:lstStyle/>
                    <a:p>
                      <a:endParaRPr lang="en-US" sz="1000" b="1" dirty="0"/>
                    </a:p>
                  </a:txBody>
                  <a:tcPr anchor="ctr"/>
                </a:tc>
                <a:tc>
                  <a:txBody>
                    <a:bodyPr/>
                    <a:lstStyle/>
                    <a:p>
                      <a:pPr algn="l" fontAlgn="b"/>
                      <a:r>
                        <a:rPr lang="en-US" sz="900" b="0" u="none" strike="noStrike" cap="none" spc="0" dirty="0">
                          <a:ln>
                            <a:noFill/>
                          </a:ln>
                          <a:solidFill>
                            <a:schemeClr val="tx1"/>
                          </a:solidFill>
                          <a:effectLst/>
                        </a:rPr>
                        <a:t>Cloud Natural Language</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r>
                        <a:rPr lang="en-US" sz="900" b="0" u="none" strike="noStrike" cap="none" spc="0" dirty="0">
                          <a:ln>
                            <a:noFill/>
                          </a:ln>
                          <a:solidFill>
                            <a:schemeClr val="tx1"/>
                          </a:solidFill>
                          <a:effectLst/>
                        </a:rPr>
                        <a:t>Google Natural Language API reveals the structure and meaning of text by offering powerful machine learning models in an easy to use REST API. You can use it to extract information about people, places, events and much more, mentioned in text documents, news articles or blog posts. You can also use it to understand sentiment about your product on social media or parse intent from customer conversations happening in a call center or a messaging app</a:t>
                      </a:r>
                      <a:endParaRPr lang="en-US" sz="900" b="0" i="0" u="none" strike="noStrike" cap="none" spc="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txBody>
                  <a:tcPr marL="45720" marR="45720">
                    <a:lnL w="12700" cmpd="sng">
                      <a:noFill/>
                      <a:prstDash val="solid"/>
                    </a:lnL>
                    <a:lnR w="12700" cmpd="sng">
                      <a:noFill/>
                      <a:prstDash val="soli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675804"/>
                  </a:ext>
                </a:extLst>
              </a:tr>
            </a:tbl>
          </a:graphicData>
        </a:graphic>
      </p:graphicFrame>
    </p:spTree>
    <p:extLst>
      <p:ext uri="{BB962C8B-B14F-4D97-AF65-F5344CB8AC3E}">
        <p14:creationId xmlns:p14="http://schemas.microsoft.com/office/powerpoint/2010/main" val="1994066734"/>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ubrik 3">
            <a:extLst>
              <a:ext uri="{FF2B5EF4-FFF2-40B4-BE49-F238E27FC236}">
                <a16:creationId xmlns:a16="http://schemas.microsoft.com/office/drawing/2014/main" id="{61D43795-F154-48D6-92C2-4DA8F6389E3A}"/>
              </a:ext>
            </a:extLst>
          </p:cNvPr>
          <p:cNvSpPr>
            <a:spLocks noGrp="1"/>
          </p:cNvSpPr>
          <p:nvPr>
            <p:ph type="title"/>
          </p:nvPr>
        </p:nvSpPr>
        <p:spPr/>
        <p:txBody>
          <a:bodyPr/>
          <a:lstStyle/>
          <a:p>
            <a:r>
              <a:rPr lang="sv-SE" dirty="0"/>
              <a:t>Authors</a:t>
            </a:r>
          </a:p>
        </p:txBody>
      </p:sp>
      <p:sp>
        <p:nvSpPr>
          <p:cNvPr id="12" name="Text Placeholder 30">
            <a:extLst>
              <a:ext uri="{FF2B5EF4-FFF2-40B4-BE49-F238E27FC236}">
                <a16:creationId xmlns:a16="http://schemas.microsoft.com/office/drawing/2014/main" id="{5DB9DECF-B2D7-4643-9F6C-2549E67C8C4F}"/>
              </a:ext>
            </a:extLst>
          </p:cNvPr>
          <p:cNvSpPr txBox="1">
            <a:spLocks/>
          </p:cNvSpPr>
          <p:nvPr/>
        </p:nvSpPr>
        <p:spPr>
          <a:xfrm>
            <a:off x="531309" y="2996148"/>
            <a:ext cx="3146753" cy="33749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0097A9"/>
              </a:buClr>
              <a:buSzPct val="75000"/>
              <a:buFont typeface="Arial" panose="020B0604020202020204" pitchFamily="34" charset="0"/>
              <a:buNone/>
              <a:tabLst/>
              <a:defRPr/>
            </a:pPr>
            <a:r>
              <a:rPr kumimoji="0" lang="en-US" sz="1800" b="1" i="0" u="none" strike="noStrike" kern="1200" cap="none" spc="-30" normalizeH="0" baseline="0" noProof="0" dirty="0">
                <a:ln>
                  <a:noFill/>
                </a:ln>
                <a:solidFill>
                  <a:prstClr val="black"/>
                </a:solidFill>
                <a:effectLst/>
                <a:uLnTx/>
                <a:uFillTx/>
                <a:latin typeface="Verdana"/>
                <a:ea typeface="Chronicle Display Black" charset="0"/>
                <a:cs typeface="Chronicle Display Black" charset="0"/>
              </a:rPr>
              <a:t>Sanjeev Taran</a:t>
            </a:r>
          </a:p>
        </p:txBody>
      </p:sp>
      <p:sp>
        <p:nvSpPr>
          <p:cNvPr id="14" name="Text Placeholder 31">
            <a:extLst>
              <a:ext uri="{FF2B5EF4-FFF2-40B4-BE49-F238E27FC236}">
                <a16:creationId xmlns:a16="http://schemas.microsoft.com/office/drawing/2014/main" id="{01459286-492C-4D92-9D6B-5F8986A9F921}"/>
              </a:ext>
            </a:extLst>
          </p:cNvPr>
          <p:cNvSpPr txBox="1">
            <a:spLocks/>
          </p:cNvSpPr>
          <p:nvPr/>
        </p:nvSpPr>
        <p:spPr>
          <a:xfrm>
            <a:off x="531309" y="3258054"/>
            <a:ext cx="3146753" cy="52497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1000"/>
              </a:spcBef>
              <a:spcAft>
                <a:spcPts val="0"/>
              </a:spcAft>
              <a:buClr>
                <a:srgbClr val="0097A9"/>
              </a:buClr>
              <a:buSzPct val="75000"/>
              <a:buFont typeface="Arial" panose="020B0604020202020204" pitchFamily="34" charset="0"/>
              <a:buNone/>
              <a:tabLst/>
              <a:defRPr/>
            </a:pPr>
            <a:r>
              <a:rPr kumimoji="0" lang="en-US" sz="1200" b="0" i="0" u="none" strike="noStrike" kern="1200" cap="none" spc="-30" normalizeH="0" baseline="0" noProof="0" dirty="0">
                <a:ln>
                  <a:noFill/>
                </a:ln>
                <a:solidFill>
                  <a:prstClr val="black"/>
                </a:solidFill>
                <a:effectLst/>
                <a:uLnTx/>
                <a:uFillTx/>
                <a:latin typeface="Verdana"/>
                <a:ea typeface="Open Sans" charset="0"/>
                <a:cs typeface="Open Sans" charset="0"/>
              </a:rPr>
              <a:t>Specialist Leader</a:t>
            </a:r>
          </a:p>
        </p:txBody>
      </p:sp>
      <p:sp>
        <p:nvSpPr>
          <p:cNvPr id="17" name="Text Placeholder 30">
            <a:extLst>
              <a:ext uri="{FF2B5EF4-FFF2-40B4-BE49-F238E27FC236}">
                <a16:creationId xmlns:a16="http://schemas.microsoft.com/office/drawing/2014/main" id="{E16DFB5F-E8C8-4B98-A206-D4FAB6AFBB34}"/>
              </a:ext>
            </a:extLst>
          </p:cNvPr>
          <p:cNvSpPr txBox="1">
            <a:spLocks/>
          </p:cNvSpPr>
          <p:nvPr/>
        </p:nvSpPr>
        <p:spPr>
          <a:xfrm>
            <a:off x="4407299" y="2996148"/>
            <a:ext cx="3146753" cy="33749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0097A9"/>
              </a:buClr>
              <a:buSzPct val="75000"/>
              <a:buFont typeface="Arial" panose="020B0604020202020204" pitchFamily="34" charset="0"/>
              <a:buNone/>
              <a:tabLst/>
              <a:defRPr/>
            </a:pPr>
            <a:r>
              <a:rPr kumimoji="0" lang="en-US" sz="1800" b="1" i="0" u="none" strike="noStrike" kern="1200" cap="none" spc="-30" normalizeH="0" baseline="0" noProof="0" dirty="0">
                <a:ln>
                  <a:noFill/>
                </a:ln>
                <a:solidFill>
                  <a:prstClr val="black"/>
                </a:solidFill>
                <a:effectLst/>
                <a:uLnTx/>
                <a:uFillTx/>
                <a:latin typeface="Verdana"/>
                <a:ea typeface="Chronicle Display Black" charset="0"/>
                <a:cs typeface="Chronicle Display Black" charset="0"/>
              </a:rPr>
              <a:t>Shekhar Mathur</a:t>
            </a:r>
          </a:p>
        </p:txBody>
      </p:sp>
      <p:sp>
        <p:nvSpPr>
          <p:cNvPr id="18" name="Text Placeholder 31">
            <a:extLst>
              <a:ext uri="{FF2B5EF4-FFF2-40B4-BE49-F238E27FC236}">
                <a16:creationId xmlns:a16="http://schemas.microsoft.com/office/drawing/2014/main" id="{799226D9-D90A-493B-9436-DDE42CB307FA}"/>
              </a:ext>
            </a:extLst>
          </p:cNvPr>
          <p:cNvSpPr txBox="1">
            <a:spLocks/>
          </p:cNvSpPr>
          <p:nvPr/>
        </p:nvSpPr>
        <p:spPr>
          <a:xfrm>
            <a:off x="4407299" y="3258054"/>
            <a:ext cx="3146753" cy="52497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1000"/>
              </a:spcBef>
              <a:spcAft>
                <a:spcPts val="0"/>
              </a:spcAft>
              <a:buClr>
                <a:srgbClr val="0097A9"/>
              </a:buClr>
              <a:buSzPct val="75000"/>
              <a:buFont typeface="Arial" panose="020B0604020202020204" pitchFamily="34" charset="0"/>
              <a:buNone/>
              <a:tabLst/>
              <a:defRPr/>
            </a:pPr>
            <a:r>
              <a:rPr kumimoji="0" lang="en-US" sz="1200" b="0" i="0" u="none" strike="noStrike" kern="1200" cap="none" spc="-30" normalizeH="0" baseline="0" noProof="0" dirty="0">
                <a:ln>
                  <a:noFill/>
                </a:ln>
                <a:solidFill>
                  <a:prstClr val="black"/>
                </a:solidFill>
                <a:effectLst/>
                <a:uLnTx/>
                <a:uFillTx/>
                <a:latin typeface="Verdana"/>
                <a:ea typeface="Open Sans" charset="0"/>
                <a:cs typeface="Open Sans" charset="0"/>
              </a:rPr>
              <a:t>Specialist Master</a:t>
            </a:r>
          </a:p>
        </p:txBody>
      </p:sp>
      <p:sp>
        <p:nvSpPr>
          <p:cNvPr id="19" name="Text Placeholder 30">
            <a:extLst>
              <a:ext uri="{FF2B5EF4-FFF2-40B4-BE49-F238E27FC236}">
                <a16:creationId xmlns:a16="http://schemas.microsoft.com/office/drawing/2014/main" id="{7ADAE3EA-11AD-4D4E-8944-354717F95FC2}"/>
              </a:ext>
            </a:extLst>
          </p:cNvPr>
          <p:cNvSpPr txBox="1">
            <a:spLocks/>
          </p:cNvSpPr>
          <p:nvPr/>
        </p:nvSpPr>
        <p:spPr>
          <a:xfrm>
            <a:off x="8223586" y="2996148"/>
            <a:ext cx="3146753" cy="33749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0097A9"/>
              </a:buClr>
              <a:buSzPct val="75000"/>
              <a:buFont typeface="Arial" panose="020B0604020202020204" pitchFamily="34" charset="0"/>
              <a:buNone/>
              <a:tabLst/>
              <a:defRPr/>
            </a:pPr>
            <a:r>
              <a:rPr kumimoji="0" lang="en-US" sz="1800" b="1" i="0" u="none" strike="noStrike" kern="1200" cap="none" spc="-30" normalizeH="0" baseline="0" noProof="0" dirty="0">
                <a:ln>
                  <a:noFill/>
                </a:ln>
                <a:solidFill>
                  <a:prstClr val="black"/>
                </a:solidFill>
                <a:effectLst/>
                <a:uLnTx/>
                <a:uFillTx/>
                <a:latin typeface="Verdana"/>
                <a:ea typeface="Chronicle Display Black" charset="0"/>
                <a:cs typeface="Chronicle Display Black" charset="0"/>
              </a:rPr>
              <a:t>Philip Pennie</a:t>
            </a:r>
          </a:p>
        </p:txBody>
      </p:sp>
      <p:sp>
        <p:nvSpPr>
          <p:cNvPr id="20" name="Text Placeholder 31">
            <a:extLst>
              <a:ext uri="{FF2B5EF4-FFF2-40B4-BE49-F238E27FC236}">
                <a16:creationId xmlns:a16="http://schemas.microsoft.com/office/drawing/2014/main" id="{C766EFD7-7CA7-4165-B8C3-E530309641F8}"/>
              </a:ext>
            </a:extLst>
          </p:cNvPr>
          <p:cNvSpPr txBox="1">
            <a:spLocks/>
          </p:cNvSpPr>
          <p:nvPr/>
        </p:nvSpPr>
        <p:spPr>
          <a:xfrm>
            <a:off x="8223586" y="3258054"/>
            <a:ext cx="3146753" cy="52497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1000"/>
              </a:spcBef>
              <a:spcAft>
                <a:spcPts val="0"/>
              </a:spcAft>
              <a:buClr>
                <a:srgbClr val="0097A9"/>
              </a:buClr>
              <a:buSzPct val="75000"/>
              <a:buFont typeface="Arial" panose="020B0604020202020204" pitchFamily="34" charset="0"/>
              <a:buNone/>
              <a:tabLst/>
              <a:defRPr/>
            </a:pPr>
            <a:r>
              <a:rPr kumimoji="0" lang="en-US" sz="1200" b="0" i="0" u="none" strike="noStrike" kern="1200" cap="none" spc="-30" normalizeH="0" baseline="0" noProof="0" dirty="0">
                <a:ln>
                  <a:noFill/>
                </a:ln>
                <a:solidFill>
                  <a:prstClr val="black"/>
                </a:solidFill>
                <a:effectLst/>
                <a:uLnTx/>
                <a:uFillTx/>
                <a:latin typeface="Verdana"/>
                <a:ea typeface="Open Sans" charset="0"/>
                <a:cs typeface="Open Sans" charset="0"/>
              </a:rPr>
              <a:t>Specialist Master</a:t>
            </a:r>
          </a:p>
        </p:txBody>
      </p:sp>
      <p:sp>
        <p:nvSpPr>
          <p:cNvPr id="21" name="Text Placeholder 30">
            <a:extLst>
              <a:ext uri="{FF2B5EF4-FFF2-40B4-BE49-F238E27FC236}">
                <a16:creationId xmlns:a16="http://schemas.microsoft.com/office/drawing/2014/main" id="{7A6850E8-077B-4EB2-B151-44C85E30BC27}"/>
              </a:ext>
            </a:extLst>
          </p:cNvPr>
          <p:cNvSpPr txBox="1">
            <a:spLocks/>
          </p:cNvSpPr>
          <p:nvPr/>
        </p:nvSpPr>
        <p:spPr>
          <a:xfrm>
            <a:off x="4407299" y="5744803"/>
            <a:ext cx="3146753" cy="33749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0097A9"/>
              </a:buClr>
              <a:buSzPct val="75000"/>
              <a:buFont typeface="Arial" panose="020B0604020202020204" pitchFamily="34" charset="0"/>
              <a:buNone/>
              <a:tabLst/>
              <a:defRPr/>
            </a:pPr>
            <a:r>
              <a:rPr kumimoji="0" lang="en-US" sz="1800" b="1" i="0" u="none" strike="noStrike" kern="1200" cap="none" spc="-30" normalizeH="0" baseline="0" noProof="0" dirty="0">
                <a:ln>
                  <a:noFill/>
                </a:ln>
                <a:solidFill>
                  <a:prstClr val="black"/>
                </a:solidFill>
                <a:effectLst/>
                <a:uLnTx/>
                <a:uFillTx/>
                <a:latin typeface="Verdana"/>
                <a:ea typeface="Chronicle Display Black" charset="0"/>
                <a:cs typeface="Chronicle Display Black" charset="0"/>
              </a:rPr>
              <a:t>Rakesh Kumar</a:t>
            </a:r>
          </a:p>
        </p:txBody>
      </p:sp>
      <p:sp>
        <p:nvSpPr>
          <p:cNvPr id="22" name="Text Placeholder 31">
            <a:extLst>
              <a:ext uri="{FF2B5EF4-FFF2-40B4-BE49-F238E27FC236}">
                <a16:creationId xmlns:a16="http://schemas.microsoft.com/office/drawing/2014/main" id="{7007002C-D090-4B9F-807A-20E57CCAAF6D}"/>
              </a:ext>
            </a:extLst>
          </p:cNvPr>
          <p:cNvSpPr txBox="1">
            <a:spLocks/>
          </p:cNvSpPr>
          <p:nvPr/>
        </p:nvSpPr>
        <p:spPr>
          <a:xfrm>
            <a:off x="4407299" y="6006709"/>
            <a:ext cx="3146753" cy="52497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1000"/>
              </a:spcBef>
              <a:spcAft>
                <a:spcPts val="0"/>
              </a:spcAft>
              <a:buClr>
                <a:srgbClr val="0097A9"/>
              </a:buClr>
              <a:buSzPct val="75000"/>
              <a:buFont typeface="Arial" panose="020B0604020202020204" pitchFamily="34" charset="0"/>
              <a:buNone/>
              <a:tabLst/>
              <a:defRPr/>
            </a:pPr>
            <a:r>
              <a:rPr kumimoji="0" lang="en-US" sz="1200" b="0" i="0" u="none" strike="noStrike" kern="1200" cap="none" spc="-30" normalizeH="0" baseline="0" noProof="0" dirty="0">
                <a:ln>
                  <a:noFill/>
                </a:ln>
                <a:solidFill>
                  <a:prstClr val="black"/>
                </a:solidFill>
                <a:effectLst/>
                <a:uLnTx/>
                <a:uFillTx/>
                <a:latin typeface="Verdana"/>
                <a:ea typeface="Open Sans" charset="0"/>
                <a:cs typeface="Open Sans" charset="0"/>
              </a:rPr>
              <a:t>Specialist Senior</a:t>
            </a:r>
          </a:p>
        </p:txBody>
      </p:sp>
      <p:sp>
        <p:nvSpPr>
          <p:cNvPr id="23" name="Text Placeholder 30">
            <a:extLst>
              <a:ext uri="{FF2B5EF4-FFF2-40B4-BE49-F238E27FC236}">
                <a16:creationId xmlns:a16="http://schemas.microsoft.com/office/drawing/2014/main" id="{A57275DA-E92F-4556-86B5-B82A22502605}"/>
              </a:ext>
            </a:extLst>
          </p:cNvPr>
          <p:cNvSpPr txBox="1">
            <a:spLocks/>
          </p:cNvSpPr>
          <p:nvPr/>
        </p:nvSpPr>
        <p:spPr>
          <a:xfrm>
            <a:off x="8146985" y="5709363"/>
            <a:ext cx="3146753" cy="33749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0097A9"/>
              </a:buClr>
              <a:buSzPct val="75000"/>
              <a:buFont typeface="Arial" panose="020B0604020202020204" pitchFamily="34" charset="0"/>
              <a:buNone/>
              <a:tabLst/>
              <a:defRPr/>
            </a:pPr>
            <a:r>
              <a:rPr kumimoji="0" lang="en-US" sz="1800" b="1" i="0" u="none" strike="noStrike" kern="1200" cap="none" spc="-30" normalizeH="0" baseline="0" noProof="0" dirty="0">
                <a:ln>
                  <a:noFill/>
                </a:ln>
                <a:solidFill>
                  <a:prstClr val="black"/>
                </a:solidFill>
                <a:effectLst/>
                <a:uLnTx/>
                <a:uFillTx/>
                <a:latin typeface="Verdana"/>
                <a:ea typeface="Chronicle Display Black" charset="0"/>
                <a:cs typeface="Chronicle Display Black" charset="0"/>
              </a:rPr>
              <a:t>Sneha Datla</a:t>
            </a:r>
          </a:p>
        </p:txBody>
      </p:sp>
      <p:sp>
        <p:nvSpPr>
          <p:cNvPr id="24" name="Text Placeholder 31">
            <a:extLst>
              <a:ext uri="{FF2B5EF4-FFF2-40B4-BE49-F238E27FC236}">
                <a16:creationId xmlns:a16="http://schemas.microsoft.com/office/drawing/2014/main" id="{526FB9ED-1E71-481F-A731-04ACAC6A725D}"/>
              </a:ext>
            </a:extLst>
          </p:cNvPr>
          <p:cNvSpPr txBox="1">
            <a:spLocks/>
          </p:cNvSpPr>
          <p:nvPr/>
        </p:nvSpPr>
        <p:spPr>
          <a:xfrm>
            <a:off x="8146985" y="5971269"/>
            <a:ext cx="3146753" cy="52497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1000"/>
              </a:spcBef>
              <a:spcAft>
                <a:spcPts val="0"/>
              </a:spcAft>
              <a:buClr>
                <a:srgbClr val="0097A9"/>
              </a:buClr>
              <a:buSzPct val="75000"/>
              <a:buFont typeface="Arial" panose="020B0604020202020204" pitchFamily="34" charset="0"/>
              <a:buNone/>
              <a:tabLst/>
              <a:defRPr/>
            </a:pPr>
            <a:r>
              <a:rPr kumimoji="0" lang="en-US" sz="1200" b="0" i="0" u="none" strike="noStrike" kern="1200" cap="none" spc="-30" normalizeH="0" baseline="0" noProof="0" dirty="0">
                <a:ln>
                  <a:noFill/>
                </a:ln>
                <a:solidFill>
                  <a:prstClr val="black"/>
                </a:solidFill>
                <a:effectLst/>
                <a:uLnTx/>
                <a:uFillTx/>
                <a:latin typeface="Verdana"/>
                <a:ea typeface="Open Sans" charset="0"/>
                <a:cs typeface="Open Sans" charset="0"/>
              </a:rPr>
              <a:t>Senior Consultant</a:t>
            </a:r>
          </a:p>
        </p:txBody>
      </p:sp>
      <p:sp>
        <p:nvSpPr>
          <p:cNvPr id="25" name="Text Placeholder 30">
            <a:extLst>
              <a:ext uri="{FF2B5EF4-FFF2-40B4-BE49-F238E27FC236}">
                <a16:creationId xmlns:a16="http://schemas.microsoft.com/office/drawing/2014/main" id="{E36DE17F-C79A-4BF7-86AC-6D1DD4CD4D82}"/>
              </a:ext>
            </a:extLst>
          </p:cNvPr>
          <p:cNvSpPr txBox="1">
            <a:spLocks/>
          </p:cNvSpPr>
          <p:nvPr/>
        </p:nvSpPr>
        <p:spPr>
          <a:xfrm>
            <a:off x="497913" y="5691705"/>
            <a:ext cx="3146753" cy="33749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
                <a:srgbClr val="0097A9"/>
              </a:buClr>
              <a:buSzPct val="75000"/>
              <a:buFont typeface="Arial" panose="020B0604020202020204" pitchFamily="34" charset="0"/>
              <a:buNone/>
              <a:tabLst/>
              <a:defRPr/>
            </a:pPr>
            <a:r>
              <a:rPr kumimoji="0" lang="en-US" sz="1800" b="1" i="0" u="none" strike="noStrike" kern="1200" cap="none" spc="-30" normalizeH="0" baseline="0" noProof="0" dirty="0">
                <a:ln>
                  <a:noFill/>
                </a:ln>
                <a:solidFill>
                  <a:prstClr val="black"/>
                </a:solidFill>
                <a:effectLst/>
                <a:uLnTx/>
                <a:uFillTx/>
                <a:latin typeface="Verdana"/>
                <a:ea typeface="Chronicle Display Black" charset="0"/>
                <a:cs typeface="Chronicle Display Black" charset="0"/>
              </a:rPr>
              <a:t>Shikha Batra</a:t>
            </a:r>
          </a:p>
        </p:txBody>
      </p:sp>
      <p:sp>
        <p:nvSpPr>
          <p:cNvPr id="26" name="Text Placeholder 31">
            <a:extLst>
              <a:ext uri="{FF2B5EF4-FFF2-40B4-BE49-F238E27FC236}">
                <a16:creationId xmlns:a16="http://schemas.microsoft.com/office/drawing/2014/main" id="{DFBA4AE2-6037-43CC-BA78-4D7137B48E81}"/>
              </a:ext>
            </a:extLst>
          </p:cNvPr>
          <p:cNvSpPr txBox="1">
            <a:spLocks/>
          </p:cNvSpPr>
          <p:nvPr/>
        </p:nvSpPr>
        <p:spPr>
          <a:xfrm>
            <a:off x="497913" y="5953611"/>
            <a:ext cx="3146753" cy="524975"/>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Open Sans" charset="0"/>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Open Sans" charset="0"/>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Open Sans" charset="0"/>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1000"/>
              </a:spcBef>
              <a:spcAft>
                <a:spcPts val="0"/>
              </a:spcAft>
              <a:buClr>
                <a:srgbClr val="0097A9"/>
              </a:buClr>
              <a:buSzPct val="75000"/>
              <a:buFont typeface="Arial" panose="020B0604020202020204" pitchFamily="34" charset="0"/>
              <a:buNone/>
              <a:tabLst/>
              <a:defRPr/>
            </a:pPr>
            <a:r>
              <a:rPr kumimoji="0" lang="en-US" sz="1200" b="0" i="0" u="none" strike="noStrike" kern="1200" cap="none" spc="-30" normalizeH="0" baseline="0" noProof="0" dirty="0">
                <a:ln>
                  <a:noFill/>
                </a:ln>
                <a:solidFill>
                  <a:prstClr val="black"/>
                </a:solidFill>
                <a:effectLst/>
                <a:uLnTx/>
                <a:uFillTx/>
                <a:latin typeface="Verdana"/>
                <a:ea typeface="Open Sans" charset="0"/>
                <a:cs typeface="Open Sans" charset="0"/>
              </a:rPr>
              <a:t>Specialist Master</a:t>
            </a:r>
          </a:p>
        </p:txBody>
      </p:sp>
      <p:pic>
        <p:nvPicPr>
          <p:cNvPr id="29" name="Picture 28">
            <a:extLst>
              <a:ext uri="{FF2B5EF4-FFF2-40B4-BE49-F238E27FC236}">
                <a16:creationId xmlns:a16="http://schemas.microsoft.com/office/drawing/2014/main" id="{9A7D9FF3-D081-409E-8652-ED0FE291FE97}"/>
              </a:ext>
            </a:extLst>
          </p:cNvPr>
          <p:cNvPicPr>
            <a:picLocks noChangeAspect="1"/>
          </p:cNvPicPr>
          <p:nvPr/>
        </p:nvPicPr>
        <p:blipFill rotWithShape="1">
          <a:blip r:embed="rId3"/>
          <a:srcRect l="4960" r="6024"/>
          <a:stretch/>
        </p:blipFill>
        <p:spPr>
          <a:xfrm>
            <a:off x="8941623" y="1032753"/>
            <a:ext cx="1704242" cy="1914525"/>
          </a:xfrm>
          <a:prstGeom prst="rect">
            <a:avLst/>
          </a:prstGeom>
        </p:spPr>
      </p:pic>
      <p:pic>
        <p:nvPicPr>
          <p:cNvPr id="30" name="Picture 29">
            <a:extLst>
              <a:ext uri="{FF2B5EF4-FFF2-40B4-BE49-F238E27FC236}">
                <a16:creationId xmlns:a16="http://schemas.microsoft.com/office/drawing/2014/main" id="{FEFD5009-AD21-473A-99FA-1A519BBB9939}"/>
              </a:ext>
            </a:extLst>
          </p:cNvPr>
          <p:cNvPicPr>
            <a:picLocks noChangeAspect="1"/>
          </p:cNvPicPr>
          <p:nvPr/>
        </p:nvPicPr>
        <p:blipFill rotWithShape="1">
          <a:blip r:embed="rId4"/>
          <a:srcRect l="9185" r="1799"/>
          <a:stretch/>
        </p:blipFill>
        <p:spPr>
          <a:xfrm>
            <a:off x="5214955" y="3809832"/>
            <a:ext cx="1704242" cy="1914525"/>
          </a:xfrm>
          <a:prstGeom prst="rect">
            <a:avLst/>
          </a:prstGeom>
        </p:spPr>
      </p:pic>
      <p:pic>
        <p:nvPicPr>
          <p:cNvPr id="15" name="Picture 14">
            <a:extLst>
              <a:ext uri="{FF2B5EF4-FFF2-40B4-BE49-F238E27FC236}">
                <a16:creationId xmlns:a16="http://schemas.microsoft.com/office/drawing/2014/main" id="{F668992B-1239-47C8-B96A-9841F12AE119}"/>
              </a:ext>
            </a:extLst>
          </p:cNvPr>
          <p:cNvPicPr>
            <a:picLocks noChangeAspect="1"/>
          </p:cNvPicPr>
          <p:nvPr/>
        </p:nvPicPr>
        <p:blipFill rotWithShape="1">
          <a:blip r:embed="rId5"/>
          <a:srcRect t="10001" b="13459"/>
          <a:stretch/>
        </p:blipFill>
        <p:spPr>
          <a:xfrm>
            <a:off x="8961991" y="3774392"/>
            <a:ext cx="1683874" cy="1905888"/>
          </a:xfrm>
          <a:prstGeom prst="rect">
            <a:avLst/>
          </a:prstGeom>
        </p:spPr>
      </p:pic>
      <p:pic>
        <p:nvPicPr>
          <p:cNvPr id="8" name="Picture 7">
            <a:extLst>
              <a:ext uri="{FF2B5EF4-FFF2-40B4-BE49-F238E27FC236}">
                <a16:creationId xmlns:a16="http://schemas.microsoft.com/office/drawing/2014/main" id="{02FBA24D-BD10-406D-8489-5016A0F844A8}"/>
              </a:ext>
            </a:extLst>
          </p:cNvPr>
          <p:cNvPicPr>
            <a:picLocks noChangeAspect="1"/>
          </p:cNvPicPr>
          <p:nvPr/>
        </p:nvPicPr>
        <p:blipFill rotWithShape="1">
          <a:blip r:embed="rId6"/>
          <a:srcRect t="3468" b="21907"/>
          <a:stretch/>
        </p:blipFill>
        <p:spPr>
          <a:xfrm>
            <a:off x="1252564" y="995695"/>
            <a:ext cx="1704241" cy="1914524"/>
          </a:xfrm>
          <a:prstGeom prst="rect">
            <a:avLst/>
          </a:prstGeom>
        </p:spPr>
      </p:pic>
      <p:pic>
        <p:nvPicPr>
          <p:cNvPr id="31" name="Picture 30">
            <a:extLst>
              <a:ext uri="{FF2B5EF4-FFF2-40B4-BE49-F238E27FC236}">
                <a16:creationId xmlns:a16="http://schemas.microsoft.com/office/drawing/2014/main" id="{099C6FAB-036B-4901-B2F7-79368622AB2E}"/>
              </a:ext>
            </a:extLst>
          </p:cNvPr>
          <p:cNvPicPr>
            <a:picLocks noChangeAspect="1"/>
          </p:cNvPicPr>
          <p:nvPr/>
        </p:nvPicPr>
        <p:blipFill rotWithShape="1">
          <a:blip r:embed="rId7"/>
          <a:srcRect l="6436" r="5214"/>
          <a:stretch/>
        </p:blipFill>
        <p:spPr>
          <a:xfrm>
            <a:off x="1252564" y="3765371"/>
            <a:ext cx="1683874" cy="1905888"/>
          </a:xfrm>
          <a:prstGeom prst="rect">
            <a:avLst/>
          </a:prstGeom>
        </p:spPr>
      </p:pic>
      <p:pic>
        <p:nvPicPr>
          <p:cNvPr id="32" name="Picture 31">
            <a:extLst>
              <a:ext uri="{FF2B5EF4-FFF2-40B4-BE49-F238E27FC236}">
                <a16:creationId xmlns:a16="http://schemas.microsoft.com/office/drawing/2014/main" id="{7CD41D87-00DF-490B-B18A-92EB6A666898}"/>
              </a:ext>
            </a:extLst>
          </p:cNvPr>
          <p:cNvPicPr>
            <a:picLocks noChangeAspect="1"/>
          </p:cNvPicPr>
          <p:nvPr/>
        </p:nvPicPr>
        <p:blipFill rotWithShape="1">
          <a:blip r:embed="rId8"/>
          <a:srcRect l="10046" t="6967" r="9358" b="22129"/>
          <a:stretch/>
        </p:blipFill>
        <p:spPr>
          <a:xfrm>
            <a:off x="5214955" y="995694"/>
            <a:ext cx="1704241" cy="1914525"/>
          </a:xfrm>
          <a:prstGeom prst="rect">
            <a:avLst/>
          </a:prstGeom>
        </p:spPr>
      </p:pic>
    </p:spTree>
    <p:extLst>
      <p:ext uri="{BB962C8B-B14F-4D97-AF65-F5344CB8AC3E}">
        <p14:creationId xmlns:p14="http://schemas.microsoft.com/office/powerpoint/2010/main" val="2452130367"/>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USOC_Text"/>
          <p:cNvSpPr txBox="1">
            <a:spLocks/>
          </p:cNvSpPr>
          <p:nvPr/>
        </p:nvSpPr>
        <p:spPr bwMode="gray">
          <a:xfrm>
            <a:off x="469900" y="6191998"/>
            <a:ext cx="7079737" cy="465990"/>
          </a:xfrm>
          <a:prstGeom prst="rect">
            <a:avLst/>
          </a:prstGeom>
        </p:spPr>
        <p:txBody>
          <a:bodyPr lIns="0" rIns="0" anchor="b" anchorCtr="0">
            <a:normAutofit/>
          </a:bodyPr>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900"/>
              </a:lnSpc>
            </a:pPr>
            <a:r>
              <a:rPr lang="en-US" sz="700" dirty="0">
                <a:solidFill>
                  <a:schemeClr val="tx1"/>
                </a:solidFill>
              </a:rPr>
              <a:t>Copyright © 2019 Deloitte Development LLC. All rights reserved.</a:t>
            </a:r>
            <a:br>
              <a:rPr lang="en-US" sz="700" dirty="0">
                <a:solidFill>
                  <a:schemeClr val="tx1"/>
                </a:solidFill>
              </a:rPr>
            </a:br>
            <a:endParaRPr lang="en-US" sz="700" dirty="0">
              <a:solidFill>
                <a:schemeClr val="tx1"/>
              </a:solidFill>
            </a:endParaRPr>
          </a:p>
        </p:txBody>
      </p:sp>
    </p:spTree>
    <p:extLst>
      <p:ext uri="{BB962C8B-B14F-4D97-AF65-F5344CB8AC3E}">
        <p14:creationId xmlns:p14="http://schemas.microsoft.com/office/powerpoint/2010/main" val="349296578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lIns="0" rIns="0" anchor="b" anchorCtr="0">
        <a:normAutofit fontScale="92500"/>
      </a:bodyPr>
      <a:lstStyle>
        <a:defPPr>
          <a:lnSpc>
            <a:spcPts val="900"/>
          </a:lnSpc>
          <a:defRPr sz="1300" b="1" dirty="0">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B250B804-2FDB-4928-98F0-F76F4A35E307}" vid="{34B986A3-8F99-4F88-AF27-8B60A5DA0FDB}"/>
    </a:ext>
  </a:extLst>
</a:theme>
</file>

<file path=ppt/theme/theme2.xml><?xml version="1.0" encoding="utf-8"?>
<a:theme xmlns:a="http://schemas.openxmlformats.org/drawingml/2006/main" name="1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lIns="0" rIns="0" anchor="b" anchorCtr="0">
        <a:normAutofit fontScale="92500"/>
      </a:bodyPr>
      <a:lstStyle>
        <a:defPPr>
          <a:lnSpc>
            <a:spcPts val="900"/>
          </a:lnSpc>
          <a:defRPr sz="1300" b="1" dirty="0">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B250B804-2FDB-4928-98F0-F76F4A35E307}" vid="{34B986A3-8F99-4F88-AF27-8B60A5DA0FD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5194344-b16b-4cdd-919b-7d2c10957e46">
      <Terms xmlns="http://schemas.microsoft.com/office/infopath/2007/PartnerControls"/>
    </lcf76f155ced4ddcb4097134ff3c332f>
    <TaxCatchAll xmlns="fea8ac73-90e4-432c-b893-d481c4dd49ac" xsi:nil="true"/>
    <KXDocumentID xmlns="05194344-b16b-4cdd-919b-7d2c10957e46" xsi:nil="true"/>
    <KXStatus xmlns="05194344-b16b-4cdd-919b-7d2c10957e46"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76908BD4516B004588F83DF058126254" ma:contentTypeVersion="15" ma:contentTypeDescription="Create a new document." ma:contentTypeScope="" ma:versionID="b2ea7f41de3d3b064be1ff1ca0a43802">
  <xsd:schema xmlns:xsd="http://www.w3.org/2001/XMLSchema" xmlns:xs="http://www.w3.org/2001/XMLSchema" xmlns:p="http://schemas.microsoft.com/office/2006/metadata/properties" xmlns:ns2="05194344-b16b-4cdd-919b-7d2c10957e46" xmlns:ns3="fea8ac73-90e4-432c-b893-d481c4dd49ac" targetNamespace="http://schemas.microsoft.com/office/2006/metadata/properties" ma:root="true" ma:fieldsID="6b90ebcb539cff68550e98bf6ba1f1d5" ns2:_="" ns3:_="">
    <xsd:import namespace="05194344-b16b-4cdd-919b-7d2c10957e46"/>
    <xsd:import namespace="fea8ac73-90e4-432c-b893-d481c4dd49ac"/>
    <xsd:element name="properties">
      <xsd:complexType>
        <xsd:sequence>
          <xsd:element name="documentManagement">
            <xsd:complexType>
              <xsd:all>
                <xsd:element ref="ns2:KXStatus" minOccurs="0"/>
                <xsd:element ref="ns2:KXDocumentID" minOccurs="0"/>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194344-b16b-4cdd-919b-7d2c10957e46" elementFormDefault="qualified">
    <xsd:import namespace="http://schemas.microsoft.com/office/2006/documentManagement/types"/>
    <xsd:import namespace="http://schemas.microsoft.com/office/infopath/2007/PartnerControls"/>
    <xsd:element name="KXStatus" ma:index="8" nillable="true" ma:displayName="KXStatus" ma:format="Dropdown" ma:internalName="KXStatus">
      <xsd:simpleType>
        <xsd:union memberTypes="dms:Text">
          <xsd:simpleType>
            <xsd:restriction base="dms:Choice">
              <xsd:enumeration value="Contributed"/>
              <xsd:enumeration value="Published"/>
              <xsd:enumeration value="Processing by AI"/>
            </xsd:restriction>
          </xsd:simpleType>
        </xsd:union>
      </xsd:simpleType>
    </xsd:element>
    <xsd:element name="KXDocumentID" ma:index="9" nillable="true" ma:displayName="KXDocumentID" ma:format="Dropdown" ma:internalName="KXDocumentID" ma:percentage="FALSE">
      <xsd:simpleType>
        <xsd:restriction base="dms:Number"/>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a8ac73-90e4-432c-b893-d481c4dd49ac"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dec25c0-919b-4fce-add4-9c773df6b989}" ma:internalName="TaxCatchAll" ma:showField="CatchAllData" ma:web="fea8ac73-90e4-432c-b893-d481c4dd49a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5846D1-F389-4188-8265-5F33F3850CE0}">
  <ds:schemaRefs>
    <ds:schemaRef ds:uri="http://schemas.microsoft.com/sharepoint/v3/contenttype/forms"/>
  </ds:schemaRefs>
</ds:datastoreItem>
</file>

<file path=customXml/itemProps2.xml><?xml version="1.0" encoding="utf-8"?>
<ds:datastoreItem xmlns:ds="http://schemas.openxmlformats.org/officeDocument/2006/customXml" ds:itemID="{8AB0FFC9-E442-4E91-885C-35E89634B821}">
  <ds:schemaRefs>
    <ds:schemaRef ds:uri="http://schemas.microsoft.com/sharepoint/events"/>
  </ds:schemaRefs>
</ds:datastoreItem>
</file>

<file path=customXml/itemProps3.xml><?xml version="1.0" encoding="utf-8"?>
<ds:datastoreItem xmlns:ds="http://schemas.openxmlformats.org/officeDocument/2006/customXml" ds:itemID="{23EF1D55-6E1D-4C3E-BDDD-B0BD85124253}">
  <ds:schemaRefs>
    <ds:schemaRef ds:uri="0DBE4740-AD0E-4EAB-9055-8EB1C48284D9"/>
    <ds:schemaRef ds:uri="a3273937-55e7-450c-ac1f-0f7de532f690"/>
    <ds:schemaRef ds:uri="546D9DE3-080E-4EC6-B7DD-508C11F603C7"/>
    <ds:schemaRef ds:uri="http://purl.org/dc/elements/1.1/"/>
    <ds:schemaRef ds:uri="http://purl.org/dc/terms/"/>
    <ds:schemaRef ds:uri="http://purl.org/dc/dcmitype/"/>
    <ds:schemaRef ds:uri="http://schemas.microsoft.com/sharepoint/v3"/>
    <ds:schemaRef ds:uri="39C40E9B-856B-46A7-8793-65A6FC1828D8"/>
    <ds:schemaRef ds:uri="3A0186DE-B11E-4A29-9C82-428D45BCA71F"/>
    <ds:schemaRef ds:uri="8DD08C88-CC4C-4D35-9129-A70DAA36BE5E"/>
    <ds:schemaRef ds:uri="7AF0C9C1-571A-469E-93FE-640E88AEF1EC"/>
    <ds:schemaRef ds:uri="994E32D3-2E21-4611-87E1-D68FC0813440"/>
    <ds:schemaRef ds:uri="http://schemas.microsoft.com/office/infopath/2007/PartnerControls"/>
    <ds:schemaRef ds:uri="83DDB362-4C05-4E52-A8D9-EF2F47978B8D"/>
    <ds:schemaRef ds:uri="http://schemas.microsoft.com/office/2006/metadata/properties"/>
    <ds:schemaRef ds:uri="7D1768DD-F29E-4DC2-9191-F2636B9FA92C"/>
    <ds:schemaRef ds:uri="http://schemas.openxmlformats.org/package/2006/metadata/core-properties"/>
    <ds:schemaRef ds:uri="5A51C775-C49C-428B-8C1E-2F89178D00F4"/>
    <ds:schemaRef ds:uri="http://www.w3.org/XML/1998/namespace"/>
    <ds:schemaRef ds:uri="513ae4d5-443f-4bc1-9f25-8f68dc5aa0c0"/>
    <ds:schemaRef ds:uri="http://schemas.microsoft.com/office/2006/documentManagement/types"/>
  </ds:schemaRefs>
</ds:datastoreItem>
</file>

<file path=customXml/itemProps4.xml><?xml version="1.0" encoding="utf-8"?>
<ds:datastoreItem xmlns:ds="http://schemas.openxmlformats.org/officeDocument/2006/customXml" ds:itemID="{53EE8E9E-9CB6-4B20-85DD-D90AF766C7FB}"/>
</file>

<file path=docProps/app.xml><?xml version="1.0" encoding="utf-8"?>
<Properties xmlns="http://schemas.openxmlformats.org/officeDocument/2006/extended-properties" xmlns:vt="http://schemas.openxmlformats.org/officeDocument/2006/docPropsVTypes">
  <Template>Deloitte_16_9_Onscreen_US</Template>
  <TotalTime>0</TotalTime>
  <Words>20220</Words>
  <Application>Microsoft Office PowerPoint</Application>
  <PresentationFormat>Widescreen</PresentationFormat>
  <Paragraphs>1842</Paragraphs>
  <Slides>78</Slides>
  <Notes>27</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78</vt:i4>
      </vt:variant>
    </vt:vector>
  </HeadingPairs>
  <TitlesOfParts>
    <vt:vector size="86" baseType="lpstr">
      <vt:lpstr>Arial</vt:lpstr>
      <vt:lpstr>Calibri</vt:lpstr>
      <vt:lpstr>Open Sans</vt:lpstr>
      <vt:lpstr>Verdana</vt:lpstr>
      <vt:lpstr>Wingdings 2</vt:lpstr>
      <vt:lpstr>Deloitte_US_Onscreen</vt:lpstr>
      <vt:lpstr>1_Deloitte_US_Onscreen</vt:lpstr>
      <vt:lpstr>think-cell Slide</vt:lpstr>
      <vt:lpstr>PowerPoint Presentation</vt:lpstr>
      <vt:lpstr>Big data and analytics – architecture patterns and practice: table of contents</vt:lpstr>
      <vt:lpstr>Big Data and Analytics Patterns</vt:lpstr>
      <vt:lpstr>How to use this playbook</vt:lpstr>
      <vt:lpstr>Emerging big data and analytics trends</vt:lpstr>
      <vt:lpstr>Architecture description</vt:lpstr>
      <vt:lpstr>Architecture building blocks</vt:lpstr>
      <vt:lpstr>Examples of non–functional requirements</vt:lpstr>
      <vt:lpstr>List of non–functional requirements (cont.)</vt:lpstr>
      <vt:lpstr>Architecture description</vt:lpstr>
      <vt:lpstr>Application principles</vt:lpstr>
      <vt:lpstr>Application principles (cont.)</vt:lpstr>
      <vt:lpstr>Information principles</vt:lpstr>
      <vt:lpstr>Information principles (cont.)</vt:lpstr>
      <vt:lpstr>Information principles (cont.)</vt:lpstr>
      <vt:lpstr>Information principles (cont.)</vt:lpstr>
      <vt:lpstr>Information principles (cont.)</vt:lpstr>
      <vt:lpstr>Security principles</vt:lpstr>
      <vt:lpstr>Technology principles</vt:lpstr>
      <vt:lpstr>Technology principles (cont.)</vt:lpstr>
      <vt:lpstr>Architecture description</vt:lpstr>
      <vt:lpstr>Building blocks for big data analytics </vt:lpstr>
      <vt:lpstr>Reference conceptual architecture</vt:lpstr>
      <vt:lpstr>Architecture description</vt:lpstr>
      <vt:lpstr>1. Data sources</vt:lpstr>
      <vt:lpstr>Business applications and other applications</vt:lpstr>
      <vt:lpstr>2. Data acquisition</vt:lpstr>
      <vt:lpstr>Data movement and ingestion methods</vt:lpstr>
      <vt:lpstr>3. Data storage and processing</vt:lpstr>
      <vt:lpstr>Data lake, data processing and transformations </vt:lpstr>
      <vt:lpstr>Data science</vt:lpstr>
      <vt:lpstr>Data provisioning</vt:lpstr>
      <vt:lpstr>4. Information delivery</vt:lpstr>
      <vt:lpstr>Analytics</vt:lpstr>
      <vt:lpstr>5. Information consumers</vt:lpstr>
      <vt:lpstr>6. Infrastructure and security</vt:lpstr>
      <vt:lpstr>Infrastructure</vt:lpstr>
      <vt:lpstr>Security services</vt:lpstr>
      <vt:lpstr>7. Enterprise data governance</vt:lpstr>
      <vt:lpstr>Enterprise data management services</vt:lpstr>
      <vt:lpstr>Enterprise data management services (cont.)</vt:lpstr>
      <vt:lpstr>Architecture/Design patterns, standards and best practices</vt:lpstr>
      <vt:lpstr>Architecture/Design patterns, standards and best practices</vt:lpstr>
      <vt:lpstr>Architecture pattern: Data lake</vt:lpstr>
      <vt:lpstr>Architecture pattern: Enterprise data warehouse</vt:lpstr>
      <vt:lpstr>Architecture pattern: (Near) Real time analytics</vt:lpstr>
      <vt:lpstr>Architecture pattern: Internet of Things (IoT)</vt:lpstr>
      <vt:lpstr>Architecture pattern: Edge computing</vt:lpstr>
      <vt:lpstr>Design pattern: Lambda</vt:lpstr>
      <vt:lpstr>Design pattern: Zeta</vt:lpstr>
      <vt:lpstr>Design pattern: Ingestion (File based data ingestion using NiFi)</vt:lpstr>
      <vt:lpstr>Design pattern: Consumption patterns</vt:lpstr>
      <vt:lpstr>Traditional BI consumption pattern </vt:lpstr>
      <vt:lpstr>Real time analytics consumption pattern</vt:lpstr>
      <vt:lpstr>Advanced analytics consumption pattern</vt:lpstr>
      <vt:lpstr>Design pattern: Audit, balance and control</vt:lpstr>
      <vt:lpstr>Design pattern: Read and write isolation</vt:lpstr>
      <vt:lpstr>Best practice: DataOps</vt:lpstr>
      <vt:lpstr>Best practice: Security</vt:lpstr>
      <vt:lpstr>Technology vendor specific architecture</vt:lpstr>
      <vt:lpstr>Technology vendor architectures</vt:lpstr>
      <vt:lpstr>AWS reference architecture</vt:lpstr>
      <vt:lpstr>AWS reference architecture</vt:lpstr>
      <vt:lpstr>AWS data and analytics component details</vt:lpstr>
      <vt:lpstr>AWS data and analytics component details (cont.)</vt:lpstr>
      <vt:lpstr>AWS data and analytics component details (cont.)</vt:lpstr>
      <vt:lpstr>Azure reference architecture</vt:lpstr>
      <vt:lpstr>Azure reference architecture</vt:lpstr>
      <vt:lpstr>Azure data and analytics component details</vt:lpstr>
      <vt:lpstr>Azure data and analytics component details (cont.)</vt:lpstr>
      <vt:lpstr>Azure data and analytics component details (cont.)</vt:lpstr>
      <vt:lpstr>Google Cloud Platform (GCP) reference architecture</vt:lpstr>
      <vt:lpstr>GCP reference architecture</vt:lpstr>
      <vt:lpstr>GCP data and analytics component details</vt:lpstr>
      <vt:lpstr>GCP data and analytics component details (cont.)</vt:lpstr>
      <vt:lpstr>GCP data and analytics component details (cont.)</vt:lpstr>
      <vt:lpstr>Authors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2019-06-12T06:14:40Z</dcterms:created>
  <dcterms:modified xsi:type="dcterms:W3CDTF">2021-10-21T17:23:52Z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0x01010076908BD4516B004588F83DF058126254</vt:lpwstr>
  </property>
  <property fmtid="{D5CDD505-2E9C-101B-9397-08002B2CF9AE}" pid="3" name="Local Content Type">
    <vt:lpwstr>14563;#United States:Learning:Performance Support Material:Reference Guide|84a6d0cd-7089-43c2-ba0c-beda00afbf0b</vt:lpwstr>
  </property>
  <property fmtid="{D5CDD505-2E9C-101B-9397-08002B2CF9AE}" pid="4" name="Primary Local Client">
    <vt:lpwstr>17730;#United States:Consulting:Core Business Operations:Systems Engineering:Systems Design and Engineering|37ac4378-eecd-4cb9-aa0b-7b41367a32dc</vt:lpwstr>
  </property>
  <property fmtid="{D5CDD505-2E9C-101B-9397-08002B2CF9AE}" pid="5" name="Badge">
    <vt:lpwstr/>
  </property>
  <property fmtid="{D5CDD505-2E9C-101B-9397-08002B2CF9AE}" pid="6" name="Applicable Geography">
    <vt:lpwstr>375;#Global|f12aef73-b423-4016-a43f-15722d3a0a5e</vt:lpwstr>
  </property>
  <property fmtid="{D5CDD505-2E9C-101B-9397-08002B2CF9AE}" pid="7" name="Secondary Local Indu">
    <vt:lpwstr/>
  </property>
  <property fmtid="{D5CDD505-2E9C-101B-9397-08002B2CF9AE}" pid="8" name="Primary Local Indust">
    <vt:lpwstr/>
  </property>
  <property fmtid="{D5CDD505-2E9C-101B-9397-08002B2CF9AE}" pid="9" name="Geography of Origin">
    <vt:lpwstr>14519;#Americas (Region):United States (MF):United States|8cb0099f-1dbf-4b3c-9b7f-d98051a79fa3</vt:lpwstr>
  </property>
  <property fmtid="{D5CDD505-2E9C-101B-9397-08002B2CF9AE}" pid="10" name="KAM Language">
    <vt:lpwstr>14511;#English|b169a262-1aaa-4ccb-9acf-78a36c1d9bab</vt:lpwstr>
  </property>
  <property fmtid="{D5CDD505-2E9C-101B-9397-08002B2CF9AE}" pid="11" name="Primary Global Client">
    <vt:lpwstr>17179;#Consulting:Core Business Operations:Systems Engineering:Service Delivery Optimization|aa1736df-bbd5-4d05-bb01-cd9bd2de4256</vt:lpwstr>
  </property>
  <property fmtid="{D5CDD505-2E9C-101B-9397-08002B2CF9AE}" pid="12" name="Secondary Global Indu">
    <vt:lpwstr/>
  </property>
  <property fmtid="{D5CDD505-2E9C-101B-9397-08002B2CF9AE}" pid="13" name="Secondary Global Clie">
    <vt:lpwstr/>
  </property>
  <property fmtid="{D5CDD505-2E9C-101B-9397-08002B2CF9AE}" pid="14" name="Primary Global Indust">
    <vt:lpwstr/>
  </property>
  <property fmtid="{D5CDD505-2E9C-101B-9397-08002B2CF9AE}" pid="15" name="Global Content Type">
    <vt:lpwstr>592;#Learning:Performance Support Material:Reference Guide|97234011-a5ae-40c7-8c1b-ad23d95becdf</vt:lpwstr>
  </property>
  <property fmtid="{D5CDD505-2E9C-101B-9397-08002B2CF9AE}" pid="16" name="Local Internal Service">
    <vt:lpwstr/>
  </property>
  <property fmtid="{D5CDD505-2E9C-101B-9397-08002B2CF9AE}" pid="17" name="Global Internal Service">
    <vt:lpwstr/>
  </property>
  <property fmtid="{D5CDD505-2E9C-101B-9397-08002B2CF9AE}" pid="18" name="Secondary Local Clie">
    <vt:lpwstr/>
  </property>
  <property fmtid="{D5CDD505-2E9C-101B-9397-08002B2CF9AE}" pid="19" name="IPCO Designation">
    <vt:lpwstr>531;#Internal Use Only unless granted permission by content owner (IPCO Alternative Use Restriction)|f38bdcd6-352a-4923-92e5-9a710e71be95</vt:lpwstr>
  </property>
  <property fmtid="{D5CDD505-2E9C-101B-9397-08002B2CF9AE}" pid="20" name="_dlc_policyId">
    <vt:lpwstr/>
  </property>
  <property fmtid="{D5CDD505-2E9C-101B-9397-08002B2CF9AE}" pid="21" name="ItemRetentionFormula">
    <vt:lpwstr/>
  </property>
  <property fmtid="{D5CDD505-2E9C-101B-9397-08002B2CF9AE}" pid="22" name="Publishing Owning Te">
    <vt:lpwstr>16;#Consulting|7434a3af-136e-42a8-bb53-fcc906dbc283</vt:lpwstr>
  </property>
  <property fmtid="{D5CDD505-2E9C-101B-9397-08002B2CF9AE}" pid="23" name="Publishing Owning Te0">
    <vt:lpwstr>Consulting|7434a3af-136e-42a8-bb53-fcc906dbc283</vt:lpwstr>
  </property>
  <property fmtid="{D5CDD505-2E9C-101B-9397-08002B2CF9AE}" pid="24" name="_docset_NoMedatataSyncRequired">
    <vt:lpwstr>False</vt:lpwstr>
  </property>
  <property fmtid="{D5CDD505-2E9C-101B-9397-08002B2CF9AE}" pid="25" name="MSIP_Label_ea60d57e-af5b-4752-ac57-3e4f28ca11dc_Enabled">
    <vt:lpwstr>true</vt:lpwstr>
  </property>
  <property fmtid="{D5CDD505-2E9C-101B-9397-08002B2CF9AE}" pid="26" name="MSIP_Label_ea60d57e-af5b-4752-ac57-3e4f28ca11dc_SetDate">
    <vt:lpwstr>2021-10-21T17:06:16Z</vt:lpwstr>
  </property>
  <property fmtid="{D5CDD505-2E9C-101B-9397-08002B2CF9AE}" pid="27" name="MSIP_Label_ea60d57e-af5b-4752-ac57-3e4f28ca11dc_Method">
    <vt:lpwstr>Standard</vt:lpwstr>
  </property>
  <property fmtid="{D5CDD505-2E9C-101B-9397-08002B2CF9AE}" pid="28" name="MSIP_Label_ea60d57e-af5b-4752-ac57-3e4f28ca11dc_Name">
    <vt:lpwstr>ea60d57e-af5b-4752-ac57-3e4f28ca11dc</vt:lpwstr>
  </property>
  <property fmtid="{D5CDD505-2E9C-101B-9397-08002B2CF9AE}" pid="29" name="MSIP_Label_ea60d57e-af5b-4752-ac57-3e4f28ca11dc_SiteId">
    <vt:lpwstr>36da45f1-dd2c-4d1f-af13-5abe46b99921</vt:lpwstr>
  </property>
  <property fmtid="{D5CDD505-2E9C-101B-9397-08002B2CF9AE}" pid="30" name="MSIP_Label_ea60d57e-af5b-4752-ac57-3e4f28ca11dc_ActionId">
    <vt:lpwstr>e684a4fb-8b41-459b-a7a0-4649850c9d99</vt:lpwstr>
  </property>
  <property fmtid="{D5CDD505-2E9C-101B-9397-08002B2CF9AE}" pid="31" name="MSIP_Label_ea60d57e-af5b-4752-ac57-3e4f28ca11dc_ContentBits">
    <vt:lpwstr>0</vt:lpwstr>
  </property>
  <property fmtid="{D5CDD505-2E9C-101B-9397-08002B2CF9AE}" pid="32" name="Order">
    <vt:r8>3400</vt:r8>
  </property>
  <property fmtid="{D5CDD505-2E9C-101B-9397-08002B2CF9AE}" pid="33" name="xd_Signature">
    <vt:bool>false</vt:bool>
  </property>
  <property fmtid="{D5CDD505-2E9C-101B-9397-08002B2CF9AE}" pid="34" name="xd_ProgID">
    <vt:lpwstr/>
  </property>
  <property fmtid="{D5CDD505-2E9C-101B-9397-08002B2CF9AE}" pid="35" name="_SourceUrl">
    <vt:lpwstr/>
  </property>
  <property fmtid="{D5CDD505-2E9C-101B-9397-08002B2CF9AE}" pid="36" name="_SharedFileIndex">
    <vt:lpwstr/>
  </property>
  <property fmtid="{D5CDD505-2E9C-101B-9397-08002B2CF9AE}" pid="37" name="ComplianceAssetId">
    <vt:lpwstr/>
  </property>
  <property fmtid="{D5CDD505-2E9C-101B-9397-08002B2CF9AE}" pid="38" name="TemplateUrl">
    <vt:lpwstr/>
  </property>
  <property fmtid="{D5CDD505-2E9C-101B-9397-08002B2CF9AE}" pid="39" name="_ExtendedDescription">
    <vt:lpwstr/>
  </property>
  <property fmtid="{D5CDD505-2E9C-101B-9397-08002B2CF9AE}" pid="40" name="TriggerFlowInfo">
    <vt:lpwstr/>
  </property>
</Properties>
</file>